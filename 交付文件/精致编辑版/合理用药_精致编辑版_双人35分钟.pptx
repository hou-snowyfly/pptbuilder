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第1页｜甲主讲｜建议45秒</a:t>
            </a:r>
          </a:p>
          <a:p>
            <a:r>
              <a:t>甲主讲；乙操作翻页。</a:t>
            </a:r>
          </a:p>
          <a:p/>
          <a:p>
            <a:r>
              <a:t>甲：大家好。今天我们聊一个进入大学后越来越需要自己做决定的问题：身体不舒服时，药到底该怎么用？离开父母的提醒，宿舍药箱、室友推荐和手机搜索，可能成了我们的第一反应。但名字熟悉，不代表适合自己；药吃得多，也不代表好得快。接下来我们用四类校园情境和几轮举手选择，练习几个能直接用上的判断。我们不考药名，也不背剂量表，目标是学会看什么、问什么，以及什么时候应该就医。</a:t>
            </a:r>
          </a:p>
          <a:p/>
          <a:p>
            <a:r>
              <a:t>视觉说明：无人物的主题封面：合理用药大标题、编辑式引言与四个行动词，蓝红白配色。</a:t>
            </a:r>
          </a:p>
          <a:p/>
          <a:p>
            <a:r>
              <a:t>参考：</a:t>
            </a:r>
          </a:p>
          <a:p/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第2页｜甲主讲｜建议45秒</a:t>
            </a:r>
          </a:p>
          <a:p>
            <a:r>
              <a:t>移至封面后的第2页；先交代路线，再进入原第2页的开场选择题，不提前揭晓答案。</a:t>
            </a:r>
          </a:p>
          <a:p/>
          <a:p>
            <a:r>
              <a:t>甲：先看路线图。前五分钟建立判断原则；接着用十七分钟看四类校园误区：重复成分、抗生素、抗过敏药以及药物与饮酒。然后八分钟练习安全用药，最后五分钟替这位同学做综合选择。甲负责前半段，乙接着讲机制与行动，举手互动已计入时间。大家不用背药名或算剂量，只选更有依据的下一步。现在进入第一个情境：室友感冒了，你会先做哪一步？</a:t>
            </a:r>
          </a:p>
          <a:p/>
          <a:p>
            <a:r>
              <a:t>视觉说明：无装饰图的双栏路线卡，序号、内容和时间分层。</a:t>
            </a:r>
          </a:p>
          <a:p/>
          <a:p>
            <a:r>
              <a:t>参考：</a:t>
            </a:r>
          </a:p>
          <a:p/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第3页｜甲主讲｜建议90秒</a:t>
            </a:r>
          </a:p>
          <a:p>
            <a:r>
              <a:t>10秒阅读＋三轮举手约25秒；不追问个人用药史。</a:t>
            </a:r>
          </a:p>
          <a:p/>
          <a:p>
            <a:r>
              <a:t>甲：这位同学流鼻涕、喉咙不舒服，明天还有课。药箱里有上次剩下的药，室友也递来一盒。沿用经验、先核信息、按症状挑药，三个方案都像是在解决问题。信息还不完整时，你选哪一个第一步？</a:t>
            </a:r>
          </a:p>
          <a:p>
            <a:r>
              <a:t>【静默10秒；A、B、C依次举手，各约5秒】</a:t>
            </a:r>
          </a:p>
          <a:p>
            <a:r>
              <a:t>甲：先保留选择。上次有效不代表这次适用，包装上的症状描述也不能代替核对；下一页看判断需要哪些信息。</a:t>
            </a:r>
          </a:p>
          <a:p/>
          <a:p>
            <a:r>
              <a:t>视觉说明：全宽等权选择卡，无人物配图；仅保留题型和判断标准，不按答案区别格式。</a:t>
            </a:r>
          </a:p>
          <a:p/>
          <a:p>
            <a:r>
              <a:t>参考：</a:t>
            </a:r>
          </a:p>
          <a:p/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第4页｜甲主讲｜建议120秒</a:t>
            </a:r>
          </a:p>
          <a:p/>
          <a:p/>
          <a:p>
            <a:r>
              <a:t>甲：合理用药可以用四个词记住：安全、有效、经济、适宜。安全不是承诺任何药都没有风险，而是识别禁忌和可能的不良反应。有效，是药物针对的问题与实际需要相符。经济，是在满足治疗需要的前提下，避免不必要的药物和花费。适宜，则提醒我们，同一个药对室友合适，对自己不一定合适，年龄、过敏史、正在使用的其他药物，都可能影响选择。所以开场选B，是先把这些信息补齐，而不是看到一个症状就直接往药箱里伸手。</a:t>
            </a:r>
          </a:p>
          <a:p>
            <a:r>
              <a:t>【增加一分钟情境比较：同桌讨论30秒——室友剩药便宜、广告药很热门，各会卡在哪一道关？再用30秒邀请举手并串联四关。经济不只是便宜，适宜也不等于别人有效。】</a:t>
            </a:r>
          </a:p>
          <a:p/>
          <a:p>
            <a:r>
              <a:t>视觉说明：四象限原则卡；每格一个关键词和一个简短解释。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第5页｜甲主讲｜建议75秒</a:t>
            </a:r>
          </a:p>
          <a:p/>
          <a:p/>
          <a:p>
            <a:r>
              <a:t>甲：小周觉得头痛还没缓解，拿起另一盒感冒药。室友说，名字不同，一盒管头痛、一盒管感冒，听起来像双保险。三格漫画从不舒服，到听起来合理的建议，再把判断停在药盒背面。症状宣传不同，不代表有效成分不同。下一页不算剂量，只把成分摆在一起，看双保险有没有变成重复。</a:t>
            </a:r>
          </a:p>
          <a:p/>
          <a:p>
            <a:r>
              <a:t>视觉说明：成熟编辑三格：小周头痛、室友递第二盒、展开两份说明书；成人比例与克制表情。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key_stories.png｜R1C1｜症状仍在</a:t>
            </a:r>
          </a:p>
          <a:p>
            <a:r>
              <a:t>key_stories.png｜R1C2｜室友递第二盒</a:t>
            </a:r>
          </a:p>
          <a:p>
            <a:r>
              <a:t>key_stories.png｜R1C3｜展开两份说明书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第6页｜甲主讲｜建议60秒</a:t>
            </a:r>
          </a:p>
          <a:p/>
          <a:p/>
          <a:p>
            <a:r>
              <a:t>甲：左边是单方退热止痛药的教学标签，只有对乙酰氨基酚；右边的复方感冒药示例另有马来酸氯苯那敏和盐酸伪麻黄碱。组成不完全相同，但同一个红色成分块出现了两次，其他成分的不同不能抵消重复。先把真实说明书的成分逐项对照，再核规格、已经服用的时间和用量，拿不准就带药盒问药师。这两张教学标签不对应具体产品，不给出剂量；不同产品的组成和要求可能不同。</a:t>
            </a:r>
          </a:p>
          <a:p/>
          <a:p>
            <a:r>
              <a:t>视觉说明：两盒不同配色的教学药盒。重复成分都用红色且完整命名；另两种成分用青绿和紫色，汇合箭头突出同一成分来自两盒，再给出圈重复、核信息、再决定的动作。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第7页｜甲主讲｜建议60秒</a:t>
            </a:r>
          </a:p>
          <a:p/>
          <a:p/>
          <a:p>
            <a:r>
              <a:t>甲：18点，小周服过一种复方感冒药；20点仍然头痛，想加另一盒退热药。这两个时间只是故事线索，不表示隔两小时就能加药。现在要补齐两盒药的具体药名、成分、规格，以及今天何时用了多少。核对重复和累计使用，不能靠症状还在就自行加量，也不能套统一间隔。怀疑超量或误服应及时寻求医疗帮助；症状持续、加重也应按说明书就医提示处理。下一页只选获取这些信息的下一步。</a:t>
            </a:r>
          </a:p>
          <a:p/>
          <a:p>
            <a:r>
              <a:t>视觉说明：小周的独立记录核对场景配18:00、20:00两张时间卡，信息缺口以文字突出。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support_scenes.png｜R2C1｜小周核对记录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第8页｜甲主讲｜建议75秒</a:t>
            </a:r>
          </a:p>
          <a:p>
            <a:r>
              <a:t>阅读10秒；举手约25秒；其余时间复述问题并转场。</a:t>
            </a:r>
          </a:p>
          <a:p/>
          <a:p>
            <a:r>
              <a:t>甲：室友群里弹出三条消息。A让我们找重复成分，B建议错开服药时间，C让我们补齐今天的药名、规格和时间。可以给多条消息点赞，选择的是现在有助于判断的建议，不是替小周开药。</a:t>
            </a:r>
          </a:p>
          <a:p>
            <a:r>
              <a:t>【静默10秒；逐条举手各约5秒，可多次举手】</a:t>
            </a:r>
          </a:p>
          <a:p>
            <a:r>
              <a:t>甲：请保留选择，下一页看哪些建议补齐了信息，哪些只是让安排听起来谨慎。</a:t>
            </a:r>
          </a:p>
          <a:p/>
          <a:p>
            <a:r>
              <a:t>视觉说明：全宽等权选择卡，无人物配图；仅保留题型和判断标准，不按答案区别格式。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第9页｜甲主讲｜建议30秒</a:t>
            </a:r>
          </a:p>
          <a:p/>
          <a:p/>
          <a:p>
            <a:r>
              <a:t>甲：可以同时给A和C点赞。A找到共有成分，C补齐具体规格与已服记录，两条合起来才更有助于判断。B听起来考虑了时间，但并没有核清成分、规格和累计使用；不能靠错开就推定合用安全。先不自行叠加，带齐这些信息问药师。</a:t>
            </a:r>
          </a:p>
          <a:p/>
          <a:p>
            <a:r>
              <a:t>视觉说明：结论块与三张解释卡，无装饰物；揭晓后解释A与C。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第10页｜甲主讲｜建议75秒</a:t>
            </a:r>
          </a:p>
          <a:p/>
          <a:p/>
          <a:p>
            <a:r>
              <a:t>甲：第二个误区，是把抗生素当成感冒时的保险药。左图以一种杆状细菌的结构为例：有胞膜、胞质、核糖体与遗传物质，DNA所在的拟核没有核膜。某些细菌结构或蛋白质合成等过程，可以成为抗生素的作用对象。右图以鼻病毒为例，它是普通感冒的常见病因之一，由蛋白质衣壳包裹RNA，没有细胞结构，需要依赖宿主细胞复制。抗生素没有针对普通感冒病毒的相应治疗作用。症状不能直接替代病因判断，是否需要抗生素由医生评估。</a:t>
            </a:r>
          </a:p>
          <a:p>
            <a:r>
              <a:t>【图形核对，不逐字朗读】细菌图为革兰阴性杆菌定性切面，核区无核膜，胞质内有核糖体；鼻病毒为无包膜病毒，遗传物质为单链RNA。右图不代表所有病毒都没有包膜或都是RNA病毒。两幅分别放大，不作真实尺寸比较，不宣称原子结构；依据S18、S19。</a:t>
            </a:r>
          </a:p>
          <a:p/>
          <a:p>
            <a:r>
              <a:t>视觉说明：独立专业科学插图：革兰阴性杆菌结构与鼻病毒衣壳、RNA；必要标签可编辑，不用彩色圆球或动漫人物代替。</a:t>
            </a:r>
          </a:p>
          <a:p/>
          <a:p>
            <a:r>
              <a:t>参考：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>
            <a:r>
              <a:t>[S11] CDC. Manage Common Cold.</a:t>
            </a:r>
          </a:p>
          <a:p>
            <a:r>
              <a:t>https://www.cdc.gov/common-cold/treatment/index.html</a:t>
            </a:r>
          </a:p>
          <a:p>
            <a:r>
              <a:t>[S18] OpenStax. Microbiology 3.3: Unique Characteristics of Prokaryotic Cells.</a:t>
            </a:r>
          </a:p>
          <a:p>
            <a:r>
              <a:t>https://openstax.org/books/microbiology/pages/3-3-unique-characteristics-of-prokaryotic-cells</a:t>
            </a:r>
          </a:p>
          <a:p>
            <a:r>
              <a:t>[S19] Rhinoviruses（鼻病毒无包膜、二十面体衣壳与单链RNA）</a:t>
            </a:r>
          </a:p>
          <a:p>
            <a:r>
              <a:t>https://pmc.ncbi.nlm.nih.gov/articles/PMC7173525/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bacterial_cell.png｜FULL｜细菌有细胞结构</a:t>
            </a:r>
          </a:p>
          <a:p>
            <a:r>
              <a:t>rhinovirus.png｜FULL｜鼻病毒无细胞结构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第11页｜甲主讲｜建议110秒</a:t>
            </a:r>
          </a:p>
          <a:p/>
          <a:p/>
          <a:p>
            <a:r>
              <a:t>甲：上一页说普通感冒通常由病毒引起，抗生素没有相应治疗作用。为什么不能想着吃一点总没坏处？左边一百格中，高亮28格：CDC汇总至少28%的美国门诊抗生素处方被估计为不必要，所引研究该估计来自2014—2015年。这是美国门诊处方比例，不是中国大学生的发生率，其余格子也不代表全部合理。</a:t>
            </a:r>
          </a:p>
          <a:p>
            <a:r>
              <a:t>右边换成五个急诊图标：CDC介绍，药物相关急诊中，约五次就有一次来自抗生素反应。常见副作用包括皮疹、恶心、腹泻，严重时可出现严重过敏等。这里数的是药物反应相关急诊，不是所有急诊，不是说五个吃抗生素的人就有一个进急诊，也不能把所有这些事件都归为滥用。</a:t>
            </a:r>
          </a:p>
          <a:p>
            <a:r>
              <a:t>【留15秒读五个图标；问：若治疗不需要，额外承担这样的风险值不值？停10秒】</a:t>
            </a:r>
          </a:p>
          <a:p>
            <a:r>
              <a:t>甲：两幅图分别展示不必要的处方与药物反应造成的急诊负担，不能相乘推算个人概率。我们要带走的是：没有需要时吃抗生素，未必得到预期获益，却仍可能遇到副作用；确实需要时，规范使用的获益可以超过风险，不自行停药。下一页把结论换成三个实际动作。</a:t>
            </a:r>
          </a:p>
          <a:p/>
          <a:p>
            <a:r>
              <a:t>视觉说明：双图并排：左侧100格中28格珊瑚红高亮，右侧五个急诊图标中一个红色突出抗生素反应。正文写清药物副作用导致的急诊这一分母；数据年份、范围和来源保留在备注和附页。</a:t>
            </a:r>
          </a:p>
          <a:p/>
          <a:p>
            <a:r>
              <a:t>参考：</a:t>
            </a:r>
          </a:p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第12页｜甲主讲｜建议80秒</a:t>
            </a:r>
          </a:p>
          <a:p/>
          <a:p/>
          <a:p>
            <a:r>
              <a:t>甲：数据看完，回到这位同学的药箱。第一，看见感冒症状，不自动把抗生素当作备用保险，先明确是否需要。第二，室友说这盒我吃着有效，不代表适合自己；相似症状可能来自不同原因，不接室友剩药，也不分享自己的处方。第三，确实需要时按具体处方的剂量、间隔与疗程执行，疗效或不良反应有疑问就咨询，不自己缩短、延长或加量。</a:t>
            </a:r>
          </a:p>
          <a:p>
            <a:r>
              <a:t>【停顿10秒，让大家看三张动作卡，选一个最容易忘记的动作】</a:t>
            </a:r>
          </a:p>
          <a:p>
            <a:r>
              <a:t>甲：真正减少可避免风险的，是把这三个动作做出来。</a:t>
            </a:r>
          </a:p>
          <a:p/>
          <a:p>
            <a:r>
              <a:t>视觉说明：三张无插图行动卡，标题与解释以字号、留白和底色组织。</a:t>
            </a:r>
          </a:p>
          <a:p/>
          <a:p>
            <a:r>
              <a:t>参考：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第13页｜甲主讲｜建议90秒</a:t>
            </a:r>
          </a:p>
          <a:p>
            <a:r>
              <a:t>甲主讲至此页末；预计累计15分55秒，交给乙接着讲组胺机制。</a:t>
            </a:r>
          </a:p>
          <a:p/>
          <a:p>
            <a:r>
              <a:t>甲：第三个案例换到课堂。晓岚用了抗过敏药，终于不用一直擦鼻涕，却开始听不清老师在讲什么。先看两幅画，同一种用药经历带来了两个结果：鼻部舒服了，精神却不如平时。药物的治疗作用和其他影响可能同时出现。不是所有抗过敏药都一样，也不是人人都会困。</a:t>
            </a:r>
          </a:p>
          <a:p>
            <a:r>
              <a:t>【留15秒看两幅图；请大家用一句话描述前后变化，再给10秒思考：下午有课、晚上要骑车，会向药师补充什么信息？】</a:t>
            </a:r>
          </a:p>
          <a:p>
            <a:r>
              <a:t>甲：先查具体药品的嗜睡提示，把上课、通勤和其他用药告诉药师；已经困倦或反应变慢时，避开驾驶、骑车等高风险活动。别靠咖啡或酒精自行抵消这种感觉。为什么鼻子与清醒程度会同时受影响？下面交给乙，从组胺信号的两个位置来解释。</a:t>
            </a:r>
          </a:p>
          <a:p/>
          <a:p>
            <a:r>
              <a:t>视觉说明：晓岚的两幅编辑场景：鼻部症状缓解与课堂困倦；短发、青绿开衫，区别于其他主角。</a:t>
            </a:r>
          </a:p>
          <a:p/>
          <a:p>
            <a:r>
              <a:t>参考：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support_scenes.png｜R1C1｜晓岚鼻部症状缓解</a:t>
            </a:r>
          </a:p>
          <a:p>
            <a:r>
              <a:t>support_scenes.png｜R1C2｜晓岚课堂困倦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第14页｜乙主讲｜建议65秒</a:t>
            </a:r>
          </a:p>
          <a:p/>
          <a:p/>
          <a:p>
            <a:r>
              <a:t>乙：左侧是鼻黏膜。过敏反应中释放的组胺，可通过H1相关作用引起鼻痒、喷嚏和流涕；抗组胺药降低这些作用，缓解部分症状。右侧是脑微血管与神经元。血脑屏障主要由紧密连接的微血管内皮等结构形成，并不对所有药物完全封闭。部分抗组胺药可进入脑内，影响参与清醒的H1信号，因此可能嗜睡。不是鼻部的组胺一路跑到脑内，也不是所有药都会一样。困倦时避开驾驶、骑车等活动，具体选择看说明书或问药师。</a:t>
            </a:r>
          </a:p>
          <a:p>
            <a:r>
              <a:t>【图形核验说明，不逐字朗读】鼻部图的上方为纤毛上皮，下方为固有层、肥大细胞及感觉神经；金色点代表组胺。脑部图的红色细胞位于血管腔内，内皮、基底膜及外侧支持结构将血液与脑组织分开；蓝色点代表药物分子。紫色膜上位置为H1受体的功能标记，并非原子结构或真实配体对接模型。H1抗组胺药按资料为反向激动剂，可稳定受体非活化状态，不画成清除组胺或阻止组胺释放。两图为教学层次示意，不表达组织或分子尺度比例，不表示所有抗组胺药同样入脑。</a:t>
            </a:r>
          </a:p>
          <a:p/>
          <a:p>
            <a:r>
              <a:t>视觉说明：两幅独立渲染的精细医学科普插图：鼻黏膜组织与感觉神经、脑微血管血脑屏障与神经元。去掉动漫头像和几何器官，保留可编辑组胺、H1受体、药物分子、血脑屏障标注；不呈现猜测的原子结构或整颗药片穿越屏障。</a:t>
            </a:r>
          </a:p>
          <a:p/>
          <a:p>
            <a:r>
              <a:t>参考：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[S14] Simons FER, Simons KJ. H1 Antihistamines: Current Status and Future Directions. World Allergy Organ J. 2008;1:145–155.</a:t>
            </a:r>
          </a:p>
          <a:p>
            <a:r>
              <a:t>https://pmc.ncbi.nlm.nih.gov/articles/PMC3650962/</a:t>
            </a:r>
          </a:p>
          <a:p>
            <a:r>
              <a:t>[S17] Anatomy and Physiology of the Blood-Brain Barrier（脑微血管内皮、紧密连接与支持结构）</a:t>
            </a:r>
          </a:p>
          <a:p>
            <a:r>
              <a:t>https://pmc.ncbi.nlm.nih.gov/articles/PMC4397166/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nasal_histamine.png｜FULL｜鼻部症状缓解路径</a:t>
            </a:r>
          </a:p>
          <a:p>
            <a:r>
              <a:t>brain_bbb_h1.png｜FULL｜可能嗜睡的脑内路径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第15页｜乙主讲｜建议150秒</a:t>
            </a:r>
          </a:p>
          <a:p>
            <a:r>
              <a:t>同桌讨论20秒＋举手约25秒；答案口头公布，不追问开放观点。</a:t>
            </a:r>
          </a:p>
          <a:p/>
          <a:p>
            <a:r>
              <a:t>乙：先来一条聚餐邀请。阿明今天服过抗过敏药，但具体饮酒要求没确认。A建议垫肚子并错开时间，B建议按经验少喝，C建议先换白水再核药名。哪条消息先处理了现在的未知？</a:t>
            </a:r>
          </a:p>
          <a:p>
            <a:r>
              <a:t>【同桌讨论20秒，随后静默10秒；A、B、C依次举手，各约5秒】</a:t>
            </a:r>
          </a:p>
          <a:p>
            <a:r>
              <a:t>乙：可以再想十秒：你选的是让自己感觉更放心的安排，还是获取这盒药实际要求的动作？甲只观察，不现场宣布答案，也不问个人用药史。把选择留住，下一页我们让阿明真的走进聚餐，看看这条消息怎样变成行动。</a:t>
            </a:r>
          </a:p>
          <a:p/>
          <a:p>
            <a:r>
              <a:t>视觉说明：全宽等权选择卡，无人物配图；仅保留题型和判断标准，不按答案区别格式。</a:t>
            </a:r>
          </a:p>
          <a:p/>
          <a:p>
            <a:r>
              <a:t>参考：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第16页｜乙主讲｜建议150秒</a:t>
            </a:r>
          </a:p>
          <a:p/>
          <a:p/>
          <a:p>
            <a:r>
              <a:t>乙：现在把刚才群聊题的答案放回实际聚餐。第一格，阿明白天服过抗过敏药；第二格，室友端来酒杯说就一点；第三格，阿明先换成白水，把具体药名和饮酒要求核实。答案C不是一个显得规矩的口号，而是给信息缺口留出一个核实动作。</a:t>
            </a:r>
          </a:p>
          <a:p>
            <a:r>
              <a:t>【甲演室友：先吃点东西再喝，行不行？乙：这不能证明这个药与酒精合用安全。甲：那等两小时呢？乙：也没有适用于所有药物的统一等待时间。留约20秒表演及停顿】</a:t>
            </a:r>
          </a:p>
          <a:p>
            <a:r>
              <a:t>乙：酒精与部分具有镇静作用的药物合用，可能增加嗜睡及反应受损风险；不同药物还可能有其他相互作用，具体看说明书或问药师。普通口服片剂或胶囊通常用白水，含服、咀嚼等剂型另有要求，仍以具体说明为准。下一步把这些判断整理成看、核、问、记。</a:t>
            </a:r>
          </a:p>
          <a:p/>
          <a:p>
            <a:r>
              <a:t>视觉说明：阿明的成熟编辑三格：白天服药、聚餐被劝酒、选白水查说明书；短发、米色外衫，成年人群互动。</a:t>
            </a:r>
          </a:p>
          <a:p/>
          <a:p>
            <a:r>
              <a:t>参考：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>
            <a:r>
              <a:t>[S13] NHS. Omeprazole.</a:t>
            </a:r>
          </a:p>
          <a:p>
            <a:r>
              <a:t>https://www.nhs.uk/medicines/omeprazole/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key_stories.png｜R2C1｜白天服药与聚餐邀请</a:t>
            </a:r>
          </a:p>
          <a:p>
            <a:r>
              <a:t>key_stories.png｜R2C2｜室友劝酒</a:t>
            </a:r>
          </a:p>
          <a:p>
            <a:r>
              <a:t>key_stories.png｜R2C3｜选白水并查说明书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第17页｜乙主讲｜建议60秒</a:t>
            </a:r>
          </a:p>
          <a:p/>
          <a:p/>
          <a:p>
            <a:r>
              <a:t>乙：第三部分，我们把前面的例子浓缩成四个动作：看、核、问、记。看，是观察症状，也看说明书和需要就医的信号。核，是核对成分有没有重复，剂量与时间是否符合要求，自己有没有相关禁忌。问，是把不确定的地方交给医生或药师确认，不用猜测填空。记，是记录已经用过的药、时间、用量以及出现的反应。上一题选C，就把“这盒药能不能配酒”的不确定性变成了一个清楚的咨询问题。这四步是课堂助记法，不是替代诊疗的专业流程。</a:t>
            </a:r>
          </a:p>
          <a:p>
            <a:r>
              <a:t>乙：下一页从“看”开始，把说明书里会影响判断的信息找出来。</a:t>
            </a:r>
          </a:p>
          <a:p/>
          <a:p>
            <a:r>
              <a:t>视觉说明：无插图四格方法框架，放大看核问记。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第18页｜乙主讲｜建议90秒</a:t>
            </a:r>
          </a:p>
          <a:p/>
          <a:p/>
          <a:p>
            <a:r>
              <a:t>乙：看到密密麻麻的说明书，不少人的反应是只找“一次几片”。更有效的办法，是先定位六类信息。第一，成分和通用名，解决“我究竟在吃什么”。第二，适应证，确认它用于什么情况。第三，用法用量，包含每次多少、间隔多久以及如何服用。第四，禁忌和注意事项，查看过敏史、既往疾病和特殊人群等相关要求。第五，相互作用与不良反应，看看与其他药物、食物饮料是否存在需要注意的地方。第六，贮藏条件和有效期，确认药品是否仍适合使用。</a:t>
            </a:r>
          </a:p>
          <a:p>
            <a:r>
              <a:t>这张是重新设计的阅读示意，不是实际产品的说明书，也不能替代完整说明书。如果处方要求与自己的理解不一致，应向开方医生或药师核实，而不是自己随意选一种理解执行。</a:t>
            </a:r>
          </a:p>
          <a:p>
            <a:r>
              <a:t>乙：找到用法以后，还要避免自己随意改变它，下一页看三个常见做法。</a:t>
            </a:r>
          </a:p>
          <a:p/>
          <a:p>
            <a:r>
              <a:t>视觉说明：无人物六张阅读卡，实际栏目与判断问题对应。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第19页｜乙主讲｜建议70秒</a:t>
            </a:r>
          </a:p>
          <a:p/>
          <a:p/>
          <a:p>
            <a:r>
              <a:t>乙：用药过程中的很多问题，不是药选错了，而是自己改变了使用方式。比如漏了一次，不要自动理解成下次吃双倍。不同药物的处理方法不同，先查说明书，拿不准就问药师。再比如疗程，按处方使用，同时留意症状与反应；出现疑问要及时沟通，不能自行加量或延长。还有剂型，一些缓释或肠溶制剂依赖特定结构控制释放位置和速度，随意掰碎、咀嚼或打开胶囊，可能改变原先设计。也不是说所有带刻痕的药都不能分，而是能不能分、怎样分，应以具体产品说明为准。</a:t>
            </a:r>
          </a:p>
          <a:p>
            <a:r>
              <a:t>乙：核对后仍拿不准，就带着具体信息去问。下一页把咨询整理成三句话。</a:t>
            </a:r>
          </a:p>
          <a:p/>
          <a:p>
            <a:r>
              <a:t>视觉说明：轻量手部与完整药板、说明书、时钟场景，配三张使用要求卡。</a:t>
            </a:r>
          </a:p>
          <a:p/>
          <a:p>
            <a:r>
              <a:t>参考：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>
            <a:r>
              <a:t>[S10] NHS Specialist Pharmacy Service. Advising on missed or delayed doses of medicines.</a:t>
            </a:r>
          </a:p>
          <a:p>
            <a:r>
              <a:t>https://sps.nhs.uk/articles/advising-on-missed-or-delayed-doses-of-medicines/</a:t>
            </a:r>
          </a:p>
          <a:p>
            <a:r>
              <a:t>[S13] NHS. Omeprazole.</a:t>
            </a:r>
          </a:p>
          <a:p>
            <a:r>
              <a:t>https://www.nhs.uk/medicines/omeprazole/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support_scenes.png｜R2C2｜手部核对完整药板与说明书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第20页｜乙主讲｜建议60秒</a:t>
            </a:r>
          </a:p>
          <a:p/>
          <a:p/>
          <a:p>
            <a:r>
              <a:t>乙：咨询是否有效，很大程度取决于我们提供的信息。可以按三句话组织。第一，我有什么症状，持续多久，正在变好还是加重。第二，我正在使用哪些药物或保健食品，具体药名和规格是什么，已经什么时候用了多少。第三，我有哪些已知药物过敏史、既往疾病或特殊情况。最好把药盒和说明书带上，或者拍清楚成分、规格和用法用量。只说“那种白色药片”，专业人员也难以准确判断。如果需要描述私密情况，可以单独咨询，不必在课堂或宿舍群里公开。</a:t>
            </a:r>
          </a:p>
          <a:p>
            <a:r>
              <a:t>乙：但出现严重信号时，优先求助，不把常规咨询当作等待的理由。下一页区分几种行动。</a:t>
            </a:r>
          </a:p>
          <a:p/>
          <a:p>
            <a:r>
              <a:t>视觉说明：成年学生与年长药师的编辑式咨询场景，配三条需要说明的信息。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support_scenes.png｜R3C1｜成年学生咨询药师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第21页｜乙主讲｜建议75秒</a:t>
            </a:r>
          </a:p>
          <a:p/>
          <a:p/>
          <a:p>
            <a:r>
              <a:t>乙：合理用药还包括知道什么时候停止自己试错。用药后出现呼吸困难、喉部或舌头肿胀、明显意识异常等情况，可能是严重反应，应立即寻求急救，在国内拨打120。不要靠继续加药来压住症状。怀疑超量或误服，也要及时获得医疗帮助，有些问题并不一定马上表现出来。就诊时带上药盒和已经服用的时间、用量记录。如果不是急症，但症状持续、反复或越来越重，也应该按药品说明书的就医提示及时就诊。我们列的是几个重要信号，不是完整清单，更不是要大家在宿舍自行鉴别各种严重疾病。</a:t>
            </a:r>
          </a:p>
          <a:p>
            <a:r>
              <a:t>乙：无论咨询还是就医，都需要说清用过什么。下一页把这份信息留在药箱和记录里。</a:t>
            </a:r>
          </a:p>
          <a:p/>
          <a:p>
            <a:r>
              <a:t>视觉说明：无插图的120重点警示块与两张就医信息卡，保留严重信号与行动。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[S11] CDC. Manage Common Cold.</a:t>
            </a:r>
          </a:p>
          <a:p>
            <a:r>
              <a:t>https://www.cdc.gov/common-cold/treatment/index.html</a:t>
            </a:r>
          </a:p>
          <a:p>
            <a:r>
              <a:t>[S12] NHS. Anaphylaxis.</a:t>
            </a:r>
          </a:p>
          <a:p>
            <a:r>
              <a:t>https://www.nhs.uk/conditions/anaphylaxis/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第22页｜乙主讲｜建议65秒</a:t>
            </a:r>
          </a:p>
          <a:p/>
          <a:p/>
          <a:p>
            <a:r>
              <a:t>乙：说到药箱，最重要的不是囤得多，而是需要时能认清。药品尽量保留原包装和说明书，避免把不同药片混在一个没有标签的小盒子里。检查有效期，也检查包装上的贮藏要求，不能把“放冰箱”当作所有药物的统一保存方法。自己的处方药不要分享给室友，过期或不再需要的药品按当地药品回收或分类要求处理。再保留一个简单的用药记录，例如手机备忘录，写药名、时间、用量和反应。这样复诊或咨询时，信息会比凭印象回忆更准确。</a:t>
            </a:r>
          </a:p>
          <a:p>
            <a:r>
              <a:t>乙：包装、说明书和记录留齐后，前面四个案例就能对应到具体动作。</a:t>
            </a:r>
          </a:p>
          <a:p/>
          <a:p>
            <a:r>
              <a:t>视觉说明：无人物药箱管理卡与药名、时间、用量、反应四项记录栏。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第23页｜乙主讲｜建议60秒</a:t>
            </a:r>
          </a:p>
          <a:p/>
          <a:p/>
          <a:p>
            <a:r>
              <a:t>乙：挑战前，把四个情境换成四个动作：感冒药想叠加，先核成分；感冒想到抗生素，先确认是否需要；抗过敏后困倦，查提示并避开高风险活动；服药后聚餐，先核实饮酒要求。这些动作都在刚才的案例里出现过，不用背一串药名。最后的小测把它们组合起来，练习在信息缺口前停一下。</a:t>
            </a:r>
          </a:p>
          <a:p/>
          <a:p>
            <a:r>
              <a:t>视觉说明：无人物情境到行动的配对带，衔接综合练习。</a:t>
            </a:r>
          </a:p>
          <a:p/>
          <a:p>
            <a:r>
              <a:t>参考：</a:t>
            </a:r>
          </a:p>
          <a:p/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第24页｜乙主讲｜建议60秒</a:t>
            </a:r>
          </a:p>
          <a:p/>
          <a:p/>
          <a:p>
            <a:r>
              <a:t>乙：最后进入综合挑战，换一位同学小林。看三幅分镜：她今天已经服用一种复方感冒药，晚上觉得还没完全舒服，想再加另一盒，同时准备去聚餐。现在两盒药的成分没有核对，饮酒要求也不清楚，症状目前较轻，没有我们刚才提到的严重急症表现。这里不要求大家诊断她得了什么病，也不要求给她开药，只选一个更稳妥的下一步方案。图片里请记住三个线索：已经服过药、还没核对成分、聚餐可能喝酒。下一页有三个方案，答案不会藏在复杂医学知识里。</a:t>
            </a:r>
          </a:p>
          <a:p/>
          <a:p>
            <a:r>
              <a:t>视觉说明：小林的编辑三格：已服药、想加第二盒、准备聚餐；长辫、橄榄绿外套，情境未提前解决。</a:t>
            </a:r>
          </a:p>
          <a:p/>
          <a:p>
            <a:r>
              <a:t>参考：</a:t>
            </a:r>
          </a:p>
          <a:p/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key_stories.png｜R3C1｜已服药</a:t>
            </a:r>
          </a:p>
          <a:p>
            <a:r>
              <a:t>key_stories.png｜R3C2｜想加第二盒</a:t>
            </a:r>
          </a:p>
          <a:p>
            <a:r>
              <a:t>key_stories.png｜R3C3｜准备聚餐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第25页｜乙主讲｜建议90秒</a:t>
            </a:r>
          </a:p>
          <a:p>
            <a:r>
              <a:t>阅读10秒＋举手约25秒；甲负责观察，乙主讲。</a:t>
            </a:r>
          </a:p>
          <a:p/>
          <a:p>
            <a:r>
              <a:t>乙：这次可以采纳多条建议。A处理聚餐饮酒的不确定性，B准备药盒和已服记录，C沿用上次经验调整第二盒的时间。请判断哪些能补齐题目里的未知信息，再把采纳的建议拼成小林今晚的计划。</a:t>
            </a:r>
          </a:p>
          <a:p>
            <a:r>
              <a:t>【静默10秒；依次举手各约5秒，可以多次举手】</a:t>
            </a:r>
          </a:p>
          <a:p>
            <a:r>
              <a:t>乙：先保留选择。下一页分别核对饮酒、成分与已服情况，不用靠哪个选项最长来猜。</a:t>
            </a:r>
          </a:p>
          <a:p/>
          <a:p>
            <a:r>
              <a:t>视觉说明：全宽等权选择卡，无人物配图；仅保留题型和判断标准，不按答案区别格式。</a:t>
            </a:r>
          </a:p>
          <a:p/>
          <a:p>
            <a:r>
              <a:t>参考：</a:t>
            </a:r>
          </a:p>
          <a:p/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第26页｜乙主讲｜建议90秒</a:t>
            </a:r>
          </a:p>
          <a:p>
            <a:r>
              <a:t>乙揭晓；甲补充就医边界约15秒，再交回乙。</a:t>
            </a:r>
          </a:p>
          <a:p/>
          <a:p>
            <a:r>
              <a:t>乙：A与B可以一起采纳。A在饮酒要求明确之前先不喝，B把具体药名、规格、成分、何时用了多少一起交给药师核对。C沿用上次经验把药改到睡前，没有解决现在的重复成分和累计使用问题。</a:t>
            </a:r>
          </a:p>
          <a:p>
            <a:r>
              <a:t>甲：症状持续、加重或出现呼吸困难、意识异常等急症表现，要转为就医或急救。</a:t>
            </a:r>
          </a:p>
          <a:p>
            <a:r>
              <a:t>乙：两条建议拼成完整行动，才比一个听起来谨慎的安排更有依据。</a:t>
            </a:r>
          </a:p>
          <a:p/>
          <a:p>
            <a:r>
              <a:t>视觉说明：A与B结论块、两张行动卡与一张辨析卡，删除杯子与纸张装饰图。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>
            <a:r>
              <a:t>[S11] CDC. Manage Common Cold.</a:t>
            </a:r>
          </a:p>
          <a:p>
            <a:r>
              <a:t>https://www.cdc.gov/common-cold/treatment/index.html</a:t>
            </a:r>
          </a:p>
          <a:p>
            <a:r>
              <a:t>[S12] NHS. Anaphylaxis.</a:t>
            </a:r>
          </a:p>
          <a:p>
            <a:r>
              <a:t>https://www.nhs.uk/conditions/anaphylaxis/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第27页｜乙主讲｜建议60秒</a:t>
            </a:r>
          </a:p>
          <a:p>
            <a:r>
              <a:t>甲乙共同收尾；参考文献附页不逐页讲解。</a:t>
            </a:r>
          </a:p>
          <a:p/>
          <a:p>
            <a:r>
              <a:t>乙：最后，我们把今天的内容收在三句话里。第一，先看说明书，再做用药决定，不让包装和熟悉感替我们判断。第二，核对重复成分，并记录已经服用的药物、时间、用量与反应。第三，遇到不确定的信息，向医生或药师询问；该就医的时候，不继续靠自己试药。</a:t>
            </a:r>
          </a:p>
          <a:p>
            <a:r>
              <a:t>甲：希望下一次室友拿出药盒时，大家能多做一个核对动作，多问一个具体问题。</a:t>
            </a:r>
          </a:p>
          <a:p>
            <a:r>
              <a:t>乙：药可以常备，判断不能省略。谢谢大家。我们的数据出处和参考资料放在后面的附页，方便课后查阅。</a:t>
            </a:r>
          </a:p>
          <a:p>
            <a:r>
              <a:t>【留出约10秒结束停顿；不在35分钟内另加开放讨论。】</a:t>
            </a:r>
          </a:p>
          <a:p/>
          <a:p>
            <a:r>
              <a:t>视觉说明：无插图的大字结论和三条行动带，杂志式留白呼应封面。</a:t>
            </a:r>
          </a:p>
          <a:p/>
          <a:p>
            <a:r>
              <a:t>参考：</a:t>
            </a:r>
          </a:p>
          <a:p/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参考文献附页，不逐页讲解。</a:t>
            </a:r>
          </a:p>
          <a:p/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/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[S4] CDC. Healthy Habits: Antibiotic Do’s and Don’ts.</a:t>
            </a:r>
          </a:p>
          <a:p>
            <a:r>
              <a:t>https://www.cdc.gov/antibiotic-use/about/</a:t>
            </a:r>
          </a:p>
          <a:p/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/>
          <a:p>
            <a:r>
              <a:t>[S8] NHS. Antihistamines.</a:t>
            </a:r>
          </a:p>
          <a:p>
            <a:r>
              <a:t>https://www.nhs.uk/medicines/antihistamines/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参考文献附页，不逐页讲解。</a:t>
            </a:r>
          </a:p>
          <a:p/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[S10] NHS Specialist Pharmacy Service. Advising on missed or delayed doses of medicines.</a:t>
            </a:r>
          </a:p>
          <a:p>
            <a:r>
              <a:t>https://sps.nhs.uk/articles/advising-on-missed-or-delayed-doses-of-medicines/</a:t>
            </a:r>
          </a:p>
          <a:p/>
          <a:p>
            <a:r>
              <a:t>[S11] CDC. Manage Common Cold.</a:t>
            </a:r>
          </a:p>
          <a:p>
            <a:r>
              <a:t>https://www.cdc.gov/common-cold/treatment/index.html</a:t>
            </a:r>
          </a:p>
          <a:p/>
          <a:p>
            <a:r>
              <a:t>[S12] NHS. Anaphylaxis.</a:t>
            </a:r>
          </a:p>
          <a:p>
            <a:r>
              <a:t>https://www.nhs.uk/conditions/anaphylaxis/</a:t>
            </a:r>
          </a:p>
          <a:p/>
          <a:p>
            <a:r>
              <a:t>[S13] NHS. Omeprazole.</a:t>
            </a:r>
          </a:p>
          <a:p>
            <a:r>
              <a:t>https://www.nhs.uk/medicines/omeprazole/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参考文献附页，不逐页讲解。</a:t>
            </a:r>
          </a:p>
          <a:p/>
          <a:p>
            <a:r>
              <a:t>[S14] Simons FER, Simons KJ. H1 Antihistamines: Current Status and Future Directions. World Allergy Organ J. 2008;1:145–155.</a:t>
            </a:r>
          </a:p>
          <a:p>
            <a:r>
              <a:t>https://pmc.ncbi.nlm.nih.gov/articles/PMC3650962/</a:t>
            </a:r>
          </a:p>
          <a:p/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/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[S17] Anatomy and Physiology of the Blood-Brain Barrier（脑微血管内皮、紧密连接与支持结构）</a:t>
            </a:r>
          </a:p>
          <a:p>
            <a:r>
              <a:t>https://pmc.ncbi.nlm.nih.gov/articles/PMC4397166/</a:t>
            </a:r>
          </a:p>
          <a:p/>
          <a:p>
            <a:r>
              <a:t>[S18] OpenStax. Microbiology 3.3: Unique Characteristics of Prokaryotic Cells.</a:t>
            </a:r>
          </a:p>
          <a:p>
            <a:r>
              <a:t>https://openstax.org/books/microbiology/pages/3-3-unique-characteristics-of-prokaryotic-cells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参考文献附页，不逐页讲解。</a:t>
            </a:r>
          </a:p>
          <a:p/>
          <a:p>
            <a:r>
              <a:t>[S19] Rhinoviruses（鼻病毒无包膜、二十面体衣壳与单链RNA）</a:t>
            </a:r>
          </a:p>
          <a:p>
            <a:r>
              <a:t>https://pmc.ncbi.nlm.nih.gov/articles/PMC7173525/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插图素材附页，不逐页讲解。</a:t>
            </a:r>
          </a:p>
          <a:p/>
          <a:p>
            <a:r>
              <a:t>key_stories.png｜小周、阿明与小林的三个重点故事｜2026-10-13</a:t>
            </a:r>
          </a:p>
          <a:p>
            <a:r>
              <a:t>support_scenes.png｜晓岚的课堂故事与三个轻量场景｜2026-10-13</a:t>
            </a:r>
          </a:p>
          <a:p>
            <a:r>
              <a:t>nasal_histamine.png｜鼻黏膜、组胺与感觉神经作用对象｜2026-10-13</a:t>
            </a:r>
          </a:p>
          <a:p>
            <a:r>
              <a:t>brain_bbb_h1.png｜脑微血管、血脑屏障与脑内H1作用对象｜2026-10-13</a:t>
            </a:r>
          </a:p>
          <a:p>
            <a:r>
              <a:t>bacterial_cell.png｜细菌细胞结构示意｜2026-10-13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插图素材附页，不逐页讲解。</a:t>
            </a:r>
          </a:p>
          <a:p/>
          <a:p>
            <a:r>
              <a:t>rhinovirus.png｜鼻病毒衣壳与RNA示意｜2026-10-13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3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6.xml"/><Relationship Id="rId4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7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9.xml"/><Relationship Id="rId4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2.xml"/><Relationship Id="rId4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3.xml"/><Relationship Id="rId4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7.xml"/><Relationship Id="rId4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73952" cy="6858000"/>
          </a:xfrm>
          <a:prstGeom prst="rect">
            <a:avLst/>
          </a:prstGeom>
          <a:gradFill rotWithShape="1">
            <a:gsLst>
              <a:gs pos="0">
                <a:srgbClr val="203D4D"/>
              </a:gs>
              <a:gs pos="100000">
                <a:srgbClr val="315A6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5504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8F5EE"/>
                </a:solidFill>
                <a:latin typeface="Noto Sans CJK SC"/>
              </a:defRPr>
            </a:pPr>
            <a:r>
              <a:t>苏州大学 · 校园用药课堂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508760"/>
            <a:ext cx="54864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200" b="1">
                <a:solidFill>
                  <a:srgbClr val="F8F5EE"/>
                </a:solidFill>
                <a:latin typeface="Noto Sans CJK SC"/>
              </a:defRPr>
            </a:pPr>
            <a:r>
              <a:t>合理用药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3209544"/>
            <a:ext cx="54864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8F5EE"/>
                </a:solidFill>
                <a:latin typeface="Noto Sans CJK SC"/>
              </a:defRPr>
            </a:pPr>
            <a:r>
              <a:t>给宿舍药箱上堂课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828800"/>
            <a:ext cx="4462272" cy="142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234453"/>
                </a:solidFill>
                <a:latin typeface="Noto Sans CJK SC"/>
              </a:defRPr>
            </a:pPr>
            <a:r>
              <a:t>从一次“吃什么药”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34453"/>
                </a:solidFill>
                <a:latin typeface="Noto Sans CJK SC"/>
              </a:defRPr>
            </a:pPr>
            <a:r>
              <a:t>到一个有依据的决定。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791456"/>
            <a:ext cx="10991088" cy="93268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065776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34453"/>
                </a:solidFill>
                <a:latin typeface="Noto Sans CJK SC"/>
              </a:defRPr>
            </a:pPr>
            <a:r>
              <a:t>看说明书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5065776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34453"/>
                </a:solidFill>
                <a:latin typeface="Noto Sans CJK SC"/>
              </a:defRPr>
            </a:pPr>
            <a:r>
              <a:t>核对成分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5065776"/>
            <a:ext cx="9144" cy="356616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5065776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34453"/>
                </a:solidFill>
                <a:latin typeface="Noto Sans CJK SC"/>
              </a:defRPr>
            </a:pPr>
            <a:r>
              <a:t>问清疑点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5065776"/>
            <a:ext cx="9144" cy="356616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5065776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34453"/>
                </a:solidFill>
                <a:latin typeface="Noto Sans CJK SC"/>
              </a:defRPr>
            </a:pPr>
            <a:r>
              <a:t>留好记录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5065776"/>
            <a:ext cx="9144" cy="356616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8F5EE"/>
                </a:solidFill>
                <a:latin typeface="Noto Sans CJK SC"/>
              </a:defRPr>
            </a:pPr>
            <a:r>
              <a:t>主讲：同学甲 / 同学乙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38251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34453"/>
                </a:solidFill>
                <a:latin typeface="Noto Sans CJK SC"/>
              </a:defRPr>
            </a:pPr>
            <a:r>
              <a:t>35分钟 · 双人展示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01 / 基本原则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今天的路线：从会判断，到会行动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全程约35分钟，已包含举手互动。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10991088" cy="822960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02536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D65162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048255"/>
            <a:ext cx="6035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34453"/>
                </a:solidFill>
                <a:latin typeface="Noto Sans CJK SC"/>
              </a:defRPr>
            </a:pPr>
            <a:r>
              <a:t>基本原则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1432" y="2084831"/>
            <a:ext cx="20299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5分钟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843784"/>
            <a:ext cx="10991088" cy="822960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97180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D65162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017520"/>
            <a:ext cx="6035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34453"/>
                </a:solidFill>
                <a:latin typeface="Noto Sans CJK SC"/>
              </a:defRPr>
            </a:pPr>
            <a:r>
              <a:t>宿舍误区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3054096"/>
            <a:ext cx="20299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17分钟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13048"/>
            <a:ext cx="10991088" cy="822960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941063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D65162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986784"/>
            <a:ext cx="6035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34453"/>
                </a:solidFill>
                <a:latin typeface="Noto Sans CJK SC"/>
              </a:defRPr>
            </a:pPr>
            <a:r>
              <a:t>安全用药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4023360"/>
            <a:ext cx="20299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8分钟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782312"/>
            <a:ext cx="10991088" cy="822960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910328"/>
            <a:ext cx="914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D65162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956048"/>
            <a:ext cx="60350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34453"/>
                </a:solidFill>
                <a:latin typeface="Noto Sans CJK SC"/>
              </a:defRPr>
            </a:pPr>
            <a:r>
              <a:t>选择挑战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4992624"/>
            <a:ext cx="20299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5分钟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01 / 基本原则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室友感冒了，你先做哪一步？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举手选择 A / B / C｜暂不揭晓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03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8944" y="210312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34453"/>
                </a:solidFill>
                <a:latin typeface="Noto Sans CJK SC"/>
              </a:defRPr>
            </a:pPr>
            <a:r>
              <a:t>单选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84248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31136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7632" y="2176272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203704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用上次的剩药，沿用当时吃法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91256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438144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7632" y="3383280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410712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拍清楚药盒，先核对再作决定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398264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64515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4590288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4617720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按最主要症状，先挑一盒试试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01 / 基本原则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合理用药，要同时过四关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刚才选 B：先了解，再决定。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04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47672"/>
            <a:ext cx="5239512" cy="162763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212848"/>
            <a:ext cx="5303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65162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6" y="2130552"/>
            <a:ext cx="398678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34453"/>
                </a:solidFill>
                <a:latin typeface="Noto Sans CJK SC"/>
              </a:defRPr>
            </a:pPr>
            <a:r>
              <a:t>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880360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关注禁忌与不良反应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5936" y="1947672"/>
            <a:ext cx="5239512" cy="162763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12848"/>
            <a:ext cx="5303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65162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130552"/>
            <a:ext cx="398678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34453"/>
                </a:solidFill>
                <a:latin typeface="Noto Sans CJK SC"/>
              </a:defRPr>
            </a:pPr>
            <a:r>
              <a:t>有效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针对真正需要解决的问题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40480"/>
            <a:ext cx="5239512" cy="162763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105656"/>
            <a:ext cx="5303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65162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4023360"/>
            <a:ext cx="398678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34453"/>
                </a:solidFill>
                <a:latin typeface="Noto Sans CJK SC"/>
              </a:defRPr>
            </a:pPr>
            <a:r>
              <a:t>经济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773168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避免不必要的花费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3840480"/>
            <a:ext cx="5239512" cy="162763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05656"/>
            <a:ext cx="5303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65162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4023360"/>
            <a:ext cx="398678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34453"/>
                </a:solidFill>
                <a:latin typeface="Noto Sans CJK SC"/>
              </a:defRPr>
            </a:pPr>
            <a:r>
              <a:t>适宜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73168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适合这个人、这个时机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30936"/>
            <a:ext cx="1099108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0646B"/>
                </a:solidFill>
                <a:latin typeface="Noto Sans CJK SC"/>
              </a:defRPr>
            </a:pPr>
            <a:r>
              <a:t>两盒药，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34453"/>
                </a:solidFill>
                <a:latin typeface="Noto Sans CJK SC"/>
              </a:defRPr>
            </a:pPr>
            <a:r>
              <a:t>是“双保险”还是撞车？</a:t>
            </a:r>
          </a:p>
        </p:txBody>
      </p:sp>
      <p:pic>
        <p:nvPicPr>
          <p:cNvPr id="7" name="EDITORIAL_KEY_R1_C1" descr="image.png"/>
          <p:cNvPicPr>
            <a:picLocks noChangeAspect="1"/>
          </p:cNvPicPr>
          <p:nvPr/>
        </p:nvPicPr>
        <p:blipFill>
          <a:blip r:embed="rId4"/>
          <a:srcRect l="218" r="67470" b="67773"/>
          <a:stretch>
            <a:fillRect/>
          </a:stretch>
        </p:blipFill>
        <p:spPr>
          <a:xfrm>
            <a:off x="0" y="1947672"/>
            <a:ext cx="6092214" cy="40507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8056" y="6181344"/>
            <a:ext cx="5431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头痛还在，要不再加一盒？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9672" y="2240280"/>
            <a:ext cx="2404872" cy="26609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EDITORIAL_KEY_R1_C2" descr="image.png"/>
          <p:cNvPicPr>
            <a:picLocks noChangeAspect="1"/>
          </p:cNvPicPr>
          <p:nvPr/>
        </p:nvPicPr>
        <p:blipFill>
          <a:blip r:embed="rId4"/>
          <a:srcRect l="33844" r="33844" b="67773"/>
          <a:stretch>
            <a:fillRect/>
          </a:stretch>
        </p:blipFill>
        <p:spPr>
          <a:xfrm>
            <a:off x="6519672" y="2240280"/>
            <a:ext cx="2404872" cy="15990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8544" y="4050791"/>
            <a:ext cx="216712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名字不同，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应该不重复吧？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71432" y="2240280"/>
            <a:ext cx="2404872" cy="26609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EDITORIAL_KEY_R1_C3" descr="image.png"/>
          <p:cNvPicPr>
            <a:picLocks noChangeAspect="1"/>
          </p:cNvPicPr>
          <p:nvPr/>
        </p:nvPicPr>
        <p:blipFill>
          <a:blip r:embed="rId4"/>
          <a:srcRect l="67438" r="250" b="67773"/>
          <a:stretch>
            <a:fillRect/>
          </a:stretch>
        </p:blipFill>
        <p:spPr>
          <a:xfrm>
            <a:off x="9171432" y="2240280"/>
            <a:ext cx="2404872" cy="15990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90304" y="4050791"/>
            <a:ext cx="216712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药盒不同，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里面的成分呢？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9672" y="5715000"/>
            <a:ext cx="5056632" cy="749808"/>
          </a:xfrm>
          <a:prstGeom prst="rect">
            <a:avLst/>
          </a:prstGeom>
          <a:gradFill rotWithShape="1">
            <a:gsLst>
              <a:gs pos="0">
                <a:srgbClr val="234655"/>
              </a:gs>
              <a:gs pos="100000">
                <a:srgbClr val="35596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5797296"/>
            <a:ext cx="461772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包装不同，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8F5EE"/>
                </a:solidFill>
                <a:latin typeface="Noto Sans CJK SC"/>
              </a:defRPr>
            </a:pPr>
            <a:r>
              <a:t>也可能含有同一成分。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05 / 27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药盒不同，成分可能“撞车”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同名成分出现两次，是暂停核对的信号｜未确认前不自行叠加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06 / 27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932688" y="1938528"/>
            <a:ext cx="4754880" cy="2916936"/>
          </a:xfrm>
          <a:prstGeom prst="roundRect">
            <a:avLst>
              <a:gd name="adj" fmla="val 10000"/>
            </a:avLst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1179576" y="2112264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34453"/>
                </a:solidFill>
                <a:latin typeface="Noto Sans CJK SC"/>
              </a:rPr>
              <a:t>药盒 A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1179576" y="2560320"/>
            <a:ext cx="4206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34453"/>
                </a:solidFill>
                <a:latin typeface="Noto Sans CJK SC"/>
              </a:rPr>
              <a:t>单方退热止痛药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1152144" y="3026664"/>
            <a:ext cx="4315968" cy="530352"/>
          </a:xfrm>
          <a:prstGeom prst="roundRect">
            <a:avLst>
              <a:gd name="adj" fmla="val 10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1"/>
          <p:cNvSpPr txBox="1"/>
          <p:nvPr/>
        </p:nvSpPr>
        <p:spPr>
          <a:xfrm>
            <a:off x="1243584" y="3090672"/>
            <a:ext cx="41330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CFBF7"/>
                </a:solidFill>
                <a:latin typeface="Noto Sans CJK SC"/>
              </a:rPr>
              <a:t>对乙酰氨基酚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6519672" y="1938528"/>
            <a:ext cx="4754880" cy="2916936"/>
          </a:xfrm>
          <a:prstGeom prst="roundRect">
            <a:avLst>
              <a:gd name="adj" fmla="val 10000"/>
            </a:avLst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3"/>
          <p:cNvSpPr txBox="1"/>
          <p:nvPr/>
        </p:nvSpPr>
        <p:spPr>
          <a:xfrm>
            <a:off x="6766560" y="2112264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234453"/>
                </a:solidFill>
                <a:latin typeface="Noto Sans CJK SC"/>
              </a:rPr>
              <a:t>药盒 B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6766560" y="2560320"/>
            <a:ext cx="42062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34453"/>
                </a:solidFill>
                <a:latin typeface="Noto Sans CJK SC"/>
              </a:rPr>
              <a:t>复方感冒药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6739128" y="3026664"/>
            <a:ext cx="4315968" cy="530352"/>
          </a:xfrm>
          <a:prstGeom prst="roundRect">
            <a:avLst>
              <a:gd name="adj" fmla="val 10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6"/>
          <p:cNvSpPr txBox="1"/>
          <p:nvPr/>
        </p:nvSpPr>
        <p:spPr>
          <a:xfrm>
            <a:off x="6830568" y="3090672"/>
            <a:ext cx="41330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CFBF7"/>
                </a:solidFill>
                <a:latin typeface="Noto Sans CJK SC"/>
              </a:rPr>
              <a:t>对乙酰氨基酚</a:t>
            </a:r>
          </a:p>
        </p:txBody>
      </p:sp>
      <p:sp>
        <p:nvSpPr>
          <p:cNvPr id="19" name="TextBox 17"/>
          <p:cNvSpPr txBox="1"/>
          <p:nvPr/>
        </p:nvSpPr>
        <p:spPr>
          <a:xfrm>
            <a:off x="1188720" y="3968496"/>
            <a:ext cx="42062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234453"/>
                </a:solidFill>
                <a:latin typeface="Noto Sans CJK SC"/>
              </a:rPr>
              <a:t>只有这一种有效成分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6739128" y="3694176"/>
            <a:ext cx="4315968" cy="411480"/>
          </a:xfrm>
          <a:prstGeom prst="roundRect">
            <a:avLst>
              <a:gd name="adj" fmla="val 10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19"/>
          <p:cNvSpPr txBox="1"/>
          <p:nvPr/>
        </p:nvSpPr>
        <p:spPr>
          <a:xfrm>
            <a:off x="6839712" y="373075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FCFBF7"/>
                </a:solidFill>
                <a:latin typeface="Noto Sans CJK SC"/>
              </a:rPr>
              <a:t>马来酸氯苯那敏</a:t>
            </a:r>
          </a:p>
        </p:txBody>
      </p:sp>
      <p:sp>
        <p:nvSpPr>
          <p:cNvPr id="22" name="Rounded Rectangle 20"/>
          <p:cNvSpPr/>
          <p:nvPr/>
        </p:nvSpPr>
        <p:spPr>
          <a:xfrm>
            <a:off x="6739128" y="4215384"/>
            <a:ext cx="4315968" cy="411480"/>
          </a:xfrm>
          <a:prstGeom prst="roundRect">
            <a:avLst>
              <a:gd name="adj" fmla="val 10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1"/>
          <p:cNvSpPr txBox="1"/>
          <p:nvPr/>
        </p:nvSpPr>
        <p:spPr>
          <a:xfrm>
            <a:off x="6839712" y="42519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FCFBF7"/>
                </a:solidFill>
                <a:latin typeface="Noto Sans CJK SC"/>
              </a:rPr>
              <a:t>盐酸伪麻黄碱</a:t>
            </a:r>
          </a:p>
        </p:txBody>
      </p:sp>
      <p:cxnSp>
        <p:nvCxnSpPr>
          <p:cNvPr id="24" name="Connector 22"/>
          <p:cNvCxnSpPr/>
          <p:nvPr/>
        </p:nvCxnSpPr>
        <p:spPr>
          <a:xfrm>
            <a:off x="5468112" y="3291840"/>
            <a:ext cx="411480" cy="0"/>
          </a:xfrm>
          <a:prstGeom prst="line">
            <a:avLst/>
          </a:prstGeom>
          <a:ln w="31750">
            <a:solidFill>
              <a:srgbClr val="D651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3"/>
          <p:cNvCxnSpPr/>
          <p:nvPr/>
        </p:nvCxnSpPr>
        <p:spPr>
          <a:xfrm>
            <a:off x="5879592" y="3291840"/>
            <a:ext cx="0" cy="1481328"/>
          </a:xfrm>
          <a:prstGeom prst="line">
            <a:avLst/>
          </a:prstGeom>
          <a:ln w="31750">
            <a:solidFill>
              <a:srgbClr val="D651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4"/>
          <p:cNvCxnSpPr/>
          <p:nvPr/>
        </p:nvCxnSpPr>
        <p:spPr>
          <a:xfrm flipH="1">
            <a:off x="6309360" y="3291840"/>
            <a:ext cx="429768" cy="0"/>
          </a:xfrm>
          <a:prstGeom prst="line">
            <a:avLst/>
          </a:prstGeom>
          <a:ln w="31750">
            <a:solidFill>
              <a:srgbClr val="D651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5"/>
          <p:cNvCxnSpPr/>
          <p:nvPr/>
        </p:nvCxnSpPr>
        <p:spPr>
          <a:xfrm>
            <a:off x="6309360" y="3291840"/>
            <a:ext cx="0" cy="1481328"/>
          </a:xfrm>
          <a:prstGeom prst="line">
            <a:avLst/>
          </a:prstGeom>
          <a:ln w="31750">
            <a:solidFill>
              <a:srgbClr val="D651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6"/>
          <p:cNvCxnSpPr/>
          <p:nvPr/>
        </p:nvCxnSpPr>
        <p:spPr>
          <a:xfrm>
            <a:off x="5879592" y="4773168"/>
            <a:ext cx="219456" cy="164592"/>
          </a:xfrm>
          <a:prstGeom prst="line">
            <a:avLst/>
          </a:prstGeom>
          <a:ln w="31750">
            <a:solidFill>
              <a:srgbClr val="D651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7"/>
          <p:cNvCxnSpPr/>
          <p:nvPr/>
        </p:nvCxnSpPr>
        <p:spPr>
          <a:xfrm flipH="1">
            <a:off x="6099048" y="4773168"/>
            <a:ext cx="210312" cy="164592"/>
          </a:xfrm>
          <a:prstGeom prst="line">
            <a:avLst/>
          </a:prstGeom>
          <a:ln w="31750">
            <a:solidFill>
              <a:srgbClr val="D651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8"/>
          <p:cNvSpPr/>
          <p:nvPr/>
        </p:nvSpPr>
        <p:spPr>
          <a:xfrm>
            <a:off x="3931920" y="4937760"/>
            <a:ext cx="4343400" cy="402336"/>
          </a:xfrm>
          <a:prstGeom prst="roundRect">
            <a:avLst>
              <a:gd name="adj" fmla="val 10000"/>
            </a:avLst>
          </a:prstGeom>
          <a:solidFill>
            <a:srgbClr val="F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29"/>
          <p:cNvSpPr txBox="1"/>
          <p:nvPr/>
        </p:nvSpPr>
        <p:spPr>
          <a:xfrm>
            <a:off x="4023360" y="4965192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D65162"/>
                </a:solidFill>
                <a:latin typeface="Noto Sans CJK SC"/>
              </a:rPr>
              <a:t>同一成分，来自两盒</a:t>
            </a:r>
          </a:p>
        </p:txBody>
      </p:sp>
      <p:sp>
        <p:nvSpPr>
          <p:cNvPr id="32" name="TextBox 30"/>
          <p:cNvSpPr txBox="1"/>
          <p:nvPr/>
        </p:nvSpPr>
        <p:spPr>
          <a:xfrm>
            <a:off x="1005840" y="5458968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234453"/>
                </a:solidFill>
                <a:latin typeface="Noto Sans CJK SC"/>
              </a:rPr>
              <a:t>① 圈出重复　→　② 核规格与已服情况　→　③ 未确认，不自行叠加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18点吃过药，20点还痛：先补哪条信息？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成分、规格、今天吃过什么：先核清，再决定。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07 / 27</a:t>
            </a:r>
          </a:p>
        </p:txBody>
      </p:sp>
      <p:pic>
        <p:nvPicPr>
          <p:cNvPr id="9" name="EDITORIAL_SUPPORT_R2_C1" descr="image.png"/>
          <p:cNvPicPr>
            <a:picLocks noChangeAspect="1"/>
          </p:cNvPicPr>
          <p:nvPr/>
        </p:nvPicPr>
        <p:blipFill>
          <a:blip r:embed="rId4"/>
          <a:srcRect l="988" t="33105" r="51509" b="35254"/>
          <a:stretch>
            <a:fillRect/>
          </a:stretch>
        </p:blipFill>
        <p:spPr>
          <a:xfrm>
            <a:off x="0" y="2002536"/>
            <a:ext cx="5998464" cy="26636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892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4453"/>
                </a:solidFill>
                <a:latin typeface="Noto Sans CJK SC"/>
              </a:defRPr>
            </a:pPr>
            <a:r>
              <a:t>还缺什么信息？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949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成分、规格与今天的已服情况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7376" y="1993392"/>
            <a:ext cx="5148072" cy="1591056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2203704"/>
            <a:ext cx="4617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D65162"/>
                </a:solidFill>
                <a:latin typeface="Noto Sans CJK SC"/>
              </a:defRPr>
            </a:pPr>
            <a:r>
              <a:t>18:00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944368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已经服过一种复方感冒药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7376" y="3849624"/>
            <a:ext cx="5148072" cy="1591056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4059936"/>
            <a:ext cx="4617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D65162"/>
                </a:solidFill>
                <a:latin typeface="Noto Sans CJK SC"/>
              </a:defRPr>
            </a:pPr>
            <a:r>
              <a:t>20:00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4800600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症状还在，准备加一盒退热药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室友群的三条消息，你给哪条点赞？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可多选 A / B / C｜哪些建议先帮我们补齐判断所需的信息？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08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8944" y="210312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34453"/>
                </a:solidFill>
                <a:latin typeface="Noto Sans CJK SC"/>
              </a:defRPr>
            </a:pPr>
            <a:r>
              <a:t>可多选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84248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31136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7632" y="2176272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203704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拍下两盒成分，圈出相同的名字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91256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438144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7632" y="3383280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410712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按症状拆开安排，把服药时间错开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398264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64515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4590288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4617720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补上今天已服药名、规格与时间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答案 A＋C：先把两类信息凑齐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同成分先不自行叠加；拿着完整信息，再核实下一步。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09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75104"/>
            <a:ext cx="2980944" cy="3767328"/>
          </a:xfrm>
          <a:prstGeom prst="rect">
            <a:avLst/>
          </a:prstGeom>
          <a:gradFill rotWithShape="1">
            <a:gsLst>
              <a:gs pos="0">
                <a:srgbClr val="203F50"/>
              </a:gs>
              <a:gs pos="100000">
                <a:srgbClr val="335C6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14600"/>
            <a:ext cx="248716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100" b="0">
                <a:solidFill>
                  <a:srgbClr val="EEB9AF"/>
                </a:solidFill>
                <a:latin typeface="Noto Sans CJK SC"/>
              </a:defRPr>
            </a:pPr>
            <a:r>
              <a:t>A＋C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05072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把信息补齐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再决定下一步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2776" y="1975104"/>
            <a:ext cx="766267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249424"/>
            <a:ext cx="71871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34453"/>
                </a:solidFill>
                <a:latin typeface="Noto Sans CJK SC"/>
              </a:defRPr>
            </a:pPr>
            <a:r>
              <a:t>A 圈出同名成分，发现可能重复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22776" y="3227832"/>
            <a:ext cx="766267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3502152"/>
            <a:ext cx="71871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34453"/>
                </a:solidFill>
                <a:latin typeface="Noto Sans CJK SC"/>
              </a:defRPr>
            </a:pPr>
            <a:r>
              <a:t>C 补规格和已服记录，核对累计使用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2776" y="4480560"/>
            <a:ext cx="766267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4754880"/>
            <a:ext cx="7187184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34453"/>
                </a:solidFill>
                <a:latin typeface="Noto Sans CJK SC"/>
              </a:defRPr>
            </a:pPr>
            <a:r>
              <a:t>B 错开时间，仍不能代替完整核对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案例②：抗生素，不是感冒的通用答案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普通感冒通常由病毒引起；是否需要抗生素，由医生判断。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10 / 27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77240" y="1947672"/>
            <a:ext cx="5148072" cy="3703320"/>
          </a:xfrm>
          <a:prstGeom prst="roundRect">
            <a:avLst>
              <a:gd name="adj" fmla="val 10000"/>
            </a:avLst>
          </a:prstGeom>
          <a:solidFill>
            <a:srgbClr val="F5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8"/>
          <p:cNvSpPr/>
          <p:nvPr/>
        </p:nvSpPr>
        <p:spPr>
          <a:xfrm>
            <a:off x="6245352" y="1947672"/>
            <a:ext cx="5148072" cy="3703320"/>
          </a:xfrm>
          <a:prstGeom prst="roundRect">
            <a:avLst>
              <a:gd name="adj" fmla="val 10000"/>
            </a:avLst>
          </a:prstGeom>
          <a:solidFill>
            <a:srgbClr val="F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9"/>
          <p:cNvSpPr txBox="1"/>
          <p:nvPr/>
        </p:nvSpPr>
        <p:spPr>
          <a:xfrm>
            <a:off x="1014984" y="2103120"/>
            <a:ext cx="4672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>
                <a:solidFill>
                  <a:srgbClr val="008C82"/>
                </a:solidFill>
                <a:latin typeface="Noto Sans CJK SC"/>
              </a:rPr>
              <a:t>细菌：具有细胞结构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6483096" y="2103120"/>
            <a:ext cx="4672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>
                <a:solidFill>
                  <a:srgbClr val="7952D5"/>
                </a:solidFill>
                <a:latin typeface="Noto Sans CJK SC"/>
              </a:rPr>
              <a:t>鼻病毒：没有细胞结构</a:t>
            </a:r>
          </a:p>
        </p:txBody>
      </p:sp>
      <p:pic>
        <p:nvPicPr>
          <p:cNvPr id="13" name="MEDICAL_BACTERIA" descr="独立渲染的组织层次医学科普插图，结构与解释按参考资料核对；受体标记为功能位置，不是原子结构模型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532888"/>
            <a:ext cx="4663440" cy="3108960"/>
          </a:xfrm>
          <a:prstGeom prst="rect">
            <a:avLst/>
          </a:prstGeom>
        </p:spPr>
      </p:pic>
      <p:pic>
        <p:nvPicPr>
          <p:cNvPr id="14" name="MEDICAL_RHINOVIRUS" descr="独立渲染的组织层次医学科普插图，结构与解释按参考资料核对；受体标记为功能位置，不是原子结构模型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532888"/>
            <a:ext cx="4663440" cy="3108960"/>
          </a:xfrm>
          <a:prstGeom prst="rect">
            <a:avLst/>
          </a:prstGeom>
        </p:spPr>
      </p:pic>
      <p:cxnSp>
        <p:nvCxnSpPr>
          <p:cNvPr id="15" name="Connector 13"/>
          <p:cNvCxnSpPr/>
          <p:nvPr/>
        </p:nvCxnSpPr>
        <p:spPr>
          <a:xfrm>
            <a:off x="2354580" y="2907791"/>
            <a:ext cx="873252" cy="1554481"/>
          </a:xfrm>
          <a:prstGeom prst="line">
            <a:avLst/>
          </a:prstGeom>
          <a:ln w="15240">
            <a:solidFill>
              <a:srgbClr val="2344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4"/>
          <p:cNvSpPr/>
          <p:nvPr/>
        </p:nvSpPr>
        <p:spPr>
          <a:xfrm>
            <a:off x="1965960" y="2738627"/>
            <a:ext cx="777240" cy="32918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5"/>
          <p:cNvSpPr txBox="1"/>
          <p:nvPr/>
        </p:nvSpPr>
        <p:spPr>
          <a:xfrm>
            <a:off x="2002536" y="2752344"/>
            <a:ext cx="7040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234453"/>
                </a:solidFill>
                <a:latin typeface="Noto Sans CJK SC"/>
              </a:rPr>
              <a:t>DNA</a:t>
            </a:r>
          </a:p>
        </p:txBody>
      </p:sp>
      <p:cxnSp>
        <p:nvCxnSpPr>
          <p:cNvPr id="18" name="Connector 16"/>
          <p:cNvCxnSpPr/>
          <p:nvPr/>
        </p:nvCxnSpPr>
        <p:spPr>
          <a:xfrm flipH="1">
            <a:off x="10003536" y="2944368"/>
            <a:ext cx="333756" cy="548640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7"/>
          <p:cNvSpPr/>
          <p:nvPr/>
        </p:nvSpPr>
        <p:spPr>
          <a:xfrm>
            <a:off x="9902952" y="2775203"/>
            <a:ext cx="868680" cy="32918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8"/>
          <p:cNvSpPr txBox="1"/>
          <p:nvPr/>
        </p:nvSpPr>
        <p:spPr>
          <a:xfrm>
            <a:off x="9939528" y="2788920"/>
            <a:ext cx="7955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7952D5"/>
                </a:solidFill>
                <a:latin typeface="Noto Sans CJK SC"/>
              </a:rPr>
              <a:t>衣壳</a:t>
            </a:r>
          </a:p>
        </p:txBody>
      </p:sp>
      <p:cxnSp>
        <p:nvCxnSpPr>
          <p:cNvPr id="21" name="Connector 19"/>
          <p:cNvCxnSpPr/>
          <p:nvPr/>
        </p:nvCxnSpPr>
        <p:spPr>
          <a:xfrm flipH="1" flipV="1">
            <a:off x="9381744" y="4151376"/>
            <a:ext cx="1092708" cy="420624"/>
          </a:xfrm>
          <a:prstGeom prst="line">
            <a:avLst/>
          </a:prstGeom>
          <a:ln w="15240">
            <a:solidFill>
              <a:srgbClr val="2344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0"/>
          <p:cNvSpPr/>
          <p:nvPr/>
        </p:nvSpPr>
        <p:spPr>
          <a:xfrm>
            <a:off x="10040112" y="4402836"/>
            <a:ext cx="868680" cy="32918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1"/>
          <p:cNvSpPr txBox="1"/>
          <p:nvPr/>
        </p:nvSpPr>
        <p:spPr>
          <a:xfrm>
            <a:off x="10076688" y="4416552"/>
            <a:ext cx="7955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234453"/>
                </a:solidFill>
                <a:latin typeface="Noto Sans CJK SC"/>
              </a:rPr>
              <a:t>RNA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941832" y="5010912"/>
            <a:ext cx="4818888" cy="60350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3"/>
          <p:cNvSpPr txBox="1"/>
          <p:nvPr/>
        </p:nvSpPr>
        <p:spPr>
          <a:xfrm>
            <a:off x="1097280" y="5065776"/>
            <a:ext cx="45079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008C82"/>
                </a:solidFill>
                <a:latin typeface="Noto Sans CJK SC"/>
              </a:rPr>
              <a:t>某些细菌结构或过程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008C82"/>
                </a:solidFill>
                <a:latin typeface="Noto Sans CJK SC"/>
              </a:rPr>
              <a:t>可成为抗生素的作用对象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6409944" y="5010912"/>
            <a:ext cx="4818888" cy="60350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5"/>
          <p:cNvSpPr txBox="1"/>
          <p:nvPr/>
        </p:nvSpPr>
        <p:spPr>
          <a:xfrm>
            <a:off x="6565392" y="5065776"/>
            <a:ext cx="45079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7952D5"/>
                </a:solidFill>
                <a:latin typeface="Noto Sans CJK SC"/>
              </a:rPr>
              <a:t>依赖宿主细胞复制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7952D5"/>
                </a:solidFill>
                <a:latin typeface="Noto Sans CJK SC"/>
              </a:rPr>
              <a:t>抗生素没有相应治疗作用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gradFill rotWithShape="1">
            <a:gsLst>
              <a:gs pos="0">
                <a:srgbClr val="1D3B4B"/>
              </a:gs>
              <a:gs pos="100000">
                <a:srgbClr val="31596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2596896" cy="2862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8F5EE"/>
                </a:solidFill>
                <a:latin typeface="Noto Sans CJK SC"/>
              </a:defRPr>
            </a:pPr>
            <a:r>
              <a:t>不需要的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8F5EE"/>
                </a:solidFill>
                <a:latin typeface="Noto Sans CJK SC"/>
              </a:defRPr>
            </a:pPr>
            <a:r>
              <a:t>抗生素，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8F5EE"/>
                </a:solidFill>
                <a:latin typeface="Noto Sans CJK SC"/>
              </a:defRPr>
            </a:pPr>
            <a:r>
              <a:t>也可能带来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8F5EE"/>
                </a:solidFill>
                <a:latin typeface="Noto Sans CJK SC"/>
              </a:defRPr>
            </a:pPr>
            <a:r>
              <a:t>真实伤害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489704"/>
            <a:ext cx="320040" cy="25603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82896"/>
            <a:ext cx="259689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没有治疗需要，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也要承担用药风险。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649224"/>
            <a:ext cx="72603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美国门诊抗生素处方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6093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65162"/>
                </a:solidFill>
                <a:latin typeface="Noto Sans CJK SC"/>
              </a:defRPr>
            </a:pPr>
            <a:r>
              <a:t>至少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993392"/>
            <a:ext cx="3867912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400" b="1">
                <a:solidFill>
                  <a:srgbClr val="D65162"/>
                </a:solidFill>
                <a:latin typeface="Noto Sans CJK SC"/>
              </a:defRPr>
            </a:pPr>
            <a:r>
              <a:t>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3392424"/>
            <a:ext cx="4197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被估计为不必要</a:t>
            </a:r>
          </a:p>
        </p:txBody>
      </p:sp>
      <p:sp>
        <p:nvSpPr>
          <p:cNvPr id="14" name="DATA_GRID_001_HIGHLIGHT"/>
          <p:cNvSpPr/>
          <p:nvPr/>
        </p:nvSpPr>
        <p:spPr>
          <a:xfrm>
            <a:off x="8787384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TA_GRID_002_HIGHLIGHT"/>
          <p:cNvSpPr/>
          <p:nvPr/>
        </p:nvSpPr>
        <p:spPr>
          <a:xfrm>
            <a:off x="9037015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_GRID_003_HIGHLIGHT"/>
          <p:cNvSpPr/>
          <p:nvPr/>
        </p:nvSpPr>
        <p:spPr>
          <a:xfrm>
            <a:off x="9286646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_GRID_004_HIGHLIGHT"/>
          <p:cNvSpPr/>
          <p:nvPr/>
        </p:nvSpPr>
        <p:spPr>
          <a:xfrm>
            <a:off x="9536277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ATA_GRID_005_HIGHLIGHT"/>
          <p:cNvSpPr/>
          <p:nvPr/>
        </p:nvSpPr>
        <p:spPr>
          <a:xfrm>
            <a:off x="9785908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TA_GRID_006_HIGHLIGHT"/>
          <p:cNvSpPr/>
          <p:nvPr/>
        </p:nvSpPr>
        <p:spPr>
          <a:xfrm>
            <a:off x="10035540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TA_GRID_007_HIGHLIGHT"/>
          <p:cNvSpPr/>
          <p:nvPr/>
        </p:nvSpPr>
        <p:spPr>
          <a:xfrm>
            <a:off x="10285171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ATA_GRID_008_HIGHLIGHT"/>
          <p:cNvSpPr/>
          <p:nvPr/>
        </p:nvSpPr>
        <p:spPr>
          <a:xfrm>
            <a:off x="10534802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ATA_GRID_009_HIGHLIGHT"/>
          <p:cNvSpPr/>
          <p:nvPr/>
        </p:nvSpPr>
        <p:spPr>
          <a:xfrm>
            <a:off x="10784433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ATA_GRID_010_HIGHLIGHT"/>
          <p:cNvSpPr/>
          <p:nvPr/>
        </p:nvSpPr>
        <p:spPr>
          <a:xfrm>
            <a:off x="11034064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_GRID_011_HIGHLIGHT"/>
          <p:cNvSpPr/>
          <p:nvPr/>
        </p:nvSpPr>
        <p:spPr>
          <a:xfrm>
            <a:off x="8787384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_GRID_012_HIGHLIGHT"/>
          <p:cNvSpPr/>
          <p:nvPr/>
        </p:nvSpPr>
        <p:spPr>
          <a:xfrm>
            <a:off x="9037015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ATA_GRID_013_HIGHLIGHT"/>
          <p:cNvSpPr/>
          <p:nvPr/>
        </p:nvSpPr>
        <p:spPr>
          <a:xfrm>
            <a:off x="9286646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ATA_GRID_014_HIGHLIGHT"/>
          <p:cNvSpPr/>
          <p:nvPr/>
        </p:nvSpPr>
        <p:spPr>
          <a:xfrm>
            <a:off x="9536277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ATA_GRID_015_HIGHLIGHT"/>
          <p:cNvSpPr/>
          <p:nvPr/>
        </p:nvSpPr>
        <p:spPr>
          <a:xfrm>
            <a:off x="9785908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ATA_GRID_016_HIGHLIGHT"/>
          <p:cNvSpPr/>
          <p:nvPr/>
        </p:nvSpPr>
        <p:spPr>
          <a:xfrm>
            <a:off x="10035540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ATA_GRID_017_HIGHLIGHT"/>
          <p:cNvSpPr/>
          <p:nvPr/>
        </p:nvSpPr>
        <p:spPr>
          <a:xfrm>
            <a:off x="10285171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ATA_GRID_018_HIGHLIGHT"/>
          <p:cNvSpPr/>
          <p:nvPr/>
        </p:nvSpPr>
        <p:spPr>
          <a:xfrm>
            <a:off x="10534802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ATA_GRID_019_HIGHLIGHT"/>
          <p:cNvSpPr/>
          <p:nvPr/>
        </p:nvSpPr>
        <p:spPr>
          <a:xfrm>
            <a:off x="10784433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ATA_GRID_020_HIGHLIGHT"/>
          <p:cNvSpPr/>
          <p:nvPr/>
        </p:nvSpPr>
        <p:spPr>
          <a:xfrm>
            <a:off x="11034064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ATA_GRID_021_HIGHLIGHT"/>
          <p:cNvSpPr/>
          <p:nvPr/>
        </p:nvSpPr>
        <p:spPr>
          <a:xfrm>
            <a:off x="8787384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ATA_GRID_022_HIGHLIGHT"/>
          <p:cNvSpPr/>
          <p:nvPr/>
        </p:nvSpPr>
        <p:spPr>
          <a:xfrm>
            <a:off x="9037015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ATA_GRID_023_HIGHLIGHT"/>
          <p:cNvSpPr/>
          <p:nvPr/>
        </p:nvSpPr>
        <p:spPr>
          <a:xfrm>
            <a:off x="9286646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TA_GRID_024_HIGHLIGHT"/>
          <p:cNvSpPr/>
          <p:nvPr/>
        </p:nvSpPr>
        <p:spPr>
          <a:xfrm>
            <a:off x="9536277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ATA_GRID_025_HIGHLIGHT"/>
          <p:cNvSpPr/>
          <p:nvPr/>
        </p:nvSpPr>
        <p:spPr>
          <a:xfrm>
            <a:off x="9785908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ATA_GRID_026_HIGHLIGHT"/>
          <p:cNvSpPr/>
          <p:nvPr/>
        </p:nvSpPr>
        <p:spPr>
          <a:xfrm>
            <a:off x="10035540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ATA_GRID_027_HIGHLIGHT"/>
          <p:cNvSpPr/>
          <p:nvPr/>
        </p:nvSpPr>
        <p:spPr>
          <a:xfrm>
            <a:off x="10285171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ATA_GRID_028_HIGHLIGHT"/>
          <p:cNvSpPr/>
          <p:nvPr/>
        </p:nvSpPr>
        <p:spPr>
          <a:xfrm>
            <a:off x="10534802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ATA_GRID_029_REST"/>
          <p:cNvSpPr/>
          <p:nvPr/>
        </p:nvSpPr>
        <p:spPr>
          <a:xfrm>
            <a:off x="10784433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ATA_GRID_030_REST"/>
          <p:cNvSpPr/>
          <p:nvPr/>
        </p:nvSpPr>
        <p:spPr>
          <a:xfrm>
            <a:off x="11034064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ATA_GRID_031_REST"/>
          <p:cNvSpPr/>
          <p:nvPr/>
        </p:nvSpPr>
        <p:spPr>
          <a:xfrm>
            <a:off x="8787384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ATA_GRID_032_REST"/>
          <p:cNvSpPr/>
          <p:nvPr/>
        </p:nvSpPr>
        <p:spPr>
          <a:xfrm>
            <a:off x="9037015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ATA_GRID_033_REST"/>
          <p:cNvSpPr/>
          <p:nvPr/>
        </p:nvSpPr>
        <p:spPr>
          <a:xfrm>
            <a:off x="9286646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ATA_GRID_034_REST"/>
          <p:cNvSpPr/>
          <p:nvPr/>
        </p:nvSpPr>
        <p:spPr>
          <a:xfrm>
            <a:off x="9536277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ATA_GRID_035_REST"/>
          <p:cNvSpPr/>
          <p:nvPr/>
        </p:nvSpPr>
        <p:spPr>
          <a:xfrm>
            <a:off x="9785908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ATA_GRID_036_REST"/>
          <p:cNvSpPr/>
          <p:nvPr/>
        </p:nvSpPr>
        <p:spPr>
          <a:xfrm>
            <a:off x="10035540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ATA_GRID_037_REST"/>
          <p:cNvSpPr/>
          <p:nvPr/>
        </p:nvSpPr>
        <p:spPr>
          <a:xfrm>
            <a:off x="10285171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ATA_GRID_038_REST"/>
          <p:cNvSpPr/>
          <p:nvPr/>
        </p:nvSpPr>
        <p:spPr>
          <a:xfrm>
            <a:off x="10534802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ATA_GRID_039_REST"/>
          <p:cNvSpPr/>
          <p:nvPr/>
        </p:nvSpPr>
        <p:spPr>
          <a:xfrm>
            <a:off x="10784433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ATA_GRID_040_REST"/>
          <p:cNvSpPr/>
          <p:nvPr/>
        </p:nvSpPr>
        <p:spPr>
          <a:xfrm>
            <a:off x="11034064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ATA_GRID_041_REST"/>
          <p:cNvSpPr/>
          <p:nvPr/>
        </p:nvSpPr>
        <p:spPr>
          <a:xfrm>
            <a:off x="8787384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ATA_GRID_042_REST"/>
          <p:cNvSpPr/>
          <p:nvPr/>
        </p:nvSpPr>
        <p:spPr>
          <a:xfrm>
            <a:off x="9037015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ATA_GRID_043_REST"/>
          <p:cNvSpPr/>
          <p:nvPr/>
        </p:nvSpPr>
        <p:spPr>
          <a:xfrm>
            <a:off x="9286646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ATA_GRID_044_REST"/>
          <p:cNvSpPr/>
          <p:nvPr/>
        </p:nvSpPr>
        <p:spPr>
          <a:xfrm>
            <a:off x="9536277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ATA_GRID_045_REST"/>
          <p:cNvSpPr/>
          <p:nvPr/>
        </p:nvSpPr>
        <p:spPr>
          <a:xfrm>
            <a:off x="9785908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ATA_GRID_046_REST"/>
          <p:cNvSpPr/>
          <p:nvPr/>
        </p:nvSpPr>
        <p:spPr>
          <a:xfrm>
            <a:off x="10035540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ATA_GRID_047_REST"/>
          <p:cNvSpPr/>
          <p:nvPr/>
        </p:nvSpPr>
        <p:spPr>
          <a:xfrm>
            <a:off x="10285171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ATA_GRID_048_REST"/>
          <p:cNvSpPr/>
          <p:nvPr/>
        </p:nvSpPr>
        <p:spPr>
          <a:xfrm>
            <a:off x="10534802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ATA_GRID_049_REST"/>
          <p:cNvSpPr/>
          <p:nvPr/>
        </p:nvSpPr>
        <p:spPr>
          <a:xfrm>
            <a:off x="10784433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ATA_GRID_050_REST"/>
          <p:cNvSpPr/>
          <p:nvPr/>
        </p:nvSpPr>
        <p:spPr>
          <a:xfrm>
            <a:off x="11034064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ATA_GRID_051_REST"/>
          <p:cNvSpPr/>
          <p:nvPr/>
        </p:nvSpPr>
        <p:spPr>
          <a:xfrm>
            <a:off x="8787384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ATA_GRID_052_REST"/>
          <p:cNvSpPr/>
          <p:nvPr/>
        </p:nvSpPr>
        <p:spPr>
          <a:xfrm>
            <a:off x="9037015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ATA_GRID_053_REST"/>
          <p:cNvSpPr/>
          <p:nvPr/>
        </p:nvSpPr>
        <p:spPr>
          <a:xfrm>
            <a:off x="9286646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ATA_GRID_054_REST"/>
          <p:cNvSpPr/>
          <p:nvPr/>
        </p:nvSpPr>
        <p:spPr>
          <a:xfrm>
            <a:off x="9536277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ATA_GRID_055_REST"/>
          <p:cNvSpPr/>
          <p:nvPr/>
        </p:nvSpPr>
        <p:spPr>
          <a:xfrm>
            <a:off x="9785908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ATA_GRID_056_REST"/>
          <p:cNvSpPr/>
          <p:nvPr/>
        </p:nvSpPr>
        <p:spPr>
          <a:xfrm>
            <a:off x="10035540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ATA_GRID_057_REST"/>
          <p:cNvSpPr/>
          <p:nvPr/>
        </p:nvSpPr>
        <p:spPr>
          <a:xfrm>
            <a:off x="10285171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ATA_GRID_058_REST"/>
          <p:cNvSpPr/>
          <p:nvPr/>
        </p:nvSpPr>
        <p:spPr>
          <a:xfrm>
            <a:off x="10534802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ATA_GRID_059_REST"/>
          <p:cNvSpPr/>
          <p:nvPr/>
        </p:nvSpPr>
        <p:spPr>
          <a:xfrm>
            <a:off x="10784433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ATA_GRID_060_REST"/>
          <p:cNvSpPr/>
          <p:nvPr/>
        </p:nvSpPr>
        <p:spPr>
          <a:xfrm>
            <a:off x="11034064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ATA_GRID_061_REST"/>
          <p:cNvSpPr/>
          <p:nvPr/>
        </p:nvSpPr>
        <p:spPr>
          <a:xfrm>
            <a:off x="8787384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ATA_GRID_062_REST"/>
          <p:cNvSpPr/>
          <p:nvPr/>
        </p:nvSpPr>
        <p:spPr>
          <a:xfrm>
            <a:off x="9037015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ATA_GRID_063_REST"/>
          <p:cNvSpPr/>
          <p:nvPr/>
        </p:nvSpPr>
        <p:spPr>
          <a:xfrm>
            <a:off x="9286646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ATA_GRID_064_REST"/>
          <p:cNvSpPr/>
          <p:nvPr/>
        </p:nvSpPr>
        <p:spPr>
          <a:xfrm>
            <a:off x="9536277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ATA_GRID_065_REST"/>
          <p:cNvSpPr/>
          <p:nvPr/>
        </p:nvSpPr>
        <p:spPr>
          <a:xfrm>
            <a:off x="9785908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ATA_GRID_066_REST"/>
          <p:cNvSpPr/>
          <p:nvPr/>
        </p:nvSpPr>
        <p:spPr>
          <a:xfrm>
            <a:off x="10035540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ATA_GRID_067_REST"/>
          <p:cNvSpPr/>
          <p:nvPr/>
        </p:nvSpPr>
        <p:spPr>
          <a:xfrm>
            <a:off x="10285171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ATA_GRID_068_REST"/>
          <p:cNvSpPr/>
          <p:nvPr/>
        </p:nvSpPr>
        <p:spPr>
          <a:xfrm>
            <a:off x="10534802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ATA_GRID_069_REST"/>
          <p:cNvSpPr/>
          <p:nvPr/>
        </p:nvSpPr>
        <p:spPr>
          <a:xfrm>
            <a:off x="10784433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ATA_GRID_070_REST"/>
          <p:cNvSpPr/>
          <p:nvPr/>
        </p:nvSpPr>
        <p:spPr>
          <a:xfrm>
            <a:off x="11034064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ATA_GRID_071_REST"/>
          <p:cNvSpPr/>
          <p:nvPr/>
        </p:nvSpPr>
        <p:spPr>
          <a:xfrm>
            <a:off x="8787384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ATA_GRID_072_REST"/>
          <p:cNvSpPr/>
          <p:nvPr/>
        </p:nvSpPr>
        <p:spPr>
          <a:xfrm>
            <a:off x="9037015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ATA_GRID_073_REST"/>
          <p:cNvSpPr/>
          <p:nvPr/>
        </p:nvSpPr>
        <p:spPr>
          <a:xfrm>
            <a:off x="9286646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ATA_GRID_074_REST"/>
          <p:cNvSpPr/>
          <p:nvPr/>
        </p:nvSpPr>
        <p:spPr>
          <a:xfrm>
            <a:off x="9536277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ATA_GRID_075_REST"/>
          <p:cNvSpPr/>
          <p:nvPr/>
        </p:nvSpPr>
        <p:spPr>
          <a:xfrm>
            <a:off x="9785908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ATA_GRID_076_REST"/>
          <p:cNvSpPr/>
          <p:nvPr/>
        </p:nvSpPr>
        <p:spPr>
          <a:xfrm>
            <a:off x="10035540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ATA_GRID_077_REST"/>
          <p:cNvSpPr/>
          <p:nvPr/>
        </p:nvSpPr>
        <p:spPr>
          <a:xfrm>
            <a:off x="10285171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ATA_GRID_078_REST"/>
          <p:cNvSpPr/>
          <p:nvPr/>
        </p:nvSpPr>
        <p:spPr>
          <a:xfrm>
            <a:off x="10534802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ATA_GRID_079_REST"/>
          <p:cNvSpPr/>
          <p:nvPr/>
        </p:nvSpPr>
        <p:spPr>
          <a:xfrm>
            <a:off x="10784433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ATA_GRID_080_REST"/>
          <p:cNvSpPr/>
          <p:nvPr/>
        </p:nvSpPr>
        <p:spPr>
          <a:xfrm>
            <a:off x="11034064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ATA_GRID_081_REST"/>
          <p:cNvSpPr/>
          <p:nvPr/>
        </p:nvSpPr>
        <p:spPr>
          <a:xfrm>
            <a:off x="8787384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ATA_GRID_082_REST"/>
          <p:cNvSpPr/>
          <p:nvPr/>
        </p:nvSpPr>
        <p:spPr>
          <a:xfrm>
            <a:off x="9037015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ATA_GRID_083_REST"/>
          <p:cNvSpPr/>
          <p:nvPr/>
        </p:nvSpPr>
        <p:spPr>
          <a:xfrm>
            <a:off x="9286646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ATA_GRID_084_REST"/>
          <p:cNvSpPr/>
          <p:nvPr/>
        </p:nvSpPr>
        <p:spPr>
          <a:xfrm>
            <a:off x="9536277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ATA_GRID_085_REST"/>
          <p:cNvSpPr/>
          <p:nvPr/>
        </p:nvSpPr>
        <p:spPr>
          <a:xfrm>
            <a:off x="9785908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ATA_GRID_086_REST"/>
          <p:cNvSpPr/>
          <p:nvPr/>
        </p:nvSpPr>
        <p:spPr>
          <a:xfrm>
            <a:off x="10035540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ATA_GRID_087_REST"/>
          <p:cNvSpPr/>
          <p:nvPr/>
        </p:nvSpPr>
        <p:spPr>
          <a:xfrm>
            <a:off x="10285171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ATA_GRID_088_REST"/>
          <p:cNvSpPr/>
          <p:nvPr/>
        </p:nvSpPr>
        <p:spPr>
          <a:xfrm>
            <a:off x="10534802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ATA_GRID_089_REST"/>
          <p:cNvSpPr/>
          <p:nvPr/>
        </p:nvSpPr>
        <p:spPr>
          <a:xfrm>
            <a:off x="10784433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ATA_GRID_090_REST"/>
          <p:cNvSpPr/>
          <p:nvPr/>
        </p:nvSpPr>
        <p:spPr>
          <a:xfrm>
            <a:off x="11034064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ATA_GRID_091_REST"/>
          <p:cNvSpPr/>
          <p:nvPr/>
        </p:nvSpPr>
        <p:spPr>
          <a:xfrm>
            <a:off x="8787384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ATA_GRID_092_REST"/>
          <p:cNvSpPr/>
          <p:nvPr/>
        </p:nvSpPr>
        <p:spPr>
          <a:xfrm>
            <a:off x="9037015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ATA_GRID_093_REST"/>
          <p:cNvSpPr/>
          <p:nvPr/>
        </p:nvSpPr>
        <p:spPr>
          <a:xfrm>
            <a:off x="9286646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ATA_GRID_094_REST"/>
          <p:cNvSpPr/>
          <p:nvPr/>
        </p:nvSpPr>
        <p:spPr>
          <a:xfrm>
            <a:off x="9536277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DATA_GRID_095_REST"/>
          <p:cNvSpPr/>
          <p:nvPr/>
        </p:nvSpPr>
        <p:spPr>
          <a:xfrm>
            <a:off x="9785908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ATA_GRID_096_REST"/>
          <p:cNvSpPr/>
          <p:nvPr/>
        </p:nvSpPr>
        <p:spPr>
          <a:xfrm>
            <a:off x="10035540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ATA_GRID_097_REST"/>
          <p:cNvSpPr/>
          <p:nvPr/>
        </p:nvSpPr>
        <p:spPr>
          <a:xfrm>
            <a:off x="10285171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ATA_GRID_098_REST"/>
          <p:cNvSpPr/>
          <p:nvPr/>
        </p:nvSpPr>
        <p:spPr>
          <a:xfrm>
            <a:off x="10534802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ATA_GRID_099_REST"/>
          <p:cNvSpPr/>
          <p:nvPr/>
        </p:nvSpPr>
        <p:spPr>
          <a:xfrm>
            <a:off x="10784433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DATA_GRID_100_REST"/>
          <p:cNvSpPr/>
          <p:nvPr/>
        </p:nvSpPr>
        <p:spPr>
          <a:xfrm>
            <a:off x="11034064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315968" y="3977639"/>
            <a:ext cx="7260336" cy="10972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15968" y="4197096"/>
            <a:ext cx="7260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药物副作用导致的急诊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15968" y="4681728"/>
            <a:ext cx="434340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D65162"/>
                </a:solidFill>
                <a:latin typeface="Noto Sans CJK SC"/>
              </a:defRPr>
            </a:pPr>
            <a:r>
              <a:t>5次中，约1次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23960" y="4745736"/>
            <a:ext cx="27523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涉及抗生素反应</a:t>
            </a:r>
          </a:p>
        </p:txBody>
      </p:sp>
      <p:sp>
        <p:nvSpPr>
          <p:cNvPr id="118" name="DATA_ED_1_HIGHLIGHT"/>
          <p:cNvSpPr/>
          <p:nvPr/>
        </p:nvSpPr>
        <p:spPr>
          <a:xfrm>
            <a:off x="4361688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78962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65054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82172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53286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14267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DATA_ED_2_REST"/>
          <p:cNvSpPr/>
          <p:nvPr/>
        </p:nvSpPr>
        <p:spPr>
          <a:xfrm>
            <a:off x="5824727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25266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11358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28476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99590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60571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DATA_ED_3_REST"/>
          <p:cNvSpPr/>
          <p:nvPr/>
        </p:nvSpPr>
        <p:spPr>
          <a:xfrm>
            <a:off x="7287768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71570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57662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74780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45894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06875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DATA_ED_4_REST"/>
          <p:cNvSpPr/>
          <p:nvPr/>
        </p:nvSpPr>
        <p:spPr>
          <a:xfrm>
            <a:off x="8750808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17874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03966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21084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92198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53179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DATA_ED_5_REST"/>
          <p:cNvSpPr/>
          <p:nvPr/>
        </p:nvSpPr>
        <p:spPr>
          <a:xfrm>
            <a:off x="10213848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64178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0270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67388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38502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99483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315968" y="6409944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4453"/>
                </a:solidFill>
                <a:latin typeface="Noto Sans CJK SC"/>
              </a:defRPr>
            </a:pPr>
            <a:r>
              <a:t>皮疹、腹泻，也可能严重过敏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11 / 27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把“别乱吃抗生素”，换成三个动作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先确认需要，再按具体处方使用；有疑问及时联系医生或药师。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11680"/>
            <a:ext cx="3319272" cy="35753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40864"/>
            <a:ext cx="286207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34453"/>
                </a:solidFill>
                <a:latin typeface="Noto Sans CJK SC"/>
              </a:defRPr>
            </a:pPr>
            <a:r>
              <a:t>先确认需要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93592"/>
            <a:ext cx="286207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感冒症状，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不自动等于要用抗生素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011680"/>
            <a:ext cx="3319272" cy="35753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340864"/>
            <a:ext cx="286207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34453"/>
                </a:solidFill>
                <a:latin typeface="Noto Sans CJK SC"/>
              </a:defRPr>
            </a:pPr>
            <a:r>
              <a:t>不接室友剩药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593592"/>
            <a:ext cx="286207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相似症状，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不代表同一病因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57032" y="2011680"/>
            <a:ext cx="3319272" cy="35753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2340864"/>
            <a:ext cx="286207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34453"/>
                </a:solidFill>
                <a:latin typeface="Noto Sans CJK SC"/>
              </a:defRPr>
            </a:pPr>
            <a:r>
              <a:t>按处方执行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593592"/>
            <a:ext cx="2862072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疗效或反应有疑问，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及时咨询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案例③：鼻子舒服了，上课却犯困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症状缓解，也要留意精神状态与日常活动。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13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84248"/>
            <a:ext cx="5239512" cy="359359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EDITORIAL_SUPPORT_R1_C1" descr="image.png"/>
          <p:cNvPicPr>
            <a:picLocks noChangeAspect="1"/>
          </p:cNvPicPr>
          <p:nvPr/>
        </p:nvPicPr>
        <p:blipFill>
          <a:blip r:embed="rId4"/>
          <a:srcRect l="2340" r="52861" b="67773"/>
          <a:stretch>
            <a:fillRect/>
          </a:stretch>
        </p:blipFill>
        <p:spPr>
          <a:xfrm>
            <a:off x="594360" y="1984248"/>
            <a:ext cx="5239512" cy="2512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" y="4828032"/>
            <a:ext cx="48006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鼻痒、流涕缓解了。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984248"/>
            <a:ext cx="5239512" cy="359359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EDITORIAL_SUPPORT_R1_C2" descr="image.png"/>
          <p:cNvPicPr>
            <a:picLocks noChangeAspect="1"/>
          </p:cNvPicPr>
          <p:nvPr/>
        </p:nvPicPr>
        <p:blipFill>
          <a:blip r:embed="rId4"/>
          <a:srcRect l="52861" r="2340" b="67773"/>
          <a:stretch>
            <a:fillRect/>
          </a:stretch>
        </p:blipFill>
        <p:spPr>
          <a:xfrm>
            <a:off x="6345936" y="1984248"/>
            <a:ext cx="5239512" cy="2512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65392" y="4828032"/>
            <a:ext cx="48006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到了课堂，却开始犯困。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抗组胺药：为什么鼻子舒服了，人却可能困？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缓解症状，也要留意嗜睡提示与个人反应。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14 / 27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77240" y="1947672"/>
            <a:ext cx="5148072" cy="3703320"/>
          </a:xfrm>
          <a:prstGeom prst="roundRect">
            <a:avLst>
              <a:gd name="adj" fmla="val 10000"/>
            </a:avLst>
          </a:prstGeom>
          <a:solidFill>
            <a:srgbClr val="F5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8"/>
          <p:cNvSpPr/>
          <p:nvPr/>
        </p:nvSpPr>
        <p:spPr>
          <a:xfrm>
            <a:off x="6245352" y="1947672"/>
            <a:ext cx="5148072" cy="3703320"/>
          </a:xfrm>
          <a:prstGeom prst="roundRect">
            <a:avLst>
              <a:gd name="adj" fmla="val 10000"/>
            </a:avLst>
          </a:prstGeom>
          <a:solidFill>
            <a:srgbClr val="F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9"/>
          <p:cNvSpPr txBox="1"/>
          <p:nvPr/>
        </p:nvSpPr>
        <p:spPr>
          <a:xfrm>
            <a:off x="1014984" y="2103120"/>
            <a:ext cx="4672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>
                <a:solidFill>
                  <a:srgbClr val="008C82"/>
                </a:solidFill>
                <a:latin typeface="Noto Sans CJK SC"/>
              </a:rPr>
              <a:t>鼻部：缓解部分过敏症状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6483096" y="2103120"/>
            <a:ext cx="4672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>
                <a:solidFill>
                  <a:srgbClr val="7952D5"/>
                </a:solidFill>
                <a:latin typeface="Noto Sans CJK SC"/>
              </a:rPr>
              <a:t>脑内：可能影响清醒状态</a:t>
            </a:r>
          </a:p>
        </p:txBody>
      </p:sp>
      <p:pic>
        <p:nvPicPr>
          <p:cNvPr id="13" name="MEDICAL_NASAL" descr="独立渲染的组织层次医学科普插图，结构与解释按参考资料核对；受体标记为功能位置，不是原子结构模型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532888"/>
            <a:ext cx="4663440" cy="3108960"/>
          </a:xfrm>
          <a:prstGeom prst="rect">
            <a:avLst/>
          </a:prstGeom>
        </p:spPr>
      </p:pic>
      <p:pic>
        <p:nvPicPr>
          <p:cNvPr id="14" name="MEDICAL_BBB" descr="独立渲染的组织层次医学科普插图，结构与解释按参考资料核对；受体标记为功能位置，不是原子结构模型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532888"/>
            <a:ext cx="4663440" cy="3108960"/>
          </a:xfrm>
          <a:prstGeom prst="rect">
            <a:avLst/>
          </a:prstGeom>
        </p:spPr>
      </p:pic>
      <p:cxnSp>
        <p:nvCxnSpPr>
          <p:cNvPr id="15" name="Connector 13"/>
          <p:cNvCxnSpPr/>
          <p:nvPr/>
        </p:nvCxnSpPr>
        <p:spPr>
          <a:xfrm flipH="1">
            <a:off x="3044952" y="2871216"/>
            <a:ext cx="192024" cy="1307592"/>
          </a:xfrm>
          <a:prstGeom prst="line">
            <a:avLst/>
          </a:prstGeom>
          <a:ln w="15240">
            <a:solidFill>
              <a:srgbClr val="008C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4"/>
          <p:cNvSpPr/>
          <p:nvPr/>
        </p:nvSpPr>
        <p:spPr>
          <a:xfrm>
            <a:off x="2798064" y="2702052"/>
            <a:ext cx="877824" cy="32918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5"/>
          <p:cNvSpPr txBox="1"/>
          <p:nvPr/>
        </p:nvSpPr>
        <p:spPr>
          <a:xfrm>
            <a:off x="2834640" y="2715768"/>
            <a:ext cx="8046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008C82"/>
                </a:solidFill>
                <a:latin typeface="Noto Sans CJK SC"/>
              </a:rPr>
              <a:t>组胺</a:t>
            </a:r>
          </a:p>
        </p:txBody>
      </p:sp>
      <p:cxnSp>
        <p:nvCxnSpPr>
          <p:cNvPr id="18" name="Connector 16"/>
          <p:cNvCxnSpPr/>
          <p:nvPr/>
        </p:nvCxnSpPr>
        <p:spPr>
          <a:xfrm flipH="1" flipV="1">
            <a:off x="3474720" y="4379976"/>
            <a:ext cx="1225296" cy="329184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7"/>
          <p:cNvSpPr/>
          <p:nvPr/>
        </p:nvSpPr>
        <p:spPr>
          <a:xfrm>
            <a:off x="4105656" y="4539996"/>
            <a:ext cx="1188720" cy="32918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8"/>
          <p:cNvSpPr txBox="1"/>
          <p:nvPr/>
        </p:nvSpPr>
        <p:spPr>
          <a:xfrm>
            <a:off x="4142232" y="4553712"/>
            <a:ext cx="111556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7952D5"/>
                </a:solidFill>
                <a:latin typeface="Noto Sans CJK SC"/>
              </a:rPr>
              <a:t>H1受体</a:t>
            </a:r>
          </a:p>
        </p:txBody>
      </p:sp>
      <p:cxnSp>
        <p:nvCxnSpPr>
          <p:cNvPr id="21" name="Connector 19"/>
          <p:cNvCxnSpPr/>
          <p:nvPr/>
        </p:nvCxnSpPr>
        <p:spPr>
          <a:xfrm>
            <a:off x="7150608" y="2871216"/>
            <a:ext cx="914400" cy="429768"/>
          </a:xfrm>
          <a:prstGeom prst="line">
            <a:avLst/>
          </a:prstGeom>
          <a:ln w="15240">
            <a:solidFill>
              <a:srgbClr val="2344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0"/>
          <p:cNvSpPr/>
          <p:nvPr/>
        </p:nvSpPr>
        <p:spPr>
          <a:xfrm>
            <a:off x="6473952" y="2702052"/>
            <a:ext cx="1353312" cy="32918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1"/>
          <p:cNvSpPr txBox="1"/>
          <p:nvPr/>
        </p:nvSpPr>
        <p:spPr>
          <a:xfrm>
            <a:off x="6510528" y="271576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234453"/>
                </a:solidFill>
                <a:latin typeface="Noto Sans CJK SC"/>
              </a:rPr>
              <a:t>药物分子</a:t>
            </a:r>
          </a:p>
        </p:txBody>
      </p:sp>
      <p:cxnSp>
        <p:nvCxnSpPr>
          <p:cNvPr id="24" name="Connector 22"/>
          <p:cNvCxnSpPr/>
          <p:nvPr/>
        </p:nvCxnSpPr>
        <p:spPr>
          <a:xfrm flipH="1">
            <a:off x="9253728" y="3730752"/>
            <a:ext cx="1110996" cy="237744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3"/>
          <p:cNvSpPr/>
          <p:nvPr/>
        </p:nvSpPr>
        <p:spPr>
          <a:xfrm>
            <a:off x="9674352" y="3561588"/>
            <a:ext cx="1380744" cy="32918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4"/>
          <p:cNvSpPr txBox="1"/>
          <p:nvPr/>
        </p:nvSpPr>
        <p:spPr>
          <a:xfrm>
            <a:off x="9710928" y="3575304"/>
            <a:ext cx="1307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7952D5"/>
                </a:solidFill>
                <a:latin typeface="Noto Sans CJK SC"/>
              </a:rPr>
              <a:t>血脑屏障</a:t>
            </a:r>
          </a:p>
        </p:txBody>
      </p:sp>
      <p:cxnSp>
        <p:nvCxnSpPr>
          <p:cNvPr id="27" name="Connector 25"/>
          <p:cNvCxnSpPr/>
          <p:nvPr/>
        </p:nvCxnSpPr>
        <p:spPr>
          <a:xfrm flipH="1" flipV="1">
            <a:off x="9409176" y="4709160"/>
            <a:ext cx="941832" cy="64008"/>
          </a:xfrm>
          <a:prstGeom prst="line">
            <a:avLst/>
          </a:prstGeom>
          <a:ln w="15240">
            <a:solidFill>
              <a:srgbClr val="7952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6"/>
          <p:cNvSpPr/>
          <p:nvPr/>
        </p:nvSpPr>
        <p:spPr>
          <a:xfrm>
            <a:off x="9555480" y="4604004"/>
            <a:ext cx="1591056" cy="32918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7"/>
          <p:cNvSpPr txBox="1"/>
          <p:nvPr/>
        </p:nvSpPr>
        <p:spPr>
          <a:xfrm>
            <a:off x="9592056" y="4617720"/>
            <a:ext cx="15179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7952D5"/>
                </a:solidFill>
                <a:latin typeface="Noto Sans CJK SC"/>
              </a:rPr>
              <a:t>脑内H1受体</a:t>
            </a:r>
          </a:p>
        </p:txBody>
      </p:sp>
      <p:sp>
        <p:nvSpPr>
          <p:cNvPr id="30" name="Rounded Rectangle 28"/>
          <p:cNvSpPr/>
          <p:nvPr/>
        </p:nvSpPr>
        <p:spPr>
          <a:xfrm>
            <a:off x="941832" y="5010912"/>
            <a:ext cx="4818888" cy="60350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29"/>
          <p:cNvSpPr txBox="1"/>
          <p:nvPr/>
        </p:nvSpPr>
        <p:spPr>
          <a:xfrm>
            <a:off x="1097280" y="5065776"/>
            <a:ext cx="45079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008C82"/>
                </a:solidFill>
                <a:latin typeface="Noto Sans CJK SC"/>
              </a:rPr>
              <a:t>抗组胺药降低H1相关信号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008C82"/>
                </a:solidFill>
                <a:latin typeface="Noto Sans CJK SC"/>
              </a:rPr>
              <a:t>可减轻鼻痒、喷嚏和流涕</a:t>
            </a:r>
          </a:p>
        </p:txBody>
      </p:sp>
      <p:sp>
        <p:nvSpPr>
          <p:cNvPr id="32" name="Rounded Rectangle 30"/>
          <p:cNvSpPr/>
          <p:nvPr/>
        </p:nvSpPr>
        <p:spPr>
          <a:xfrm>
            <a:off x="6409944" y="5010912"/>
            <a:ext cx="4818888" cy="603504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1"/>
          <p:cNvSpPr txBox="1"/>
          <p:nvPr/>
        </p:nvSpPr>
        <p:spPr>
          <a:xfrm>
            <a:off x="6565392" y="5065776"/>
            <a:ext cx="45079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7952D5"/>
                </a:solidFill>
                <a:latin typeface="Noto Sans CJK SC"/>
              </a:rPr>
              <a:t>部分药物可进入脑内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7952D5"/>
                </a:solidFill>
                <a:latin typeface="Noto Sans CJK SC"/>
              </a:rPr>
              <a:t>影响H1相关信号，可能嗜睡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聚餐邀请到了，你先回哪条消息？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单选｜今天服过抗过敏药，具体饮酒要求未确认；下一页再揭晓。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15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8944" y="210312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34453"/>
                </a:solidFill>
                <a:latin typeface="Noto Sans CJK SC"/>
              </a:defRPr>
            </a:pPr>
            <a:r>
              <a:t>单选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84248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31136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7632" y="2176272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203704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先吃点东西，把两者错开两小时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91256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438144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7632" y="3383280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410712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照以前的经验，只小酌不碰烈酒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398264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64515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4590288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4617720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今晚先换白水，按具体药名查要求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案例④：聚餐这杯酒，先停一下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刚才选 C：拿不准就先不喝；错开两小时、酒量好都不能代替核实。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16 / 27</a:t>
            </a:r>
          </a:p>
        </p:txBody>
      </p:sp>
      <p:pic>
        <p:nvPicPr>
          <p:cNvPr id="9" name="EDITORIAL_KEY_R2_C1" descr="image.png"/>
          <p:cNvPicPr>
            <a:picLocks noChangeAspect="1"/>
          </p:cNvPicPr>
          <p:nvPr/>
        </p:nvPicPr>
        <p:blipFill>
          <a:blip r:embed="rId4"/>
          <a:srcRect l="463" t="33105" r="67715" b="35156"/>
          <a:stretch>
            <a:fillRect/>
          </a:stretch>
        </p:blipFill>
        <p:spPr>
          <a:xfrm>
            <a:off x="594360" y="1947672"/>
            <a:ext cx="4956048" cy="32954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440680"/>
            <a:ext cx="49560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白天服过药，今晚聚餐怎么办？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157984"/>
            <a:ext cx="2606040" cy="3236976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EDITORIAL_KEY_R2_C2" descr="image.png"/>
          <p:cNvPicPr>
            <a:picLocks noChangeAspect="1"/>
          </p:cNvPicPr>
          <p:nvPr/>
        </p:nvPicPr>
        <p:blipFill>
          <a:blip r:embed="rId4"/>
          <a:srcRect l="34089" t="33105" r="34089" b="35156"/>
          <a:stretch>
            <a:fillRect/>
          </a:stretch>
        </p:blipFill>
        <p:spPr>
          <a:xfrm>
            <a:off x="6126480" y="2157984"/>
            <a:ext cx="2606040" cy="17328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2784" y="4169663"/>
            <a:ext cx="23134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室友：就喝一点，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没事吧？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0264" y="2157984"/>
            <a:ext cx="2606040" cy="3236976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EDITORIAL_KEY_R2_C3" descr="image.png"/>
          <p:cNvPicPr>
            <a:picLocks noChangeAspect="1"/>
          </p:cNvPicPr>
          <p:nvPr/>
        </p:nvPicPr>
        <p:blipFill>
          <a:blip r:embed="rId4"/>
          <a:srcRect l="67683" t="33105" r="495" b="35156"/>
          <a:stretch>
            <a:fillRect/>
          </a:stretch>
        </p:blipFill>
        <p:spPr>
          <a:xfrm>
            <a:off x="8970264" y="2157984"/>
            <a:ext cx="2606040" cy="17328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16568" y="4169663"/>
            <a:ext cx="23134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我先换白水，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再核实这盒药的要求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8260079" cy="6858000"/>
          </a:xfrm>
          <a:prstGeom prst="rect">
            <a:avLst/>
          </a:prstGeom>
          <a:gradFill rotWithShape="1">
            <a:gsLst>
              <a:gs pos="0">
                <a:srgbClr val="203F50"/>
              </a:gs>
              <a:gs pos="100000">
                <a:srgbClr val="335C6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2761488" cy="2606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50646B"/>
                </a:solidFill>
                <a:latin typeface="Noto Sans CJK SC"/>
              </a:defRPr>
            </a:pPr>
            <a:r>
              <a:t>从四个案例，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4453"/>
                </a:solidFill>
                <a:latin typeface="Noto Sans CJK SC"/>
              </a:defRPr>
            </a:pPr>
            <a:r>
              <a:t>走到四个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4453"/>
                </a:solidFill>
                <a:latin typeface="Noto Sans CJK SC"/>
              </a:defRPr>
            </a:pPr>
            <a:r>
              <a:t>用药动作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416552"/>
            <a:ext cx="320040" cy="25603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09744"/>
            <a:ext cx="2761488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先把信息看清，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再把不确定问清。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143000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44144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症状、说明书、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就医信号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143000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44144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成分、用法、禁忌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与相互作用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3977639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527608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带齐信息，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问医生或药师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977639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527608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药名、时间、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用量与反应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3984" y="3529584"/>
            <a:ext cx="6839712" cy="9144"/>
          </a:xfrm>
          <a:prstGeom prst="rect">
            <a:avLst/>
          </a:prstGeom>
          <a:solidFill>
            <a:srgbClr val="5A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0688" y="1197864"/>
            <a:ext cx="9144" cy="5038344"/>
          </a:xfrm>
          <a:prstGeom prst="rect">
            <a:avLst/>
          </a:prstGeom>
          <a:solidFill>
            <a:srgbClr val="5A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F5EE"/>
                </a:solidFill>
                <a:latin typeface="Noto Sans CJK SC"/>
              </a:defRPr>
            </a:pPr>
            <a:r>
              <a:t>17 / 27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说明书：先找能改变判断的信息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看清成分与用途，再核用法和禁忌。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18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01952"/>
            <a:ext cx="523951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04825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成分 / 通用名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53288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有没有重复成分？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901952"/>
            <a:ext cx="523951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4825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适应证 / 功能主治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3288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是否适合这次情况？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82112"/>
            <a:ext cx="523951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32841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用法用量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381304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一次多少、间隔多久？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3182112"/>
            <a:ext cx="523951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32841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禁忌 / 注意事项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1304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哪些情况需要避开？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462272"/>
            <a:ext cx="523951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60857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相互作用 / 不良反应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509320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其他药或酒会影响吗？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4462272"/>
            <a:ext cx="523951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60857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贮藏 / 有效期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09320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现在还能否使用？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核完说明书，使用方式也别随意改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不同药物要求不同，先核具体说明再行动。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19 / 27</a:t>
            </a:r>
          </a:p>
        </p:txBody>
      </p:sp>
      <p:pic>
        <p:nvPicPr>
          <p:cNvPr id="9" name="EDITORIAL_SUPPORT_R2_C2" descr="image.png"/>
          <p:cNvPicPr>
            <a:picLocks noChangeAspect="1"/>
          </p:cNvPicPr>
          <p:nvPr/>
        </p:nvPicPr>
        <p:blipFill>
          <a:blip r:embed="rId4"/>
          <a:srcRect l="51509" t="33105" r="988" b="35254"/>
          <a:stretch>
            <a:fillRect/>
          </a:stretch>
        </p:blipFill>
        <p:spPr>
          <a:xfrm>
            <a:off x="0" y="1984248"/>
            <a:ext cx="6035040" cy="2679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956048"/>
            <a:ext cx="5239512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先核具体要求，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不凭感觉改变使用方式。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1984248"/>
            <a:ext cx="5148072" cy="1042415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6542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4453"/>
                </a:solidFill>
                <a:latin typeface="Noto Sans CJK SC"/>
              </a:defRPr>
            </a:pPr>
            <a:r>
              <a:t>漏服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87752"/>
            <a:ext cx="46542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先查处理要求，不自行加倍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8232" y="3236976"/>
            <a:ext cx="5148072" cy="1042415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355848"/>
            <a:ext cx="46542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4453"/>
                </a:solidFill>
                <a:latin typeface="Noto Sans CJK SC"/>
              </a:defRPr>
            </a:pPr>
            <a:r>
              <a:t>疗程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40480"/>
            <a:ext cx="46542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按处方执行，有问题及时咨询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8232" y="4489704"/>
            <a:ext cx="5148072" cy="1042415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608576"/>
            <a:ext cx="46542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4453"/>
                </a:solidFill>
                <a:latin typeface="Noto Sans CJK SC"/>
              </a:defRPr>
            </a:pPr>
            <a:r>
              <a:t>剂型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093208"/>
            <a:ext cx="46542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缓释、肠溶等，不随意掰碎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拿不准时，把三件事告诉药师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带上药盒、说明书与已服记录，让咨询更准确。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20 / 27</a:t>
            </a:r>
          </a:p>
        </p:txBody>
      </p:sp>
      <p:pic>
        <p:nvPicPr>
          <p:cNvPr id="9" name="EDITORIAL_SUPPORT_R3_C1" descr="image.png"/>
          <p:cNvPicPr>
            <a:picLocks noChangeAspect="1"/>
          </p:cNvPicPr>
          <p:nvPr/>
        </p:nvPicPr>
        <p:blipFill>
          <a:blip r:embed="rId4"/>
          <a:srcRect t="65767" r="50521" b="1276"/>
          <a:stretch>
            <a:fillRect/>
          </a:stretch>
        </p:blipFill>
        <p:spPr>
          <a:xfrm>
            <a:off x="0" y="1984248"/>
            <a:ext cx="6035040" cy="26798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956048"/>
            <a:ext cx="5239512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药盒、说明书和已服记录，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一起带来。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28232" y="1984248"/>
            <a:ext cx="5148072" cy="1042415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654296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哪里不舒服，已经持续多久？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8232" y="3236976"/>
            <a:ext cx="5148072" cy="1042415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447288"/>
            <a:ext cx="4654296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用了哪些药，何时吃了多少？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8232" y="4489704"/>
            <a:ext cx="5148072" cy="1042415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700016"/>
            <a:ext cx="4654296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有哪些过敏史、疾病或特殊情况？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出现这些信号，别继续自己试药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严重信号优先求助，别等症状“自己好”。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21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56816"/>
            <a:ext cx="10991088" cy="1545336"/>
          </a:xfrm>
          <a:prstGeom prst="rect">
            <a:avLst/>
          </a:prstGeom>
          <a:solidFill>
            <a:srgbClr val="F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49424"/>
            <a:ext cx="2084831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200" b="1">
                <a:solidFill>
                  <a:srgbClr val="D65162"/>
                </a:solidFill>
                <a:latin typeface="Noto Sans CJK SC"/>
              </a:defRPr>
            </a:pPr>
            <a:r>
              <a:t>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286000"/>
            <a:ext cx="744321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4453"/>
                </a:solidFill>
                <a:latin typeface="Noto Sans CJK SC"/>
              </a:defRPr>
            </a:pPr>
            <a:r>
              <a:t>呼吸困难、喉舌肿胀或意识异常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862072"/>
            <a:ext cx="744321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严重急症：立即寻求急救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867912"/>
            <a:ext cx="5239512" cy="171907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51376"/>
            <a:ext cx="474573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4453"/>
                </a:solidFill>
                <a:latin typeface="Noto Sans CJK SC"/>
              </a:defRPr>
            </a:pPr>
            <a:r>
              <a:t>疑似超量或误服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001768"/>
            <a:ext cx="47457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及时寻求医疗帮助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3867912"/>
            <a:ext cx="5239512" cy="171907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4151376"/>
            <a:ext cx="474573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4453"/>
                </a:solidFill>
                <a:latin typeface="Noto Sans CJK SC"/>
              </a:defRPr>
            </a:pPr>
            <a:r>
              <a:t>症状持续、加重或反复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5001768"/>
            <a:ext cx="47457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及时就诊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药箱不求满，信息要留全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不混装，不分享处方药；记录让下次咨询更准确。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22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75104"/>
            <a:ext cx="5239512" cy="162763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249424"/>
            <a:ext cx="47548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4453"/>
                </a:solidFill>
                <a:latin typeface="Noto Sans CJK SC"/>
              </a:defRPr>
            </a:pPr>
            <a:r>
              <a:t>保留原包装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926080"/>
            <a:ext cx="47548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药盒和说明书一起留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5936" y="1975104"/>
            <a:ext cx="5239512" cy="1627632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49424"/>
            <a:ext cx="47548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4453"/>
                </a:solidFill>
                <a:latin typeface="Noto Sans CJK SC"/>
              </a:defRPr>
            </a:pPr>
            <a:r>
              <a:t>检查有效期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7548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同时核对贮藏要求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31920"/>
            <a:ext cx="10991088" cy="1764792"/>
          </a:xfrm>
          <a:prstGeom prst="rect">
            <a:avLst/>
          </a:prstGeom>
          <a:gradFill rotWithShape="1">
            <a:gsLst>
              <a:gs pos="0">
                <a:srgbClr val="203F50"/>
              </a:gs>
              <a:gs pos="100000">
                <a:srgbClr val="335C6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197096"/>
            <a:ext cx="10497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8F5EE"/>
                </a:solidFill>
                <a:latin typeface="Noto Sans CJK SC"/>
              </a:defRPr>
            </a:pPr>
            <a:r>
              <a:t>留好用药记录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928616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EB9AF"/>
                </a:solidFill>
                <a:latin typeface="Noto Sans CJK SC"/>
              </a:defRPr>
            </a:pPr>
            <a:r>
              <a:t>药名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4928616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EB9AF"/>
                </a:solidFill>
                <a:latin typeface="Noto Sans CJK SC"/>
              </a:defRPr>
            </a:pPr>
            <a:r>
              <a:t>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4928616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EB9AF"/>
                </a:solidFill>
                <a:latin typeface="Noto Sans CJK SC"/>
              </a:defRPr>
            </a:pPr>
            <a:r>
              <a:t>用量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4928616"/>
            <a:ext cx="22860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EEB9AF"/>
                </a:solidFill>
                <a:latin typeface="Noto Sans CJK SC"/>
              </a:defRPr>
            </a:pPr>
            <a:r>
              <a:t>反应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把四个案例，变成四个下一步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方法已经齐了：接下来替这位同学做一次选择。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23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56816"/>
            <a:ext cx="10991088" cy="78638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148840"/>
            <a:ext cx="3319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叠加感冒药</a:t>
            </a:r>
          </a:p>
        </p:txBody>
      </p:sp>
      <p:sp>
        <p:nvSpPr>
          <p:cNvPr id="11" name="Chevron 10"/>
          <p:cNvSpPr/>
          <p:nvPr/>
        </p:nvSpPr>
        <p:spPr>
          <a:xfrm>
            <a:off x="4233672" y="2221992"/>
            <a:ext cx="228600" cy="210312"/>
          </a:xfrm>
          <a:prstGeom prst="chevron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6583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核对重复成分与已服记录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07792"/>
            <a:ext cx="10991088" cy="78638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099816"/>
            <a:ext cx="3319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感冒想到抗生素</a:t>
            </a:r>
          </a:p>
        </p:txBody>
      </p:sp>
      <p:sp>
        <p:nvSpPr>
          <p:cNvPr id="15" name="Chevron 14"/>
          <p:cNvSpPr/>
          <p:nvPr/>
        </p:nvSpPr>
        <p:spPr>
          <a:xfrm>
            <a:off x="4233672" y="3172968"/>
            <a:ext cx="228600" cy="210312"/>
          </a:xfrm>
          <a:prstGeom prst="chevron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099816"/>
            <a:ext cx="6583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先确认是否需要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858768"/>
            <a:ext cx="10991088" cy="78638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050792"/>
            <a:ext cx="3319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用药后困倦</a:t>
            </a:r>
          </a:p>
        </p:txBody>
      </p:sp>
      <p:sp>
        <p:nvSpPr>
          <p:cNvPr id="19" name="Chevron 18"/>
          <p:cNvSpPr/>
          <p:nvPr/>
        </p:nvSpPr>
        <p:spPr>
          <a:xfrm>
            <a:off x="4233672" y="4123944"/>
            <a:ext cx="228600" cy="210312"/>
          </a:xfrm>
          <a:prstGeom prst="chevron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4050792"/>
            <a:ext cx="6583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查提示，避开高风险活动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809744"/>
            <a:ext cx="10991088" cy="78638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001768"/>
            <a:ext cx="3319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服药后聚餐</a:t>
            </a:r>
          </a:p>
        </p:txBody>
      </p:sp>
      <p:sp>
        <p:nvSpPr>
          <p:cNvPr id="23" name="Chevron 22"/>
          <p:cNvSpPr/>
          <p:nvPr/>
        </p:nvSpPr>
        <p:spPr>
          <a:xfrm>
            <a:off x="4233672" y="5074920"/>
            <a:ext cx="228600" cy="210312"/>
          </a:xfrm>
          <a:prstGeom prst="chevron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5001768"/>
            <a:ext cx="65836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先核实饮酒要求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04 / 选择挑战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综合挑战：两盒药，一场聚餐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症状较轻；两盒成分与饮酒要求都未核实。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24 / 27</a:t>
            </a:r>
          </a:p>
        </p:txBody>
      </p:sp>
      <p:pic>
        <p:nvPicPr>
          <p:cNvPr id="9" name="EDITORIAL_KEY_R3_C1" descr="image.png"/>
          <p:cNvPicPr>
            <a:picLocks noChangeAspect="1"/>
          </p:cNvPicPr>
          <p:nvPr/>
        </p:nvPicPr>
        <p:blipFill>
          <a:blip r:embed="rId4"/>
          <a:srcRect t="65884" r="67253" b="1455"/>
          <a:stretch>
            <a:fillRect/>
          </a:stretch>
        </p:blipFill>
        <p:spPr>
          <a:xfrm>
            <a:off x="594360" y="1947672"/>
            <a:ext cx="4956048" cy="32953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440680"/>
            <a:ext cx="49560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白天吃过一种复方感冒药。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157984"/>
            <a:ext cx="2606040" cy="3236976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EDITORIAL_KEY_R3_C2" descr="image.png"/>
          <p:cNvPicPr>
            <a:picLocks noChangeAspect="1"/>
          </p:cNvPicPr>
          <p:nvPr/>
        </p:nvPicPr>
        <p:blipFill>
          <a:blip r:embed="rId4"/>
          <a:srcRect l="33594" t="65878" r="33594" b="1396"/>
          <a:stretch>
            <a:fillRect/>
          </a:stretch>
        </p:blipFill>
        <p:spPr>
          <a:xfrm>
            <a:off x="6126480" y="2157984"/>
            <a:ext cx="2606040" cy="17328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2784" y="4169663"/>
            <a:ext cx="23134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还不舒服，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要加第二盒吗？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0264" y="2157984"/>
            <a:ext cx="2606040" cy="3236976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EDITORIAL_KEY_R3_C3" descr="image.png"/>
          <p:cNvPicPr>
            <a:picLocks noChangeAspect="1"/>
          </p:cNvPicPr>
          <p:nvPr/>
        </p:nvPicPr>
        <p:blipFill>
          <a:blip r:embed="rId4"/>
          <a:srcRect l="67188" t="65878" b="1396"/>
          <a:stretch>
            <a:fillRect/>
          </a:stretch>
        </p:blipFill>
        <p:spPr>
          <a:xfrm>
            <a:off x="8970264" y="2157984"/>
            <a:ext cx="2606040" cy="173280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16568" y="4169663"/>
            <a:ext cx="23134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今晚聚餐，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药和酒能搭吗？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04 / 选择挑战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小林的晚间计划，你采纳哪几条？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可多选：哪些安排能补齐判断所需的信息？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25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38944" y="210312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34453"/>
                </a:solidFill>
                <a:latin typeface="Noto Sans CJK SC"/>
              </a:defRPr>
            </a:pPr>
            <a:r>
              <a:t>可多选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84248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31136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7632" y="2176272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203704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聚餐先点白水，具体饮酒要求再查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91256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438144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7632" y="3383280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410712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药盒和已服记录，一起交给药师核对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398264"/>
            <a:ext cx="10991088" cy="93268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645152"/>
            <a:ext cx="5852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4590288"/>
            <a:ext cx="10972" cy="548640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4617720"/>
            <a:ext cx="94000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照上次的经验，把第二盒改到睡前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04 / 选择挑战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23544"/>
            <a:ext cx="1099108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34453"/>
                </a:solidFill>
                <a:latin typeface="Noto Sans CJK SC"/>
              </a:defRPr>
            </a:pPr>
            <a:r>
              <a:t>答案 A＋B：把两条建议一起做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25896"/>
            <a:ext cx="1099108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若症状加重或出现急症信号，应及时就医。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26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75104"/>
            <a:ext cx="2980944" cy="3767328"/>
          </a:xfrm>
          <a:prstGeom prst="rect">
            <a:avLst/>
          </a:prstGeom>
          <a:gradFill rotWithShape="1">
            <a:gsLst>
              <a:gs pos="0">
                <a:srgbClr val="203F50"/>
              </a:gs>
              <a:gs pos="100000">
                <a:srgbClr val="335C6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14600"/>
            <a:ext cx="248716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100" b="0">
                <a:solidFill>
                  <a:srgbClr val="EEB9AF"/>
                </a:solidFill>
                <a:latin typeface="Noto Sans CJK SC"/>
              </a:defRPr>
            </a:pPr>
            <a:r>
              <a:t>A＋B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005072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把信息补齐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再决定下一步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2776" y="1975104"/>
            <a:ext cx="766267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121408"/>
            <a:ext cx="718718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4453"/>
                </a:solidFill>
                <a:latin typeface="Noto Sans CJK SC"/>
              </a:defRPr>
            </a:pPr>
            <a:r>
              <a:t>A 先用白水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587752"/>
            <a:ext cx="718718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饮酒要求未明，先不喝酒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2776" y="3227832"/>
            <a:ext cx="766267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3374136"/>
            <a:ext cx="718718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4453"/>
                </a:solidFill>
                <a:latin typeface="Noto Sans CJK SC"/>
              </a:defRPr>
            </a:pPr>
            <a:r>
              <a:t>B 带齐信息核对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40480"/>
            <a:ext cx="718718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两盒药和已服记录，一起问药师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22776" y="4480560"/>
            <a:ext cx="7662672" cy="1069848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4626864"/>
            <a:ext cx="718718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4453"/>
                </a:solidFill>
                <a:latin typeface="Noto Sans CJK SC"/>
              </a:defRPr>
            </a:pPr>
            <a:r>
              <a:t>C 改到睡前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093208"/>
            <a:ext cx="718718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仍没补齐成分与已服信息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424927" cy="6858000"/>
          </a:xfrm>
          <a:prstGeom prst="rect">
            <a:avLst/>
          </a:prstGeom>
          <a:gradFill rotWithShape="1">
            <a:gsLst>
              <a:gs pos="0">
                <a:srgbClr val="203D4D"/>
              </a:gs>
              <a:gs pos="100000">
                <a:srgbClr val="315A6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Noto Sans CJK SC"/>
              </a:defRPr>
            </a:pPr>
            <a:r>
              <a:t>合理用药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61288"/>
            <a:ext cx="6245352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F8F5EE"/>
                </a:solidFill>
                <a:latin typeface="Noto Sans CJK SC"/>
              </a:defRPr>
            </a:pPr>
            <a:r>
              <a:t>药可以常备，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48256"/>
            <a:ext cx="62453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F8F5EE"/>
                </a:solidFill>
                <a:latin typeface="Noto Sans CJK SC"/>
              </a:defRPr>
            </a:pPr>
            <a:r>
              <a:t>判断不能省略。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47872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EB9AF"/>
                </a:solidFill>
                <a:latin typeface="Noto Sans CJK SC"/>
              </a:defRPr>
            </a:pPr>
            <a:r>
              <a:t>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547872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看清说明书与实际需要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34256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EB9AF"/>
                </a:solidFill>
                <a:latin typeface="Noto Sans CJK SC"/>
              </a:defRPr>
            </a:pPr>
            <a:r>
              <a:t>核·记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334256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核对成分，留下已服记录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EB9AF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5120640"/>
            <a:ext cx="4727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拿不准，问医生或药师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990088"/>
            <a:ext cx="3648456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100" b="0">
                <a:solidFill>
                  <a:srgbClr val="234453"/>
                </a:solidFill>
                <a:latin typeface="Noto Sans CJK SC"/>
              </a:defRPr>
            </a:pPr>
            <a:r>
              <a:t>谢谢大家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参考资料 /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88136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附页，不计入35分钟｜点击条目标题可访问原文｜原始资料：2026-10-09；新增CDC数据核对：2026-10-12；封面与后半段整改：2026-10-13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1792224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737360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2"/>
              </a:rPr>
              <a:t>国家卫生健康委等（2020）《关于加强医疗机构药事管理促进合理用药的意见》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2487168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04088" y="2670048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615184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3"/>
              </a:rPr>
              <a:t>FDA. Don’t Overuse Acetaminophen.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81912" y="3364991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" y="3547872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493008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4"/>
              </a:rPr>
              <a:t>CDC. Healthy Habits: Antibiotic Do’s and Don’ts.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81912" y="4242816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" y="4425696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43983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370832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5"/>
              </a:rPr>
              <a:t>CDC. Antibiotic Use in the United States（2025更新；门诊至少28%不必要处方）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81912" y="5120640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" y="5303520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21807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5248656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6"/>
              </a:rPr>
              <a:t>NHS. Antihistamines.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81912" y="5998464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图表按原始数据重绘；案例为虚构，实拍照片另见图片来源附页。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参考资料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88136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附页，不计入35分钟｜点击条目标题可访问原文｜原始资料：2026-10-09；新增CDC数据核对：2026-10-12；封面与后半段整改：2026-10-13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1792224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737360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2"/>
              </a:rPr>
              <a:t>NIAAA. Alcohol-Medication Interactions: Potentially Dangerous Mixes.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2487168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04088" y="2670048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615184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3"/>
              </a:rPr>
              <a:t>NHS Specialist Pharmacy Service. Advising on missed or delayed doses of medicines.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81912" y="3364991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" y="3547872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493008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4"/>
              </a:rPr>
              <a:t>CDC. Manage Common Cold.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81912" y="4242816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" y="4425696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43983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370832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5"/>
              </a:rPr>
              <a:t>NHS. Anaphylaxis.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81912" y="5120640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" y="5303520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21807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5248656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6"/>
              </a:rPr>
              <a:t>NHS. Omeprazole.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81912" y="5998464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图表按原始数据重绘；案例为虚构，实拍照片另见图片来源附页。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参考资料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88136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附页，不计入35分钟｜点击条目标题可访问原文｜原始资料：2026-10-09；新增CDC数据核对：2026-10-12；封面与后半段整改：2026-10-13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1792224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737360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2"/>
              </a:rPr>
              <a:t>Simons FER, Simons KJ. H1 Antihistamines: Current Status and Future Directions. World Allergy Organ J. 2008;1:145–155.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2487168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04088" y="2670048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615184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3"/>
              </a:rPr>
              <a:t>CDC. Do antibiotics have side effects?（药物相关急诊约1/5来自抗生素反应）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81912" y="3364991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4088" y="3547872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493008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4"/>
              </a:rPr>
              <a:t>Hersh AL et al. Unnecessary Antibiotic Prescribing in US Ambulatory Care Settings, 2010–2015. Clin Infect Dis. 2021;72:133–137.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81912" y="4242816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4088" y="4425696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43983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370832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5"/>
              </a:rPr>
              <a:t>Anatomy and Physiology of the Blood-Brain Barrier（脑微血管内皮、紧密连接与支持结构）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81912" y="5120640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" y="5303520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21807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5248656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6"/>
              </a:rPr>
              <a:t>OpenStax. Microbiology 3.3: Unique Characteristics of Prokaryotic Cells.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81912" y="5998464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图表按原始数据重绘；案例为虚构，实拍照片另见图片来源附页。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参考资料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52144"/>
            <a:ext cx="1088136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附页，不计入35分钟｜点击条目标题可访问原文｜原始资料：2026-10-09；新增CDC数据核对：2026-10-12；封面与后半段整改：2026-10-13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1792224"/>
            <a:ext cx="640080" cy="329184"/>
          </a:xfrm>
          <a:prstGeom prst="roundRect">
            <a:avLst/>
          </a:prstGeom>
          <a:solidFill>
            <a:srgbClr val="153E75"/>
          </a:solidFill>
          <a:ln>
            <a:solidFill>
              <a:srgbClr val="153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S19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1737360"/>
            <a:ext cx="99486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3E75"/>
                </a:solidFill>
                <a:latin typeface="Noto Sans CJK SC"/>
                <a:ea typeface="Noto Sans CJK SC"/>
                <a:hlinkClick r:id="rId2"/>
              </a:rPr>
              <a:t>Rhinoviruses（鼻病毒无包膜、二十面体衣壳与单链RNA）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2487168"/>
            <a:ext cx="9930384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图表按原始数据重绘；案例为虚构，实拍照片另见图片来源附页。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插图素材来源 /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七页情境用成熟编辑插画；专业知识用独立科学插图；文字与题目页不用装饰人物。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9222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key_stories.png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5798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小周、阿明与小林的三个重点故事｜生成：2026-10-13｜使用页：5、16、24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53288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266090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support_scenes.png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2666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晓岚的课堂故事与三个轻量场景｜生成：2026-10-13｜使用页：7、13、19、20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40156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52958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nasal_histamine.png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9534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鼻黏膜、组胺与感觉神经作用对象｜生成：2026-10-13｜使用页：14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427024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39826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brain_bbb_h1.png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6402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脑微血管、血脑屏障与脑内H1作用对象｜生成：2026-10-13｜使用页：14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5138927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526694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bacterial_cell.png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3270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细菌细胞结构示意｜生成：2026-10-13｜使用页：10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600760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专业结构依据见S14、S17—S19；源素材与核对说明保留在源码目录。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53E75"/>
                </a:solidFill>
                <a:latin typeface="Noto Sans CJK SC"/>
                <a:ea typeface="Noto Sans CJK SC"/>
              </a:rPr>
              <a:t>插图素材来源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3464F"/>
                </a:solidFill>
                <a:latin typeface="Noto Sans CJK SC"/>
                <a:ea typeface="Noto Sans CJK SC"/>
              </a:rPr>
              <a:t>七页情境用成熟编辑插画；专业知识用独立科学插图；文字与题目页不用装饰人物。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9222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53E75"/>
                </a:solidFill>
                <a:latin typeface="Noto Sans CJK SC"/>
                <a:ea typeface="Noto Sans CJK SC"/>
              </a:rPr>
              <a:t>rhinovirus.png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57984"/>
            <a:ext cx="10195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53E75"/>
                </a:solidFill>
                <a:latin typeface="Noto Sans CJK SC"/>
                <a:ea typeface="Noto Sans CJK SC"/>
              </a:rPr>
              <a:t>鼻病毒衣壳与RNA示意｜生成：2026-10-13｜使用页：10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532888"/>
            <a:ext cx="10195560" cy="0"/>
          </a:xfrm>
          <a:prstGeom prst="line">
            <a:avLst/>
          </a:prstGeom>
          <a:ln w="5715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3E75"/>
                </a:solidFill>
                <a:latin typeface="Noto Sans CJK SC"/>
                <a:ea typeface="Noto Sans CJK SC"/>
              </a:rPr>
              <a:t>专业结构依据见S14、S17—S19；源素材与核对说明保留在源码目录。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合理用药：给宿舍药箱上堂课</dc:title>
  <dc:subject>苏州大学选修课｜双人35分钟课堂展示</dc:subject>
  <dc:creator>课堂展示制作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