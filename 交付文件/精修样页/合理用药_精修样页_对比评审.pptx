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1"/>
    <p:sldId id="290" r:id="rId42"/>
    <p:sldId id="291" r:id="rId43"/>
    <p:sldId id="292" r:id="rId11"/>
    <p:sldId id="293" r:id="rId12"/>
    <p:sldId id="294" r:id="rId13"/>
  </p:sldIdLst>
  <p:sldSz cx="24383998" cy="740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第5页｜甲主讲｜建议75秒</a:t>
            </a:r>
          </a:p>
          <a:p/>
          <a:p/>
          <a:p>
            <a:r>
              <a:t>甲：小周觉得头痛还没缓解，拿起另一盒感冒药。室友说，名字不同，一盒管头痛、一盒管感冒，听起来像双保险。三格漫画从不舒服，到听起来合理的建议，再把判断停在药盒背面。症状宣传不同，不代表有效成分不同。下一页不算剂量，只把成分摆在一起，看双保险有没有变成重复。</a:t>
            </a:r>
          </a:p>
          <a:p/>
          <a:p>
            <a:r>
              <a:t>视觉说明：成熟编辑三格：小周头痛、室友递第二盒、展开两份说明书；成人比例与克制表情。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key_stories.png｜R1C1｜症状仍在</a:t>
            </a:r>
          </a:p>
          <a:p>
            <a:r>
              <a:t>key_stories.png｜R1C2｜室友递第二盒</a:t>
            </a:r>
          </a:p>
          <a:p>
            <a:r>
              <a:t>key_stories.png｜R1C3｜展开两份说明书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第11页｜甲主讲｜建议110秒</a:t>
            </a:r>
          </a:p>
          <a:p/>
          <a:p/>
          <a:p>
            <a:r>
              <a:t>甲：上一页说普通感冒通常由病毒引起，抗生素没有相应治疗作用。为什么不能想着吃一点总没坏处？左边一百格中，高亮28格：CDC汇总至少28%的美国门诊抗生素处方被估计为不必要，所引研究该估计来自2014—2015年。这是美国门诊处方比例，不是中国大学生的发生率，其余格子也不代表全部合理。</a:t>
            </a:r>
          </a:p>
          <a:p>
            <a:r>
              <a:t>右边换成五个急诊图标：CDC介绍，药物相关急诊中，约五次就有一次来自抗生素反应。常见副作用包括皮疹、恶心、腹泻，严重时可出现严重过敏等。这里数的是药物反应相关急诊，不是所有急诊，不是说五个吃抗生素的人就有一个进急诊，也不能把所有这些事件都归为滥用。</a:t>
            </a:r>
          </a:p>
          <a:p>
            <a:r>
              <a:t>【留15秒读五个图标；问：若治疗不需要，额外承担这样的风险值不值？停10秒】</a:t>
            </a:r>
          </a:p>
          <a:p>
            <a:r>
              <a:t>甲：两幅图分别展示不必要的处方与药物反应造成的急诊负担，不能相乘推算个人概率。我们要带走的是：没有需要时吃抗生素，未必得到预期获益，却仍可能遇到副作用；确实需要时，规范使用的获益可以超过风险，不自行停药。下一页把结论换成三个实际动作。</a:t>
            </a:r>
          </a:p>
          <a:p/>
          <a:p>
            <a:r>
              <a:t>视觉说明：双图并排：左侧100格中28格珊瑚红高亮，右侧五个急诊图标中一个红色突出抗生素反应。正文写清药物副作用导致的急诊这一分母；数据年份、范围和来源保留在备注和附页。</a:t>
            </a:r>
          </a:p>
          <a:p/>
          <a:p>
            <a:r>
              <a:t>参考：</a:t>
            </a:r>
          </a:p>
          <a:p>
            <a:r>
              <a:t>[S5] CDC. Antibiotic Use in the United States（2025更新；门诊至少28%不必要处方）</a:t>
            </a:r>
          </a:p>
          <a:p>
            <a:r>
              <a:t>https://www.cdc.gov/antibiotic-use/hcp/data-research/antibiotic-prescribing.html</a:t>
            </a:r>
          </a:p>
          <a:p>
            <a:r>
              <a:t>[S15] CDC. Do antibiotics have side effects?（药物相关急诊约1/5来自抗生素反应）</a:t>
            </a:r>
          </a:p>
          <a:p>
            <a:r>
              <a:t>https://www.cdc.gov/antibiotic-use/media/pdfs/Do-Antibiotics-Have-Side-Effects-508.pdf</a:t>
            </a:r>
          </a:p>
          <a:p>
            <a:r>
              <a:t>[S16] Hersh AL et al. Unnecessary Antibiotic Prescribing in US Ambulatory Care Settings, 2010–2015. Clin Infect Dis. 2021;72:133–137.</a:t>
            </a:r>
          </a:p>
          <a:p>
            <a:r>
              <a:t>https://stacks.cdc.gov/view/cdc/120299/cdc_120299_DS1.pdf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第17页｜乙主讲｜建议60秒</a:t>
            </a:r>
          </a:p>
          <a:p/>
          <a:p/>
          <a:p>
            <a:r>
              <a:t>乙：第三部分，我们把前面的例子浓缩成四个动作：看、核、问、记。看，是观察症状，也看说明书和需要就医的信号。核，是核对成分有没有重复，剂量与时间是否符合要求，自己有没有相关禁忌。问，是把不确定的地方交给医生或药师确认，不用猜测填空。记，是记录已经用过的药、时间、用量以及出现的反应。上一题选C，就把“这盒药能不能配酒”的不确定性变成了一个清楚的咨询问题。这四步是课堂助记法，不是替代诊疗的专业流程。</a:t>
            </a:r>
          </a:p>
          <a:p>
            <a:r>
              <a:t>乙：下一页从“看”开始，把说明书里会影响判断的信息找出来。</a:t>
            </a:r>
          </a:p>
          <a:p/>
          <a:p>
            <a:r>
              <a:t>视觉说明：无插图四格方法框架，放大看核问记。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第5页｜甲主讲｜建议75秒</a:t>
            </a:r>
          </a:p>
          <a:p/>
          <a:p/>
          <a:p>
            <a:r>
              <a:t>甲：小周觉得头痛还没缓解，拿起另一盒感冒药。室友说，名字不同，一盒管头痛、一盒管感冒，听起来像双保险。三格漫画从不舒服，到听起来合理的建议，再把判断停在药盒背面。症状宣传不同，不代表有效成分不同。下一页不算剂量，只把成分摆在一起，看双保险有没有变成重复。</a:t>
            </a:r>
          </a:p>
          <a:p/>
          <a:p>
            <a:r>
              <a:t>视觉说明：成熟编辑三格：小周头痛、室友递第二盒、展开两份说明书；成人比例与克制表情。</a:t>
            </a:r>
          </a:p>
          <a:p/>
          <a:p>
            <a:r>
              <a:t>参考：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>
            <a:r>
              <a:t>key_stories.png｜R1C1｜症状仍在</a:t>
            </a:r>
          </a:p>
          <a:p>
            <a:r>
              <a:t>key_stories.png｜R1C2｜室友递第二盒</a:t>
            </a:r>
          </a:p>
          <a:p>
            <a:r>
              <a:t>key_stories.png｜R1C3｜展开两份说明书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第11页｜甲主讲｜建议110秒</a:t>
            </a:r>
          </a:p>
          <a:p/>
          <a:p/>
          <a:p>
            <a:r>
              <a:t>甲：上一页说普通感冒通常由病毒引起，抗生素没有相应治疗作用。为什么不能想着吃一点总没坏处？左边一百格中，高亮28格：CDC汇总至少28%的美国门诊抗生素处方被估计为不必要，所引研究该估计来自2014—2015年。这是美国门诊处方比例，不是中国大学生的发生率，其余格子也不代表全部合理。</a:t>
            </a:r>
          </a:p>
          <a:p>
            <a:r>
              <a:t>右边换成五个急诊图标：CDC介绍，药物相关急诊中，约五次就有一次来自抗生素反应。常见副作用包括皮疹、恶心、腹泻，严重时可出现严重过敏等。这里数的是药物反应相关急诊，不是所有急诊，不是说五个吃抗生素的人就有一个进急诊，也不能把所有这些事件都归为滥用。</a:t>
            </a:r>
          </a:p>
          <a:p>
            <a:r>
              <a:t>【留15秒读五个图标；问：若治疗不需要，额外承担这样的风险值不值？停10秒】</a:t>
            </a:r>
          </a:p>
          <a:p>
            <a:r>
              <a:t>甲：两幅图分别展示不必要的处方与药物反应造成的急诊负担，不能相乘推算个人概率。我们要带走的是：没有需要时吃抗生素，未必得到预期获益，却仍可能遇到副作用；确实需要时，规范使用的获益可以超过风险，不自行停药。下一页把结论换成三个实际动作。</a:t>
            </a:r>
          </a:p>
          <a:p/>
          <a:p>
            <a:r>
              <a:t>视觉说明：双图并排：左侧100格中28格珊瑚红高亮，右侧五个急诊图标中一个红色突出抗生素反应。正文写清药物副作用导致的急诊这一分母；数据年份、范围和来源保留在备注和附页。</a:t>
            </a:r>
          </a:p>
          <a:p/>
          <a:p>
            <a:r>
              <a:t>参考：</a:t>
            </a:r>
          </a:p>
          <a:p>
            <a:r>
              <a:t>[S5] CDC. Antibiotic Use in the United States（2025更新；门诊至少28%不必要处方）</a:t>
            </a:r>
          </a:p>
          <a:p>
            <a:r>
              <a:t>https://www.cdc.gov/antibiotic-use/hcp/data-research/antibiotic-prescribing.html</a:t>
            </a:r>
          </a:p>
          <a:p>
            <a:r>
              <a:t>[S15] CDC. Do antibiotics have side effects?（药物相关急诊约1/5来自抗生素反应）</a:t>
            </a:r>
          </a:p>
          <a:p>
            <a:r>
              <a:t>https://www.cdc.gov/antibiotic-use/media/pdfs/Do-Antibiotics-Have-Side-Effects-508.pdf</a:t>
            </a:r>
          </a:p>
          <a:p>
            <a:r>
              <a:t>[S16] Hersh AL et al. Unnecessary Antibiotic Prescribing in US Ambulatory Care Settings, 2010–2015. Clin Infect Dis. 2021;72:133–137.</a:t>
            </a:r>
          </a:p>
          <a:p>
            <a:r>
              <a:t>https://stacks.cdc.gov/view/cdc/120299/cdc_120299_DS1.pdf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第17页｜乙主讲｜建议60秒</a:t>
            </a:r>
          </a:p>
          <a:p/>
          <a:p/>
          <a:p>
            <a:r>
              <a:t>乙：第三部分，我们把前面的例子浓缩成四个动作：看、核、问、记。看，是观察症状，也看说明书和需要就医的信号。核，是核对成分有没有重复，剂量与时间是否符合要求，自己有没有相关禁忌。问，是把不确定的地方交给医生或药师确认，不用猜测填空。记，是记录已经用过的药、时间、用量以及出现的反应。上一题选C，就把“这盒药能不能配酒”的不确定性变成了一个清楚的咨询问题。这四步是课堂助记法，不是替代诊疗的专业流程。</a:t>
            </a:r>
          </a:p>
          <a:p>
            <a:r>
              <a:t>乙：下一页从“看”开始，把说明书里会影响判断的信息找出来。</a:t>
            </a:r>
          </a:p>
          <a:p/>
          <a:p>
            <a:r>
              <a:t>视觉说明：无插图四格方法框架，放大看核问记。</a:t>
            </a:r>
          </a:p>
          <a:p/>
          <a:p>
            <a:r>
              <a:t>参考：</a:t>
            </a:r>
          </a:p>
          <a:p>
            <a:r>
              <a:t>[S1] 国家卫生健康委等（2020）《关于加强医疗机构药事管理促进合理用药的意见》</a:t>
            </a:r>
          </a:p>
          <a:p>
            <a:r>
              <a:t>https://www.nhc.gov.cn/yzygj/c100068/202002/fdb7240014db4d49827ca25bbb41b177.shtml</a:t>
            </a:r>
          </a:p>
          <a:p>
            <a:r>
              <a:t>[S2] FDA. Don’t Overuse Acetaminophen.</a:t>
            </a:r>
          </a:p>
          <a:p>
            <a:r>
              <a:t>https://www.fda.gov/consumers/consumer-updates/dont-overuse-acetaminophen</a:t>
            </a:r>
          </a:p>
          <a:p>
            <a:r>
              <a:t>[S8] NHS. Antihistamines.</a:t>
            </a:r>
          </a:p>
          <a:p>
            <a:r>
              <a:t>https://www.nhs.uk/medicines/antihistamines/</a:t>
            </a:r>
          </a:p>
          <a:p>
            <a:r>
              <a:t>[S9] NIAAA. Alcohol-Medication Interactions: Potentially Dangerous Mixes.</a:t>
            </a:r>
          </a:p>
          <a:p>
            <a:r>
              <a:t>https://www.niaaa.nih.gov/health-professionals-communities/core-resource-on-alcohol/alcohol-medication-interactions-potentially-dangerous-mixes</a:t>
            </a:r>
          </a:p>
          <a:p/>
          <a:p>
            <a:r>
              <a:t>情境画面为成熟出版物编辑插画，人物与事件为虚构；医学插图按参考资料核对组织关系，受体为功能标记。</a:t>
            </a:r>
          </a:p>
          <a:p>
            <a:r>
              <a:t>本页素材：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6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998" cy="54864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上一版 · 第5页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6359" y="1097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新版 · 精致编辑版</a:t>
            </a:r>
          </a:p>
        </p:txBody>
      </p:sp>
      <p:pic>
        <p:nvPicPr>
          <p:cNvPr id="6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999" cy="6858000"/>
          </a:xfrm>
          <a:prstGeom prst="rect">
            <a:avLst/>
          </a:prstGeom>
        </p:spPr>
      </p:pic>
      <p:sp>
        <p:nvSpPr>
          <p:cNvPr id="7" name="Rectangle 2"/>
          <p:cNvSpPr/>
          <p:nvPr/>
        </p:nvSpPr>
        <p:spPr>
          <a:xfrm>
            <a:off x="585216" y="795528"/>
            <a:ext cx="64008" cy="164592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3"/>
          <p:cNvSpPr txBox="1"/>
          <p:nvPr/>
        </p:nvSpPr>
        <p:spPr>
          <a:xfrm>
            <a:off x="813816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3B50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585216" y="1106424"/>
            <a:ext cx="10991088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B50"/>
                </a:solidFill>
                <a:latin typeface="Noto Sans CJK SC"/>
              </a:defRPr>
            </a:pPr>
            <a:r>
              <a:t>两盒药，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73B50"/>
                </a:solidFill>
                <a:latin typeface="Noto Sans CJK SC"/>
              </a:defRPr>
            </a:pPr>
            <a:r>
              <a:t>是“双保险”还是撞车？</a:t>
            </a:r>
          </a:p>
        </p:txBody>
      </p:sp>
      <p:pic>
        <p:nvPicPr>
          <p:cNvPr id="10" name="EDITORIAL_KEY_R1_C1" descr="image.png"/>
          <p:cNvPicPr>
            <a:picLocks noChangeAspect="1"/>
          </p:cNvPicPr>
          <p:nvPr/>
        </p:nvPicPr>
        <p:blipFill>
          <a:blip r:embed="rId3"/>
          <a:srcRect l="218" r="67470" b="67773"/>
          <a:stretch>
            <a:fillRect/>
          </a:stretch>
        </p:blipFill>
        <p:spPr>
          <a:xfrm>
            <a:off x="0" y="2633471"/>
            <a:ext cx="5885931" cy="3913632"/>
          </a:xfrm>
          <a:prstGeom prst="rect">
            <a:avLst/>
          </a:prstGeom>
        </p:spPr>
      </p:pic>
      <p:sp>
        <p:nvSpPr>
          <p:cNvPr id="11" name="Rectangle 6"/>
          <p:cNvSpPr/>
          <p:nvPr/>
        </p:nvSpPr>
        <p:spPr>
          <a:xfrm>
            <a:off x="310896" y="6611112"/>
            <a:ext cx="5504688" cy="420624"/>
          </a:xfrm>
          <a:prstGeom prst="rect">
            <a:avLst/>
          </a:prstGeom>
          <a:gradFill rotWithShape="1">
            <a:gsLst>
              <a:gs pos="0">
                <a:srgbClr val="EFE5D7"/>
              </a:gs>
              <a:gs pos="100000">
                <a:srgbClr val="F7F2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7"/>
          <p:cNvSpPr txBox="1"/>
          <p:nvPr/>
        </p:nvSpPr>
        <p:spPr>
          <a:xfrm>
            <a:off x="466344" y="6638544"/>
            <a:ext cx="52303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B50"/>
                </a:solidFill>
                <a:latin typeface="Noto Sans CJK SC"/>
              </a:defRPr>
            </a:pPr>
            <a:r>
              <a:t>头痛还在，要不再加一盒？</a:t>
            </a:r>
          </a:p>
        </p:txBody>
      </p:sp>
      <p:pic>
        <p:nvPicPr>
          <p:cNvPr id="13" name="EDITORIAL_KEY_R1_C2" descr="image.png"/>
          <p:cNvPicPr>
            <a:picLocks noChangeAspect="1"/>
          </p:cNvPicPr>
          <p:nvPr/>
        </p:nvPicPr>
        <p:blipFill>
          <a:blip r:embed="rId3"/>
          <a:srcRect l="33844" r="33844" b="67773"/>
          <a:stretch>
            <a:fillRect/>
          </a:stretch>
        </p:blipFill>
        <p:spPr>
          <a:xfrm>
            <a:off x="6519672" y="2569464"/>
            <a:ext cx="2505456" cy="1665910"/>
          </a:xfrm>
          <a:prstGeom prst="rect">
            <a:avLst/>
          </a:prstGeom>
        </p:spPr>
      </p:pic>
      <p:sp>
        <p:nvSpPr>
          <p:cNvPr id="14" name="Rectangle 9"/>
          <p:cNvSpPr/>
          <p:nvPr/>
        </p:nvSpPr>
        <p:spPr>
          <a:xfrm>
            <a:off x="9253728" y="2825496"/>
            <a:ext cx="2322576" cy="1097280"/>
          </a:xfrm>
          <a:prstGeom prst="rect">
            <a:avLst/>
          </a:prstGeom>
          <a:gradFill rotWithShape="1">
            <a:gsLst>
              <a:gs pos="0">
                <a:srgbClr val="EFE5D7"/>
              </a:gs>
              <a:gs pos="100000">
                <a:srgbClr val="F7F2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0"/>
          <p:cNvSpPr txBox="1"/>
          <p:nvPr/>
        </p:nvSpPr>
        <p:spPr>
          <a:xfrm>
            <a:off x="9409176" y="2962656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名字不同，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应该不重复吧？</a:t>
            </a:r>
          </a:p>
        </p:txBody>
      </p:sp>
      <p:pic>
        <p:nvPicPr>
          <p:cNvPr id="16" name="EDITORIAL_KEY_R1_C3" descr="image.png"/>
          <p:cNvPicPr>
            <a:picLocks noChangeAspect="1"/>
          </p:cNvPicPr>
          <p:nvPr/>
        </p:nvPicPr>
        <p:blipFill>
          <a:blip r:embed="rId3"/>
          <a:srcRect l="67438" r="250" b="67773"/>
          <a:stretch>
            <a:fillRect/>
          </a:stretch>
        </p:blipFill>
        <p:spPr>
          <a:xfrm>
            <a:off x="6519672" y="4425696"/>
            <a:ext cx="2505456" cy="1665910"/>
          </a:xfrm>
          <a:prstGeom prst="rect">
            <a:avLst/>
          </a:prstGeom>
        </p:spPr>
      </p:pic>
      <p:sp>
        <p:nvSpPr>
          <p:cNvPr id="17" name="Rectangle 12"/>
          <p:cNvSpPr/>
          <p:nvPr/>
        </p:nvSpPr>
        <p:spPr>
          <a:xfrm>
            <a:off x="9253728" y="4681728"/>
            <a:ext cx="2322576" cy="1097280"/>
          </a:xfrm>
          <a:prstGeom prst="rect">
            <a:avLst/>
          </a:prstGeom>
          <a:gradFill rotWithShape="1">
            <a:gsLst>
              <a:gs pos="0">
                <a:srgbClr val="EFE5D7"/>
              </a:gs>
              <a:gs pos="100000">
                <a:srgbClr val="F7F2E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3"/>
          <p:cNvSpPr txBox="1"/>
          <p:nvPr/>
        </p:nvSpPr>
        <p:spPr>
          <a:xfrm>
            <a:off x="9409176" y="4818888"/>
            <a:ext cx="20116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药盒不同，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B50"/>
                </a:solidFill>
                <a:latin typeface="Noto Sans CJK SC"/>
              </a:defRPr>
            </a:pPr>
            <a:r>
              <a:t>里面的成分呢？</a:t>
            </a:r>
          </a:p>
        </p:txBody>
      </p:sp>
      <p:sp>
        <p:nvSpPr>
          <p:cNvPr id="19" name="Rectangle 14"/>
          <p:cNvSpPr/>
          <p:nvPr/>
        </p:nvSpPr>
        <p:spPr>
          <a:xfrm>
            <a:off x="6519672" y="6327648"/>
            <a:ext cx="5056632" cy="731520"/>
          </a:xfrm>
          <a:prstGeom prst="rect">
            <a:avLst/>
          </a:prstGeom>
          <a:gradFill rotWithShape="1">
            <a:gsLst>
              <a:gs pos="0">
                <a:srgbClr val="143446"/>
              </a:gs>
              <a:gs pos="100000">
                <a:srgbClr val="23485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5"/>
          <p:cNvSpPr txBox="1"/>
          <p:nvPr/>
        </p:nvSpPr>
        <p:spPr>
          <a:xfrm>
            <a:off x="6739128" y="6391656"/>
            <a:ext cx="4617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7F2E8"/>
                </a:solidFill>
                <a:latin typeface="Noto Sans CJK SC"/>
              </a:defRPr>
            </a:pPr>
            <a:r>
              <a:t>包装不同，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7F2E8"/>
                </a:solidFill>
                <a:latin typeface="Noto Sans CJK SC"/>
              </a:defRPr>
            </a:pPr>
            <a:r>
              <a:t>也可能含有同一成分。</a:t>
            </a:r>
          </a:p>
        </p:txBody>
      </p:sp>
      <p:sp>
        <p:nvSpPr>
          <p:cNvPr id="21" name="TextBox 16"/>
          <p:cNvSpPr txBox="1"/>
          <p:nvPr/>
        </p:nvSpPr>
        <p:spPr>
          <a:xfrm>
            <a:off x="10680192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3B50"/>
                </a:solidFill>
                <a:latin typeface="Noto Sans CJK SC"/>
              </a:defRPr>
            </a:pPr>
            <a:r>
              <a:t>05 / 27</a:t>
            </a:r>
          </a:p>
        </p:txBody>
      </p:sp>
      <p:pic>
        <p:nvPicPr>
          <p:cNvPr id="2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9" y="548640"/>
            <a:ext cx="12191999" cy="6858000"/>
          </a:xfrm>
          <a:prstGeom prst="rect">
            <a:avLst/>
          </a:prstGeom>
        </p:spPr>
      </p:pic>
      <p:sp>
        <p:nvSpPr>
          <p:cNvPr id="23" name="STYLE_PAPER_WASH"/>
          <p:cNvSpPr/>
          <p:nvPr/>
        </p:nvSpPr>
        <p:spPr>
          <a:xfrm>
            <a:off x="12191999" y="54864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3"/>
          <p:cNvSpPr/>
          <p:nvPr/>
        </p:nvSpPr>
        <p:spPr>
          <a:xfrm>
            <a:off x="12777215" y="79552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4"/>
          <p:cNvSpPr txBox="1"/>
          <p:nvPr/>
        </p:nvSpPr>
        <p:spPr>
          <a:xfrm>
            <a:off x="13005815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2777215" y="1179576"/>
            <a:ext cx="1099108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50646B"/>
                </a:solidFill>
                <a:latin typeface="Noto Sans CJK SC"/>
              </a:defRPr>
            </a:pPr>
            <a:r>
              <a:t>两盒药，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34453"/>
                </a:solidFill>
                <a:latin typeface="Noto Sans CJK SC"/>
              </a:defRPr>
            </a:pPr>
            <a:r>
              <a:t>是“双保险”还是撞车？</a:t>
            </a:r>
          </a:p>
        </p:txBody>
      </p:sp>
      <p:pic>
        <p:nvPicPr>
          <p:cNvPr id="27" name="EDITORIAL_KEY_R1_C1" descr="image.png"/>
          <p:cNvPicPr>
            <a:picLocks noChangeAspect="1"/>
          </p:cNvPicPr>
          <p:nvPr/>
        </p:nvPicPr>
        <p:blipFill>
          <a:blip r:embed="rId3"/>
          <a:srcRect l="218" r="67470" b="67773"/>
          <a:stretch>
            <a:fillRect/>
          </a:stretch>
        </p:blipFill>
        <p:spPr>
          <a:xfrm>
            <a:off x="12191999" y="2496312"/>
            <a:ext cx="6092214" cy="4050791"/>
          </a:xfrm>
          <a:prstGeom prst="rect">
            <a:avLst/>
          </a:prstGeom>
        </p:spPr>
      </p:pic>
      <p:sp>
        <p:nvSpPr>
          <p:cNvPr id="28" name="TextBox 7"/>
          <p:cNvSpPr txBox="1"/>
          <p:nvPr/>
        </p:nvSpPr>
        <p:spPr>
          <a:xfrm>
            <a:off x="12640055" y="6729984"/>
            <a:ext cx="5431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头痛还在，要不再加一盒？</a:t>
            </a:r>
          </a:p>
        </p:txBody>
      </p:sp>
      <p:sp>
        <p:nvSpPr>
          <p:cNvPr id="29" name="Rectangle 8"/>
          <p:cNvSpPr/>
          <p:nvPr/>
        </p:nvSpPr>
        <p:spPr>
          <a:xfrm>
            <a:off x="18711671" y="2788920"/>
            <a:ext cx="2404872" cy="26609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EDITORIAL_KEY_R1_C2" descr="image.png"/>
          <p:cNvPicPr>
            <a:picLocks noChangeAspect="1"/>
          </p:cNvPicPr>
          <p:nvPr/>
        </p:nvPicPr>
        <p:blipFill>
          <a:blip r:embed="rId3"/>
          <a:srcRect l="33844" r="33844" b="67773"/>
          <a:stretch>
            <a:fillRect/>
          </a:stretch>
        </p:blipFill>
        <p:spPr>
          <a:xfrm>
            <a:off x="18711671" y="2788920"/>
            <a:ext cx="2404872" cy="1599030"/>
          </a:xfrm>
          <a:prstGeom prst="rect">
            <a:avLst/>
          </a:prstGeom>
        </p:spPr>
      </p:pic>
      <p:sp>
        <p:nvSpPr>
          <p:cNvPr id="31" name="TextBox 10"/>
          <p:cNvSpPr txBox="1"/>
          <p:nvPr/>
        </p:nvSpPr>
        <p:spPr>
          <a:xfrm>
            <a:off x="18830543" y="4599431"/>
            <a:ext cx="216712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名字不同，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应该不重复吧？</a:t>
            </a:r>
          </a:p>
        </p:txBody>
      </p:sp>
      <p:sp>
        <p:nvSpPr>
          <p:cNvPr id="32" name="Rectangle 11"/>
          <p:cNvSpPr/>
          <p:nvPr/>
        </p:nvSpPr>
        <p:spPr>
          <a:xfrm>
            <a:off x="21363431" y="2788920"/>
            <a:ext cx="2404872" cy="26609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EDITORIAL_KEY_R1_C3" descr="image.png"/>
          <p:cNvPicPr>
            <a:picLocks noChangeAspect="1"/>
          </p:cNvPicPr>
          <p:nvPr/>
        </p:nvPicPr>
        <p:blipFill>
          <a:blip r:embed="rId3"/>
          <a:srcRect l="67438" r="250" b="67773"/>
          <a:stretch>
            <a:fillRect/>
          </a:stretch>
        </p:blipFill>
        <p:spPr>
          <a:xfrm>
            <a:off x="21363431" y="2788920"/>
            <a:ext cx="2404872" cy="1599030"/>
          </a:xfrm>
          <a:prstGeom prst="rect">
            <a:avLst/>
          </a:prstGeom>
        </p:spPr>
      </p:pic>
      <p:sp>
        <p:nvSpPr>
          <p:cNvPr id="34" name="TextBox 13"/>
          <p:cNvSpPr txBox="1"/>
          <p:nvPr/>
        </p:nvSpPr>
        <p:spPr>
          <a:xfrm>
            <a:off x="21482303" y="4599431"/>
            <a:ext cx="216712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药盒不同，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里面的成分呢？</a:t>
            </a:r>
          </a:p>
        </p:txBody>
      </p:sp>
      <p:sp>
        <p:nvSpPr>
          <p:cNvPr id="35" name="Rectangle 14"/>
          <p:cNvSpPr/>
          <p:nvPr/>
        </p:nvSpPr>
        <p:spPr>
          <a:xfrm>
            <a:off x="18711671" y="6263640"/>
            <a:ext cx="5056632" cy="749808"/>
          </a:xfrm>
          <a:prstGeom prst="rect">
            <a:avLst/>
          </a:prstGeom>
          <a:gradFill rotWithShape="1">
            <a:gsLst>
              <a:gs pos="0">
                <a:srgbClr val="234655"/>
              </a:gs>
              <a:gs pos="100000">
                <a:srgbClr val="35596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15"/>
          <p:cNvSpPr txBox="1"/>
          <p:nvPr/>
        </p:nvSpPr>
        <p:spPr>
          <a:xfrm>
            <a:off x="18931127" y="6345936"/>
            <a:ext cx="461772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包装不同，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8F5EE"/>
                </a:solidFill>
                <a:latin typeface="Noto Sans CJK SC"/>
              </a:defRPr>
            </a:pPr>
            <a:r>
              <a:t>也可能含有同一成分。</a:t>
            </a:r>
          </a:p>
        </p:txBody>
      </p:sp>
      <p:sp>
        <p:nvSpPr>
          <p:cNvPr id="37" name="TextBox 16"/>
          <p:cNvSpPr txBox="1"/>
          <p:nvPr/>
        </p:nvSpPr>
        <p:spPr>
          <a:xfrm>
            <a:off x="22872191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05 / 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191999" y="548640"/>
            <a:ext cx="14630" cy="6858000"/>
          </a:xfrm>
          <a:prstGeom prst="rect">
            <a:avLst/>
          </a:prstGeom>
          <a:solidFill>
            <a:srgbClr val="B6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998" cy="54864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上一版 · 第11页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6359" y="1097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新版 · 精致编辑版</a:t>
            </a:r>
          </a:p>
        </p:txBody>
      </p:sp>
      <p:pic>
        <p:nvPicPr>
          <p:cNvPr id="6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999" cy="6858000"/>
          </a:xfrm>
          <a:prstGeom prst="rect">
            <a:avLst/>
          </a:prstGeom>
        </p:spPr>
      </p:pic>
      <p:sp>
        <p:nvSpPr>
          <p:cNvPr id="7" name="Rectangle 2"/>
          <p:cNvSpPr/>
          <p:nvPr/>
        </p:nvSpPr>
        <p:spPr>
          <a:xfrm>
            <a:off x="0" y="548640"/>
            <a:ext cx="4791456" cy="6858000"/>
          </a:xfrm>
          <a:prstGeom prst="rect">
            <a:avLst/>
          </a:prstGeom>
          <a:gradFill rotWithShape="1">
            <a:gsLst>
              <a:gs pos="0">
                <a:srgbClr val="122C3C"/>
              </a:gs>
              <a:gs pos="100000">
                <a:srgbClr val="254B6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3"/>
          <p:cNvSpPr/>
          <p:nvPr/>
        </p:nvSpPr>
        <p:spPr>
          <a:xfrm>
            <a:off x="585216" y="795528"/>
            <a:ext cx="64008" cy="164592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4"/>
          <p:cNvSpPr txBox="1"/>
          <p:nvPr/>
        </p:nvSpPr>
        <p:spPr>
          <a:xfrm>
            <a:off x="813816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7F2E8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10" name="TextBox 5"/>
          <p:cNvSpPr txBox="1"/>
          <p:nvPr/>
        </p:nvSpPr>
        <p:spPr>
          <a:xfrm>
            <a:off x="594360" y="1499616"/>
            <a:ext cx="3730752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7F2E8"/>
                </a:solidFill>
                <a:latin typeface="Noto Sans CJK SC"/>
              </a:defRPr>
            </a:pPr>
            <a:r>
              <a:t>不需要的抗生素，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7F2E8"/>
                </a:solidFill>
                <a:latin typeface="Noto Sans CJK SC"/>
              </a:defRPr>
            </a:pPr>
            <a:r>
              <a:t>也可能带来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7F2E8"/>
                </a:solidFill>
                <a:latin typeface="Noto Sans CJK SC"/>
              </a:defRPr>
            </a:pPr>
            <a:r>
              <a:t>真实伤害</a:t>
            </a:r>
          </a:p>
        </p:txBody>
      </p:sp>
      <p:sp>
        <p:nvSpPr>
          <p:cNvPr id="11" name="Rectangle 6"/>
          <p:cNvSpPr/>
          <p:nvPr/>
        </p:nvSpPr>
        <p:spPr>
          <a:xfrm>
            <a:off x="594360" y="5065776"/>
            <a:ext cx="457200" cy="41148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7"/>
          <p:cNvSpPr txBox="1"/>
          <p:nvPr/>
        </p:nvSpPr>
        <p:spPr>
          <a:xfrm>
            <a:off x="594360" y="5559552"/>
            <a:ext cx="3685032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7F2E8"/>
                </a:solidFill>
                <a:latin typeface="Noto Sans CJK SC"/>
              </a:defRPr>
            </a:pPr>
            <a:r>
              <a:t>没有治疗需要，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7F2E8"/>
                </a:solidFill>
                <a:latin typeface="Noto Sans CJK SC"/>
              </a:defRPr>
            </a:pPr>
            <a:r>
              <a:t>也要承担用药风险。</a:t>
            </a:r>
          </a:p>
        </p:txBody>
      </p:sp>
      <p:sp>
        <p:nvSpPr>
          <p:cNvPr id="13" name="TextBox 8"/>
          <p:cNvSpPr txBox="1"/>
          <p:nvPr/>
        </p:nvSpPr>
        <p:spPr>
          <a:xfrm>
            <a:off x="5358384" y="103327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D95361"/>
                </a:solidFill>
                <a:latin typeface="Noto Sans CJK SC"/>
              </a:defRPr>
            </a:pPr>
            <a:r>
              <a:t>至少</a:t>
            </a:r>
          </a:p>
        </p:txBody>
      </p:sp>
      <p:sp>
        <p:nvSpPr>
          <p:cNvPr id="14" name="TextBox 9"/>
          <p:cNvSpPr txBox="1"/>
          <p:nvPr/>
        </p:nvSpPr>
        <p:spPr>
          <a:xfrm>
            <a:off x="5303520" y="1490472"/>
            <a:ext cx="3081528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800" b="1">
                <a:solidFill>
                  <a:srgbClr val="D95361"/>
                </a:solidFill>
                <a:latin typeface="Noto Sans CJK SC"/>
              </a:defRPr>
            </a:pPr>
            <a:r>
              <a:t>28%</a:t>
            </a:r>
          </a:p>
        </p:txBody>
      </p:sp>
      <p:sp>
        <p:nvSpPr>
          <p:cNvPr id="15" name="TextBox 10"/>
          <p:cNvSpPr txBox="1"/>
          <p:nvPr/>
        </p:nvSpPr>
        <p:spPr>
          <a:xfrm>
            <a:off x="5358384" y="2825496"/>
            <a:ext cx="299008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美国门诊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抗生素处方</a:t>
            </a:r>
          </a:p>
        </p:txBody>
      </p:sp>
      <p:sp>
        <p:nvSpPr>
          <p:cNvPr id="16" name="DATA_GRID_001_HIGHLIGHT"/>
          <p:cNvSpPr/>
          <p:nvPr/>
        </p:nvSpPr>
        <p:spPr>
          <a:xfrm>
            <a:off x="8814816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_GRID_002_HIGHLIGHT"/>
          <p:cNvSpPr/>
          <p:nvPr/>
        </p:nvSpPr>
        <p:spPr>
          <a:xfrm>
            <a:off x="9064447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ATA_GRID_003_HIGHLIGHT"/>
          <p:cNvSpPr/>
          <p:nvPr/>
        </p:nvSpPr>
        <p:spPr>
          <a:xfrm>
            <a:off x="9314078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TA_GRID_004_HIGHLIGHT"/>
          <p:cNvSpPr/>
          <p:nvPr/>
        </p:nvSpPr>
        <p:spPr>
          <a:xfrm>
            <a:off x="9563709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TA_GRID_005_HIGHLIGHT"/>
          <p:cNvSpPr/>
          <p:nvPr/>
        </p:nvSpPr>
        <p:spPr>
          <a:xfrm>
            <a:off x="9813340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ATA_GRID_006_HIGHLIGHT"/>
          <p:cNvSpPr/>
          <p:nvPr/>
        </p:nvSpPr>
        <p:spPr>
          <a:xfrm>
            <a:off x="10062972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ATA_GRID_007_HIGHLIGHT"/>
          <p:cNvSpPr/>
          <p:nvPr/>
        </p:nvSpPr>
        <p:spPr>
          <a:xfrm>
            <a:off x="10312603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ATA_GRID_008_HIGHLIGHT"/>
          <p:cNvSpPr/>
          <p:nvPr/>
        </p:nvSpPr>
        <p:spPr>
          <a:xfrm>
            <a:off x="10562234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_GRID_009_HIGHLIGHT"/>
          <p:cNvSpPr/>
          <p:nvPr/>
        </p:nvSpPr>
        <p:spPr>
          <a:xfrm>
            <a:off x="10811865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_GRID_010_HIGHLIGHT"/>
          <p:cNvSpPr/>
          <p:nvPr/>
        </p:nvSpPr>
        <p:spPr>
          <a:xfrm>
            <a:off x="11061496" y="117043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ATA_GRID_011_HIGHLIGHT"/>
          <p:cNvSpPr/>
          <p:nvPr/>
        </p:nvSpPr>
        <p:spPr>
          <a:xfrm>
            <a:off x="8814816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ATA_GRID_012_HIGHLIGHT"/>
          <p:cNvSpPr/>
          <p:nvPr/>
        </p:nvSpPr>
        <p:spPr>
          <a:xfrm>
            <a:off x="9064447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ATA_GRID_013_HIGHLIGHT"/>
          <p:cNvSpPr/>
          <p:nvPr/>
        </p:nvSpPr>
        <p:spPr>
          <a:xfrm>
            <a:off x="9314078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ATA_GRID_014_HIGHLIGHT"/>
          <p:cNvSpPr/>
          <p:nvPr/>
        </p:nvSpPr>
        <p:spPr>
          <a:xfrm>
            <a:off x="9563709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ATA_GRID_015_HIGHLIGHT"/>
          <p:cNvSpPr/>
          <p:nvPr/>
        </p:nvSpPr>
        <p:spPr>
          <a:xfrm>
            <a:off x="9813340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ATA_GRID_016_HIGHLIGHT"/>
          <p:cNvSpPr/>
          <p:nvPr/>
        </p:nvSpPr>
        <p:spPr>
          <a:xfrm>
            <a:off x="10062972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ATA_GRID_017_HIGHLIGHT"/>
          <p:cNvSpPr/>
          <p:nvPr/>
        </p:nvSpPr>
        <p:spPr>
          <a:xfrm>
            <a:off x="10312603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ATA_GRID_018_HIGHLIGHT"/>
          <p:cNvSpPr/>
          <p:nvPr/>
        </p:nvSpPr>
        <p:spPr>
          <a:xfrm>
            <a:off x="10562234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ATA_GRID_019_HIGHLIGHT"/>
          <p:cNvSpPr/>
          <p:nvPr/>
        </p:nvSpPr>
        <p:spPr>
          <a:xfrm>
            <a:off x="10811865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ATA_GRID_020_HIGHLIGHT"/>
          <p:cNvSpPr/>
          <p:nvPr/>
        </p:nvSpPr>
        <p:spPr>
          <a:xfrm>
            <a:off x="11061496" y="142006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ATA_GRID_021_HIGHLIGHT"/>
          <p:cNvSpPr/>
          <p:nvPr/>
        </p:nvSpPr>
        <p:spPr>
          <a:xfrm>
            <a:off x="8814816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ATA_GRID_022_HIGHLIGHT"/>
          <p:cNvSpPr/>
          <p:nvPr/>
        </p:nvSpPr>
        <p:spPr>
          <a:xfrm>
            <a:off x="9064447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ATA_GRID_023_HIGHLIGHT"/>
          <p:cNvSpPr/>
          <p:nvPr/>
        </p:nvSpPr>
        <p:spPr>
          <a:xfrm>
            <a:off x="9314078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ATA_GRID_024_HIGHLIGHT"/>
          <p:cNvSpPr/>
          <p:nvPr/>
        </p:nvSpPr>
        <p:spPr>
          <a:xfrm>
            <a:off x="9563709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ATA_GRID_025_HIGHLIGHT"/>
          <p:cNvSpPr/>
          <p:nvPr/>
        </p:nvSpPr>
        <p:spPr>
          <a:xfrm>
            <a:off x="9813340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ATA_GRID_026_HIGHLIGHT"/>
          <p:cNvSpPr/>
          <p:nvPr/>
        </p:nvSpPr>
        <p:spPr>
          <a:xfrm>
            <a:off x="10062972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ATA_GRID_027_HIGHLIGHT"/>
          <p:cNvSpPr/>
          <p:nvPr/>
        </p:nvSpPr>
        <p:spPr>
          <a:xfrm>
            <a:off x="10312603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ATA_GRID_028_HIGHLIGHT"/>
          <p:cNvSpPr/>
          <p:nvPr/>
        </p:nvSpPr>
        <p:spPr>
          <a:xfrm>
            <a:off x="10562234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ATA_GRID_029_REST"/>
          <p:cNvSpPr/>
          <p:nvPr/>
        </p:nvSpPr>
        <p:spPr>
          <a:xfrm>
            <a:off x="10811865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ATA_GRID_030_REST"/>
          <p:cNvSpPr/>
          <p:nvPr/>
        </p:nvSpPr>
        <p:spPr>
          <a:xfrm>
            <a:off x="11061496" y="166969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ATA_GRID_031_REST"/>
          <p:cNvSpPr/>
          <p:nvPr/>
        </p:nvSpPr>
        <p:spPr>
          <a:xfrm>
            <a:off x="8814816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ATA_GRID_032_REST"/>
          <p:cNvSpPr/>
          <p:nvPr/>
        </p:nvSpPr>
        <p:spPr>
          <a:xfrm>
            <a:off x="9064447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ATA_GRID_033_REST"/>
          <p:cNvSpPr/>
          <p:nvPr/>
        </p:nvSpPr>
        <p:spPr>
          <a:xfrm>
            <a:off x="9314078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ATA_GRID_034_REST"/>
          <p:cNvSpPr/>
          <p:nvPr/>
        </p:nvSpPr>
        <p:spPr>
          <a:xfrm>
            <a:off x="9563709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ATA_GRID_035_REST"/>
          <p:cNvSpPr/>
          <p:nvPr/>
        </p:nvSpPr>
        <p:spPr>
          <a:xfrm>
            <a:off x="9813340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ATA_GRID_036_REST"/>
          <p:cNvSpPr/>
          <p:nvPr/>
        </p:nvSpPr>
        <p:spPr>
          <a:xfrm>
            <a:off x="10062972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ATA_GRID_037_REST"/>
          <p:cNvSpPr/>
          <p:nvPr/>
        </p:nvSpPr>
        <p:spPr>
          <a:xfrm>
            <a:off x="10312603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ATA_GRID_038_REST"/>
          <p:cNvSpPr/>
          <p:nvPr/>
        </p:nvSpPr>
        <p:spPr>
          <a:xfrm>
            <a:off x="10562234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ATA_GRID_039_REST"/>
          <p:cNvSpPr/>
          <p:nvPr/>
        </p:nvSpPr>
        <p:spPr>
          <a:xfrm>
            <a:off x="10811865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ATA_GRID_040_REST"/>
          <p:cNvSpPr/>
          <p:nvPr/>
        </p:nvSpPr>
        <p:spPr>
          <a:xfrm>
            <a:off x="11061496" y="191932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ATA_GRID_041_REST"/>
          <p:cNvSpPr/>
          <p:nvPr/>
        </p:nvSpPr>
        <p:spPr>
          <a:xfrm>
            <a:off x="8814816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ATA_GRID_042_REST"/>
          <p:cNvSpPr/>
          <p:nvPr/>
        </p:nvSpPr>
        <p:spPr>
          <a:xfrm>
            <a:off x="9064447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ATA_GRID_043_REST"/>
          <p:cNvSpPr/>
          <p:nvPr/>
        </p:nvSpPr>
        <p:spPr>
          <a:xfrm>
            <a:off x="9314078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ATA_GRID_044_REST"/>
          <p:cNvSpPr/>
          <p:nvPr/>
        </p:nvSpPr>
        <p:spPr>
          <a:xfrm>
            <a:off x="9563709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ATA_GRID_045_REST"/>
          <p:cNvSpPr/>
          <p:nvPr/>
        </p:nvSpPr>
        <p:spPr>
          <a:xfrm>
            <a:off x="9813340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ATA_GRID_046_REST"/>
          <p:cNvSpPr/>
          <p:nvPr/>
        </p:nvSpPr>
        <p:spPr>
          <a:xfrm>
            <a:off x="10062972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ATA_GRID_047_REST"/>
          <p:cNvSpPr/>
          <p:nvPr/>
        </p:nvSpPr>
        <p:spPr>
          <a:xfrm>
            <a:off x="10312603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ATA_GRID_048_REST"/>
          <p:cNvSpPr/>
          <p:nvPr/>
        </p:nvSpPr>
        <p:spPr>
          <a:xfrm>
            <a:off x="10562234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ATA_GRID_049_REST"/>
          <p:cNvSpPr/>
          <p:nvPr/>
        </p:nvSpPr>
        <p:spPr>
          <a:xfrm>
            <a:off x="10811865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ATA_GRID_050_REST"/>
          <p:cNvSpPr/>
          <p:nvPr/>
        </p:nvSpPr>
        <p:spPr>
          <a:xfrm>
            <a:off x="11061496" y="216895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ATA_GRID_051_REST"/>
          <p:cNvSpPr/>
          <p:nvPr/>
        </p:nvSpPr>
        <p:spPr>
          <a:xfrm>
            <a:off x="8814816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ATA_GRID_052_REST"/>
          <p:cNvSpPr/>
          <p:nvPr/>
        </p:nvSpPr>
        <p:spPr>
          <a:xfrm>
            <a:off x="9064447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ATA_GRID_053_REST"/>
          <p:cNvSpPr/>
          <p:nvPr/>
        </p:nvSpPr>
        <p:spPr>
          <a:xfrm>
            <a:off x="9314078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ATA_GRID_054_REST"/>
          <p:cNvSpPr/>
          <p:nvPr/>
        </p:nvSpPr>
        <p:spPr>
          <a:xfrm>
            <a:off x="9563709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ATA_GRID_055_REST"/>
          <p:cNvSpPr/>
          <p:nvPr/>
        </p:nvSpPr>
        <p:spPr>
          <a:xfrm>
            <a:off x="9813340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ATA_GRID_056_REST"/>
          <p:cNvSpPr/>
          <p:nvPr/>
        </p:nvSpPr>
        <p:spPr>
          <a:xfrm>
            <a:off x="10062972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ATA_GRID_057_REST"/>
          <p:cNvSpPr/>
          <p:nvPr/>
        </p:nvSpPr>
        <p:spPr>
          <a:xfrm>
            <a:off x="10312603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ATA_GRID_058_REST"/>
          <p:cNvSpPr/>
          <p:nvPr/>
        </p:nvSpPr>
        <p:spPr>
          <a:xfrm>
            <a:off x="10562234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ATA_GRID_059_REST"/>
          <p:cNvSpPr/>
          <p:nvPr/>
        </p:nvSpPr>
        <p:spPr>
          <a:xfrm>
            <a:off x="10811865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ATA_GRID_060_REST"/>
          <p:cNvSpPr/>
          <p:nvPr/>
        </p:nvSpPr>
        <p:spPr>
          <a:xfrm>
            <a:off x="11061496" y="241858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ATA_GRID_061_REST"/>
          <p:cNvSpPr/>
          <p:nvPr/>
        </p:nvSpPr>
        <p:spPr>
          <a:xfrm>
            <a:off x="8814816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ATA_GRID_062_REST"/>
          <p:cNvSpPr/>
          <p:nvPr/>
        </p:nvSpPr>
        <p:spPr>
          <a:xfrm>
            <a:off x="9064447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ATA_GRID_063_REST"/>
          <p:cNvSpPr/>
          <p:nvPr/>
        </p:nvSpPr>
        <p:spPr>
          <a:xfrm>
            <a:off x="9314078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ATA_GRID_064_REST"/>
          <p:cNvSpPr/>
          <p:nvPr/>
        </p:nvSpPr>
        <p:spPr>
          <a:xfrm>
            <a:off x="9563709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ATA_GRID_065_REST"/>
          <p:cNvSpPr/>
          <p:nvPr/>
        </p:nvSpPr>
        <p:spPr>
          <a:xfrm>
            <a:off x="9813340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ATA_GRID_066_REST"/>
          <p:cNvSpPr/>
          <p:nvPr/>
        </p:nvSpPr>
        <p:spPr>
          <a:xfrm>
            <a:off x="10062972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ATA_GRID_067_REST"/>
          <p:cNvSpPr/>
          <p:nvPr/>
        </p:nvSpPr>
        <p:spPr>
          <a:xfrm>
            <a:off x="10312603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DATA_GRID_068_REST"/>
          <p:cNvSpPr/>
          <p:nvPr/>
        </p:nvSpPr>
        <p:spPr>
          <a:xfrm>
            <a:off x="10562234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ATA_GRID_069_REST"/>
          <p:cNvSpPr/>
          <p:nvPr/>
        </p:nvSpPr>
        <p:spPr>
          <a:xfrm>
            <a:off x="10811865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ATA_GRID_070_REST"/>
          <p:cNvSpPr/>
          <p:nvPr/>
        </p:nvSpPr>
        <p:spPr>
          <a:xfrm>
            <a:off x="11061496" y="266821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ATA_GRID_071_REST"/>
          <p:cNvSpPr/>
          <p:nvPr/>
        </p:nvSpPr>
        <p:spPr>
          <a:xfrm>
            <a:off x="8814816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ATA_GRID_072_REST"/>
          <p:cNvSpPr/>
          <p:nvPr/>
        </p:nvSpPr>
        <p:spPr>
          <a:xfrm>
            <a:off x="9064447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ATA_GRID_073_REST"/>
          <p:cNvSpPr/>
          <p:nvPr/>
        </p:nvSpPr>
        <p:spPr>
          <a:xfrm>
            <a:off x="9314078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ATA_GRID_074_REST"/>
          <p:cNvSpPr/>
          <p:nvPr/>
        </p:nvSpPr>
        <p:spPr>
          <a:xfrm>
            <a:off x="9563709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ATA_GRID_075_REST"/>
          <p:cNvSpPr/>
          <p:nvPr/>
        </p:nvSpPr>
        <p:spPr>
          <a:xfrm>
            <a:off x="9813340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ATA_GRID_076_REST"/>
          <p:cNvSpPr/>
          <p:nvPr/>
        </p:nvSpPr>
        <p:spPr>
          <a:xfrm>
            <a:off x="10062972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ATA_GRID_077_REST"/>
          <p:cNvSpPr/>
          <p:nvPr/>
        </p:nvSpPr>
        <p:spPr>
          <a:xfrm>
            <a:off x="10312603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ATA_GRID_078_REST"/>
          <p:cNvSpPr/>
          <p:nvPr/>
        </p:nvSpPr>
        <p:spPr>
          <a:xfrm>
            <a:off x="10562234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ATA_GRID_079_REST"/>
          <p:cNvSpPr/>
          <p:nvPr/>
        </p:nvSpPr>
        <p:spPr>
          <a:xfrm>
            <a:off x="10811865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ATA_GRID_080_REST"/>
          <p:cNvSpPr/>
          <p:nvPr/>
        </p:nvSpPr>
        <p:spPr>
          <a:xfrm>
            <a:off x="11061496" y="291785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ATA_GRID_081_REST"/>
          <p:cNvSpPr/>
          <p:nvPr/>
        </p:nvSpPr>
        <p:spPr>
          <a:xfrm>
            <a:off x="8814816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ATA_GRID_082_REST"/>
          <p:cNvSpPr/>
          <p:nvPr/>
        </p:nvSpPr>
        <p:spPr>
          <a:xfrm>
            <a:off x="9064447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ATA_GRID_083_REST"/>
          <p:cNvSpPr/>
          <p:nvPr/>
        </p:nvSpPr>
        <p:spPr>
          <a:xfrm>
            <a:off x="9314078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ATA_GRID_084_REST"/>
          <p:cNvSpPr/>
          <p:nvPr/>
        </p:nvSpPr>
        <p:spPr>
          <a:xfrm>
            <a:off x="9563709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ATA_GRID_085_REST"/>
          <p:cNvSpPr/>
          <p:nvPr/>
        </p:nvSpPr>
        <p:spPr>
          <a:xfrm>
            <a:off x="9813340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ATA_GRID_086_REST"/>
          <p:cNvSpPr/>
          <p:nvPr/>
        </p:nvSpPr>
        <p:spPr>
          <a:xfrm>
            <a:off x="10062972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ATA_GRID_087_REST"/>
          <p:cNvSpPr/>
          <p:nvPr/>
        </p:nvSpPr>
        <p:spPr>
          <a:xfrm>
            <a:off x="10312603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ATA_GRID_088_REST"/>
          <p:cNvSpPr/>
          <p:nvPr/>
        </p:nvSpPr>
        <p:spPr>
          <a:xfrm>
            <a:off x="10562234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ATA_GRID_089_REST"/>
          <p:cNvSpPr/>
          <p:nvPr/>
        </p:nvSpPr>
        <p:spPr>
          <a:xfrm>
            <a:off x="10811865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ATA_GRID_090_REST"/>
          <p:cNvSpPr/>
          <p:nvPr/>
        </p:nvSpPr>
        <p:spPr>
          <a:xfrm>
            <a:off x="11061496" y="316748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ATA_GRID_091_REST"/>
          <p:cNvSpPr/>
          <p:nvPr/>
        </p:nvSpPr>
        <p:spPr>
          <a:xfrm>
            <a:off x="8814816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ATA_GRID_092_REST"/>
          <p:cNvSpPr/>
          <p:nvPr/>
        </p:nvSpPr>
        <p:spPr>
          <a:xfrm>
            <a:off x="9064447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DATA_GRID_093_REST"/>
          <p:cNvSpPr/>
          <p:nvPr/>
        </p:nvSpPr>
        <p:spPr>
          <a:xfrm>
            <a:off x="9314078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ATA_GRID_094_REST"/>
          <p:cNvSpPr/>
          <p:nvPr/>
        </p:nvSpPr>
        <p:spPr>
          <a:xfrm>
            <a:off x="9563709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ATA_GRID_095_REST"/>
          <p:cNvSpPr/>
          <p:nvPr/>
        </p:nvSpPr>
        <p:spPr>
          <a:xfrm>
            <a:off x="9813340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ATA_GRID_096_REST"/>
          <p:cNvSpPr/>
          <p:nvPr/>
        </p:nvSpPr>
        <p:spPr>
          <a:xfrm>
            <a:off x="10062972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DATA_GRID_097_REST"/>
          <p:cNvSpPr/>
          <p:nvPr/>
        </p:nvSpPr>
        <p:spPr>
          <a:xfrm>
            <a:off x="10312603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DATA_GRID_098_REST"/>
          <p:cNvSpPr/>
          <p:nvPr/>
        </p:nvSpPr>
        <p:spPr>
          <a:xfrm>
            <a:off x="10562234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DATA_GRID_099_REST"/>
          <p:cNvSpPr/>
          <p:nvPr/>
        </p:nvSpPr>
        <p:spPr>
          <a:xfrm>
            <a:off x="10811865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DATA_GRID_100_REST"/>
          <p:cNvSpPr/>
          <p:nvPr/>
        </p:nvSpPr>
        <p:spPr>
          <a:xfrm>
            <a:off x="11061496" y="341711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DD7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1"/>
          <p:cNvSpPr txBox="1"/>
          <p:nvPr/>
        </p:nvSpPr>
        <p:spPr>
          <a:xfrm>
            <a:off x="5358384" y="3648456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被估计为不必要</a:t>
            </a:r>
          </a:p>
        </p:txBody>
      </p:sp>
      <p:sp>
        <p:nvSpPr>
          <p:cNvPr id="117" name="Rectangle 112"/>
          <p:cNvSpPr/>
          <p:nvPr/>
        </p:nvSpPr>
        <p:spPr>
          <a:xfrm>
            <a:off x="5358384" y="4251960"/>
            <a:ext cx="6217920" cy="14630"/>
          </a:xfrm>
          <a:prstGeom prst="rect">
            <a:avLst/>
          </a:prstGeom>
          <a:solidFill>
            <a:srgbClr val="CFC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3"/>
          <p:cNvSpPr txBox="1"/>
          <p:nvPr/>
        </p:nvSpPr>
        <p:spPr>
          <a:xfrm>
            <a:off x="5358384" y="4471416"/>
            <a:ext cx="62179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3B50"/>
                </a:solidFill>
                <a:latin typeface="Noto Sans CJK SC"/>
              </a:defRPr>
            </a:pPr>
            <a:r>
              <a:t>药物副作用导致的急诊</a:t>
            </a:r>
          </a:p>
        </p:txBody>
      </p:sp>
      <p:sp>
        <p:nvSpPr>
          <p:cNvPr id="119" name="TextBox 114"/>
          <p:cNvSpPr txBox="1"/>
          <p:nvPr/>
        </p:nvSpPr>
        <p:spPr>
          <a:xfrm>
            <a:off x="5358384" y="5065776"/>
            <a:ext cx="4169663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D95361"/>
                </a:solidFill>
                <a:latin typeface="Noto Sans CJK SC"/>
              </a:defRPr>
            </a:pPr>
            <a:r>
              <a:t>5次中，约1次</a:t>
            </a:r>
          </a:p>
        </p:txBody>
      </p:sp>
      <p:sp>
        <p:nvSpPr>
          <p:cNvPr id="120" name="TextBox 115"/>
          <p:cNvSpPr txBox="1"/>
          <p:nvPr/>
        </p:nvSpPr>
        <p:spPr>
          <a:xfrm>
            <a:off x="9491472" y="5084064"/>
            <a:ext cx="20848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B50"/>
                </a:solidFill>
                <a:latin typeface="Noto Sans CJK SC"/>
              </a:defRPr>
            </a:pPr>
            <a:r>
              <a:t>涉及抗生素反应</a:t>
            </a:r>
          </a:p>
        </p:txBody>
      </p:sp>
      <p:sp>
        <p:nvSpPr>
          <p:cNvPr id="121" name="DATA_ED_1_HIGHLIGHT"/>
          <p:cNvSpPr/>
          <p:nvPr/>
        </p:nvSpPr>
        <p:spPr>
          <a:xfrm>
            <a:off x="5385816" y="583387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17"/>
          <p:cNvSpPr/>
          <p:nvPr/>
        </p:nvSpPr>
        <p:spPr>
          <a:xfrm>
            <a:off x="5766206" y="598017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18"/>
          <p:cNvSpPr/>
          <p:nvPr/>
        </p:nvSpPr>
        <p:spPr>
          <a:xfrm>
            <a:off x="5642579" y="605332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19"/>
          <p:cNvSpPr/>
          <p:nvPr/>
        </p:nvSpPr>
        <p:spPr>
          <a:xfrm>
            <a:off x="5794735" y="642823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0"/>
          <p:cNvSpPr/>
          <p:nvPr/>
        </p:nvSpPr>
        <p:spPr>
          <a:xfrm>
            <a:off x="5537972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1"/>
          <p:cNvSpPr/>
          <p:nvPr/>
        </p:nvSpPr>
        <p:spPr>
          <a:xfrm>
            <a:off x="6080028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DATA_ED_2_REST"/>
          <p:cNvSpPr/>
          <p:nvPr/>
        </p:nvSpPr>
        <p:spPr>
          <a:xfrm>
            <a:off x="6633972" y="583387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3"/>
          <p:cNvSpPr/>
          <p:nvPr/>
        </p:nvSpPr>
        <p:spPr>
          <a:xfrm>
            <a:off x="7014362" y="598017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4"/>
          <p:cNvSpPr/>
          <p:nvPr/>
        </p:nvSpPr>
        <p:spPr>
          <a:xfrm>
            <a:off x="6890735" y="605332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5"/>
          <p:cNvSpPr/>
          <p:nvPr/>
        </p:nvSpPr>
        <p:spPr>
          <a:xfrm>
            <a:off x="7042891" y="642823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26"/>
          <p:cNvSpPr/>
          <p:nvPr/>
        </p:nvSpPr>
        <p:spPr>
          <a:xfrm>
            <a:off x="6786128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27"/>
          <p:cNvSpPr/>
          <p:nvPr/>
        </p:nvSpPr>
        <p:spPr>
          <a:xfrm>
            <a:off x="7328184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ATA_ED_3_REST"/>
          <p:cNvSpPr/>
          <p:nvPr/>
        </p:nvSpPr>
        <p:spPr>
          <a:xfrm>
            <a:off x="7882127" y="583387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29"/>
          <p:cNvSpPr/>
          <p:nvPr/>
        </p:nvSpPr>
        <p:spPr>
          <a:xfrm>
            <a:off x="8262518" y="598017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0"/>
          <p:cNvSpPr/>
          <p:nvPr/>
        </p:nvSpPr>
        <p:spPr>
          <a:xfrm>
            <a:off x="8138891" y="605332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1"/>
          <p:cNvSpPr/>
          <p:nvPr/>
        </p:nvSpPr>
        <p:spPr>
          <a:xfrm>
            <a:off x="8291047" y="642823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2"/>
          <p:cNvSpPr/>
          <p:nvPr/>
        </p:nvSpPr>
        <p:spPr>
          <a:xfrm>
            <a:off x="8034284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3"/>
          <p:cNvSpPr/>
          <p:nvPr/>
        </p:nvSpPr>
        <p:spPr>
          <a:xfrm>
            <a:off x="8576340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DATA_ED_4_REST"/>
          <p:cNvSpPr/>
          <p:nvPr/>
        </p:nvSpPr>
        <p:spPr>
          <a:xfrm>
            <a:off x="9130284" y="583387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5"/>
          <p:cNvSpPr/>
          <p:nvPr/>
        </p:nvSpPr>
        <p:spPr>
          <a:xfrm>
            <a:off x="9510674" y="598017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36"/>
          <p:cNvSpPr/>
          <p:nvPr/>
        </p:nvSpPr>
        <p:spPr>
          <a:xfrm>
            <a:off x="9387047" y="605332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37"/>
          <p:cNvSpPr/>
          <p:nvPr/>
        </p:nvSpPr>
        <p:spPr>
          <a:xfrm>
            <a:off x="9539203" y="642823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38"/>
          <p:cNvSpPr/>
          <p:nvPr/>
        </p:nvSpPr>
        <p:spPr>
          <a:xfrm>
            <a:off x="9282440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39"/>
          <p:cNvSpPr/>
          <p:nvPr/>
        </p:nvSpPr>
        <p:spPr>
          <a:xfrm>
            <a:off x="9824496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DATA_ED_5_REST"/>
          <p:cNvSpPr/>
          <p:nvPr/>
        </p:nvSpPr>
        <p:spPr>
          <a:xfrm>
            <a:off x="10378440" y="5833872"/>
            <a:ext cx="950976" cy="960120"/>
          </a:xfrm>
          <a:prstGeom prst="roundRect">
            <a:avLst>
              <a:gd name="adj" fmla="val 6000"/>
            </a:avLst>
          </a:prstGeom>
          <a:solidFill>
            <a:srgbClr val="173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1"/>
          <p:cNvSpPr/>
          <p:nvPr/>
        </p:nvSpPr>
        <p:spPr>
          <a:xfrm>
            <a:off x="10758830" y="5980176"/>
            <a:ext cx="190195" cy="256032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2"/>
          <p:cNvSpPr/>
          <p:nvPr/>
        </p:nvSpPr>
        <p:spPr>
          <a:xfrm>
            <a:off x="10635203" y="6053328"/>
            <a:ext cx="437448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3"/>
          <p:cNvSpPr/>
          <p:nvPr/>
        </p:nvSpPr>
        <p:spPr>
          <a:xfrm>
            <a:off x="10787359" y="6428232"/>
            <a:ext cx="171175" cy="36576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4"/>
          <p:cNvSpPr/>
          <p:nvPr/>
        </p:nvSpPr>
        <p:spPr>
          <a:xfrm>
            <a:off x="10530596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5"/>
          <p:cNvSpPr/>
          <p:nvPr/>
        </p:nvSpPr>
        <p:spPr>
          <a:xfrm>
            <a:off x="11072652" y="6345936"/>
            <a:ext cx="114117" cy="109728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46"/>
          <p:cNvSpPr txBox="1"/>
          <p:nvPr/>
        </p:nvSpPr>
        <p:spPr>
          <a:xfrm>
            <a:off x="5358384" y="6922008"/>
            <a:ext cx="6217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3B50"/>
                </a:solidFill>
                <a:latin typeface="Noto Sans CJK SC"/>
              </a:defRPr>
            </a:pPr>
            <a:r>
              <a:t>皮疹、腹泻，也可能严重过敏</a:t>
            </a:r>
          </a:p>
        </p:txBody>
      </p:sp>
      <p:sp>
        <p:nvSpPr>
          <p:cNvPr id="152" name="TextBox 147"/>
          <p:cNvSpPr txBox="1"/>
          <p:nvPr/>
        </p:nvSpPr>
        <p:spPr>
          <a:xfrm>
            <a:off x="10680192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73B50"/>
                </a:solidFill>
                <a:latin typeface="Noto Sans CJK SC"/>
              </a:defRPr>
            </a:pPr>
            <a:r>
              <a:t>11 / 27</a:t>
            </a:r>
          </a:p>
        </p:txBody>
      </p:sp>
      <p:pic>
        <p:nvPicPr>
          <p:cNvPr id="153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9" y="548640"/>
            <a:ext cx="12191999" cy="6858000"/>
          </a:xfrm>
          <a:prstGeom prst="rect">
            <a:avLst/>
          </a:prstGeom>
        </p:spPr>
      </p:pic>
      <p:sp>
        <p:nvSpPr>
          <p:cNvPr id="154" name="STYLE_PAPER_WASH"/>
          <p:cNvSpPr/>
          <p:nvPr/>
        </p:nvSpPr>
        <p:spPr>
          <a:xfrm>
            <a:off x="12191999" y="54864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3"/>
          <p:cNvSpPr/>
          <p:nvPr/>
        </p:nvSpPr>
        <p:spPr>
          <a:xfrm>
            <a:off x="12191999" y="548640"/>
            <a:ext cx="3749039" cy="6858000"/>
          </a:xfrm>
          <a:prstGeom prst="rect">
            <a:avLst/>
          </a:prstGeom>
          <a:gradFill rotWithShape="1">
            <a:gsLst>
              <a:gs pos="0">
                <a:srgbClr val="1D3B4B"/>
              </a:gs>
              <a:gs pos="100000">
                <a:srgbClr val="31596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4"/>
          <p:cNvSpPr/>
          <p:nvPr/>
        </p:nvSpPr>
        <p:spPr>
          <a:xfrm>
            <a:off x="12777215" y="79552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5"/>
          <p:cNvSpPr txBox="1"/>
          <p:nvPr/>
        </p:nvSpPr>
        <p:spPr>
          <a:xfrm>
            <a:off x="13005815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158" name="TextBox 6"/>
          <p:cNvSpPr txBox="1"/>
          <p:nvPr/>
        </p:nvSpPr>
        <p:spPr>
          <a:xfrm>
            <a:off x="12786359" y="1554480"/>
            <a:ext cx="2596896" cy="2862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8F5EE"/>
                </a:solidFill>
                <a:latin typeface="Noto Sans CJK SC"/>
              </a:defRPr>
            </a:pPr>
            <a:r>
              <a:t>不需要的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8F5EE"/>
                </a:solidFill>
                <a:latin typeface="Noto Sans CJK SC"/>
              </a:defRPr>
            </a:pPr>
            <a:r>
              <a:t>抗生素，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8F5EE"/>
                </a:solidFill>
                <a:latin typeface="Noto Sans CJK SC"/>
              </a:defRPr>
            </a:pPr>
            <a:r>
              <a:t>也可能带来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8F5EE"/>
                </a:solidFill>
                <a:latin typeface="Noto Sans CJK SC"/>
              </a:defRPr>
            </a:pPr>
            <a:r>
              <a:t>真实伤害</a:t>
            </a:r>
          </a:p>
        </p:txBody>
      </p:sp>
      <p:sp>
        <p:nvSpPr>
          <p:cNvPr id="159" name="Rectangle 7"/>
          <p:cNvSpPr/>
          <p:nvPr/>
        </p:nvSpPr>
        <p:spPr>
          <a:xfrm>
            <a:off x="12786359" y="5038344"/>
            <a:ext cx="320040" cy="25603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8"/>
          <p:cNvSpPr txBox="1"/>
          <p:nvPr/>
        </p:nvSpPr>
        <p:spPr>
          <a:xfrm>
            <a:off x="12786359" y="5431536"/>
            <a:ext cx="2596896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没有治疗需要，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也要承担用药风险。</a:t>
            </a:r>
          </a:p>
        </p:txBody>
      </p:sp>
      <p:sp>
        <p:nvSpPr>
          <p:cNvPr id="161" name="TextBox 9"/>
          <p:cNvSpPr txBox="1"/>
          <p:nvPr/>
        </p:nvSpPr>
        <p:spPr>
          <a:xfrm>
            <a:off x="16507967" y="1197864"/>
            <a:ext cx="726033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美国门诊抗生素处方</a:t>
            </a:r>
          </a:p>
        </p:txBody>
      </p:sp>
      <p:sp>
        <p:nvSpPr>
          <p:cNvPr id="162" name="TextBox 10"/>
          <p:cNvSpPr txBox="1"/>
          <p:nvPr/>
        </p:nvSpPr>
        <p:spPr>
          <a:xfrm>
            <a:off x="16507967" y="215798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65162"/>
                </a:solidFill>
                <a:latin typeface="Noto Sans CJK SC"/>
              </a:defRPr>
            </a:pPr>
            <a:r>
              <a:t>至少</a:t>
            </a:r>
          </a:p>
        </p:txBody>
      </p:sp>
      <p:sp>
        <p:nvSpPr>
          <p:cNvPr id="163" name="TextBox 11"/>
          <p:cNvSpPr txBox="1"/>
          <p:nvPr/>
        </p:nvSpPr>
        <p:spPr>
          <a:xfrm>
            <a:off x="16453103" y="2542032"/>
            <a:ext cx="3867912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400" b="1">
                <a:solidFill>
                  <a:srgbClr val="D65162"/>
                </a:solidFill>
                <a:latin typeface="Noto Sans CJK SC"/>
              </a:defRPr>
            </a:pPr>
            <a:r>
              <a:t>28%</a:t>
            </a:r>
          </a:p>
        </p:txBody>
      </p:sp>
      <p:sp>
        <p:nvSpPr>
          <p:cNvPr id="164" name="TextBox 12"/>
          <p:cNvSpPr txBox="1"/>
          <p:nvPr/>
        </p:nvSpPr>
        <p:spPr>
          <a:xfrm>
            <a:off x="16507967" y="3941064"/>
            <a:ext cx="4197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被估计为不必要</a:t>
            </a:r>
          </a:p>
        </p:txBody>
      </p:sp>
      <p:sp>
        <p:nvSpPr>
          <p:cNvPr id="165" name="DATA_GRID_001_HIGHLIGHT"/>
          <p:cNvSpPr/>
          <p:nvPr/>
        </p:nvSpPr>
        <p:spPr>
          <a:xfrm>
            <a:off x="20979383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DATA_GRID_002_HIGHLIGHT"/>
          <p:cNvSpPr/>
          <p:nvPr/>
        </p:nvSpPr>
        <p:spPr>
          <a:xfrm>
            <a:off x="21229014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DATA_GRID_003_HIGHLIGHT"/>
          <p:cNvSpPr/>
          <p:nvPr/>
        </p:nvSpPr>
        <p:spPr>
          <a:xfrm>
            <a:off x="21478645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DATA_GRID_004_HIGHLIGHT"/>
          <p:cNvSpPr/>
          <p:nvPr/>
        </p:nvSpPr>
        <p:spPr>
          <a:xfrm>
            <a:off x="21728276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DATA_GRID_005_HIGHLIGHT"/>
          <p:cNvSpPr/>
          <p:nvPr/>
        </p:nvSpPr>
        <p:spPr>
          <a:xfrm>
            <a:off x="21977907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DATA_GRID_006_HIGHLIGHT"/>
          <p:cNvSpPr/>
          <p:nvPr/>
        </p:nvSpPr>
        <p:spPr>
          <a:xfrm>
            <a:off x="22227539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DATA_GRID_007_HIGHLIGHT"/>
          <p:cNvSpPr/>
          <p:nvPr/>
        </p:nvSpPr>
        <p:spPr>
          <a:xfrm>
            <a:off x="22477170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DATA_GRID_008_HIGHLIGHT"/>
          <p:cNvSpPr/>
          <p:nvPr/>
        </p:nvSpPr>
        <p:spPr>
          <a:xfrm>
            <a:off x="22726801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DATA_GRID_009_HIGHLIGHT"/>
          <p:cNvSpPr/>
          <p:nvPr/>
        </p:nvSpPr>
        <p:spPr>
          <a:xfrm>
            <a:off x="22976432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DATA_GRID_010_HIGHLIGHT"/>
          <p:cNvSpPr/>
          <p:nvPr/>
        </p:nvSpPr>
        <p:spPr>
          <a:xfrm>
            <a:off x="23226063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DATA_GRID_011_HIGHLIGHT"/>
          <p:cNvSpPr/>
          <p:nvPr/>
        </p:nvSpPr>
        <p:spPr>
          <a:xfrm>
            <a:off x="20979383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DATA_GRID_012_HIGHLIGHT"/>
          <p:cNvSpPr/>
          <p:nvPr/>
        </p:nvSpPr>
        <p:spPr>
          <a:xfrm>
            <a:off x="21229014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DATA_GRID_013_HIGHLIGHT"/>
          <p:cNvSpPr/>
          <p:nvPr/>
        </p:nvSpPr>
        <p:spPr>
          <a:xfrm>
            <a:off x="21478645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DATA_GRID_014_HIGHLIGHT"/>
          <p:cNvSpPr/>
          <p:nvPr/>
        </p:nvSpPr>
        <p:spPr>
          <a:xfrm>
            <a:off x="21728276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DATA_GRID_015_HIGHLIGHT"/>
          <p:cNvSpPr/>
          <p:nvPr/>
        </p:nvSpPr>
        <p:spPr>
          <a:xfrm>
            <a:off x="21977907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DATA_GRID_016_HIGHLIGHT"/>
          <p:cNvSpPr/>
          <p:nvPr/>
        </p:nvSpPr>
        <p:spPr>
          <a:xfrm>
            <a:off x="22227539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DATA_GRID_017_HIGHLIGHT"/>
          <p:cNvSpPr/>
          <p:nvPr/>
        </p:nvSpPr>
        <p:spPr>
          <a:xfrm>
            <a:off x="22477170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DATA_GRID_018_HIGHLIGHT"/>
          <p:cNvSpPr/>
          <p:nvPr/>
        </p:nvSpPr>
        <p:spPr>
          <a:xfrm>
            <a:off x="22726801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DATA_GRID_019_HIGHLIGHT"/>
          <p:cNvSpPr/>
          <p:nvPr/>
        </p:nvSpPr>
        <p:spPr>
          <a:xfrm>
            <a:off x="22976432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DATA_GRID_020_HIGHLIGHT"/>
          <p:cNvSpPr/>
          <p:nvPr/>
        </p:nvSpPr>
        <p:spPr>
          <a:xfrm>
            <a:off x="23226063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DATA_GRID_021_HIGHLIGHT"/>
          <p:cNvSpPr/>
          <p:nvPr/>
        </p:nvSpPr>
        <p:spPr>
          <a:xfrm>
            <a:off x="20979383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DATA_GRID_022_HIGHLIGHT"/>
          <p:cNvSpPr/>
          <p:nvPr/>
        </p:nvSpPr>
        <p:spPr>
          <a:xfrm>
            <a:off x="21229014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DATA_GRID_023_HIGHLIGHT"/>
          <p:cNvSpPr/>
          <p:nvPr/>
        </p:nvSpPr>
        <p:spPr>
          <a:xfrm>
            <a:off x="21478645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DATA_GRID_024_HIGHLIGHT"/>
          <p:cNvSpPr/>
          <p:nvPr/>
        </p:nvSpPr>
        <p:spPr>
          <a:xfrm>
            <a:off x="21728276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ATA_GRID_025_HIGHLIGHT"/>
          <p:cNvSpPr/>
          <p:nvPr/>
        </p:nvSpPr>
        <p:spPr>
          <a:xfrm>
            <a:off x="21977907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DATA_GRID_026_HIGHLIGHT"/>
          <p:cNvSpPr/>
          <p:nvPr/>
        </p:nvSpPr>
        <p:spPr>
          <a:xfrm>
            <a:off x="22227539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ATA_GRID_027_HIGHLIGHT"/>
          <p:cNvSpPr/>
          <p:nvPr/>
        </p:nvSpPr>
        <p:spPr>
          <a:xfrm>
            <a:off x="22477170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ATA_GRID_028_HIGHLIGHT"/>
          <p:cNvSpPr/>
          <p:nvPr/>
        </p:nvSpPr>
        <p:spPr>
          <a:xfrm>
            <a:off x="22726801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DATA_GRID_029_REST"/>
          <p:cNvSpPr/>
          <p:nvPr/>
        </p:nvSpPr>
        <p:spPr>
          <a:xfrm>
            <a:off x="22976432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ATA_GRID_030_REST"/>
          <p:cNvSpPr/>
          <p:nvPr/>
        </p:nvSpPr>
        <p:spPr>
          <a:xfrm>
            <a:off x="23226063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DATA_GRID_031_REST"/>
          <p:cNvSpPr/>
          <p:nvPr/>
        </p:nvSpPr>
        <p:spPr>
          <a:xfrm>
            <a:off x="20979383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DATA_GRID_032_REST"/>
          <p:cNvSpPr/>
          <p:nvPr/>
        </p:nvSpPr>
        <p:spPr>
          <a:xfrm>
            <a:off x="21229014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DATA_GRID_033_REST"/>
          <p:cNvSpPr/>
          <p:nvPr/>
        </p:nvSpPr>
        <p:spPr>
          <a:xfrm>
            <a:off x="21478645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DATA_GRID_034_REST"/>
          <p:cNvSpPr/>
          <p:nvPr/>
        </p:nvSpPr>
        <p:spPr>
          <a:xfrm>
            <a:off x="21728276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DATA_GRID_035_REST"/>
          <p:cNvSpPr/>
          <p:nvPr/>
        </p:nvSpPr>
        <p:spPr>
          <a:xfrm>
            <a:off x="21977907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DATA_GRID_036_REST"/>
          <p:cNvSpPr/>
          <p:nvPr/>
        </p:nvSpPr>
        <p:spPr>
          <a:xfrm>
            <a:off x="22227539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DATA_GRID_037_REST"/>
          <p:cNvSpPr/>
          <p:nvPr/>
        </p:nvSpPr>
        <p:spPr>
          <a:xfrm>
            <a:off x="22477170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DATA_GRID_038_REST"/>
          <p:cNvSpPr/>
          <p:nvPr/>
        </p:nvSpPr>
        <p:spPr>
          <a:xfrm>
            <a:off x="22726801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DATA_GRID_039_REST"/>
          <p:cNvSpPr/>
          <p:nvPr/>
        </p:nvSpPr>
        <p:spPr>
          <a:xfrm>
            <a:off x="22976432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DATA_GRID_040_REST"/>
          <p:cNvSpPr/>
          <p:nvPr/>
        </p:nvSpPr>
        <p:spPr>
          <a:xfrm>
            <a:off x="23226063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DATA_GRID_041_REST"/>
          <p:cNvSpPr/>
          <p:nvPr/>
        </p:nvSpPr>
        <p:spPr>
          <a:xfrm>
            <a:off x="20979383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DATA_GRID_042_REST"/>
          <p:cNvSpPr/>
          <p:nvPr/>
        </p:nvSpPr>
        <p:spPr>
          <a:xfrm>
            <a:off x="21229014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DATA_GRID_043_REST"/>
          <p:cNvSpPr/>
          <p:nvPr/>
        </p:nvSpPr>
        <p:spPr>
          <a:xfrm>
            <a:off x="21478645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DATA_GRID_044_REST"/>
          <p:cNvSpPr/>
          <p:nvPr/>
        </p:nvSpPr>
        <p:spPr>
          <a:xfrm>
            <a:off x="21728276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DATA_GRID_045_REST"/>
          <p:cNvSpPr/>
          <p:nvPr/>
        </p:nvSpPr>
        <p:spPr>
          <a:xfrm>
            <a:off x="21977907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DATA_GRID_046_REST"/>
          <p:cNvSpPr/>
          <p:nvPr/>
        </p:nvSpPr>
        <p:spPr>
          <a:xfrm>
            <a:off x="22227539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DATA_GRID_047_REST"/>
          <p:cNvSpPr/>
          <p:nvPr/>
        </p:nvSpPr>
        <p:spPr>
          <a:xfrm>
            <a:off x="22477170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DATA_GRID_048_REST"/>
          <p:cNvSpPr/>
          <p:nvPr/>
        </p:nvSpPr>
        <p:spPr>
          <a:xfrm>
            <a:off x="22726801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DATA_GRID_049_REST"/>
          <p:cNvSpPr/>
          <p:nvPr/>
        </p:nvSpPr>
        <p:spPr>
          <a:xfrm>
            <a:off x="22976432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DATA_GRID_050_REST"/>
          <p:cNvSpPr/>
          <p:nvPr/>
        </p:nvSpPr>
        <p:spPr>
          <a:xfrm>
            <a:off x="23226063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DATA_GRID_051_REST"/>
          <p:cNvSpPr/>
          <p:nvPr/>
        </p:nvSpPr>
        <p:spPr>
          <a:xfrm>
            <a:off x="20979383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DATA_GRID_052_REST"/>
          <p:cNvSpPr/>
          <p:nvPr/>
        </p:nvSpPr>
        <p:spPr>
          <a:xfrm>
            <a:off x="21229014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DATA_GRID_053_REST"/>
          <p:cNvSpPr/>
          <p:nvPr/>
        </p:nvSpPr>
        <p:spPr>
          <a:xfrm>
            <a:off x="21478645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DATA_GRID_054_REST"/>
          <p:cNvSpPr/>
          <p:nvPr/>
        </p:nvSpPr>
        <p:spPr>
          <a:xfrm>
            <a:off x="21728276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DATA_GRID_055_REST"/>
          <p:cNvSpPr/>
          <p:nvPr/>
        </p:nvSpPr>
        <p:spPr>
          <a:xfrm>
            <a:off x="21977907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DATA_GRID_056_REST"/>
          <p:cNvSpPr/>
          <p:nvPr/>
        </p:nvSpPr>
        <p:spPr>
          <a:xfrm>
            <a:off x="22227539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DATA_GRID_057_REST"/>
          <p:cNvSpPr/>
          <p:nvPr/>
        </p:nvSpPr>
        <p:spPr>
          <a:xfrm>
            <a:off x="22477170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DATA_GRID_058_REST"/>
          <p:cNvSpPr/>
          <p:nvPr/>
        </p:nvSpPr>
        <p:spPr>
          <a:xfrm>
            <a:off x="22726801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DATA_GRID_059_REST"/>
          <p:cNvSpPr/>
          <p:nvPr/>
        </p:nvSpPr>
        <p:spPr>
          <a:xfrm>
            <a:off x="22976432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DATA_GRID_060_REST"/>
          <p:cNvSpPr/>
          <p:nvPr/>
        </p:nvSpPr>
        <p:spPr>
          <a:xfrm>
            <a:off x="23226063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DATA_GRID_061_REST"/>
          <p:cNvSpPr/>
          <p:nvPr/>
        </p:nvSpPr>
        <p:spPr>
          <a:xfrm>
            <a:off x="20979383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DATA_GRID_062_REST"/>
          <p:cNvSpPr/>
          <p:nvPr/>
        </p:nvSpPr>
        <p:spPr>
          <a:xfrm>
            <a:off x="21229014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DATA_GRID_063_REST"/>
          <p:cNvSpPr/>
          <p:nvPr/>
        </p:nvSpPr>
        <p:spPr>
          <a:xfrm>
            <a:off x="21478645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DATA_GRID_064_REST"/>
          <p:cNvSpPr/>
          <p:nvPr/>
        </p:nvSpPr>
        <p:spPr>
          <a:xfrm>
            <a:off x="21728276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DATA_GRID_065_REST"/>
          <p:cNvSpPr/>
          <p:nvPr/>
        </p:nvSpPr>
        <p:spPr>
          <a:xfrm>
            <a:off x="21977907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DATA_GRID_066_REST"/>
          <p:cNvSpPr/>
          <p:nvPr/>
        </p:nvSpPr>
        <p:spPr>
          <a:xfrm>
            <a:off x="22227539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DATA_GRID_067_REST"/>
          <p:cNvSpPr/>
          <p:nvPr/>
        </p:nvSpPr>
        <p:spPr>
          <a:xfrm>
            <a:off x="22477170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DATA_GRID_068_REST"/>
          <p:cNvSpPr/>
          <p:nvPr/>
        </p:nvSpPr>
        <p:spPr>
          <a:xfrm>
            <a:off x="22726801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DATA_GRID_069_REST"/>
          <p:cNvSpPr/>
          <p:nvPr/>
        </p:nvSpPr>
        <p:spPr>
          <a:xfrm>
            <a:off x="22976432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DATA_GRID_070_REST"/>
          <p:cNvSpPr/>
          <p:nvPr/>
        </p:nvSpPr>
        <p:spPr>
          <a:xfrm>
            <a:off x="23226063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DATA_GRID_071_REST"/>
          <p:cNvSpPr/>
          <p:nvPr/>
        </p:nvSpPr>
        <p:spPr>
          <a:xfrm>
            <a:off x="20979383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DATA_GRID_072_REST"/>
          <p:cNvSpPr/>
          <p:nvPr/>
        </p:nvSpPr>
        <p:spPr>
          <a:xfrm>
            <a:off x="21229014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DATA_GRID_073_REST"/>
          <p:cNvSpPr/>
          <p:nvPr/>
        </p:nvSpPr>
        <p:spPr>
          <a:xfrm>
            <a:off x="21478645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DATA_GRID_074_REST"/>
          <p:cNvSpPr/>
          <p:nvPr/>
        </p:nvSpPr>
        <p:spPr>
          <a:xfrm>
            <a:off x="21728276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DATA_GRID_075_REST"/>
          <p:cNvSpPr/>
          <p:nvPr/>
        </p:nvSpPr>
        <p:spPr>
          <a:xfrm>
            <a:off x="21977907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DATA_GRID_076_REST"/>
          <p:cNvSpPr/>
          <p:nvPr/>
        </p:nvSpPr>
        <p:spPr>
          <a:xfrm>
            <a:off x="22227539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DATA_GRID_077_REST"/>
          <p:cNvSpPr/>
          <p:nvPr/>
        </p:nvSpPr>
        <p:spPr>
          <a:xfrm>
            <a:off x="22477170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DATA_GRID_078_REST"/>
          <p:cNvSpPr/>
          <p:nvPr/>
        </p:nvSpPr>
        <p:spPr>
          <a:xfrm>
            <a:off x="22726801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DATA_GRID_079_REST"/>
          <p:cNvSpPr/>
          <p:nvPr/>
        </p:nvSpPr>
        <p:spPr>
          <a:xfrm>
            <a:off x="22976432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DATA_GRID_080_REST"/>
          <p:cNvSpPr/>
          <p:nvPr/>
        </p:nvSpPr>
        <p:spPr>
          <a:xfrm>
            <a:off x="23226063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DATA_GRID_081_REST"/>
          <p:cNvSpPr/>
          <p:nvPr/>
        </p:nvSpPr>
        <p:spPr>
          <a:xfrm>
            <a:off x="20979383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DATA_GRID_082_REST"/>
          <p:cNvSpPr/>
          <p:nvPr/>
        </p:nvSpPr>
        <p:spPr>
          <a:xfrm>
            <a:off x="21229014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DATA_GRID_083_REST"/>
          <p:cNvSpPr/>
          <p:nvPr/>
        </p:nvSpPr>
        <p:spPr>
          <a:xfrm>
            <a:off x="21478645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DATA_GRID_084_REST"/>
          <p:cNvSpPr/>
          <p:nvPr/>
        </p:nvSpPr>
        <p:spPr>
          <a:xfrm>
            <a:off x="21728276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DATA_GRID_085_REST"/>
          <p:cNvSpPr/>
          <p:nvPr/>
        </p:nvSpPr>
        <p:spPr>
          <a:xfrm>
            <a:off x="21977907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DATA_GRID_086_REST"/>
          <p:cNvSpPr/>
          <p:nvPr/>
        </p:nvSpPr>
        <p:spPr>
          <a:xfrm>
            <a:off x="22227539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DATA_GRID_087_REST"/>
          <p:cNvSpPr/>
          <p:nvPr/>
        </p:nvSpPr>
        <p:spPr>
          <a:xfrm>
            <a:off x="22477170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DATA_GRID_088_REST"/>
          <p:cNvSpPr/>
          <p:nvPr/>
        </p:nvSpPr>
        <p:spPr>
          <a:xfrm>
            <a:off x="22726801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DATA_GRID_089_REST"/>
          <p:cNvSpPr/>
          <p:nvPr/>
        </p:nvSpPr>
        <p:spPr>
          <a:xfrm>
            <a:off x="22976432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DATA_GRID_090_REST"/>
          <p:cNvSpPr/>
          <p:nvPr/>
        </p:nvSpPr>
        <p:spPr>
          <a:xfrm>
            <a:off x="23226063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DATA_GRID_091_REST"/>
          <p:cNvSpPr/>
          <p:nvPr/>
        </p:nvSpPr>
        <p:spPr>
          <a:xfrm>
            <a:off x="20979383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DATA_GRID_092_REST"/>
          <p:cNvSpPr/>
          <p:nvPr/>
        </p:nvSpPr>
        <p:spPr>
          <a:xfrm>
            <a:off x="21229014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DATA_GRID_093_REST"/>
          <p:cNvSpPr/>
          <p:nvPr/>
        </p:nvSpPr>
        <p:spPr>
          <a:xfrm>
            <a:off x="21478645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DATA_GRID_094_REST"/>
          <p:cNvSpPr/>
          <p:nvPr/>
        </p:nvSpPr>
        <p:spPr>
          <a:xfrm>
            <a:off x="21728276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DATA_GRID_095_REST"/>
          <p:cNvSpPr/>
          <p:nvPr/>
        </p:nvSpPr>
        <p:spPr>
          <a:xfrm>
            <a:off x="21977907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DATA_GRID_096_REST"/>
          <p:cNvSpPr/>
          <p:nvPr/>
        </p:nvSpPr>
        <p:spPr>
          <a:xfrm>
            <a:off x="22227539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DATA_GRID_097_REST"/>
          <p:cNvSpPr/>
          <p:nvPr/>
        </p:nvSpPr>
        <p:spPr>
          <a:xfrm>
            <a:off x="22477170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DATA_GRID_098_REST"/>
          <p:cNvSpPr/>
          <p:nvPr/>
        </p:nvSpPr>
        <p:spPr>
          <a:xfrm>
            <a:off x="22726801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DATA_GRID_099_REST"/>
          <p:cNvSpPr/>
          <p:nvPr/>
        </p:nvSpPr>
        <p:spPr>
          <a:xfrm>
            <a:off x="22976432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DATA_GRID_100_REST"/>
          <p:cNvSpPr/>
          <p:nvPr/>
        </p:nvSpPr>
        <p:spPr>
          <a:xfrm>
            <a:off x="23226063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113"/>
          <p:cNvSpPr/>
          <p:nvPr/>
        </p:nvSpPr>
        <p:spPr>
          <a:xfrm>
            <a:off x="16507967" y="4526279"/>
            <a:ext cx="7260336" cy="10972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114"/>
          <p:cNvSpPr txBox="1"/>
          <p:nvPr/>
        </p:nvSpPr>
        <p:spPr>
          <a:xfrm>
            <a:off x="16507967" y="4745736"/>
            <a:ext cx="7260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药物副作用导致的急诊</a:t>
            </a:r>
          </a:p>
        </p:txBody>
      </p:sp>
      <p:sp>
        <p:nvSpPr>
          <p:cNvPr id="267" name="TextBox 115"/>
          <p:cNvSpPr txBox="1"/>
          <p:nvPr/>
        </p:nvSpPr>
        <p:spPr>
          <a:xfrm>
            <a:off x="16507967" y="5230368"/>
            <a:ext cx="434340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D65162"/>
                </a:solidFill>
                <a:latin typeface="Noto Sans CJK SC"/>
              </a:defRPr>
            </a:pPr>
            <a:r>
              <a:t>5次中，约1次</a:t>
            </a:r>
          </a:p>
        </p:txBody>
      </p:sp>
      <p:sp>
        <p:nvSpPr>
          <p:cNvPr id="268" name="TextBox 116"/>
          <p:cNvSpPr txBox="1"/>
          <p:nvPr/>
        </p:nvSpPr>
        <p:spPr>
          <a:xfrm>
            <a:off x="21015959" y="5294376"/>
            <a:ext cx="27523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涉及抗生素反应</a:t>
            </a:r>
          </a:p>
        </p:txBody>
      </p:sp>
      <p:sp>
        <p:nvSpPr>
          <p:cNvPr id="269" name="DATA_ED_1_HIGHLIGHT"/>
          <p:cNvSpPr/>
          <p:nvPr/>
        </p:nvSpPr>
        <p:spPr>
          <a:xfrm>
            <a:off x="16553687" y="590702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118"/>
          <p:cNvSpPr/>
          <p:nvPr/>
        </p:nvSpPr>
        <p:spPr>
          <a:xfrm>
            <a:off x="16981626" y="605332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119"/>
          <p:cNvSpPr/>
          <p:nvPr/>
        </p:nvSpPr>
        <p:spPr>
          <a:xfrm>
            <a:off x="16842545" y="612648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120"/>
          <p:cNvSpPr/>
          <p:nvPr/>
        </p:nvSpPr>
        <p:spPr>
          <a:xfrm>
            <a:off x="17013721" y="650138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121"/>
          <p:cNvSpPr/>
          <p:nvPr/>
        </p:nvSpPr>
        <p:spPr>
          <a:xfrm>
            <a:off x="16724862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122"/>
          <p:cNvSpPr/>
          <p:nvPr/>
        </p:nvSpPr>
        <p:spPr>
          <a:xfrm>
            <a:off x="17334676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DATA_ED_2_REST"/>
          <p:cNvSpPr/>
          <p:nvPr/>
        </p:nvSpPr>
        <p:spPr>
          <a:xfrm>
            <a:off x="18016726" y="590702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124"/>
          <p:cNvSpPr/>
          <p:nvPr/>
        </p:nvSpPr>
        <p:spPr>
          <a:xfrm>
            <a:off x="18444666" y="605332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125"/>
          <p:cNvSpPr/>
          <p:nvPr/>
        </p:nvSpPr>
        <p:spPr>
          <a:xfrm>
            <a:off x="18305585" y="612648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126"/>
          <p:cNvSpPr/>
          <p:nvPr/>
        </p:nvSpPr>
        <p:spPr>
          <a:xfrm>
            <a:off x="18476761" y="650138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127"/>
          <p:cNvSpPr/>
          <p:nvPr/>
        </p:nvSpPr>
        <p:spPr>
          <a:xfrm>
            <a:off x="18187902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128"/>
          <p:cNvSpPr/>
          <p:nvPr/>
        </p:nvSpPr>
        <p:spPr>
          <a:xfrm>
            <a:off x="18797716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DATA_ED_3_REST"/>
          <p:cNvSpPr/>
          <p:nvPr/>
        </p:nvSpPr>
        <p:spPr>
          <a:xfrm>
            <a:off x="19479767" y="590702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130"/>
          <p:cNvSpPr/>
          <p:nvPr/>
        </p:nvSpPr>
        <p:spPr>
          <a:xfrm>
            <a:off x="19907706" y="605332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131"/>
          <p:cNvSpPr/>
          <p:nvPr/>
        </p:nvSpPr>
        <p:spPr>
          <a:xfrm>
            <a:off x="19768625" y="612648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132"/>
          <p:cNvSpPr/>
          <p:nvPr/>
        </p:nvSpPr>
        <p:spPr>
          <a:xfrm>
            <a:off x="19939801" y="650138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133"/>
          <p:cNvSpPr/>
          <p:nvPr/>
        </p:nvSpPr>
        <p:spPr>
          <a:xfrm>
            <a:off x="19650942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134"/>
          <p:cNvSpPr/>
          <p:nvPr/>
        </p:nvSpPr>
        <p:spPr>
          <a:xfrm>
            <a:off x="20260756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DATA_ED_4_REST"/>
          <p:cNvSpPr/>
          <p:nvPr/>
        </p:nvSpPr>
        <p:spPr>
          <a:xfrm>
            <a:off x="20942807" y="590702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136"/>
          <p:cNvSpPr/>
          <p:nvPr/>
        </p:nvSpPr>
        <p:spPr>
          <a:xfrm>
            <a:off x="21370746" y="605332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137"/>
          <p:cNvSpPr/>
          <p:nvPr/>
        </p:nvSpPr>
        <p:spPr>
          <a:xfrm>
            <a:off x="21231665" y="612648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138"/>
          <p:cNvSpPr/>
          <p:nvPr/>
        </p:nvSpPr>
        <p:spPr>
          <a:xfrm>
            <a:off x="21402841" y="650138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139"/>
          <p:cNvSpPr/>
          <p:nvPr/>
        </p:nvSpPr>
        <p:spPr>
          <a:xfrm>
            <a:off x="21113982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140"/>
          <p:cNvSpPr/>
          <p:nvPr/>
        </p:nvSpPr>
        <p:spPr>
          <a:xfrm>
            <a:off x="21723796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DATA_ED_5_REST"/>
          <p:cNvSpPr/>
          <p:nvPr/>
        </p:nvSpPr>
        <p:spPr>
          <a:xfrm>
            <a:off x="22405847" y="590702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142"/>
          <p:cNvSpPr/>
          <p:nvPr/>
        </p:nvSpPr>
        <p:spPr>
          <a:xfrm>
            <a:off x="22833786" y="605332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143"/>
          <p:cNvSpPr/>
          <p:nvPr/>
        </p:nvSpPr>
        <p:spPr>
          <a:xfrm>
            <a:off x="22694705" y="612648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144"/>
          <p:cNvSpPr/>
          <p:nvPr/>
        </p:nvSpPr>
        <p:spPr>
          <a:xfrm>
            <a:off x="22865881" y="650138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145"/>
          <p:cNvSpPr/>
          <p:nvPr/>
        </p:nvSpPr>
        <p:spPr>
          <a:xfrm>
            <a:off x="22577022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146"/>
          <p:cNvSpPr/>
          <p:nvPr/>
        </p:nvSpPr>
        <p:spPr>
          <a:xfrm>
            <a:off x="23186836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147"/>
          <p:cNvSpPr txBox="1"/>
          <p:nvPr/>
        </p:nvSpPr>
        <p:spPr>
          <a:xfrm>
            <a:off x="16507967" y="6958584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4453"/>
                </a:solidFill>
                <a:latin typeface="Noto Sans CJK SC"/>
              </a:defRPr>
            </a:pPr>
            <a:r>
              <a:t>皮疹、腹泻，也可能严重过敏</a:t>
            </a:r>
          </a:p>
        </p:txBody>
      </p:sp>
      <p:sp>
        <p:nvSpPr>
          <p:cNvPr id="300" name="TextBox 148"/>
          <p:cNvSpPr txBox="1"/>
          <p:nvPr/>
        </p:nvSpPr>
        <p:spPr>
          <a:xfrm>
            <a:off x="22872191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11 / 27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12191999" y="548640"/>
            <a:ext cx="14630" cy="6858000"/>
          </a:xfrm>
          <a:prstGeom prst="rect">
            <a:avLst/>
          </a:prstGeom>
          <a:solidFill>
            <a:srgbClr val="B6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998" cy="54864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上一版 · 第17页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6359" y="1097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新版 · 精致编辑版</a:t>
            </a:r>
          </a:p>
        </p:txBody>
      </p:sp>
      <p:pic>
        <p:nvPicPr>
          <p:cNvPr id="6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"/>
            <a:ext cx="12191999" cy="6858000"/>
          </a:xfrm>
          <a:prstGeom prst="rect">
            <a:avLst/>
          </a:prstGeom>
        </p:spPr>
      </p:pic>
      <p:sp>
        <p:nvSpPr>
          <p:cNvPr id="7" name="Rectangle 2"/>
          <p:cNvSpPr/>
          <p:nvPr/>
        </p:nvSpPr>
        <p:spPr>
          <a:xfrm>
            <a:off x="3721608" y="548640"/>
            <a:ext cx="8470391" cy="6858000"/>
          </a:xfrm>
          <a:prstGeom prst="rect">
            <a:avLst/>
          </a:prstGeom>
          <a:gradFill rotWithShape="1">
            <a:gsLst>
              <a:gs pos="0">
                <a:srgbClr val="18374A"/>
              </a:gs>
              <a:gs pos="100000">
                <a:srgbClr val="295165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3"/>
          <p:cNvSpPr/>
          <p:nvPr/>
        </p:nvSpPr>
        <p:spPr>
          <a:xfrm>
            <a:off x="585216" y="795528"/>
            <a:ext cx="64008" cy="164592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4"/>
          <p:cNvSpPr txBox="1"/>
          <p:nvPr/>
        </p:nvSpPr>
        <p:spPr>
          <a:xfrm>
            <a:off x="813816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3B50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10" name="TextBox 5"/>
          <p:cNvSpPr txBox="1"/>
          <p:nvPr/>
        </p:nvSpPr>
        <p:spPr>
          <a:xfrm>
            <a:off x="594360" y="1517904"/>
            <a:ext cx="2688336" cy="2816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B50"/>
                </a:solidFill>
                <a:latin typeface="Noto Sans CJK SC"/>
              </a:defRPr>
            </a:pPr>
            <a:r>
              <a:t>从四个案例，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B50"/>
                </a:solidFill>
                <a:latin typeface="Noto Sans CJK SC"/>
              </a:defRPr>
            </a:pPr>
            <a:r>
              <a:t>走到四个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3B50"/>
                </a:solidFill>
                <a:latin typeface="Noto Sans CJK SC"/>
              </a:defRPr>
            </a:pPr>
            <a:r>
              <a:t>用药动作</a:t>
            </a:r>
          </a:p>
        </p:txBody>
      </p:sp>
      <p:sp>
        <p:nvSpPr>
          <p:cNvPr id="11" name="Rectangle 6"/>
          <p:cNvSpPr/>
          <p:nvPr/>
        </p:nvSpPr>
        <p:spPr>
          <a:xfrm>
            <a:off x="594360" y="4864608"/>
            <a:ext cx="457200" cy="41148"/>
          </a:xfrm>
          <a:prstGeom prst="rect">
            <a:avLst/>
          </a:prstGeom>
          <a:solidFill>
            <a:srgbClr val="D9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7"/>
          <p:cNvSpPr txBox="1"/>
          <p:nvPr/>
        </p:nvSpPr>
        <p:spPr>
          <a:xfrm>
            <a:off x="594360" y="5312664"/>
            <a:ext cx="2688336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B50"/>
                </a:solidFill>
                <a:latin typeface="Noto Sans CJK SC"/>
              </a:defRPr>
            </a:pPr>
            <a:r>
              <a:t>先把信息看清，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3B50"/>
                </a:solidFill>
                <a:latin typeface="Noto Sans CJK SC"/>
              </a:defRPr>
            </a:pPr>
            <a:r>
              <a:t>再把不确定问清。</a:t>
            </a:r>
          </a:p>
        </p:txBody>
      </p:sp>
      <p:sp>
        <p:nvSpPr>
          <p:cNvPr id="13" name="TextBox 8"/>
          <p:cNvSpPr txBox="1"/>
          <p:nvPr/>
        </p:nvSpPr>
        <p:spPr>
          <a:xfrm>
            <a:off x="4270248" y="1499616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看</a:t>
            </a:r>
          </a:p>
        </p:txBody>
      </p:sp>
      <p:sp>
        <p:nvSpPr>
          <p:cNvPr id="14" name="TextBox 9"/>
          <p:cNvSpPr txBox="1"/>
          <p:nvPr/>
        </p:nvSpPr>
        <p:spPr>
          <a:xfrm>
            <a:off x="4270248" y="2944368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症状、说明书、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就医信号</a:t>
            </a:r>
          </a:p>
        </p:txBody>
      </p:sp>
      <p:sp>
        <p:nvSpPr>
          <p:cNvPr id="15" name="TextBox 10"/>
          <p:cNvSpPr txBox="1"/>
          <p:nvPr/>
        </p:nvSpPr>
        <p:spPr>
          <a:xfrm>
            <a:off x="8193024" y="1499616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核</a:t>
            </a:r>
          </a:p>
        </p:txBody>
      </p:sp>
      <p:sp>
        <p:nvSpPr>
          <p:cNvPr id="16" name="TextBox 11"/>
          <p:cNvSpPr txBox="1"/>
          <p:nvPr/>
        </p:nvSpPr>
        <p:spPr>
          <a:xfrm>
            <a:off x="8193024" y="2944368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成分、用法、禁忌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与相互作用</a:t>
            </a:r>
          </a:p>
        </p:txBody>
      </p:sp>
      <p:sp>
        <p:nvSpPr>
          <p:cNvPr id="17" name="TextBox 12"/>
          <p:cNvSpPr txBox="1"/>
          <p:nvPr/>
        </p:nvSpPr>
        <p:spPr>
          <a:xfrm>
            <a:off x="4270248" y="4279392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问</a:t>
            </a:r>
          </a:p>
        </p:txBody>
      </p:sp>
      <p:sp>
        <p:nvSpPr>
          <p:cNvPr id="18" name="TextBox 13"/>
          <p:cNvSpPr txBox="1"/>
          <p:nvPr/>
        </p:nvSpPr>
        <p:spPr>
          <a:xfrm>
            <a:off x="4270248" y="5724144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带齐信息，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问医生或药师</a:t>
            </a:r>
          </a:p>
        </p:txBody>
      </p:sp>
      <p:sp>
        <p:nvSpPr>
          <p:cNvPr id="19" name="TextBox 14"/>
          <p:cNvSpPr txBox="1"/>
          <p:nvPr/>
        </p:nvSpPr>
        <p:spPr>
          <a:xfrm>
            <a:off x="8193024" y="4279392"/>
            <a:ext cx="1444752" cy="1179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2B1AA"/>
                </a:solidFill>
                <a:latin typeface="Noto Sans CJK SC"/>
              </a:defRPr>
            </a:pPr>
            <a:r>
              <a:t>记</a:t>
            </a:r>
          </a:p>
        </p:txBody>
      </p:sp>
      <p:sp>
        <p:nvSpPr>
          <p:cNvPr id="20" name="TextBox 15"/>
          <p:cNvSpPr txBox="1"/>
          <p:nvPr/>
        </p:nvSpPr>
        <p:spPr>
          <a:xfrm>
            <a:off x="8193024" y="5724144"/>
            <a:ext cx="3273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药名、时间、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7F2E8"/>
                </a:solidFill>
                <a:latin typeface="Noto Sans CJK SC"/>
              </a:defRPr>
            </a:pPr>
            <a:r>
              <a:t>用量与反应</a:t>
            </a:r>
          </a:p>
        </p:txBody>
      </p:sp>
      <p:sp>
        <p:nvSpPr>
          <p:cNvPr id="21" name="Rectangle 16"/>
          <p:cNvSpPr/>
          <p:nvPr/>
        </p:nvSpPr>
        <p:spPr>
          <a:xfrm>
            <a:off x="4270248" y="3913632"/>
            <a:ext cx="7068312" cy="10972"/>
          </a:xfrm>
          <a:prstGeom prst="rect">
            <a:avLst/>
          </a:prstGeom>
          <a:solidFill>
            <a:srgbClr val="50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17"/>
          <p:cNvSpPr/>
          <p:nvPr/>
        </p:nvSpPr>
        <p:spPr>
          <a:xfrm>
            <a:off x="7671816" y="1572768"/>
            <a:ext cx="10972" cy="5285232"/>
          </a:xfrm>
          <a:prstGeom prst="rect">
            <a:avLst/>
          </a:prstGeom>
          <a:solidFill>
            <a:srgbClr val="507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18"/>
          <p:cNvSpPr txBox="1"/>
          <p:nvPr/>
        </p:nvSpPr>
        <p:spPr>
          <a:xfrm>
            <a:off x="10680192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7F2E8"/>
                </a:solidFill>
                <a:latin typeface="Noto Sans CJK SC"/>
              </a:defRPr>
            </a:pPr>
            <a:r>
              <a:t>17 / 27</a:t>
            </a:r>
          </a:p>
        </p:txBody>
      </p:sp>
      <p:pic>
        <p:nvPicPr>
          <p:cNvPr id="24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9" y="548640"/>
            <a:ext cx="12191999" cy="6858000"/>
          </a:xfrm>
          <a:prstGeom prst="rect">
            <a:avLst/>
          </a:prstGeom>
        </p:spPr>
      </p:pic>
      <p:sp>
        <p:nvSpPr>
          <p:cNvPr id="25" name="STYLE_PAPER_WASH"/>
          <p:cNvSpPr/>
          <p:nvPr/>
        </p:nvSpPr>
        <p:spPr>
          <a:xfrm>
            <a:off x="12191999" y="54864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3"/>
          <p:cNvSpPr/>
          <p:nvPr/>
        </p:nvSpPr>
        <p:spPr>
          <a:xfrm>
            <a:off x="16123919" y="548640"/>
            <a:ext cx="8260079" cy="6858000"/>
          </a:xfrm>
          <a:prstGeom prst="rect">
            <a:avLst/>
          </a:prstGeom>
          <a:gradFill rotWithShape="1">
            <a:gsLst>
              <a:gs pos="0">
                <a:srgbClr val="203F50"/>
              </a:gs>
              <a:gs pos="100000">
                <a:srgbClr val="335C6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4"/>
          <p:cNvSpPr/>
          <p:nvPr/>
        </p:nvSpPr>
        <p:spPr>
          <a:xfrm>
            <a:off x="12777215" y="79552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5"/>
          <p:cNvSpPr txBox="1"/>
          <p:nvPr/>
        </p:nvSpPr>
        <p:spPr>
          <a:xfrm>
            <a:off x="13005815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29" name="TextBox 6"/>
          <p:cNvSpPr txBox="1"/>
          <p:nvPr/>
        </p:nvSpPr>
        <p:spPr>
          <a:xfrm>
            <a:off x="12786359" y="1600200"/>
            <a:ext cx="2761488" cy="2606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50646B"/>
                </a:solidFill>
                <a:latin typeface="Noto Sans CJK SC"/>
              </a:defRPr>
            </a:pPr>
            <a:r>
              <a:t>从四个案例，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4453"/>
                </a:solidFill>
                <a:latin typeface="Noto Sans CJK SC"/>
              </a:defRPr>
            </a:pPr>
            <a:r>
              <a:t>走到四个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4453"/>
                </a:solidFill>
                <a:latin typeface="Noto Sans CJK SC"/>
              </a:defRPr>
            </a:pPr>
            <a:r>
              <a:t>用药动作</a:t>
            </a:r>
          </a:p>
        </p:txBody>
      </p:sp>
      <p:sp>
        <p:nvSpPr>
          <p:cNvPr id="30" name="Rectangle 7"/>
          <p:cNvSpPr/>
          <p:nvPr/>
        </p:nvSpPr>
        <p:spPr>
          <a:xfrm>
            <a:off x="12786359" y="4965192"/>
            <a:ext cx="320040" cy="25603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8"/>
          <p:cNvSpPr txBox="1"/>
          <p:nvPr/>
        </p:nvSpPr>
        <p:spPr>
          <a:xfrm>
            <a:off x="12786359" y="5358384"/>
            <a:ext cx="2761488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先把信息看清，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再把不确定问清。</a:t>
            </a:r>
          </a:p>
        </p:txBody>
      </p:sp>
      <p:sp>
        <p:nvSpPr>
          <p:cNvPr id="32" name="TextBox 9"/>
          <p:cNvSpPr txBox="1"/>
          <p:nvPr/>
        </p:nvSpPr>
        <p:spPr>
          <a:xfrm>
            <a:off x="16635983" y="1691640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看</a:t>
            </a:r>
          </a:p>
        </p:txBody>
      </p:sp>
      <p:sp>
        <p:nvSpPr>
          <p:cNvPr id="33" name="TextBox 10"/>
          <p:cNvSpPr txBox="1"/>
          <p:nvPr/>
        </p:nvSpPr>
        <p:spPr>
          <a:xfrm>
            <a:off x="16635983" y="299008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症状、说明书、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就医信号</a:t>
            </a:r>
          </a:p>
        </p:txBody>
      </p:sp>
      <p:sp>
        <p:nvSpPr>
          <p:cNvPr id="34" name="TextBox 11"/>
          <p:cNvSpPr txBox="1"/>
          <p:nvPr/>
        </p:nvSpPr>
        <p:spPr>
          <a:xfrm>
            <a:off x="20476463" y="1691640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核</a:t>
            </a:r>
          </a:p>
        </p:txBody>
      </p:sp>
      <p:sp>
        <p:nvSpPr>
          <p:cNvPr id="35" name="TextBox 12"/>
          <p:cNvSpPr txBox="1"/>
          <p:nvPr/>
        </p:nvSpPr>
        <p:spPr>
          <a:xfrm>
            <a:off x="20476463" y="299008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成分、用法、禁忌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与相互作用</a:t>
            </a:r>
          </a:p>
        </p:txBody>
      </p:sp>
      <p:sp>
        <p:nvSpPr>
          <p:cNvPr id="36" name="TextBox 13"/>
          <p:cNvSpPr txBox="1"/>
          <p:nvPr/>
        </p:nvSpPr>
        <p:spPr>
          <a:xfrm>
            <a:off x="16635983" y="4526279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问</a:t>
            </a:r>
          </a:p>
        </p:txBody>
      </p:sp>
      <p:sp>
        <p:nvSpPr>
          <p:cNvPr id="37" name="TextBox 14"/>
          <p:cNvSpPr txBox="1"/>
          <p:nvPr/>
        </p:nvSpPr>
        <p:spPr>
          <a:xfrm>
            <a:off x="16635983" y="582472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带齐信息，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问医生或药师</a:t>
            </a:r>
          </a:p>
        </p:txBody>
      </p:sp>
      <p:sp>
        <p:nvSpPr>
          <p:cNvPr id="38" name="TextBox 15"/>
          <p:cNvSpPr txBox="1"/>
          <p:nvPr/>
        </p:nvSpPr>
        <p:spPr>
          <a:xfrm>
            <a:off x="20476463" y="4526279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记</a:t>
            </a:r>
          </a:p>
        </p:txBody>
      </p:sp>
      <p:sp>
        <p:nvSpPr>
          <p:cNvPr id="39" name="TextBox 16"/>
          <p:cNvSpPr txBox="1"/>
          <p:nvPr/>
        </p:nvSpPr>
        <p:spPr>
          <a:xfrm>
            <a:off x="20476463" y="582472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药名、时间、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用量与反应</a:t>
            </a:r>
          </a:p>
        </p:txBody>
      </p:sp>
      <p:sp>
        <p:nvSpPr>
          <p:cNvPr id="40" name="Rectangle 17"/>
          <p:cNvSpPr/>
          <p:nvPr/>
        </p:nvSpPr>
        <p:spPr>
          <a:xfrm>
            <a:off x="16635983" y="4078224"/>
            <a:ext cx="6839712" cy="9144"/>
          </a:xfrm>
          <a:prstGeom prst="rect">
            <a:avLst/>
          </a:prstGeom>
          <a:solidFill>
            <a:srgbClr val="5A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18"/>
          <p:cNvSpPr/>
          <p:nvPr/>
        </p:nvSpPr>
        <p:spPr>
          <a:xfrm>
            <a:off x="19982687" y="1746504"/>
            <a:ext cx="9144" cy="5038344"/>
          </a:xfrm>
          <a:prstGeom prst="rect">
            <a:avLst/>
          </a:prstGeom>
          <a:solidFill>
            <a:srgbClr val="5A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19"/>
          <p:cNvSpPr txBox="1"/>
          <p:nvPr/>
        </p:nvSpPr>
        <p:spPr>
          <a:xfrm>
            <a:off x="22872191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F5EE"/>
                </a:solidFill>
                <a:latin typeface="Noto Sans CJK SC"/>
              </a:defRPr>
            </a:pPr>
            <a:r>
              <a:t>17 / 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191999" y="548640"/>
            <a:ext cx="14630" cy="6858000"/>
          </a:xfrm>
          <a:prstGeom prst="rect">
            <a:avLst/>
          </a:prstGeom>
          <a:solidFill>
            <a:srgbClr val="B6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998" cy="54864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原版 · 第5页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6359" y="1097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新版 · 精致编辑版</a:t>
            </a:r>
          </a:p>
        </p:txBody>
      </p:sp>
      <p:sp>
        <p:nvSpPr>
          <p:cNvPr id="6" name="Rectangle 1"/>
          <p:cNvSpPr/>
          <p:nvPr/>
        </p:nvSpPr>
        <p:spPr>
          <a:xfrm>
            <a:off x="502920" y="91440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2"/>
          <p:cNvSpPr txBox="1"/>
          <p:nvPr/>
        </p:nvSpPr>
        <p:spPr>
          <a:xfrm>
            <a:off x="685800" y="84124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8" name="TextBox 3"/>
          <p:cNvSpPr txBox="1"/>
          <p:nvPr/>
        </p:nvSpPr>
        <p:spPr>
          <a:xfrm>
            <a:off x="594360" y="144475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两盒药，是“双保险”还是撞车？</a:t>
            </a:r>
          </a:p>
        </p:txBody>
      </p:sp>
      <p:cxnSp>
        <p:nvCxnSpPr>
          <p:cNvPr id="9" name="Connector 4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5"/>
          <p:cNvSpPr txBox="1"/>
          <p:nvPr/>
        </p:nvSpPr>
        <p:spPr>
          <a:xfrm>
            <a:off x="640080" y="649224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包装不同，也可能含有同一成分。</a:t>
            </a:r>
          </a:p>
        </p:txBody>
      </p:sp>
      <p:sp>
        <p:nvSpPr>
          <p:cNvPr id="11" name="TextBox 6"/>
          <p:cNvSpPr txBox="1"/>
          <p:nvPr/>
        </p:nvSpPr>
        <p:spPr>
          <a:xfrm>
            <a:off x="10744200" y="700430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05 / 27</a:t>
            </a:r>
          </a:p>
        </p:txBody>
      </p:sp>
      <p:pic>
        <p:nvPicPr>
          <p:cNvPr id="12" name="EDITORIAL_KEY_R1_C1" descr="成熟出版物编辑插画；不同案例更换人物，同一连续故事保持一致；抽象药盒为情境道具"/>
          <p:cNvPicPr>
            <a:picLocks noChangeAspect="1"/>
          </p:cNvPicPr>
          <p:nvPr/>
        </p:nvPicPr>
        <p:blipFill>
          <a:blip r:embed="rId2"/>
          <a:srcRect l="218" r="67470" b="67773"/>
          <a:stretch>
            <a:fillRect/>
          </a:stretch>
        </p:blipFill>
        <p:spPr>
          <a:xfrm>
            <a:off x="749808" y="2505456"/>
            <a:ext cx="3465576" cy="2304288"/>
          </a:xfrm>
          <a:prstGeom prst="rect">
            <a:avLst/>
          </a:prstGeom>
        </p:spPr>
      </p:pic>
      <p:sp>
        <p:nvSpPr>
          <p:cNvPr id="13" name="Rounded Rectangle 8"/>
          <p:cNvSpPr/>
          <p:nvPr/>
        </p:nvSpPr>
        <p:spPr>
          <a:xfrm>
            <a:off x="749808" y="496519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9"/>
          <p:cNvSpPr txBox="1"/>
          <p:nvPr/>
        </p:nvSpPr>
        <p:spPr>
          <a:xfrm>
            <a:off x="914400" y="504748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头痛还在，要不再加一盒？</a:t>
            </a:r>
          </a:p>
        </p:txBody>
      </p:sp>
      <p:pic>
        <p:nvPicPr>
          <p:cNvPr id="15" name="EDITORIAL_KEY_R1_C2" descr="成熟出版物编辑插画；不同案例更换人物，同一连续故事保持一致；抽象药盒为情境道具"/>
          <p:cNvPicPr>
            <a:picLocks noChangeAspect="1"/>
          </p:cNvPicPr>
          <p:nvPr/>
        </p:nvPicPr>
        <p:blipFill>
          <a:blip r:embed="rId2"/>
          <a:srcRect l="33844" r="33844" b="67773"/>
          <a:stretch>
            <a:fillRect/>
          </a:stretch>
        </p:blipFill>
        <p:spPr>
          <a:xfrm>
            <a:off x="4434840" y="2505456"/>
            <a:ext cx="3465576" cy="2304288"/>
          </a:xfrm>
          <a:prstGeom prst="rect">
            <a:avLst/>
          </a:prstGeom>
        </p:spPr>
      </p:pic>
      <p:sp>
        <p:nvSpPr>
          <p:cNvPr id="16" name="Rounded Rectangle 11"/>
          <p:cNvSpPr/>
          <p:nvPr/>
        </p:nvSpPr>
        <p:spPr>
          <a:xfrm>
            <a:off x="4434840" y="496519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2"/>
          <p:cNvSpPr txBox="1"/>
          <p:nvPr/>
        </p:nvSpPr>
        <p:spPr>
          <a:xfrm>
            <a:off x="4599432" y="504748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名字不同，应该不重复吧？</a:t>
            </a:r>
          </a:p>
        </p:txBody>
      </p:sp>
      <p:pic>
        <p:nvPicPr>
          <p:cNvPr id="18" name="EDITORIAL_KEY_R1_C3" descr="成熟出版物编辑插画；不同案例更换人物，同一连续故事保持一致；抽象药盒为情境道具"/>
          <p:cNvPicPr>
            <a:picLocks noChangeAspect="1"/>
          </p:cNvPicPr>
          <p:nvPr/>
        </p:nvPicPr>
        <p:blipFill>
          <a:blip r:embed="rId2"/>
          <a:srcRect l="67438" r="250" b="67773"/>
          <a:stretch>
            <a:fillRect/>
          </a:stretch>
        </p:blipFill>
        <p:spPr>
          <a:xfrm>
            <a:off x="8119872" y="2505456"/>
            <a:ext cx="3465576" cy="2304288"/>
          </a:xfrm>
          <a:prstGeom prst="rect">
            <a:avLst/>
          </a:prstGeom>
        </p:spPr>
      </p:pic>
      <p:sp>
        <p:nvSpPr>
          <p:cNvPr id="19" name="Rounded Rectangle 14"/>
          <p:cNvSpPr/>
          <p:nvPr/>
        </p:nvSpPr>
        <p:spPr>
          <a:xfrm>
            <a:off x="8119872" y="4965192"/>
            <a:ext cx="3465576" cy="1024128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5"/>
          <p:cNvSpPr txBox="1"/>
          <p:nvPr/>
        </p:nvSpPr>
        <p:spPr>
          <a:xfrm>
            <a:off x="8284464" y="5047488"/>
            <a:ext cx="31363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203354"/>
                </a:solidFill>
                <a:latin typeface="Noto Sans CJK SC"/>
              </a:rPr>
              <a:t>药盒不同，里面的成分呢？</a:t>
            </a:r>
          </a:p>
        </p:txBody>
      </p:sp>
      <p:pic>
        <p:nvPicPr>
          <p:cNvPr id="21" name="STYLE_WARM_PAPER" descr="warm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1999" y="548640"/>
            <a:ext cx="12191999" cy="6858000"/>
          </a:xfrm>
          <a:prstGeom prst="rect">
            <a:avLst/>
          </a:prstGeom>
        </p:spPr>
      </p:pic>
      <p:sp>
        <p:nvSpPr>
          <p:cNvPr id="22" name="STYLE_PAPER_WASH"/>
          <p:cNvSpPr/>
          <p:nvPr/>
        </p:nvSpPr>
        <p:spPr>
          <a:xfrm>
            <a:off x="12191999" y="54864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3"/>
          <p:cNvSpPr/>
          <p:nvPr/>
        </p:nvSpPr>
        <p:spPr>
          <a:xfrm>
            <a:off x="12777215" y="79552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4"/>
          <p:cNvSpPr txBox="1"/>
          <p:nvPr/>
        </p:nvSpPr>
        <p:spPr>
          <a:xfrm>
            <a:off x="13005815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25" name="TextBox 5"/>
          <p:cNvSpPr txBox="1"/>
          <p:nvPr/>
        </p:nvSpPr>
        <p:spPr>
          <a:xfrm>
            <a:off x="12777215" y="1179576"/>
            <a:ext cx="10991088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50646B"/>
                </a:solidFill>
                <a:latin typeface="Noto Sans CJK SC"/>
              </a:defRPr>
            </a:pPr>
            <a:r>
              <a:t>两盒药，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34453"/>
                </a:solidFill>
                <a:latin typeface="Noto Sans CJK SC"/>
              </a:defRPr>
            </a:pPr>
            <a:r>
              <a:t>是“双保险”还是撞车？</a:t>
            </a:r>
          </a:p>
        </p:txBody>
      </p:sp>
      <p:pic>
        <p:nvPicPr>
          <p:cNvPr id="26" name="EDITORIAL_KEY_R1_C1" descr="image.png"/>
          <p:cNvPicPr>
            <a:picLocks noChangeAspect="1"/>
          </p:cNvPicPr>
          <p:nvPr/>
        </p:nvPicPr>
        <p:blipFill>
          <a:blip r:embed="rId2"/>
          <a:srcRect l="218" r="67470" b="67773"/>
          <a:stretch>
            <a:fillRect/>
          </a:stretch>
        </p:blipFill>
        <p:spPr>
          <a:xfrm>
            <a:off x="12191999" y="2496312"/>
            <a:ext cx="6092214" cy="4050791"/>
          </a:xfrm>
          <a:prstGeom prst="rect">
            <a:avLst/>
          </a:prstGeom>
        </p:spPr>
      </p:pic>
      <p:sp>
        <p:nvSpPr>
          <p:cNvPr id="27" name="TextBox 7"/>
          <p:cNvSpPr txBox="1"/>
          <p:nvPr/>
        </p:nvSpPr>
        <p:spPr>
          <a:xfrm>
            <a:off x="12640055" y="6729984"/>
            <a:ext cx="5431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头痛还在，要不再加一盒？</a:t>
            </a:r>
          </a:p>
        </p:txBody>
      </p:sp>
      <p:sp>
        <p:nvSpPr>
          <p:cNvPr id="28" name="Rectangle 8"/>
          <p:cNvSpPr/>
          <p:nvPr/>
        </p:nvSpPr>
        <p:spPr>
          <a:xfrm>
            <a:off x="18711671" y="2788920"/>
            <a:ext cx="2404872" cy="26609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EDITORIAL_KEY_R1_C2" descr="image.png"/>
          <p:cNvPicPr>
            <a:picLocks noChangeAspect="1"/>
          </p:cNvPicPr>
          <p:nvPr/>
        </p:nvPicPr>
        <p:blipFill>
          <a:blip r:embed="rId2"/>
          <a:srcRect l="33844" r="33844" b="67773"/>
          <a:stretch>
            <a:fillRect/>
          </a:stretch>
        </p:blipFill>
        <p:spPr>
          <a:xfrm>
            <a:off x="18711671" y="2788920"/>
            <a:ext cx="2404872" cy="1599030"/>
          </a:xfrm>
          <a:prstGeom prst="rect">
            <a:avLst/>
          </a:prstGeom>
        </p:spPr>
      </p:pic>
      <p:sp>
        <p:nvSpPr>
          <p:cNvPr id="30" name="TextBox 10"/>
          <p:cNvSpPr txBox="1"/>
          <p:nvPr/>
        </p:nvSpPr>
        <p:spPr>
          <a:xfrm>
            <a:off x="18830543" y="4599431"/>
            <a:ext cx="216712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名字不同，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应该不重复吧？</a:t>
            </a:r>
          </a:p>
        </p:txBody>
      </p:sp>
      <p:sp>
        <p:nvSpPr>
          <p:cNvPr id="31" name="Rectangle 11"/>
          <p:cNvSpPr/>
          <p:nvPr/>
        </p:nvSpPr>
        <p:spPr>
          <a:xfrm>
            <a:off x="21363431" y="2788920"/>
            <a:ext cx="2404872" cy="2660904"/>
          </a:xfrm>
          <a:prstGeom prst="rect">
            <a:avLst/>
          </a:prstGeom>
          <a:solidFill>
            <a:srgbClr val="FC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EDITORIAL_KEY_R1_C3" descr="image.png"/>
          <p:cNvPicPr>
            <a:picLocks noChangeAspect="1"/>
          </p:cNvPicPr>
          <p:nvPr/>
        </p:nvPicPr>
        <p:blipFill>
          <a:blip r:embed="rId2"/>
          <a:srcRect l="67438" r="250" b="67773"/>
          <a:stretch>
            <a:fillRect/>
          </a:stretch>
        </p:blipFill>
        <p:spPr>
          <a:xfrm>
            <a:off x="21363431" y="2788920"/>
            <a:ext cx="2404872" cy="1599030"/>
          </a:xfrm>
          <a:prstGeom prst="rect">
            <a:avLst/>
          </a:prstGeom>
        </p:spPr>
      </p:pic>
      <p:sp>
        <p:nvSpPr>
          <p:cNvPr id="33" name="TextBox 13"/>
          <p:cNvSpPr txBox="1"/>
          <p:nvPr/>
        </p:nvSpPr>
        <p:spPr>
          <a:xfrm>
            <a:off x="21482303" y="4599431"/>
            <a:ext cx="216712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药盒不同，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里面的成分呢？</a:t>
            </a:r>
          </a:p>
        </p:txBody>
      </p:sp>
      <p:sp>
        <p:nvSpPr>
          <p:cNvPr id="34" name="Rectangle 14"/>
          <p:cNvSpPr/>
          <p:nvPr/>
        </p:nvSpPr>
        <p:spPr>
          <a:xfrm>
            <a:off x="18711671" y="6263640"/>
            <a:ext cx="5056632" cy="749808"/>
          </a:xfrm>
          <a:prstGeom prst="rect">
            <a:avLst/>
          </a:prstGeom>
          <a:gradFill rotWithShape="1">
            <a:gsLst>
              <a:gs pos="0">
                <a:srgbClr val="234655"/>
              </a:gs>
              <a:gs pos="100000">
                <a:srgbClr val="35596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15"/>
          <p:cNvSpPr txBox="1"/>
          <p:nvPr/>
        </p:nvSpPr>
        <p:spPr>
          <a:xfrm>
            <a:off x="18931127" y="6345936"/>
            <a:ext cx="461772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包装不同，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8F5EE"/>
                </a:solidFill>
                <a:latin typeface="Noto Sans CJK SC"/>
              </a:defRPr>
            </a:pPr>
            <a:r>
              <a:t>也可能含有同一成分。</a:t>
            </a:r>
          </a:p>
        </p:txBody>
      </p:sp>
      <p:sp>
        <p:nvSpPr>
          <p:cNvPr id="36" name="TextBox 16"/>
          <p:cNvSpPr txBox="1"/>
          <p:nvPr/>
        </p:nvSpPr>
        <p:spPr>
          <a:xfrm>
            <a:off x="22872191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05 / 27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191999" y="548640"/>
            <a:ext cx="14630" cy="6858000"/>
          </a:xfrm>
          <a:prstGeom prst="rect">
            <a:avLst/>
          </a:prstGeom>
          <a:solidFill>
            <a:srgbClr val="B6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998" cy="54864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原版 · 第11页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6359" y="1097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新版 · 精致编辑版</a:t>
            </a:r>
          </a:p>
        </p:txBody>
      </p:sp>
      <p:sp>
        <p:nvSpPr>
          <p:cNvPr id="6" name="Rectangle 1"/>
          <p:cNvSpPr/>
          <p:nvPr/>
        </p:nvSpPr>
        <p:spPr>
          <a:xfrm>
            <a:off x="502920" y="91440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2"/>
          <p:cNvSpPr txBox="1"/>
          <p:nvPr/>
        </p:nvSpPr>
        <p:spPr>
          <a:xfrm>
            <a:off x="685800" y="84124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02 / 宿舍误区</a:t>
            </a:r>
          </a:p>
        </p:txBody>
      </p:sp>
      <p:sp>
        <p:nvSpPr>
          <p:cNvPr id="8" name="TextBox 3"/>
          <p:cNvSpPr txBox="1"/>
          <p:nvPr/>
        </p:nvSpPr>
        <p:spPr>
          <a:xfrm>
            <a:off x="594360" y="144475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不需要的抗生素，也可能带来真实伤害</a:t>
            </a:r>
          </a:p>
        </p:txBody>
      </p:sp>
      <p:cxnSp>
        <p:nvCxnSpPr>
          <p:cNvPr id="9" name="Connector 4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5"/>
          <p:cNvSpPr txBox="1"/>
          <p:nvPr/>
        </p:nvSpPr>
        <p:spPr>
          <a:xfrm>
            <a:off x="640080" y="649224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没有治疗需要，也要承担用药风险。</a:t>
            </a:r>
          </a:p>
        </p:txBody>
      </p:sp>
      <p:sp>
        <p:nvSpPr>
          <p:cNvPr id="11" name="TextBox 6"/>
          <p:cNvSpPr txBox="1"/>
          <p:nvPr/>
        </p:nvSpPr>
        <p:spPr>
          <a:xfrm>
            <a:off x="10744200" y="700430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11 / 27</a:t>
            </a:r>
          </a:p>
        </p:txBody>
      </p:sp>
      <p:sp>
        <p:nvSpPr>
          <p:cNvPr id="12" name="Rounded Rectangle 7"/>
          <p:cNvSpPr/>
          <p:nvPr/>
        </p:nvSpPr>
        <p:spPr>
          <a:xfrm>
            <a:off x="777240" y="2468880"/>
            <a:ext cx="5148072" cy="3749039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8"/>
          <p:cNvSpPr/>
          <p:nvPr/>
        </p:nvSpPr>
        <p:spPr>
          <a:xfrm>
            <a:off x="6245352" y="2468880"/>
            <a:ext cx="5148072" cy="3749039"/>
          </a:xfrm>
          <a:prstGeom prst="roundRect">
            <a:avLst>
              <a:gd name="adj" fmla="val 1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9"/>
          <p:cNvSpPr txBox="1"/>
          <p:nvPr/>
        </p:nvSpPr>
        <p:spPr>
          <a:xfrm>
            <a:off x="1033271" y="2660904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03354"/>
                </a:solidFill>
                <a:latin typeface="Noto Sans CJK SC"/>
              </a:rPr>
              <a:t>美国门诊抗生素处方</a:t>
            </a:r>
          </a:p>
        </p:txBody>
      </p:sp>
      <p:sp>
        <p:nvSpPr>
          <p:cNvPr id="15" name="TextBox 10"/>
          <p:cNvSpPr txBox="1"/>
          <p:nvPr/>
        </p:nvSpPr>
        <p:spPr>
          <a:xfrm>
            <a:off x="1033271" y="3639312"/>
            <a:ext cx="21671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EB5969"/>
                </a:solidFill>
                <a:latin typeface="Noto Sans CJK SC"/>
              </a:rPr>
              <a:t>至少</a:t>
            </a:r>
          </a:p>
        </p:txBody>
      </p:sp>
      <p:sp>
        <p:nvSpPr>
          <p:cNvPr id="16" name="TextBox 11"/>
          <p:cNvSpPr txBox="1"/>
          <p:nvPr/>
        </p:nvSpPr>
        <p:spPr>
          <a:xfrm>
            <a:off x="1033271" y="4105656"/>
            <a:ext cx="216712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800" b="1">
                <a:solidFill>
                  <a:srgbClr val="EB5969"/>
                </a:solidFill>
                <a:latin typeface="Noto Sans CJK SC"/>
              </a:rPr>
              <a:t>28%</a:t>
            </a:r>
          </a:p>
        </p:txBody>
      </p:sp>
      <p:sp>
        <p:nvSpPr>
          <p:cNvPr id="17" name="Rounded Rectangle 12"/>
          <p:cNvSpPr/>
          <p:nvPr/>
        </p:nvSpPr>
        <p:spPr>
          <a:xfrm>
            <a:off x="347472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3"/>
          <p:cNvSpPr/>
          <p:nvPr/>
        </p:nvSpPr>
        <p:spPr>
          <a:xfrm>
            <a:off x="3680459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4"/>
          <p:cNvSpPr/>
          <p:nvPr/>
        </p:nvSpPr>
        <p:spPr>
          <a:xfrm>
            <a:off x="388620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5"/>
          <p:cNvSpPr/>
          <p:nvPr/>
        </p:nvSpPr>
        <p:spPr>
          <a:xfrm>
            <a:off x="4091939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16"/>
          <p:cNvSpPr/>
          <p:nvPr/>
        </p:nvSpPr>
        <p:spPr>
          <a:xfrm>
            <a:off x="429768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17"/>
          <p:cNvSpPr/>
          <p:nvPr/>
        </p:nvSpPr>
        <p:spPr>
          <a:xfrm>
            <a:off x="450342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18"/>
          <p:cNvSpPr/>
          <p:nvPr/>
        </p:nvSpPr>
        <p:spPr>
          <a:xfrm>
            <a:off x="470916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19"/>
          <p:cNvSpPr/>
          <p:nvPr/>
        </p:nvSpPr>
        <p:spPr>
          <a:xfrm>
            <a:off x="491490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0"/>
          <p:cNvSpPr/>
          <p:nvPr/>
        </p:nvSpPr>
        <p:spPr>
          <a:xfrm>
            <a:off x="5120640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1"/>
          <p:cNvSpPr/>
          <p:nvPr/>
        </p:nvSpPr>
        <p:spPr>
          <a:xfrm>
            <a:off x="5326379" y="34838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2"/>
          <p:cNvSpPr/>
          <p:nvPr/>
        </p:nvSpPr>
        <p:spPr>
          <a:xfrm>
            <a:off x="347472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3"/>
          <p:cNvSpPr/>
          <p:nvPr/>
        </p:nvSpPr>
        <p:spPr>
          <a:xfrm>
            <a:off x="3680459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4"/>
          <p:cNvSpPr/>
          <p:nvPr/>
        </p:nvSpPr>
        <p:spPr>
          <a:xfrm>
            <a:off x="388620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5"/>
          <p:cNvSpPr/>
          <p:nvPr/>
        </p:nvSpPr>
        <p:spPr>
          <a:xfrm>
            <a:off x="4091939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26"/>
          <p:cNvSpPr/>
          <p:nvPr/>
        </p:nvSpPr>
        <p:spPr>
          <a:xfrm>
            <a:off x="429768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27"/>
          <p:cNvSpPr/>
          <p:nvPr/>
        </p:nvSpPr>
        <p:spPr>
          <a:xfrm>
            <a:off x="450342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28"/>
          <p:cNvSpPr/>
          <p:nvPr/>
        </p:nvSpPr>
        <p:spPr>
          <a:xfrm>
            <a:off x="470916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29"/>
          <p:cNvSpPr/>
          <p:nvPr/>
        </p:nvSpPr>
        <p:spPr>
          <a:xfrm>
            <a:off x="491490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0"/>
          <p:cNvSpPr/>
          <p:nvPr/>
        </p:nvSpPr>
        <p:spPr>
          <a:xfrm>
            <a:off x="5120640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1"/>
          <p:cNvSpPr/>
          <p:nvPr/>
        </p:nvSpPr>
        <p:spPr>
          <a:xfrm>
            <a:off x="5326379" y="36896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2"/>
          <p:cNvSpPr/>
          <p:nvPr/>
        </p:nvSpPr>
        <p:spPr>
          <a:xfrm>
            <a:off x="347472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3"/>
          <p:cNvSpPr/>
          <p:nvPr/>
        </p:nvSpPr>
        <p:spPr>
          <a:xfrm>
            <a:off x="3680459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4"/>
          <p:cNvSpPr/>
          <p:nvPr/>
        </p:nvSpPr>
        <p:spPr>
          <a:xfrm>
            <a:off x="388620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5"/>
          <p:cNvSpPr/>
          <p:nvPr/>
        </p:nvSpPr>
        <p:spPr>
          <a:xfrm>
            <a:off x="4091939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36"/>
          <p:cNvSpPr/>
          <p:nvPr/>
        </p:nvSpPr>
        <p:spPr>
          <a:xfrm>
            <a:off x="429768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37"/>
          <p:cNvSpPr/>
          <p:nvPr/>
        </p:nvSpPr>
        <p:spPr>
          <a:xfrm>
            <a:off x="450342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38"/>
          <p:cNvSpPr/>
          <p:nvPr/>
        </p:nvSpPr>
        <p:spPr>
          <a:xfrm>
            <a:off x="470916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39"/>
          <p:cNvSpPr/>
          <p:nvPr/>
        </p:nvSpPr>
        <p:spPr>
          <a:xfrm>
            <a:off x="491490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0"/>
          <p:cNvSpPr/>
          <p:nvPr/>
        </p:nvSpPr>
        <p:spPr>
          <a:xfrm>
            <a:off x="5120640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1"/>
          <p:cNvSpPr/>
          <p:nvPr/>
        </p:nvSpPr>
        <p:spPr>
          <a:xfrm>
            <a:off x="5326379" y="38953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2"/>
          <p:cNvSpPr/>
          <p:nvPr/>
        </p:nvSpPr>
        <p:spPr>
          <a:xfrm>
            <a:off x="347472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3"/>
          <p:cNvSpPr/>
          <p:nvPr/>
        </p:nvSpPr>
        <p:spPr>
          <a:xfrm>
            <a:off x="3680459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4"/>
          <p:cNvSpPr/>
          <p:nvPr/>
        </p:nvSpPr>
        <p:spPr>
          <a:xfrm>
            <a:off x="388620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5"/>
          <p:cNvSpPr/>
          <p:nvPr/>
        </p:nvSpPr>
        <p:spPr>
          <a:xfrm>
            <a:off x="4091939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46"/>
          <p:cNvSpPr/>
          <p:nvPr/>
        </p:nvSpPr>
        <p:spPr>
          <a:xfrm>
            <a:off x="429768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47"/>
          <p:cNvSpPr/>
          <p:nvPr/>
        </p:nvSpPr>
        <p:spPr>
          <a:xfrm>
            <a:off x="450342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48"/>
          <p:cNvSpPr/>
          <p:nvPr/>
        </p:nvSpPr>
        <p:spPr>
          <a:xfrm>
            <a:off x="470916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49"/>
          <p:cNvSpPr/>
          <p:nvPr/>
        </p:nvSpPr>
        <p:spPr>
          <a:xfrm>
            <a:off x="491490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0"/>
          <p:cNvSpPr/>
          <p:nvPr/>
        </p:nvSpPr>
        <p:spPr>
          <a:xfrm>
            <a:off x="5120640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1"/>
          <p:cNvSpPr/>
          <p:nvPr/>
        </p:nvSpPr>
        <p:spPr>
          <a:xfrm>
            <a:off x="5326379" y="41010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2"/>
          <p:cNvSpPr/>
          <p:nvPr/>
        </p:nvSpPr>
        <p:spPr>
          <a:xfrm>
            <a:off x="347472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3"/>
          <p:cNvSpPr/>
          <p:nvPr/>
        </p:nvSpPr>
        <p:spPr>
          <a:xfrm>
            <a:off x="3680459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4"/>
          <p:cNvSpPr/>
          <p:nvPr/>
        </p:nvSpPr>
        <p:spPr>
          <a:xfrm>
            <a:off x="388620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5"/>
          <p:cNvSpPr/>
          <p:nvPr/>
        </p:nvSpPr>
        <p:spPr>
          <a:xfrm>
            <a:off x="4091939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56"/>
          <p:cNvSpPr/>
          <p:nvPr/>
        </p:nvSpPr>
        <p:spPr>
          <a:xfrm>
            <a:off x="429768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57"/>
          <p:cNvSpPr/>
          <p:nvPr/>
        </p:nvSpPr>
        <p:spPr>
          <a:xfrm>
            <a:off x="450342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58"/>
          <p:cNvSpPr/>
          <p:nvPr/>
        </p:nvSpPr>
        <p:spPr>
          <a:xfrm>
            <a:off x="470916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59"/>
          <p:cNvSpPr/>
          <p:nvPr/>
        </p:nvSpPr>
        <p:spPr>
          <a:xfrm>
            <a:off x="491490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0"/>
          <p:cNvSpPr/>
          <p:nvPr/>
        </p:nvSpPr>
        <p:spPr>
          <a:xfrm>
            <a:off x="5120640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1"/>
          <p:cNvSpPr/>
          <p:nvPr/>
        </p:nvSpPr>
        <p:spPr>
          <a:xfrm>
            <a:off x="5326379" y="430682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2"/>
          <p:cNvSpPr/>
          <p:nvPr/>
        </p:nvSpPr>
        <p:spPr>
          <a:xfrm>
            <a:off x="347472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3"/>
          <p:cNvSpPr/>
          <p:nvPr/>
        </p:nvSpPr>
        <p:spPr>
          <a:xfrm>
            <a:off x="3680459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4"/>
          <p:cNvSpPr/>
          <p:nvPr/>
        </p:nvSpPr>
        <p:spPr>
          <a:xfrm>
            <a:off x="388620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5"/>
          <p:cNvSpPr/>
          <p:nvPr/>
        </p:nvSpPr>
        <p:spPr>
          <a:xfrm>
            <a:off x="4091939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66"/>
          <p:cNvSpPr/>
          <p:nvPr/>
        </p:nvSpPr>
        <p:spPr>
          <a:xfrm>
            <a:off x="429768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67"/>
          <p:cNvSpPr/>
          <p:nvPr/>
        </p:nvSpPr>
        <p:spPr>
          <a:xfrm>
            <a:off x="450342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68"/>
          <p:cNvSpPr/>
          <p:nvPr/>
        </p:nvSpPr>
        <p:spPr>
          <a:xfrm>
            <a:off x="470916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69"/>
          <p:cNvSpPr/>
          <p:nvPr/>
        </p:nvSpPr>
        <p:spPr>
          <a:xfrm>
            <a:off x="491490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0"/>
          <p:cNvSpPr/>
          <p:nvPr/>
        </p:nvSpPr>
        <p:spPr>
          <a:xfrm>
            <a:off x="5120640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1"/>
          <p:cNvSpPr/>
          <p:nvPr/>
        </p:nvSpPr>
        <p:spPr>
          <a:xfrm>
            <a:off x="5326379" y="451256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2"/>
          <p:cNvSpPr/>
          <p:nvPr/>
        </p:nvSpPr>
        <p:spPr>
          <a:xfrm>
            <a:off x="347472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3"/>
          <p:cNvSpPr/>
          <p:nvPr/>
        </p:nvSpPr>
        <p:spPr>
          <a:xfrm>
            <a:off x="3680459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4"/>
          <p:cNvSpPr/>
          <p:nvPr/>
        </p:nvSpPr>
        <p:spPr>
          <a:xfrm>
            <a:off x="388620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5"/>
          <p:cNvSpPr/>
          <p:nvPr/>
        </p:nvSpPr>
        <p:spPr>
          <a:xfrm>
            <a:off x="4091939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76"/>
          <p:cNvSpPr/>
          <p:nvPr/>
        </p:nvSpPr>
        <p:spPr>
          <a:xfrm>
            <a:off x="429768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77"/>
          <p:cNvSpPr/>
          <p:nvPr/>
        </p:nvSpPr>
        <p:spPr>
          <a:xfrm>
            <a:off x="450342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78"/>
          <p:cNvSpPr/>
          <p:nvPr/>
        </p:nvSpPr>
        <p:spPr>
          <a:xfrm>
            <a:off x="470916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79"/>
          <p:cNvSpPr/>
          <p:nvPr/>
        </p:nvSpPr>
        <p:spPr>
          <a:xfrm>
            <a:off x="491490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0"/>
          <p:cNvSpPr/>
          <p:nvPr/>
        </p:nvSpPr>
        <p:spPr>
          <a:xfrm>
            <a:off x="5120640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1"/>
          <p:cNvSpPr/>
          <p:nvPr/>
        </p:nvSpPr>
        <p:spPr>
          <a:xfrm>
            <a:off x="5326379" y="471830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2"/>
          <p:cNvSpPr/>
          <p:nvPr/>
        </p:nvSpPr>
        <p:spPr>
          <a:xfrm>
            <a:off x="347472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3"/>
          <p:cNvSpPr/>
          <p:nvPr/>
        </p:nvSpPr>
        <p:spPr>
          <a:xfrm>
            <a:off x="3680459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4"/>
          <p:cNvSpPr/>
          <p:nvPr/>
        </p:nvSpPr>
        <p:spPr>
          <a:xfrm>
            <a:off x="388620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5"/>
          <p:cNvSpPr/>
          <p:nvPr/>
        </p:nvSpPr>
        <p:spPr>
          <a:xfrm>
            <a:off x="4091939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86"/>
          <p:cNvSpPr/>
          <p:nvPr/>
        </p:nvSpPr>
        <p:spPr>
          <a:xfrm>
            <a:off x="429768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87"/>
          <p:cNvSpPr/>
          <p:nvPr/>
        </p:nvSpPr>
        <p:spPr>
          <a:xfrm>
            <a:off x="450342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88"/>
          <p:cNvSpPr/>
          <p:nvPr/>
        </p:nvSpPr>
        <p:spPr>
          <a:xfrm>
            <a:off x="470916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89"/>
          <p:cNvSpPr/>
          <p:nvPr/>
        </p:nvSpPr>
        <p:spPr>
          <a:xfrm>
            <a:off x="491490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0"/>
          <p:cNvSpPr/>
          <p:nvPr/>
        </p:nvSpPr>
        <p:spPr>
          <a:xfrm>
            <a:off x="5120640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1"/>
          <p:cNvSpPr/>
          <p:nvPr/>
        </p:nvSpPr>
        <p:spPr>
          <a:xfrm>
            <a:off x="5326379" y="492404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2"/>
          <p:cNvSpPr/>
          <p:nvPr/>
        </p:nvSpPr>
        <p:spPr>
          <a:xfrm>
            <a:off x="347472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3"/>
          <p:cNvSpPr/>
          <p:nvPr/>
        </p:nvSpPr>
        <p:spPr>
          <a:xfrm>
            <a:off x="3680459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4"/>
          <p:cNvSpPr/>
          <p:nvPr/>
        </p:nvSpPr>
        <p:spPr>
          <a:xfrm>
            <a:off x="388620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5"/>
          <p:cNvSpPr/>
          <p:nvPr/>
        </p:nvSpPr>
        <p:spPr>
          <a:xfrm>
            <a:off x="4091939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96"/>
          <p:cNvSpPr/>
          <p:nvPr/>
        </p:nvSpPr>
        <p:spPr>
          <a:xfrm>
            <a:off x="429768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97"/>
          <p:cNvSpPr/>
          <p:nvPr/>
        </p:nvSpPr>
        <p:spPr>
          <a:xfrm>
            <a:off x="450342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98"/>
          <p:cNvSpPr/>
          <p:nvPr/>
        </p:nvSpPr>
        <p:spPr>
          <a:xfrm>
            <a:off x="470916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99"/>
          <p:cNvSpPr/>
          <p:nvPr/>
        </p:nvSpPr>
        <p:spPr>
          <a:xfrm>
            <a:off x="491490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0"/>
          <p:cNvSpPr/>
          <p:nvPr/>
        </p:nvSpPr>
        <p:spPr>
          <a:xfrm>
            <a:off x="5120640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1"/>
          <p:cNvSpPr/>
          <p:nvPr/>
        </p:nvSpPr>
        <p:spPr>
          <a:xfrm>
            <a:off x="5326379" y="5129784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2"/>
          <p:cNvSpPr/>
          <p:nvPr/>
        </p:nvSpPr>
        <p:spPr>
          <a:xfrm>
            <a:off x="347472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3"/>
          <p:cNvSpPr/>
          <p:nvPr/>
        </p:nvSpPr>
        <p:spPr>
          <a:xfrm>
            <a:off x="3680459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4"/>
          <p:cNvSpPr/>
          <p:nvPr/>
        </p:nvSpPr>
        <p:spPr>
          <a:xfrm>
            <a:off x="388620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5"/>
          <p:cNvSpPr/>
          <p:nvPr/>
        </p:nvSpPr>
        <p:spPr>
          <a:xfrm>
            <a:off x="4091939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06"/>
          <p:cNvSpPr/>
          <p:nvPr/>
        </p:nvSpPr>
        <p:spPr>
          <a:xfrm>
            <a:off x="429768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07"/>
          <p:cNvSpPr/>
          <p:nvPr/>
        </p:nvSpPr>
        <p:spPr>
          <a:xfrm>
            <a:off x="450342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08"/>
          <p:cNvSpPr/>
          <p:nvPr/>
        </p:nvSpPr>
        <p:spPr>
          <a:xfrm>
            <a:off x="470916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09"/>
          <p:cNvSpPr/>
          <p:nvPr/>
        </p:nvSpPr>
        <p:spPr>
          <a:xfrm>
            <a:off x="491490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0"/>
          <p:cNvSpPr/>
          <p:nvPr/>
        </p:nvSpPr>
        <p:spPr>
          <a:xfrm>
            <a:off x="5120640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1"/>
          <p:cNvSpPr/>
          <p:nvPr/>
        </p:nvSpPr>
        <p:spPr>
          <a:xfrm>
            <a:off x="5326379" y="5335523"/>
            <a:ext cx="164592" cy="164592"/>
          </a:xfrm>
          <a:prstGeom prst="roundRect">
            <a:avLst>
              <a:gd name="adj" fmla="val 10000"/>
            </a:avLst>
          </a:prstGeom>
          <a:solidFill>
            <a:srgbClr val="D6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2"/>
          <p:cNvSpPr txBox="1"/>
          <p:nvPr/>
        </p:nvSpPr>
        <p:spPr>
          <a:xfrm>
            <a:off x="1033271" y="5623560"/>
            <a:ext cx="45720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EB5969"/>
                </a:solidFill>
                <a:latin typeface="Noto Sans CJK SC"/>
              </a:rPr>
              <a:t>被估计为不必要</a:t>
            </a:r>
          </a:p>
        </p:txBody>
      </p:sp>
      <p:sp>
        <p:nvSpPr>
          <p:cNvPr id="118" name="TextBox 113"/>
          <p:cNvSpPr txBox="1"/>
          <p:nvPr/>
        </p:nvSpPr>
        <p:spPr>
          <a:xfrm>
            <a:off x="6501384" y="2660904"/>
            <a:ext cx="4572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03354"/>
                </a:solidFill>
                <a:latin typeface="Noto Sans CJK SC"/>
              </a:rPr>
              <a:t>药物副作用导致的急诊</a:t>
            </a:r>
          </a:p>
        </p:txBody>
      </p:sp>
      <p:sp>
        <p:nvSpPr>
          <p:cNvPr id="119" name="TextBox 114"/>
          <p:cNvSpPr txBox="1"/>
          <p:nvPr/>
        </p:nvSpPr>
        <p:spPr>
          <a:xfrm>
            <a:off x="6501384" y="3319272"/>
            <a:ext cx="45720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EB5969"/>
                </a:solidFill>
                <a:latin typeface="Noto Sans CJK SC"/>
              </a:rPr>
              <a:t>5次中，约1次</a:t>
            </a:r>
          </a:p>
        </p:txBody>
      </p:sp>
      <p:sp>
        <p:nvSpPr>
          <p:cNvPr id="120" name="TextBox 115"/>
          <p:cNvSpPr txBox="1"/>
          <p:nvPr/>
        </p:nvSpPr>
        <p:spPr>
          <a:xfrm>
            <a:off x="6501384" y="390448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>
                <a:solidFill>
                  <a:srgbClr val="203354"/>
                </a:solidFill>
                <a:latin typeface="Noto Sans CJK SC"/>
              </a:rPr>
              <a:t>涉及抗生素反应</a:t>
            </a:r>
          </a:p>
        </p:txBody>
      </p:sp>
      <p:sp>
        <p:nvSpPr>
          <p:cNvPr id="121" name="Rounded Rectangle 116"/>
          <p:cNvSpPr/>
          <p:nvPr/>
        </p:nvSpPr>
        <p:spPr>
          <a:xfrm>
            <a:off x="6528816" y="457200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EB59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17"/>
          <p:cNvSpPr/>
          <p:nvPr/>
        </p:nvSpPr>
        <p:spPr>
          <a:xfrm>
            <a:off x="6748272" y="470916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18"/>
          <p:cNvSpPr/>
          <p:nvPr/>
        </p:nvSpPr>
        <p:spPr>
          <a:xfrm>
            <a:off x="6839712" y="461772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19"/>
          <p:cNvSpPr/>
          <p:nvPr/>
        </p:nvSpPr>
        <p:spPr>
          <a:xfrm>
            <a:off x="6803136" y="519379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0"/>
          <p:cNvSpPr/>
          <p:nvPr/>
        </p:nvSpPr>
        <p:spPr>
          <a:xfrm>
            <a:off x="6638544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1"/>
          <p:cNvSpPr/>
          <p:nvPr/>
        </p:nvSpPr>
        <p:spPr>
          <a:xfrm>
            <a:off x="6967728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2"/>
          <p:cNvSpPr/>
          <p:nvPr/>
        </p:nvSpPr>
        <p:spPr>
          <a:xfrm>
            <a:off x="7406640" y="457200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3"/>
          <p:cNvSpPr/>
          <p:nvPr/>
        </p:nvSpPr>
        <p:spPr>
          <a:xfrm>
            <a:off x="7626096" y="470916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4"/>
          <p:cNvSpPr/>
          <p:nvPr/>
        </p:nvSpPr>
        <p:spPr>
          <a:xfrm>
            <a:off x="7717536" y="461772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5"/>
          <p:cNvSpPr/>
          <p:nvPr/>
        </p:nvSpPr>
        <p:spPr>
          <a:xfrm>
            <a:off x="7680960" y="519379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26"/>
          <p:cNvSpPr/>
          <p:nvPr/>
        </p:nvSpPr>
        <p:spPr>
          <a:xfrm>
            <a:off x="7516367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27"/>
          <p:cNvSpPr/>
          <p:nvPr/>
        </p:nvSpPr>
        <p:spPr>
          <a:xfrm>
            <a:off x="7845551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28"/>
          <p:cNvSpPr/>
          <p:nvPr/>
        </p:nvSpPr>
        <p:spPr>
          <a:xfrm>
            <a:off x="8284463" y="457200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29"/>
          <p:cNvSpPr/>
          <p:nvPr/>
        </p:nvSpPr>
        <p:spPr>
          <a:xfrm>
            <a:off x="8503919" y="470916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0"/>
          <p:cNvSpPr/>
          <p:nvPr/>
        </p:nvSpPr>
        <p:spPr>
          <a:xfrm>
            <a:off x="8595359" y="461772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1"/>
          <p:cNvSpPr/>
          <p:nvPr/>
        </p:nvSpPr>
        <p:spPr>
          <a:xfrm>
            <a:off x="8558784" y="519379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2"/>
          <p:cNvSpPr/>
          <p:nvPr/>
        </p:nvSpPr>
        <p:spPr>
          <a:xfrm>
            <a:off x="8394191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3"/>
          <p:cNvSpPr/>
          <p:nvPr/>
        </p:nvSpPr>
        <p:spPr>
          <a:xfrm>
            <a:off x="8723375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4"/>
          <p:cNvSpPr/>
          <p:nvPr/>
        </p:nvSpPr>
        <p:spPr>
          <a:xfrm>
            <a:off x="9162288" y="457200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5"/>
          <p:cNvSpPr/>
          <p:nvPr/>
        </p:nvSpPr>
        <p:spPr>
          <a:xfrm>
            <a:off x="9381744" y="470916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36"/>
          <p:cNvSpPr/>
          <p:nvPr/>
        </p:nvSpPr>
        <p:spPr>
          <a:xfrm>
            <a:off x="9473184" y="461772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37"/>
          <p:cNvSpPr/>
          <p:nvPr/>
        </p:nvSpPr>
        <p:spPr>
          <a:xfrm>
            <a:off x="9436608" y="519379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38"/>
          <p:cNvSpPr/>
          <p:nvPr/>
        </p:nvSpPr>
        <p:spPr>
          <a:xfrm>
            <a:off x="9272015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39"/>
          <p:cNvSpPr/>
          <p:nvPr/>
        </p:nvSpPr>
        <p:spPr>
          <a:xfrm>
            <a:off x="9601199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0"/>
          <p:cNvSpPr/>
          <p:nvPr/>
        </p:nvSpPr>
        <p:spPr>
          <a:xfrm>
            <a:off x="10040112" y="4572000"/>
            <a:ext cx="694944" cy="923544"/>
          </a:xfrm>
          <a:prstGeom prst="roundRect">
            <a:avLst>
              <a:gd name="adj" fmla="val 10000"/>
            </a:avLst>
          </a:prstGeom>
          <a:solidFill>
            <a:srgbClr val="203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1"/>
          <p:cNvSpPr/>
          <p:nvPr/>
        </p:nvSpPr>
        <p:spPr>
          <a:xfrm>
            <a:off x="10259568" y="4709160"/>
            <a:ext cx="256032" cy="731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2"/>
          <p:cNvSpPr/>
          <p:nvPr/>
        </p:nvSpPr>
        <p:spPr>
          <a:xfrm>
            <a:off x="10351008" y="4617720"/>
            <a:ext cx="7315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3"/>
          <p:cNvSpPr/>
          <p:nvPr/>
        </p:nvSpPr>
        <p:spPr>
          <a:xfrm>
            <a:off x="10314432" y="5193792"/>
            <a:ext cx="146304" cy="3017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4"/>
          <p:cNvSpPr/>
          <p:nvPr/>
        </p:nvSpPr>
        <p:spPr>
          <a:xfrm>
            <a:off x="10149840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5"/>
          <p:cNvSpPr/>
          <p:nvPr/>
        </p:nvSpPr>
        <p:spPr>
          <a:xfrm>
            <a:off x="10479024" y="4983480"/>
            <a:ext cx="109728" cy="109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46"/>
          <p:cNvSpPr txBox="1"/>
          <p:nvPr/>
        </p:nvSpPr>
        <p:spPr>
          <a:xfrm>
            <a:off x="6501384" y="5724144"/>
            <a:ext cx="457200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203354"/>
                </a:solidFill>
                <a:latin typeface="Noto Sans CJK SC"/>
              </a:rPr>
              <a:t>皮疹、腹泻，也可能严重过敏</a:t>
            </a:r>
          </a:p>
        </p:txBody>
      </p:sp>
      <p:pic>
        <p:nvPicPr>
          <p:cNvPr id="152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9" y="548640"/>
            <a:ext cx="12191999" cy="6858000"/>
          </a:xfrm>
          <a:prstGeom prst="rect">
            <a:avLst/>
          </a:prstGeom>
        </p:spPr>
      </p:pic>
      <p:sp>
        <p:nvSpPr>
          <p:cNvPr id="153" name="STYLE_PAPER_WASH"/>
          <p:cNvSpPr/>
          <p:nvPr/>
        </p:nvSpPr>
        <p:spPr>
          <a:xfrm>
            <a:off x="12191999" y="54864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3"/>
          <p:cNvSpPr/>
          <p:nvPr/>
        </p:nvSpPr>
        <p:spPr>
          <a:xfrm>
            <a:off x="12191999" y="548640"/>
            <a:ext cx="3749039" cy="6858000"/>
          </a:xfrm>
          <a:prstGeom prst="rect">
            <a:avLst/>
          </a:prstGeom>
          <a:gradFill rotWithShape="1">
            <a:gsLst>
              <a:gs pos="0">
                <a:srgbClr val="1D3B4B"/>
              </a:gs>
              <a:gs pos="100000">
                <a:srgbClr val="31596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4"/>
          <p:cNvSpPr/>
          <p:nvPr/>
        </p:nvSpPr>
        <p:spPr>
          <a:xfrm>
            <a:off x="12777215" y="79552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5"/>
          <p:cNvSpPr txBox="1"/>
          <p:nvPr/>
        </p:nvSpPr>
        <p:spPr>
          <a:xfrm>
            <a:off x="13005815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8F5EE"/>
                </a:solidFill>
                <a:latin typeface="Noto Sans CJK SC"/>
              </a:defRPr>
            </a:pPr>
            <a:r>
              <a:t>02 / 宿舍误区</a:t>
            </a:r>
          </a:p>
        </p:txBody>
      </p:sp>
      <p:sp>
        <p:nvSpPr>
          <p:cNvPr id="157" name="TextBox 6"/>
          <p:cNvSpPr txBox="1"/>
          <p:nvPr/>
        </p:nvSpPr>
        <p:spPr>
          <a:xfrm>
            <a:off x="12786359" y="1554480"/>
            <a:ext cx="2596896" cy="2862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8F5EE"/>
                </a:solidFill>
                <a:latin typeface="Noto Sans CJK SC"/>
              </a:defRPr>
            </a:pPr>
            <a:r>
              <a:t>不需要的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8F5EE"/>
                </a:solidFill>
                <a:latin typeface="Noto Sans CJK SC"/>
              </a:defRPr>
            </a:pPr>
            <a:r>
              <a:t>抗生素，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F8F5EE"/>
                </a:solidFill>
                <a:latin typeface="Noto Sans CJK SC"/>
              </a:defRPr>
            </a:pPr>
            <a:r>
              <a:t>也可能带来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8F5EE"/>
                </a:solidFill>
                <a:latin typeface="Noto Sans CJK SC"/>
              </a:defRPr>
            </a:pPr>
            <a:r>
              <a:t>真实伤害</a:t>
            </a:r>
          </a:p>
        </p:txBody>
      </p:sp>
      <p:sp>
        <p:nvSpPr>
          <p:cNvPr id="158" name="Rectangle 7"/>
          <p:cNvSpPr/>
          <p:nvPr/>
        </p:nvSpPr>
        <p:spPr>
          <a:xfrm>
            <a:off x="12786359" y="5038344"/>
            <a:ext cx="320040" cy="25603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8"/>
          <p:cNvSpPr txBox="1"/>
          <p:nvPr/>
        </p:nvSpPr>
        <p:spPr>
          <a:xfrm>
            <a:off x="12786359" y="5431536"/>
            <a:ext cx="2596896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没有治疗需要，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8F5EE"/>
                </a:solidFill>
                <a:latin typeface="Noto Sans CJK SC"/>
              </a:defRPr>
            </a:pPr>
            <a:r>
              <a:t>也要承担用药风险。</a:t>
            </a:r>
          </a:p>
        </p:txBody>
      </p:sp>
      <p:sp>
        <p:nvSpPr>
          <p:cNvPr id="160" name="TextBox 9"/>
          <p:cNvSpPr txBox="1"/>
          <p:nvPr/>
        </p:nvSpPr>
        <p:spPr>
          <a:xfrm>
            <a:off x="16507967" y="1197864"/>
            <a:ext cx="7260336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34453"/>
                </a:solidFill>
                <a:latin typeface="Noto Sans CJK SC"/>
              </a:defRPr>
            </a:pPr>
            <a:r>
              <a:t>美国门诊抗生素处方</a:t>
            </a:r>
          </a:p>
        </p:txBody>
      </p:sp>
      <p:sp>
        <p:nvSpPr>
          <p:cNvPr id="161" name="TextBox 10"/>
          <p:cNvSpPr txBox="1"/>
          <p:nvPr/>
        </p:nvSpPr>
        <p:spPr>
          <a:xfrm>
            <a:off x="16507967" y="215798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65162"/>
                </a:solidFill>
                <a:latin typeface="Noto Sans CJK SC"/>
              </a:defRPr>
            </a:pPr>
            <a:r>
              <a:t>至少</a:t>
            </a:r>
          </a:p>
        </p:txBody>
      </p:sp>
      <p:sp>
        <p:nvSpPr>
          <p:cNvPr id="162" name="TextBox 11"/>
          <p:cNvSpPr txBox="1"/>
          <p:nvPr/>
        </p:nvSpPr>
        <p:spPr>
          <a:xfrm>
            <a:off x="16453103" y="2542032"/>
            <a:ext cx="3867912" cy="11155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7400" b="1">
                <a:solidFill>
                  <a:srgbClr val="D65162"/>
                </a:solidFill>
                <a:latin typeface="Noto Sans CJK SC"/>
              </a:defRPr>
            </a:pPr>
            <a:r>
              <a:t>28%</a:t>
            </a:r>
          </a:p>
        </p:txBody>
      </p:sp>
      <p:sp>
        <p:nvSpPr>
          <p:cNvPr id="163" name="TextBox 12"/>
          <p:cNvSpPr txBox="1"/>
          <p:nvPr/>
        </p:nvSpPr>
        <p:spPr>
          <a:xfrm>
            <a:off x="16507967" y="3941064"/>
            <a:ext cx="41970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被估计为不必要</a:t>
            </a:r>
          </a:p>
        </p:txBody>
      </p:sp>
      <p:sp>
        <p:nvSpPr>
          <p:cNvPr id="164" name="DATA_GRID_001_HIGHLIGHT"/>
          <p:cNvSpPr/>
          <p:nvPr/>
        </p:nvSpPr>
        <p:spPr>
          <a:xfrm>
            <a:off x="20979383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DATA_GRID_002_HIGHLIGHT"/>
          <p:cNvSpPr/>
          <p:nvPr/>
        </p:nvSpPr>
        <p:spPr>
          <a:xfrm>
            <a:off x="21229014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DATA_GRID_003_HIGHLIGHT"/>
          <p:cNvSpPr/>
          <p:nvPr/>
        </p:nvSpPr>
        <p:spPr>
          <a:xfrm>
            <a:off x="21478645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DATA_GRID_004_HIGHLIGHT"/>
          <p:cNvSpPr/>
          <p:nvPr/>
        </p:nvSpPr>
        <p:spPr>
          <a:xfrm>
            <a:off x="21728276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DATA_GRID_005_HIGHLIGHT"/>
          <p:cNvSpPr/>
          <p:nvPr/>
        </p:nvSpPr>
        <p:spPr>
          <a:xfrm>
            <a:off x="21977907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DATA_GRID_006_HIGHLIGHT"/>
          <p:cNvSpPr/>
          <p:nvPr/>
        </p:nvSpPr>
        <p:spPr>
          <a:xfrm>
            <a:off x="22227539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DATA_GRID_007_HIGHLIGHT"/>
          <p:cNvSpPr/>
          <p:nvPr/>
        </p:nvSpPr>
        <p:spPr>
          <a:xfrm>
            <a:off x="22477170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DATA_GRID_008_HIGHLIGHT"/>
          <p:cNvSpPr/>
          <p:nvPr/>
        </p:nvSpPr>
        <p:spPr>
          <a:xfrm>
            <a:off x="22726801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DATA_GRID_009_HIGHLIGHT"/>
          <p:cNvSpPr/>
          <p:nvPr/>
        </p:nvSpPr>
        <p:spPr>
          <a:xfrm>
            <a:off x="22976432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DATA_GRID_010_HIGHLIGHT"/>
          <p:cNvSpPr/>
          <p:nvPr/>
        </p:nvSpPr>
        <p:spPr>
          <a:xfrm>
            <a:off x="23226063" y="158191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DATA_GRID_011_HIGHLIGHT"/>
          <p:cNvSpPr/>
          <p:nvPr/>
        </p:nvSpPr>
        <p:spPr>
          <a:xfrm>
            <a:off x="20979383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DATA_GRID_012_HIGHLIGHT"/>
          <p:cNvSpPr/>
          <p:nvPr/>
        </p:nvSpPr>
        <p:spPr>
          <a:xfrm>
            <a:off x="21229014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DATA_GRID_013_HIGHLIGHT"/>
          <p:cNvSpPr/>
          <p:nvPr/>
        </p:nvSpPr>
        <p:spPr>
          <a:xfrm>
            <a:off x="21478645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DATA_GRID_014_HIGHLIGHT"/>
          <p:cNvSpPr/>
          <p:nvPr/>
        </p:nvSpPr>
        <p:spPr>
          <a:xfrm>
            <a:off x="21728276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DATA_GRID_015_HIGHLIGHT"/>
          <p:cNvSpPr/>
          <p:nvPr/>
        </p:nvSpPr>
        <p:spPr>
          <a:xfrm>
            <a:off x="21977907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DATA_GRID_016_HIGHLIGHT"/>
          <p:cNvSpPr/>
          <p:nvPr/>
        </p:nvSpPr>
        <p:spPr>
          <a:xfrm>
            <a:off x="22227539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DATA_GRID_017_HIGHLIGHT"/>
          <p:cNvSpPr/>
          <p:nvPr/>
        </p:nvSpPr>
        <p:spPr>
          <a:xfrm>
            <a:off x="22477170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DATA_GRID_018_HIGHLIGHT"/>
          <p:cNvSpPr/>
          <p:nvPr/>
        </p:nvSpPr>
        <p:spPr>
          <a:xfrm>
            <a:off x="22726801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DATA_GRID_019_HIGHLIGHT"/>
          <p:cNvSpPr/>
          <p:nvPr/>
        </p:nvSpPr>
        <p:spPr>
          <a:xfrm>
            <a:off x="22976432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DATA_GRID_020_HIGHLIGHT"/>
          <p:cNvSpPr/>
          <p:nvPr/>
        </p:nvSpPr>
        <p:spPr>
          <a:xfrm>
            <a:off x="23226063" y="1831543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DATA_GRID_021_HIGHLIGHT"/>
          <p:cNvSpPr/>
          <p:nvPr/>
        </p:nvSpPr>
        <p:spPr>
          <a:xfrm>
            <a:off x="20979383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DATA_GRID_022_HIGHLIGHT"/>
          <p:cNvSpPr/>
          <p:nvPr/>
        </p:nvSpPr>
        <p:spPr>
          <a:xfrm>
            <a:off x="21229014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DATA_GRID_023_HIGHLIGHT"/>
          <p:cNvSpPr/>
          <p:nvPr/>
        </p:nvSpPr>
        <p:spPr>
          <a:xfrm>
            <a:off x="21478645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DATA_GRID_024_HIGHLIGHT"/>
          <p:cNvSpPr/>
          <p:nvPr/>
        </p:nvSpPr>
        <p:spPr>
          <a:xfrm>
            <a:off x="21728276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DATA_GRID_025_HIGHLIGHT"/>
          <p:cNvSpPr/>
          <p:nvPr/>
        </p:nvSpPr>
        <p:spPr>
          <a:xfrm>
            <a:off x="21977907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ATA_GRID_026_HIGHLIGHT"/>
          <p:cNvSpPr/>
          <p:nvPr/>
        </p:nvSpPr>
        <p:spPr>
          <a:xfrm>
            <a:off x="22227539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DATA_GRID_027_HIGHLIGHT"/>
          <p:cNvSpPr/>
          <p:nvPr/>
        </p:nvSpPr>
        <p:spPr>
          <a:xfrm>
            <a:off x="22477170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ATA_GRID_028_HIGHLIGHT"/>
          <p:cNvSpPr/>
          <p:nvPr/>
        </p:nvSpPr>
        <p:spPr>
          <a:xfrm>
            <a:off x="22726801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ATA_GRID_029_REST"/>
          <p:cNvSpPr/>
          <p:nvPr/>
        </p:nvSpPr>
        <p:spPr>
          <a:xfrm>
            <a:off x="22976432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DATA_GRID_030_REST"/>
          <p:cNvSpPr/>
          <p:nvPr/>
        </p:nvSpPr>
        <p:spPr>
          <a:xfrm>
            <a:off x="23226063" y="2081174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ATA_GRID_031_REST"/>
          <p:cNvSpPr/>
          <p:nvPr/>
        </p:nvSpPr>
        <p:spPr>
          <a:xfrm>
            <a:off x="20979383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DATA_GRID_032_REST"/>
          <p:cNvSpPr/>
          <p:nvPr/>
        </p:nvSpPr>
        <p:spPr>
          <a:xfrm>
            <a:off x="21229014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DATA_GRID_033_REST"/>
          <p:cNvSpPr/>
          <p:nvPr/>
        </p:nvSpPr>
        <p:spPr>
          <a:xfrm>
            <a:off x="21478645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DATA_GRID_034_REST"/>
          <p:cNvSpPr/>
          <p:nvPr/>
        </p:nvSpPr>
        <p:spPr>
          <a:xfrm>
            <a:off x="21728276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DATA_GRID_035_REST"/>
          <p:cNvSpPr/>
          <p:nvPr/>
        </p:nvSpPr>
        <p:spPr>
          <a:xfrm>
            <a:off x="21977907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DATA_GRID_036_REST"/>
          <p:cNvSpPr/>
          <p:nvPr/>
        </p:nvSpPr>
        <p:spPr>
          <a:xfrm>
            <a:off x="22227539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DATA_GRID_037_REST"/>
          <p:cNvSpPr/>
          <p:nvPr/>
        </p:nvSpPr>
        <p:spPr>
          <a:xfrm>
            <a:off x="22477170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DATA_GRID_038_REST"/>
          <p:cNvSpPr/>
          <p:nvPr/>
        </p:nvSpPr>
        <p:spPr>
          <a:xfrm>
            <a:off x="22726801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DATA_GRID_039_REST"/>
          <p:cNvSpPr/>
          <p:nvPr/>
        </p:nvSpPr>
        <p:spPr>
          <a:xfrm>
            <a:off x="22976432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DATA_GRID_040_REST"/>
          <p:cNvSpPr/>
          <p:nvPr/>
        </p:nvSpPr>
        <p:spPr>
          <a:xfrm>
            <a:off x="23226063" y="2330805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DATA_GRID_041_REST"/>
          <p:cNvSpPr/>
          <p:nvPr/>
        </p:nvSpPr>
        <p:spPr>
          <a:xfrm>
            <a:off x="20979383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DATA_GRID_042_REST"/>
          <p:cNvSpPr/>
          <p:nvPr/>
        </p:nvSpPr>
        <p:spPr>
          <a:xfrm>
            <a:off x="21229014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DATA_GRID_043_REST"/>
          <p:cNvSpPr/>
          <p:nvPr/>
        </p:nvSpPr>
        <p:spPr>
          <a:xfrm>
            <a:off x="21478645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DATA_GRID_044_REST"/>
          <p:cNvSpPr/>
          <p:nvPr/>
        </p:nvSpPr>
        <p:spPr>
          <a:xfrm>
            <a:off x="21728276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DATA_GRID_045_REST"/>
          <p:cNvSpPr/>
          <p:nvPr/>
        </p:nvSpPr>
        <p:spPr>
          <a:xfrm>
            <a:off x="21977907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DATA_GRID_046_REST"/>
          <p:cNvSpPr/>
          <p:nvPr/>
        </p:nvSpPr>
        <p:spPr>
          <a:xfrm>
            <a:off x="22227539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DATA_GRID_047_REST"/>
          <p:cNvSpPr/>
          <p:nvPr/>
        </p:nvSpPr>
        <p:spPr>
          <a:xfrm>
            <a:off x="22477170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DATA_GRID_048_REST"/>
          <p:cNvSpPr/>
          <p:nvPr/>
        </p:nvSpPr>
        <p:spPr>
          <a:xfrm>
            <a:off x="22726801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DATA_GRID_049_REST"/>
          <p:cNvSpPr/>
          <p:nvPr/>
        </p:nvSpPr>
        <p:spPr>
          <a:xfrm>
            <a:off x="22976432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DATA_GRID_050_REST"/>
          <p:cNvSpPr/>
          <p:nvPr/>
        </p:nvSpPr>
        <p:spPr>
          <a:xfrm>
            <a:off x="23226063" y="2580436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DATA_GRID_051_REST"/>
          <p:cNvSpPr/>
          <p:nvPr/>
        </p:nvSpPr>
        <p:spPr>
          <a:xfrm>
            <a:off x="20979383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DATA_GRID_052_REST"/>
          <p:cNvSpPr/>
          <p:nvPr/>
        </p:nvSpPr>
        <p:spPr>
          <a:xfrm>
            <a:off x="21229014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DATA_GRID_053_REST"/>
          <p:cNvSpPr/>
          <p:nvPr/>
        </p:nvSpPr>
        <p:spPr>
          <a:xfrm>
            <a:off x="21478645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DATA_GRID_054_REST"/>
          <p:cNvSpPr/>
          <p:nvPr/>
        </p:nvSpPr>
        <p:spPr>
          <a:xfrm>
            <a:off x="21728276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DATA_GRID_055_REST"/>
          <p:cNvSpPr/>
          <p:nvPr/>
        </p:nvSpPr>
        <p:spPr>
          <a:xfrm>
            <a:off x="21977907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DATA_GRID_056_REST"/>
          <p:cNvSpPr/>
          <p:nvPr/>
        </p:nvSpPr>
        <p:spPr>
          <a:xfrm>
            <a:off x="22227539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DATA_GRID_057_REST"/>
          <p:cNvSpPr/>
          <p:nvPr/>
        </p:nvSpPr>
        <p:spPr>
          <a:xfrm>
            <a:off x="22477170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DATA_GRID_058_REST"/>
          <p:cNvSpPr/>
          <p:nvPr/>
        </p:nvSpPr>
        <p:spPr>
          <a:xfrm>
            <a:off x="22726801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DATA_GRID_059_REST"/>
          <p:cNvSpPr/>
          <p:nvPr/>
        </p:nvSpPr>
        <p:spPr>
          <a:xfrm>
            <a:off x="22976432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DATA_GRID_060_REST"/>
          <p:cNvSpPr/>
          <p:nvPr/>
        </p:nvSpPr>
        <p:spPr>
          <a:xfrm>
            <a:off x="23226063" y="2830068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DATA_GRID_061_REST"/>
          <p:cNvSpPr/>
          <p:nvPr/>
        </p:nvSpPr>
        <p:spPr>
          <a:xfrm>
            <a:off x="20979383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DATA_GRID_062_REST"/>
          <p:cNvSpPr/>
          <p:nvPr/>
        </p:nvSpPr>
        <p:spPr>
          <a:xfrm>
            <a:off x="21229014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DATA_GRID_063_REST"/>
          <p:cNvSpPr/>
          <p:nvPr/>
        </p:nvSpPr>
        <p:spPr>
          <a:xfrm>
            <a:off x="21478645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DATA_GRID_064_REST"/>
          <p:cNvSpPr/>
          <p:nvPr/>
        </p:nvSpPr>
        <p:spPr>
          <a:xfrm>
            <a:off x="21728276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DATA_GRID_065_REST"/>
          <p:cNvSpPr/>
          <p:nvPr/>
        </p:nvSpPr>
        <p:spPr>
          <a:xfrm>
            <a:off x="21977907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DATA_GRID_066_REST"/>
          <p:cNvSpPr/>
          <p:nvPr/>
        </p:nvSpPr>
        <p:spPr>
          <a:xfrm>
            <a:off x="22227539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DATA_GRID_067_REST"/>
          <p:cNvSpPr/>
          <p:nvPr/>
        </p:nvSpPr>
        <p:spPr>
          <a:xfrm>
            <a:off x="22477170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DATA_GRID_068_REST"/>
          <p:cNvSpPr/>
          <p:nvPr/>
        </p:nvSpPr>
        <p:spPr>
          <a:xfrm>
            <a:off x="22726801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DATA_GRID_069_REST"/>
          <p:cNvSpPr/>
          <p:nvPr/>
        </p:nvSpPr>
        <p:spPr>
          <a:xfrm>
            <a:off x="22976432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DATA_GRID_070_REST"/>
          <p:cNvSpPr/>
          <p:nvPr/>
        </p:nvSpPr>
        <p:spPr>
          <a:xfrm>
            <a:off x="23226063" y="3079699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DATA_GRID_071_REST"/>
          <p:cNvSpPr/>
          <p:nvPr/>
        </p:nvSpPr>
        <p:spPr>
          <a:xfrm>
            <a:off x="20979383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DATA_GRID_072_REST"/>
          <p:cNvSpPr/>
          <p:nvPr/>
        </p:nvSpPr>
        <p:spPr>
          <a:xfrm>
            <a:off x="21229014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DATA_GRID_073_REST"/>
          <p:cNvSpPr/>
          <p:nvPr/>
        </p:nvSpPr>
        <p:spPr>
          <a:xfrm>
            <a:off x="21478645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DATA_GRID_074_REST"/>
          <p:cNvSpPr/>
          <p:nvPr/>
        </p:nvSpPr>
        <p:spPr>
          <a:xfrm>
            <a:off x="21728276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DATA_GRID_075_REST"/>
          <p:cNvSpPr/>
          <p:nvPr/>
        </p:nvSpPr>
        <p:spPr>
          <a:xfrm>
            <a:off x="21977907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DATA_GRID_076_REST"/>
          <p:cNvSpPr/>
          <p:nvPr/>
        </p:nvSpPr>
        <p:spPr>
          <a:xfrm>
            <a:off x="22227539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DATA_GRID_077_REST"/>
          <p:cNvSpPr/>
          <p:nvPr/>
        </p:nvSpPr>
        <p:spPr>
          <a:xfrm>
            <a:off x="22477170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DATA_GRID_078_REST"/>
          <p:cNvSpPr/>
          <p:nvPr/>
        </p:nvSpPr>
        <p:spPr>
          <a:xfrm>
            <a:off x="22726801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DATA_GRID_079_REST"/>
          <p:cNvSpPr/>
          <p:nvPr/>
        </p:nvSpPr>
        <p:spPr>
          <a:xfrm>
            <a:off x="22976432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DATA_GRID_080_REST"/>
          <p:cNvSpPr/>
          <p:nvPr/>
        </p:nvSpPr>
        <p:spPr>
          <a:xfrm>
            <a:off x="23226063" y="3329330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DATA_GRID_081_REST"/>
          <p:cNvSpPr/>
          <p:nvPr/>
        </p:nvSpPr>
        <p:spPr>
          <a:xfrm>
            <a:off x="20979383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DATA_GRID_082_REST"/>
          <p:cNvSpPr/>
          <p:nvPr/>
        </p:nvSpPr>
        <p:spPr>
          <a:xfrm>
            <a:off x="21229014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DATA_GRID_083_REST"/>
          <p:cNvSpPr/>
          <p:nvPr/>
        </p:nvSpPr>
        <p:spPr>
          <a:xfrm>
            <a:off x="21478645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DATA_GRID_084_REST"/>
          <p:cNvSpPr/>
          <p:nvPr/>
        </p:nvSpPr>
        <p:spPr>
          <a:xfrm>
            <a:off x="21728276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DATA_GRID_085_REST"/>
          <p:cNvSpPr/>
          <p:nvPr/>
        </p:nvSpPr>
        <p:spPr>
          <a:xfrm>
            <a:off x="21977907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DATA_GRID_086_REST"/>
          <p:cNvSpPr/>
          <p:nvPr/>
        </p:nvSpPr>
        <p:spPr>
          <a:xfrm>
            <a:off x="22227539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DATA_GRID_087_REST"/>
          <p:cNvSpPr/>
          <p:nvPr/>
        </p:nvSpPr>
        <p:spPr>
          <a:xfrm>
            <a:off x="22477170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DATA_GRID_088_REST"/>
          <p:cNvSpPr/>
          <p:nvPr/>
        </p:nvSpPr>
        <p:spPr>
          <a:xfrm>
            <a:off x="22726801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DATA_GRID_089_REST"/>
          <p:cNvSpPr/>
          <p:nvPr/>
        </p:nvSpPr>
        <p:spPr>
          <a:xfrm>
            <a:off x="22976432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DATA_GRID_090_REST"/>
          <p:cNvSpPr/>
          <p:nvPr/>
        </p:nvSpPr>
        <p:spPr>
          <a:xfrm>
            <a:off x="23226063" y="3578961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DATA_GRID_091_REST"/>
          <p:cNvSpPr/>
          <p:nvPr/>
        </p:nvSpPr>
        <p:spPr>
          <a:xfrm>
            <a:off x="20979383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DATA_GRID_092_REST"/>
          <p:cNvSpPr/>
          <p:nvPr/>
        </p:nvSpPr>
        <p:spPr>
          <a:xfrm>
            <a:off x="21229014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DATA_GRID_093_REST"/>
          <p:cNvSpPr/>
          <p:nvPr/>
        </p:nvSpPr>
        <p:spPr>
          <a:xfrm>
            <a:off x="21478645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DATA_GRID_094_REST"/>
          <p:cNvSpPr/>
          <p:nvPr/>
        </p:nvSpPr>
        <p:spPr>
          <a:xfrm>
            <a:off x="21728276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DATA_GRID_095_REST"/>
          <p:cNvSpPr/>
          <p:nvPr/>
        </p:nvSpPr>
        <p:spPr>
          <a:xfrm>
            <a:off x="21977907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DATA_GRID_096_REST"/>
          <p:cNvSpPr/>
          <p:nvPr/>
        </p:nvSpPr>
        <p:spPr>
          <a:xfrm>
            <a:off x="22227539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DATA_GRID_097_REST"/>
          <p:cNvSpPr/>
          <p:nvPr/>
        </p:nvSpPr>
        <p:spPr>
          <a:xfrm>
            <a:off x="22477170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DATA_GRID_098_REST"/>
          <p:cNvSpPr/>
          <p:nvPr/>
        </p:nvSpPr>
        <p:spPr>
          <a:xfrm>
            <a:off x="22726801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DATA_GRID_099_REST"/>
          <p:cNvSpPr/>
          <p:nvPr/>
        </p:nvSpPr>
        <p:spPr>
          <a:xfrm>
            <a:off x="22976432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DATA_GRID_100_REST"/>
          <p:cNvSpPr/>
          <p:nvPr/>
        </p:nvSpPr>
        <p:spPr>
          <a:xfrm>
            <a:off x="23226063" y="3828592"/>
            <a:ext cx="202996" cy="202996"/>
          </a:xfrm>
          <a:prstGeom prst="roundRect">
            <a:avLst>
              <a:gd name="adj" fmla="val 6000"/>
            </a:avLst>
          </a:prstGeom>
          <a:solidFill>
            <a:srgbClr val="DBD6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113"/>
          <p:cNvSpPr/>
          <p:nvPr/>
        </p:nvSpPr>
        <p:spPr>
          <a:xfrm>
            <a:off x="16507967" y="4526279"/>
            <a:ext cx="7260336" cy="10972"/>
          </a:xfrm>
          <a:prstGeom prst="rect">
            <a:avLst/>
          </a:prstGeom>
          <a:solidFill>
            <a:srgbClr val="D5C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114"/>
          <p:cNvSpPr txBox="1"/>
          <p:nvPr/>
        </p:nvSpPr>
        <p:spPr>
          <a:xfrm>
            <a:off x="16507967" y="4745736"/>
            <a:ext cx="72603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4453"/>
                </a:solidFill>
                <a:latin typeface="Noto Sans CJK SC"/>
              </a:defRPr>
            </a:pPr>
            <a:r>
              <a:t>药物副作用导致的急诊</a:t>
            </a:r>
          </a:p>
        </p:txBody>
      </p:sp>
      <p:sp>
        <p:nvSpPr>
          <p:cNvPr id="266" name="TextBox 115"/>
          <p:cNvSpPr txBox="1"/>
          <p:nvPr/>
        </p:nvSpPr>
        <p:spPr>
          <a:xfrm>
            <a:off x="16507967" y="5230368"/>
            <a:ext cx="434340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D65162"/>
                </a:solidFill>
                <a:latin typeface="Noto Sans CJK SC"/>
              </a:defRPr>
            </a:pPr>
            <a:r>
              <a:t>5次中，约1次</a:t>
            </a:r>
          </a:p>
        </p:txBody>
      </p:sp>
      <p:sp>
        <p:nvSpPr>
          <p:cNvPr id="267" name="TextBox 116"/>
          <p:cNvSpPr txBox="1"/>
          <p:nvPr/>
        </p:nvSpPr>
        <p:spPr>
          <a:xfrm>
            <a:off x="21015959" y="5294376"/>
            <a:ext cx="27523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4453"/>
                </a:solidFill>
                <a:latin typeface="Noto Sans CJK SC"/>
              </a:defRPr>
            </a:pPr>
            <a:r>
              <a:t>涉及抗生素反应</a:t>
            </a:r>
          </a:p>
        </p:txBody>
      </p:sp>
      <p:sp>
        <p:nvSpPr>
          <p:cNvPr id="268" name="DATA_ED_1_HIGHLIGHT"/>
          <p:cNvSpPr/>
          <p:nvPr/>
        </p:nvSpPr>
        <p:spPr>
          <a:xfrm>
            <a:off x="16553687" y="590702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118"/>
          <p:cNvSpPr/>
          <p:nvPr/>
        </p:nvSpPr>
        <p:spPr>
          <a:xfrm>
            <a:off x="16981626" y="605332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119"/>
          <p:cNvSpPr/>
          <p:nvPr/>
        </p:nvSpPr>
        <p:spPr>
          <a:xfrm>
            <a:off x="16842545" y="612648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120"/>
          <p:cNvSpPr/>
          <p:nvPr/>
        </p:nvSpPr>
        <p:spPr>
          <a:xfrm>
            <a:off x="17013721" y="650138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121"/>
          <p:cNvSpPr/>
          <p:nvPr/>
        </p:nvSpPr>
        <p:spPr>
          <a:xfrm>
            <a:off x="16724862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122"/>
          <p:cNvSpPr/>
          <p:nvPr/>
        </p:nvSpPr>
        <p:spPr>
          <a:xfrm>
            <a:off x="17334676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DATA_ED_2_REST"/>
          <p:cNvSpPr/>
          <p:nvPr/>
        </p:nvSpPr>
        <p:spPr>
          <a:xfrm>
            <a:off x="18016726" y="590702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124"/>
          <p:cNvSpPr/>
          <p:nvPr/>
        </p:nvSpPr>
        <p:spPr>
          <a:xfrm>
            <a:off x="18444666" y="605332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125"/>
          <p:cNvSpPr/>
          <p:nvPr/>
        </p:nvSpPr>
        <p:spPr>
          <a:xfrm>
            <a:off x="18305585" y="612648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126"/>
          <p:cNvSpPr/>
          <p:nvPr/>
        </p:nvSpPr>
        <p:spPr>
          <a:xfrm>
            <a:off x="18476761" y="650138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127"/>
          <p:cNvSpPr/>
          <p:nvPr/>
        </p:nvSpPr>
        <p:spPr>
          <a:xfrm>
            <a:off x="18187902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128"/>
          <p:cNvSpPr/>
          <p:nvPr/>
        </p:nvSpPr>
        <p:spPr>
          <a:xfrm>
            <a:off x="18797716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DATA_ED_3_REST"/>
          <p:cNvSpPr/>
          <p:nvPr/>
        </p:nvSpPr>
        <p:spPr>
          <a:xfrm>
            <a:off x="19479767" y="590702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130"/>
          <p:cNvSpPr/>
          <p:nvPr/>
        </p:nvSpPr>
        <p:spPr>
          <a:xfrm>
            <a:off x="19907706" y="605332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131"/>
          <p:cNvSpPr/>
          <p:nvPr/>
        </p:nvSpPr>
        <p:spPr>
          <a:xfrm>
            <a:off x="19768625" y="612648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132"/>
          <p:cNvSpPr/>
          <p:nvPr/>
        </p:nvSpPr>
        <p:spPr>
          <a:xfrm>
            <a:off x="19939801" y="650138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133"/>
          <p:cNvSpPr/>
          <p:nvPr/>
        </p:nvSpPr>
        <p:spPr>
          <a:xfrm>
            <a:off x="19650942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134"/>
          <p:cNvSpPr/>
          <p:nvPr/>
        </p:nvSpPr>
        <p:spPr>
          <a:xfrm>
            <a:off x="20260756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DATA_ED_4_REST"/>
          <p:cNvSpPr/>
          <p:nvPr/>
        </p:nvSpPr>
        <p:spPr>
          <a:xfrm>
            <a:off x="20942807" y="590702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136"/>
          <p:cNvSpPr/>
          <p:nvPr/>
        </p:nvSpPr>
        <p:spPr>
          <a:xfrm>
            <a:off x="21370746" y="605332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137"/>
          <p:cNvSpPr/>
          <p:nvPr/>
        </p:nvSpPr>
        <p:spPr>
          <a:xfrm>
            <a:off x="21231665" y="612648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138"/>
          <p:cNvSpPr/>
          <p:nvPr/>
        </p:nvSpPr>
        <p:spPr>
          <a:xfrm>
            <a:off x="21402841" y="650138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139"/>
          <p:cNvSpPr/>
          <p:nvPr/>
        </p:nvSpPr>
        <p:spPr>
          <a:xfrm>
            <a:off x="21113982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140"/>
          <p:cNvSpPr/>
          <p:nvPr/>
        </p:nvSpPr>
        <p:spPr>
          <a:xfrm>
            <a:off x="21723796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DATA_ED_5_REST"/>
          <p:cNvSpPr/>
          <p:nvPr/>
        </p:nvSpPr>
        <p:spPr>
          <a:xfrm>
            <a:off x="22405847" y="5907024"/>
            <a:ext cx="1069848" cy="960120"/>
          </a:xfrm>
          <a:prstGeom prst="roundRect">
            <a:avLst>
              <a:gd name="adj" fmla="val 6000"/>
            </a:avLst>
          </a:prstGeom>
          <a:solidFill>
            <a:srgbClr val="234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142"/>
          <p:cNvSpPr/>
          <p:nvPr/>
        </p:nvSpPr>
        <p:spPr>
          <a:xfrm>
            <a:off x="22833786" y="6053328"/>
            <a:ext cx="213969" cy="256032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143"/>
          <p:cNvSpPr/>
          <p:nvPr/>
        </p:nvSpPr>
        <p:spPr>
          <a:xfrm>
            <a:off x="22694705" y="6126480"/>
            <a:ext cx="492130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144"/>
          <p:cNvSpPr/>
          <p:nvPr/>
        </p:nvSpPr>
        <p:spPr>
          <a:xfrm>
            <a:off x="22865881" y="6501384"/>
            <a:ext cx="192572" cy="365760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145"/>
          <p:cNvSpPr/>
          <p:nvPr/>
        </p:nvSpPr>
        <p:spPr>
          <a:xfrm>
            <a:off x="22577022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146"/>
          <p:cNvSpPr/>
          <p:nvPr/>
        </p:nvSpPr>
        <p:spPr>
          <a:xfrm>
            <a:off x="23186836" y="6419088"/>
            <a:ext cx="128381" cy="109728"/>
          </a:xfrm>
          <a:prstGeom prst="rect">
            <a:avLst/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147"/>
          <p:cNvSpPr txBox="1"/>
          <p:nvPr/>
        </p:nvSpPr>
        <p:spPr>
          <a:xfrm>
            <a:off x="16507967" y="6958584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34453"/>
                </a:solidFill>
                <a:latin typeface="Noto Sans CJK SC"/>
              </a:defRPr>
            </a:pPr>
            <a:r>
              <a:t>皮疹、腹泻，也可能严重过敏</a:t>
            </a:r>
          </a:p>
        </p:txBody>
      </p:sp>
      <p:sp>
        <p:nvSpPr>
          <p:cNvPr id="299" name="TextBox 148"/>
          <p:cNvSpPr txBox="1"/>
          <p:nvPr/>
        </p:nvSpPr>
        <p:spPr>
          <a:xfrm>
            <a:off x="22872191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234453"/>
                </a:solidFill>
                <a:latin typeface="Noto Sans CJK SC"/>
              </a:defRPr>
            </a:pPr>
            <a:r>
              <a:t>11 / 27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12191999" y="548640"/>
            <a:ext cx="14630" cy="6858000"/>
          </a:xfrm>
          <a:prstGeom prst="rect">
            <a:avLst/>
          </a:prstGeom>
          <a:solidFill>
            <a:srgbClr val="B6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998" cy="54864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原版 · 第17页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86359" y="10972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4453"/>
                </a:solidFill>
                <a:latin typeface="Noto Sans CJK SC"/>
              </a:defRPr>
            </a:pPr>
            <a:r>
              <a:t>新版 · 精致编辑版</a:t>
            </a:r>
          </a:p>
        </p:txBody>
      </p:sp>
      <p:sp>
        <p:nvSpPr>
          <p:cNvPr id="6" name="Rectangle 1"/>
          <p:cNvSpPr/>
          <p:nvPr/>
        </p:nvSpPr>
        <p:spPr>
          <a:xfrm>
            <a:off x="502920" y="914400"/>
            <a:ext cx="64008" cy="246888"/>
          </a:xfrm>
          <a:prstGeom prst="rect">
            <a:avLst/>
          </a:prstGeom>
          <a:solidFill>
            <a:srgbClr val="E3464F"/>
          </a:solidFill>
          <a:ln>
            <a:solidFill>
              <a:srgbClr val="E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2"/>
          <p:cNvSpPr txBox="1"/>
          <p:nvPr/>
        </p:nvSpPr>
        <p:spPr>
          <a:xfrm>
            <a:off x="685800" y="84124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3E75"/>
                </a:solidFill>
                <a:latin typeface="Noto Sans CJK SC"/>
                <a:ea typeface="Noto Sans CJK SC"/>
              </a:rPr>
              <a:t>03 / 安全用药</a:t>
            </a:r>
          </a:p>
        </p:txBody>
      </p:sp>
      <p:sp>
        <p:nvSpPr>
          <p:cNvPr id="8" name="TextBox 3"/>
          <p:cNvSpPr txBox="1"/>
          <p:nvPr/>
        </p:nvSpPr>
        <p:spPr>
          <a:xfrm>
            <a:off x="594360" y="1444752"/>
            <a:ext cx="110185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53E75"/>
                </a:solidFill>
                <a:latin typeface="Noto Sans CJK SC"/>
                <a:ea typeface="Noto Sans CJK SC"/>
              </a:rPr>
              <a:t>从四个案例，走到四个用药动作</a:t>
            </a:r>
          </a:p>
        </p:txBody>
      </p:sp>
      <p:cxnSp>
        <p:nvCxnSpPr>
          <p:cNvPr id="9" name="Connector 4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8890">
            <a:solidFill>
              <a:srgbClr val="153E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5"/>
          <p:cNvSpPr txBox="1"/>
          <p:nvPr/>
        </p:nvSpPr>
        <p:spPr>
          <a:xfrm>
            <a:off x="640080" y="6492240"/>
            <a:ext cx="10744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Noto Sans CJK SC"/>
                <a:ea typeface="Noto Sans CJK SC"/>
              </a:rPr>
              <a:t>先把信息看清，再把不确定问清。</a:t>
            </a:r>
          </a:p>
        </p:txBody>
      </p:sp>
      <p:sp>
        <p:nvSpPr>
          <p:cNvPr id="11" name="TextBox 6"/>
          <p:cNvSpPr txBox="1"/>
          <p:nvPr/>
        </p:nvSpPr>
        <p:spPr>
          <a:xfrm>
            <a:off x="10744200" y="700430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3E75"/>
                </a:solidFill>
                <a:latin typeface="Noto Sans CJK SC"/>
                <a:ea typeface="Noto Sans CJK SC"/>
              </a:rPr>
              <a:t>17 / 27</a:t>
            </a:r>
          </a:p>
        </p:txBody>
      </p:sp>
      <p:sp>
        <p:nvSpPr>
          <p:cNvPr id="12" name="Rounded Rectangle 7"/>
          <p:cNvSpPr/>
          <p:nvPr/>
        </p:nvSpPr>
        <p:spPr>
          <a:xfrm>
            <a:off x="777240" y="2496312"/>
            <a:ext cx="5148072" cy="164592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8"/>
          <p:cNvSpPr txBox="1"/>
          <p:nvPr/>
        </p:nvSpPr>
        <p:spPr>
          <a:xfrm>
            <a:off x="1014983" y="2770631"/>
            <a:ext cx="9418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500" b="1">
                <a:solidFill>
                  <a:srgbClr val="153E75"/>
                </a:solidFill>
                <a:latin typeface="Noto Sans CJK SC"/>
              </a:rPr>
              <a:t>看</a:t>
            </a:r>
          </a:p>
        </p:txBody>
      </p:sp>
      <p:sp>
        <p:nvSpPr>
          <p:cNvPr id="14" name="TextBox 9"/>
          <p:cNvSpPr txBox="1"/>
          <p:nvPr/>
        </p:nvSpPr>
        <p:spPr>
          <a:xfrm>
            <a:off x="2185416" y="2770631"/>
            <a:ext cx="348386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症状、说明书、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就医信号</a:t>
            </a:r>
          </a:p>
        </p:txBody>
      </p:sp>
      <p:sp>
        <p:nvSpPr>
          <p:cNvPr id="15" name="Rounded Rectangle 10"/>
          <p:cNvSpPr/>
          <p:nvPr/>
        </p:nvSpPr>
        <p:spPr>
          <a:xfrm>
            <a:off x="6245352" y="2496312"/>
            <a:ext cx="5148072" cy="1645920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1"/>
          <p:cNvSpPr txBox="1"/>
          <p:nvPr/>
        </p:nvSpPr>
        <p:spPr>
          <a:xfrm>
            <a:off x="6483096" y="2770631"/>
            <a:ext cx="9418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500" b="1">
                <a:solidFill>
                  <a:srgbClr val="153E75"/>
                </a:solidFill>
                <a:latin typeface="Noto Sans CJK SC"/>
              </a:rPr>
              <a:t>核</a:t>
            </a:r>
          </a:p>
        </p:txBody>
      </p:sp>
      <p:sp>
        <p:nvSpPr>
          <p:cNvPr id="17" name="TextBox 12"/>
          <p:cNvSpPr txBox="1"/>
          <p:nvPr/>
        </p:nvSpPr>
        <p:spPr>
          <a:xfrm>
            <a:off x="7653528" y="2770631"/>
            <a:ext cx="348386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成分、用法、禁忌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与相互作用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777240" y="4370831"/>
            <a:ext cx="5148072" cy="164592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4"/>
          <p:cNvSpPr txBox="1"/>
          <p:nvPr/>
        </p:nvSpPr>
        <p:spPr>
          <a:xfrm>
            <a:off x="1014983" y="4645151"/>
            <a:ext cx="9418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500" b="1">
                <a:solidFill>
                  <a:srgbClr val="153E75"/>
                </a:solidFill>
                <a:latin typeface="Noto Sans CJK SC"/>
              </a:rPr>
              <a:t>问</a:t>
            </a:r>
          </a:p>
        </p:txBody>
      </p:sp>
      <p:sp>
        <p:nvSpPr>
          <p:cNvPr id="20" name="TextBox 15"/>
          <p:cNvSpPr txBox="1"/>
          <p:nvPr/>
        </p:nvSpPr>
        <p:spPr>
          <a:xfrm>
            <a:off x="2185416" y="4645151"/>
            <a:ext cx="348386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带齐信息，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问医生或药师</a:t>
            </a:r>
          </a:p>
        </p:txBody>
      </p:sp>
      <p:sp>
        <p:nvSpPr>
          <p:cNvPr id="21" name="Rounded Rectangle 16"/>
          <p:cNvSpPr/>
          <p:nvPr/>
        </p:nvSpPr>
        <p:spPr>
          <a:xfrm>
            <a:off x="6245352" y="4370831"/>
            <a:ext cx="5148072" cy="1645920"/>
          </a:xfrm>
          <a:prstGeom prst="roundRect">
            <a:avLst>
              <a:gd name="adj" fmla="val 10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17"/>
          <p:cNvSpPr txBox="1"/>
          <p:nvPr/>
        </p:nvSpPr>
        <p:spPr>
          <a:xfrm>
            <a:off x="6483096" y="4645151"/>
            <a:ext cx="9418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500" b="1">
                <a:solidFill>
                  <a:srgbClr val="153E75"/>
                </a:solidFill>
                <a:latin typeface="Noto Sans CJK SC"/>
              </a:rPr>
              <a:t>记</a:t>
            </a:r>
          </a:p>
        </p:txBody>
      </p:sp>
      <p:sp>
        <p:nvSpPr>
          <p:cNvPr id="23" name="TextBox 18"/>
          <p:cNvSpPr txBox="1"/>
          <p:nvPr/>
        </p:nvSpPr>
        <p:spPr>
          <a:xfrm>
            <a:off x="7653528" y="4645151"/>
            <a:ext cx="348386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药名、时间、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203354"/>
                </a:solidFill>
                <a:latin typeface="Noto Sans CJK SC"/>
              </a:rPr>
              <a:t>用量与反应</a:t>
            </a:r>
          </a:p>
        </p:txBody>
      </p:sp>
      <p:pic>
        <p:nvPicPr>
          <p:cNvPr id="24" name="STYLE_WARM_PAPER" descr="warm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9" y="548640"/>
            <a:ext cx="12191999" cy="6858000"/>
          </a:xfrm>
          <a:prstGeom prst="rect">
            <a:avLst/>
          </a:prstGeom>
        </p:spPr>
      </p:pic>
      <p:sp>
        <p:nvSpPr>
          <p:cNvPr id="25" name="STYLE_PAPER_WASH"/>
          <p:cNvSpPr/>
          <p:nvPr/>
        </p:nvSpPr>
        <p:spPr>
          <a:xfrm>
            <a:off x="12191999" y="548640"/>
            <a:ext cx="12191999" cy="6858000"/>
          </a:xfrm>
          <a:prstGeom prst="rect">
            <a:avLst/>
          </a:prstGeom>
          <a:solidFill>
            <a:srgbClr val="FBF8F2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3"/>
          <p:cNvSpPr/>
          <p:nvPr/>
        </p:nvSpPr>
        <p:spPr>
          <a:xfrm>
            <a:off x="16123919" y="548640"/>
            <a:ext cx="8260079" cy="6858000"/>
          </a:xfrm>
          <a:prstGeom prst="rect">
            <a:avLst/>
          </a:prstGeom>
          <a:gradFill rotWithShape="1">
            <a:gsLst>
              <a:gs pos="0">
                <a:srgbClr val="203F50"/>
              </a:gs>
              <a:gs pos="100000">
                <a:srgbClr val="335C6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4"/>
          <p:cNvSpPr/>
          <p:nvPr/>
        </p:nvSpPr>
        <p:spPr>
          <a:xfrm>
            <a:off x="12777215" y="795528"/>
            <a:ext cx="64008" cy="164592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5"/>
          <p:cNvSpPr txBox="1"/>
          <p:nvPr/>
        </p:nvSpPr>
        <p:spPr>
          <a:xfrm>
            <a:off x="13005815" y="758952"/>
            <a:ext cx="4572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34453"/>
                </a:solidFill>
                <a:latin typeface="Noto Sans CJK SC"/>
              </a:defRPr>
            </a:pPr>
            <a:r>
              <a:t>03 / 安全用药</a:t>
            </a:r>
          </a:p>
        </p:txBody>
      </p:sp>
      <p:sp>
        <p:nvSpPr>
          <p:cNvPr id="29" name="TextBox 6"/>
          <p:cNvSpPr txBox="1"/>
          <p:nvPr/>
        </p:nvSpPr>
        <p:spPr>
          <a:xfrm>
            <a:off x="12786359" y="1600200"/>
            <a:ext cx="2761488" cy="2606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50646B"/>
                </a:solidFill>
                <a:latin typeface="Noto Sans CJK SC"/>
              </a:defRPr>
            </a:pPr>
            <a:r>
              <a:t>从四个案例，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4453"/>
                </a:solidFill>
                <a:latin typeface="Noto Sans CJK SC"/>
              </a:defRPr>
            </a:pPr>
            <a:r>
              <a:t>走到四个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4453"/>
                </a:solidFill>
                <a:latin typeface="Noto Sans CJK SC"/>
              </a:defRPr>
            </a:pPr>
            <a:r>
              <a:t>用药动作</a:t>
            </a:r>
          </a:p>
        </p:txBody>
      </p:sp>
      <p:sp>
        <p:nvSpPr>
          <p:cNvPr id="30" name="Rectangle 7"/>
          <p:cNvSpPr/>
          <p:nvPr/>
        </p:nvSpPr>
        <p:spPr>
          <a:xfrm>
            <a:off x="12786359" y="4965192"/>
            <a:ext cx="320040" cy="25603"/>
          </a:xfrm>
          <a:prstGeom prst="rect">
            <a:avLst/>
          </a:prstGeom>
          <a:solidFill>
            <a:srgbClr val="D651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8"/>
          <p:cNvSpPr txBox="1"/>
          <p:nvPr/>
        </p:nvSpPr>
        <p:spPr>
          <a:xfrm>
            <a:off x="12786359" y="5358384"/>
            <a:ext cx="2761488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先把信息看清，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4453"/>
                </a:solidFill>
                <a:latin typeface="Noto Sans CJK SC"/>
              </a:defRPr>
            </a:pPr>
            <a:r>
              <a:t>再把不确定问清。</a:t>
            </a:r>
          </a:p>
        </p:txBody>
      </p:sp>
      <p:sp>
        <p:nvSpPr>
          <p:cNvPr id="32" name="TextBox 9"/>
          <p:cNvSpPr txBox="1"/>
          <p:nvPr/>
        </p:nvSpPr>
        <p:spPr>
          <a:xfrm>
            <a:off x="16635983" y="1691640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看</a:t>
            </a:r>
          </a:p>
        </p:txBody>
      </p:sp>
      <p:sp>
        <p:nvSpPr>
          <p:cNvPr id="33" name="TextBox 10"/>
          <p:cNvSpPr txBox="1"/>
          <p:nvPr/>
        </p:nvSpPr>
        <p:spPr>
          <a:xfrm>
            <a:off x="16635983" y="299008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症状、说明书、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就医信号</a:t>
            </a:r>
          </a:p>
        </p:txBody>
      </p:sp>
      <p:sp>
        <p:nvSpPr>
          <p:cNvPr id="34" name="TextBox 11"/>
          <p:cNvSpPr txBox="1"/>
          <p:nvPr/>
        </p:nvSpPr>
        <p:spPr>
          <a:xfrm>
            <a:off x="20476463" y="1691640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核</a:t>
            </a:r>
          </a:p>
        </p:txBody>
      </p:sp>
      <p:sp>
        <p:nvSpPr>
          <p:cNvPr id="35" name="TextBox 12"/>
          <p:cNvSpPr txBox="1"/>
          <p:nvPr/>
        </p:nvSpPr>
        <p:spPr>
          <a:xfrm>
            <a:off x="20476463" y="299008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成分、用法、禁忌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与相互作用</a:t>
            </a:r>
          </a:p>
        </p:txBody>
      </p:sp>
      <p:sp>
        <p:nvSpPr>
          <p:cNvPr id="36" name="TextBox 13"/>
          <p:cNvSpPr txBox="1"/>
          <p:nvPr/>
        </p:nvSpPr>
        <p:spPr>
          <a:xfrm>
            <a:off x="16635983" y="4526279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问</a:t>
            </a:r>
          </a:p>
        </p:txBody>
      </p:sp>
      <p:sp>
        <p:nvSpPr>
          <p:cNvPr id="37" name="TextBox 14"/>
          <p:cNvSpPr txBox="1"/>
          <p:nvPr/>
        </p:nvSpPr>
        <p:spPr>
          <a:xfrm>
            <a:off x="16635983" y="582472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带齐信息，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问医生或药师</a:t>
            </a:r>
          </a:p>
        </p:txBody>
      </p:sp>
      <p:sp>
        <p:nvSpPr>
          <p:cNvPr id="38" name="TextBox 15"/>
          <p:cNvSpPr txBox="1"/>
          <p:nvPr/>
        </p:nvSpPr>
        <p:spPr>
          <a:xfrm>
            <a:off x="20476463" y="4526279"/>
            <a:ext cx="136245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400" b="0">
                <a:solidFill>
                  <a:srgbClr val="EEB9AF"/>
                </a:solidFill>
                <a:latin typeface="Noto Sans CJK SC"/>
              </a:defRPr>
            </a:pPr>
            <a:r>
              <a:t>记</a:t>
            </a:r>
          </a:p>
        </p:txBody>
      </p:sp>
      <p:sp>
        <p:nvSpPr>
          <p:cNvPr id="39" name="TextBox 16"/>
          <p:cNvSpPr txBox="1"/>
          <p:nvPr/>
        </p:nvSpPr>
        <p:spPr>
          <a:xfrm>
            <a:off x="20476463" y="5824728"/>
            <a:ext cx="299923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药名、时间、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8F5EE"/>
                </a:solidFill>
                <a:latin typeface="Noto Sans CJK SC"/>
              </a:defRPr>
            </a:pPr>
            <a:r>
              <a:t>用量与反应</a:t>
            </a:r>
          </a:p>
        </p:txBody>
      </p:sp>
      <p:sp>
        <p:nvSpPr>
          <p:cNvPr id="40" name="Rectangle 17"/>
          <p:cNvSpPr/>
          <p:nvPr/>
        </p:nvSpPr>
        <p:spPr>
          <a:xfrm>
            <a:off x="16635983" y="4078224"/>
            <a:ext cx="6839712" cy="9144"/>
          </a:xfrm>
          <a:prstGeom prst="rect">
            <a:avLst/>
          </a:prstGeom>
          <a:solidFill>
            <a:srgbClr val="5A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18"/>
          <p:cNvSpPr/>
          <p:nvPr/>
        </p:nvSpPr>
        <p:spPr>
          <a:xfrm>
            <a:off x="19982687" y="1746504"/>
            <a:ext cx="9144" cy="5038344"/>
          </a:xfrm>
          <a:prstGeom prst="rect">
            <a:avLst/>
          </a:prstGeom>
          <a:solidFill>
            <a:srgbClr val="5A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19"/>
          <p:cNvSpPr txBox="1"/>
          <p:nvPr/>
        </p:nvSpPr>
        <p:spPr>
          <a:xfrm>
            <a:off x="22872191" y="7114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F5EE"/>
                </a:solidFill>
                <a:latin typeface="Noto Sans CJK SC"/>
              </a:defRPr>
            </a:pPr>
            <a:r>
              <a:t>17 / 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191999" y="548640"/>
            <a:ext cx="14630" cy="6858000"/>
          </a:xfrm>
          <a:prstGeom prst="rect">
            <a:avLst/>
          </a:prstGeom>
          <a:solidFill>
            <a:srgbClr val="B6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合理用药：给宿舍药箱上堂课</dc:title>
  <dc:subject>苏州大学选修课｜双人35分钟课堂展示</dc:subject>
  <dc:creator>课堂展示制作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