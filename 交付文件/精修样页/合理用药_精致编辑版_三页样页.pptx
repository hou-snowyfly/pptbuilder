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第5页｜甲主讲｜建议75秒</a:t>
            </a:r>
          </a:p>
          <a:p/>
          <a:p/>
          <a:p>
            <a:r>
              <a:t>甲：小周觉得头痛还没缓解，拿起另一盒感冒药。室友说，名字不同，一盒管头痛、一盒管感冒，听起来像双保险。三格漫画从不舒服，到听起来合理的建议，再把判断停在药盒背面。症状宣传不同，不代表有效成分不同。下一页不算剂量，只把成分摆在一起，看双保险有没有变成重复。</a:t>
            </a:r>
          </a:p>
          <a:p/>
          <a:p>
            <a:r>
              <a:t>视觉说明：成熟编辑三格：小周头痛、室友递第二盒、展开两份说明书；成人比例与克制表情。</a:t>
            </a:r>
          </a:p>
          <a:p/>
          <a:p>
            <a:r>
              <a:t>参考：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key_stories.png｜R1C1｜症状仍在</a:t>
            </a:r>
          </a:p>
          <a:p>
            <a:r>
              <a:t>key_stories.png｜R1C2｜室友递第二盒</a:t>
            </a:r>
          </a:p>
          <a:p>
            <a:r>
              <a:t>key_stories.png｜R1C3｜展开两份说明书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第11页｜甲主讲｜建议110秒</a:t>
            </a:r>
          </a:p>
          <a:p/>
          <a:p/>
          <a:p>
            <a:r>
              <a:t>甲：上一页说普通感冒通常由病毒引起，抗生素没有相应治疗作用。为什么不能想着吃一点总没坏处？左边一百格中，高亮28格：CDC汇总至少28%的美国门诊抗生素处方被估计为不必要，所引研究该估计来自2014—2015年。这是美国门诊处方比例，不是中国大学生的发生率，其余格子也不代表全部合理。</a:t>
            </a:r>
          </a:p>
          <a:p>
            <a:r>
              <a:t>右边换成五个急诊图标：CDC介绍，药物相关急诊中，约五次就有一次来自抗生素反应。常见副作用包括皮疹、恶心、腹泻，严重时可出现严重过敏等。这里数的是药物反应相关急诊，不是所有急诊，不是说五个吃抗生素的人就有一个进急诊，也不能把所有这些事件都归为滥用。</a:t>
            </a:r>
          </a:p>
          <a:p>
            <a:r>
              <a:t>【留15秒读五个图标；问：若治疗不需要，额外承担这样的风险值不值？停10秒】</a:t>
            </a:r>
          </a:p>
          <a:p>
            <a:r>
              <a:t>甲：两幅图分别展示不必要的处方与药物反应造成的急诊负担，不能相乘推算个人概率。我们要带走的是：没有需要时吃抗生素，未必得到预期获益，却仍可能遇到副作用；确实需要时，规范使用的获益可以超过风险，不自行停药。下一页把结论换成三个实际动作。</a:t>
            </a:r>
          </a:p>
          <a:p/>
          <a:p>
            <a:r>
              <a:t>视觉说明：双图并排：左侧100格中28格珊瑚红高亮，右侧五个急诊图标中一个红色突出抗生素反应。正文写清药物副作用导致的急诊这一分母；数据年份、范围和来源保留在备注和附页。</a:t>
            </a:r>
          </a:p>
          <a:p/>
          <a:p>
            <a:r>
              <a:t>参考：</a:t>
            </a:r>
          </a:p>
          <a:p>
            <a:r>
              <a:t>[S5] CDC. Antibiotic Use in the United States（2025更新；门诊至少28%不必要处方）</a:t>
            </a:r>
          </a:p>
          <a:p>
            <a:r>
              <a:t>https://www.cdc.gov/antibiotic-use/hcp/data-research/antibiotic-prescribing.html</a:t>
            </a:r>
          </a:p>
          <a:p>
            <a:r>
              <a:t>[S15] CDC. Do antibiotics have side effects?（药物相关急诊约1/5来自抗生素反应）</a:t>
            </a:r>
          </a:p>
          <a:p>
            <a:r>
              <a:t>https://www.cdc.gov/antibiotic-use/media/pdfs/Do-Antibiotics-Have-Side-Effects-508.pdf</a:t>
            </a:r>
          </a:p>
          <a:p>
            <a:r>
              <a:t>[S16] Hersh AL et al. Unnecessary Antibiotic Prescribing in US Ambulatory Care Settings, 2010–2015. Clin Infect Dis. 2021;72:133–137.</a:t>
            </a:r>
          </a:p>
          <a:p>
            <a:r>
              <a:t>https://stacks.cdc.gov/view/cdc/120299/cdc_120299_DS1.pdf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第17页｜乙主讲｜建议60秒</a:t>
            </a:r>
          </a:p>
          <a:p/>
          <a:p/>
          <a:p>
            <a:r>
              <a:t>乙：第三部分，我们把前面的例子浓缩成四个动作：看、核、问、记。看，是观察症状，也看说明书和需要就医的信号。核，是核对成分有没有重复，剂量与时间是否符合要求，自己有没有相关禁忌。问，是把不确定的地方交给医生或药师确认，不用猜测填空。记，是记录已经用过的药、时间、用量以及出现的反应。上一题选C，就把“这盒药能不能配酒”的不确定性变成了一个清楚的咨询问题。这四步是课堂助记法，不是替代诊疗的专业流程。</a:t>
            </a:r>
          </a:p>
          <a:p>
            <a:r>
              <a:t>乙：下一页从“看”开始，把说明书里会影响判断的信息找出来。</a:t>
            </a:r>
          </a:p>
          <a:p/>
          <a:p>
            <a:r>
              <a:t>视觉说明：无插图四格方法框架，放大看核问记。</a:t>
            </a:r>
          </a:p>
          <a:p/>
          <a:p>
            <a:r>
              <a:t>参考：</a:t>
            </a:r>
          </a:p>
          <a:p>
            <a:r>
              <a:t>[S1] 国家卫生健康委等（2020）《关于加强医疗机构药事管理促进合理用药的意见》</a:t>
            </a:r>
          </a:p>
          <a:p>
            <a:r>
              <a:t>https://www.nhc.gov.cn/yzygj/c100068/202002/fdb7240014db4d49827ca25bbb41b177.shtml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>
            <a:r>
              <a:t>[S8] NHS. Antihistamines.</a:t>
            </a:r>
          </a:p>
          <a:p>
            <a:r>
              <a:t>https://www.nhs.uk/medicines/antihistamines/</a:t>
            </a:r>
          </a:p>
          <a:p>
            <a:r>
              <a:t>[S9] NIAAA. Alcohol-Medication Interactions: Potentially Dangerous Mixes.</a:t>
            </a:r>
          </a:p>
          <a:p>
            <a:r>
              <a:t>https://www.niaaa.nih.gov/health-professionals-communities/core-resource-on-alcohol/alcohol-medication-interactions-potentially-dangerous-mixes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02 / 宿舍误区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30936"/>
            <a:ext cx="1099108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50646B"/>
                </a:solidFill>
                <a:latin typeface="Noto Sans CJK SC"/>
              </a:defRPr>
            </a:pPr>
            <a:r>
              <a:t>两盒药，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34453"/>
                </a:solidFill>
                <a:latin typeface="Noto Sans CJK SC"/>
              </a:defRPr>
            </a:pPr>
            <a:r>
              <a:t>是“双保险”还是撞车？</a:t>
            </a:r>
          </a:p>
        </p:txBody>
      </p:sp>
      <p:pic>
        <p:nvPicPr>
          <p:cNvPr id="7" name="EDITORIAL_KEY_R1_C1" descr="image.png"/>
          <p:cNvPicPr>
            <a:picLocks noChangeAspect="1"/>
          </p:cNvPicPr>
          <p:nvPr/>
        </p:nvPicPr>
        <p:blipFill>
          <a:blip r:embed="rId4"/>
          <a:srcRect l="218" r="67470" b="67773"/>
          <a:stretch>
            <a:fillRect/>
          </a:stretch>
        </p:blipFill>
        <p:spPr>
          <a:xfrm>
            <a:off x="0" y="1947672"/>
            <a:ext cx="6092214" cy="40507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8056" y="6181344"/>
            <a:ext cx="54315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头痛还在，要不再加一盒？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6519672" y="2240280"/>
            <a:ext cx="2404872" cy="2660904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EDITORIAL_KEY_R1_C2" descr="image.png"/>
          <p:cNvPicPr>
            <a:picLocks noChangeAspect="1"/>
          </p:cNvPicPr>
          <p:nvPr/>
        </p:nvPicPr>
        <p:blipFill>
          <a:blip r:embed="rId4"/>
          <a:srcRect l="33844" r="33844" b="67773"/>
          <a:stretch>
            <a:fillRect/>
          </a:stretch>
        </p:blipFill>
        <p:spPr>
          <a:xfrm>
            <a:off x="6519672" y="2240280"/>
            <a:ext cx="2404872" cy="15990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38544" y="4050791"/>
            <a:ext cx="216712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名字不同，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应该不重复吧？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71432" y="2240280"/>
            <a:ext cx="2404872" cy="2660904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EDITORIAL_KEY_R1_C3" descr="image.png"/>
          <p:cNvPicPr>
            <a:picLocks noChangeAspect="1"/>
          </p:cNvPicPr>
          <p:nvPr/>
        </p:nvPicPr>
        <p:blipFill>
          <a:blip r:embed="rId4"/>
          <a:srcRect l="67438" r="250" b="67773"/>
          <a:stretch>
            <a:fillRect/>
          </a:stretch>
        </p:blipFill>
        <p:spPr>
          <a:xfrm>
            <a:off x="9171432" y="2240280"/>
            <a:ext cx="2404872" cy="15990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290304" y="4050791"/>
            <a:ext cx="216712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药盒不同，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里面的成分呢？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19672" y="5715000"/>
            <a:ext cx="5056632" cy="749808"/>
          </a:xfrm>
          <a:prstGeom prst="rect">
            <a:avLst/>
          </a:prstGeom>
          <a:gradFill rotWithShape="1">
            <a:gsLst>
              <a:gs pos="0">
                <a:srgbClr val="234655"/>
              </a:gs>
              <a:gs pos="100000">
                <a:srgbClr val="35596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5797296"/>
            <a:ext cx="461772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8F5EE"/>
                </a:solidFill>
                <a:latin typeface="Noto Sans CJK SC"/>
              </a:defRPr>
            </a:pPr>
            <a:r>
              <a:t>包装不同，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8F5EE"/>
                </a:solidFill>
                <a:latin typeface="Noto Sans CJK SC"/>
              </a:defRPr>
            </a:pPr>
            <a:r>
              <a:t>也可能含有同一成分。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05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gradFill rotWithShape="1">
            <a:gsLst>
              <a:gs pos="0">
                <a:srgbClr val="1D3B4B"/>
              </a:gs>
              <a:gs pos="100000">
                <a:srgbClr val="31596A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5EE"/>
                </a:solidFill>
                <a:latin typeface="Noto Sans CJK SC"/>
              </a:defRPr>
            </a:pPr>
            <a:r>
              <a:t>02 / 宿舍误区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2596896" cy="2862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F8F5EE"/>
                </a:solidFill>
                <a:latin typeface="Noto Sans CJK SC"/>
              </a:defRPr>
            </a:pPr>
            <a:r>
              <a:t>不需要的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8F5EE"/>
                </a:solidFill>
                <a:latin typeface="Noto Sans CJK SC"/>
              </a:defRPr>
            </a:pPr>
            <a:r>
              <a:t>抗生素，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F8F5EE"/>
                </a:solidFill>
                <a:latin typeface="Noto Sans CJK SC"/>
              </a:defRPr>
            </a:pPr>
            <a:r>
              <a:t>也可能带来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8F5EE"/>
                </a:solidFill>
                <a:latin typeface="Noto Sans CJK SC"/>
              </a:defRPr>
            </a:pPr>
            <a:r>
              <a:t>真实伤害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489704"/>
            <a:ext cx="320040" cy="25603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882896"/>
            <a:ext cx="2596896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8F5EE"/>
                </a:solidFill>
                <a:latin typeface="Noto Sans CJK SC"/>
              </a:defRPr>
            </a:pPr>
            <a:r>
              <a:t>没有治疗需要，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8F5EE"/>
                </a:solidFill>
                <a:latin typeface="Noto Sans CJK SC"/>
              </a:defRPr>
            </a:pPr>
            <a:r>
              <a:t>也要承担用药风险。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649224"/>
            <a:ext cx="726033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美国门诊抗生素处方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16093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D65162"/>
                </a:solidFill>
                <a:latin typeface="Noto Sans CJK SC"/>
              </a:defRPr>
            </a:pPr>
            <a:r>
              <a:t>至少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1104" y="1993392"/>
            <a:ext cx="3867912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400" b="1">
                <a:solidFill>
                  <a:srgbClr val="D65162"/>
                </a:solidFill>
                <a:latin typeface="Noto Sans CJK SC"/>
              </a:defRPr>
            </a:pPr>
            <a:r>
              <a:t>28%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3392424"/>
            <a:ext cx="4197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被估计为不必要</a:t>
            </a:r>
          </a:p>
        </p:txBody>
      </p:sp>
      <p:sp>
        <p:nvSpPr>
          <p:cNvPr id="14" name="DATA_GRID_001_HIGHLIGHT"/>
          <p:cNvSpPr/>
          <p:nvPr/>
        </p:nvSpPr>
        <p:spPr>
          <a:xfrm>
            <a:off x="8787384" y="103327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ATA_GRID_002_HIGHLIGHT"/>
          <p:cNvSpPr/>
          <p:nvPr/>
        </p:nvSpPr>
        <p:spPr>
          <a:xfrm>
            <a:off x="9037015" y="103327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TA_GRID_003_HIGHLIGHT"/>
          <p:cNvSpPr/>
          <p:nvPr/>
        </p:nvSpPr>
        <p:spPr>
          <a:xfrm>
            <a:off x="9286646" y="103327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_GRID_004_HIGHLIGHT"/>
          <p:cNvSpPr/>
          <p:nvPr/>
        </p:nvSpPr>
        <p:spPr>
          <a:xfrm>
            <a:off x="9536277" y="103327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ATA_GRID_005_HIGHLIGHT"/>
          <p:cNvSpPr/>
          <p:nvPr/>
        </p:nvSpPr>
        <p:spPr>
          <a:xfrm>
            <a:off x="9785908" y="103327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ATA_GRID_006_HIGHLIGHT"/>
          <p:cNvSpPr/>
          <p:nvPr/>
        </p:nvSpPr>
        <p:spPr>
          <a:xfrm>
            <a:off x="10035540" y="103327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ATA_GRID_007_HIGHLIGHT"/>
          <p:cNvSpPr/>
          <p:nvPr/>
        </p:nvSpPr>
        <p:spPr>
          <a:xfrm>
            <a:off x="10285171" y="103327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ATA_GRID_008_HIGHLIGHT"/>
          <p:cNvSpPr/>
          <p:nvPr/>
        </p:nvSpPr>
        <p:spPr>
          <a:xfrm>
            <a:off x="10534802" y="103327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ATA_GRID_009_HIGHLIGHT"/>
          <p:cNvSpPr/>
          <p:nvPr/>
        </p:nvSpPr>
        <p:spPr>
          <a:xfrm>
            <a:off x="10784433" y="103327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ATA_GRID_010_HIGHLIGHT"/>
          <p:cNvSpPr/>
          <p:nvPr/>
        </p:nvSpPr>
        <p:spPr>
          <a:xfrm>
            <a:off x="11034064" y="103327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ATA_GRID_011_HIGHLIGHT"/>
          <p:cNvSpPr/>
          <p:nvPr/>
        </p:nvSpPr>
        <p:spPr>
          <a:xfrm>
            <a:off x="8787384" y="128290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ATA_GRID_012_HIGHLIGHT"/>
          <p:cNvSpPr/>
          <p:nvPr/>
        </p:nvSpPr>
        <p:spPr>
          <a:xfrm>
            <a:off x="9037015" y="128290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ATA_GRID_013_HIGHLIGHT"/>
          <p:cNvSpPr/>
          <p:nvPr/>
        </p:nvSpPr>
        <p:spPr>
          <a:xfrm>
            <a:off x="9286646" y="128290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ATA_GRID_014_HIGHLIGHT"/>
          <p:cNvSpPr/>
          <p:nvPr/>
        </p:nvSpPr>
        <p:spPr>
          <a:xfrm>
            <a:off x="9536277" y="128290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ATA_GRID_015_HIGHLIGHT"/>
          <p:cNvSpPr/>
          <p:nvPr/>
        </p:nvSpPr>
        <p:spPr>
          <a:xfrm>
            <a:off x="9785908" y="128290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ATA_GRID_016_HIGHLIGHT"/>
          <p:cNvSpPr/>
          <p:nvPr/>
        </p:nvSpPr>
        <p:spPr>
          <a:xfrm>
            <a:off x="10035540" y="128290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ATA_GRID_017_HIGHLIGHT"/>
          <p:cNvSpPr/>
          <p:nvPr/>
        </p:nvSpPr>
        <p:spPr>
          <a:xfrm>
            <a:off x="10285171" y="128290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ATA_GRID_018_HIGHLIGHT"/>
          <p:cNvSpPr/>
          <p:nvPr/>
        </p:nvSpPr>
        <p:spPr>
          <a:xfrm>
            <a:off x="10534802" y="128290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ATA_GRID_019_HIGHLIGHT"/>
          <p:cNvSpPr/>
          <p:nvPr/>
        </p:nvSpPr>
        <p:spPr>
          <a:xfrm>
            <a:off x="10784433" y="128290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ATA_GRID_020_HIGHLIGHT"/>
          <p:cNvSpPr/>
          <p:nvPr/>
        </p:nvSpPr>
        <p:spPr>
          <a:xfrm>
            <a:off x="11034064" y="128290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ATA_GRID_021_HIGHLIGHT"/>
          <p:cNvSpPr/>
          <p:nvPr/>
        </p:nvSpPr>
        <p:spPr>
          <a:xfrm>
            <a:off x="8787384" y="153253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ATA_GRID_022_HIGHLIGHT"/>
          <p:cNvSpPr/>
          <p:nvPr/>
        </p:nvSpPr>
        <p:spPr>
          <a:xfrm>
            <a:off x="9037015" y="153253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ATA_GRID_023_HIGHLIGHT"/>
          <p:cNvSpPr/>
          <p:nvPr/>
        </p:nvSpPr>
        <p:spPr>
          <a:xfrm>
            <a:off x="9286646" y="153253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ATA_GRID_024_HIGHLIGHT"/>
          <p:cNvSpPr/>
          <p:nvPr/>
        </p:nvSpPr>
        <p:spPr>
          <a:xfrm>
            <a:off x="9536277" y="153253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ATA_GRID_025_HIGHLIGHT"/>
          <p:cNvSpPr/>
          <p:nvPr/>
        </p:nvSpPr>
        <p:spPr>
          <a:xfrm>
            <a:off x="9785908" y="153253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ATA_GRID_026_HIGHLIGHT"/>
          <p:cNvSpPr/>
          <p:nvPr/>
        </p:nvSpPr>
        <p:spPr>
          <a:xfrm>
            <a:off x="10035540" y="153253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ATA_GRID_027_HIGHLIGHT"/>
          <p:cNvSpPr/>
          <p:nvPr/>
        </p:nvSpPr>
        <p:spPr>
          <a:xfrm>
            <a:off x="10285171" y="153253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ATA_GRID_028_HIGHLIGHT"/>
          <p:cNvSpPr/>
          <p:nvPr/>
        </p:nvSpPr>
        <p:spPr>
          <a:xfrm>
            <a:off x="10534802" y="153253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ATA_GRID_029_REST"/>
          <p:cNvSpPr/>
          <p:nvPr/>
        </p:nvSpPr>
        <p:spPr>
          <a:xfrm>
            <a:off x="10784433" y="153253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ATA_GRID_030_REST"/>
          <p:cNvSpPr/>
          <p:nvPr/>
        </p:nvSpPr>
        <p:spPr>
          <a:xfrm>
            <a:off x="11034064" y="153253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ATA_GRID_031_REST"/>
          <p:cNvSpPr/>
          <p:nvPr/>
        </p:nvSpPr>
        <p:spPr>
          <a:xfrm>
            <a:off x="8787384" y="178216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ATA_GRID_032_REST"/>
          <p:cNvSpPr/>
          <p:nvPr/>
        </p:nvSpPr>
        <p:spPr>
          <a:xfrm>
            <a:off x="9037015" y="178216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ATA_GRID_033_REST"/>
          <p:cNvSpPr/>
          <p:nvPr/>
        </p:nvSpPr>
        <p:spPr>
          <a:xfrm>
            <a:off x="9286646" y="178216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ATA_GRID_034_REST"/>
          <p:cNvSpPr/>
          <p:nvPr/>
        </p:nvSpPr>
        <p:spPr>
          <a:xfrm>
            <a:off x="9536277" y="178216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ATA_GRID_035_REST"/>
          <p:cNvSpPr/>
          <p:nvPr/>
        </p:nvSpPr>
        <p:spPr>
          <a:xfrm>
            <a:off x="9785908" y="178216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ATA_GRID_036_REST"/>
          <p:cNvSpPr/>
          <p:nvPr/>
        </p:nvSpPr>
        <p:spPr>
          <a:xfrm>
            <a:off x="10035540" y="178216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ATA_GRID_037_REST"/>
          <p:cNvSpPr/>
          <p:nvPr/>
        </p:nvSpPr>
        <p:spPr>
          <a:xfrm>
            <a:off x="10285171" y="178216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ATA_GRID_038_REST"/>
          <p:cNvSpPr/>
          <p:nvPr/>
        </p:nvSpPr>
        <p:spPr>
          <a:xfrm>
            <a:off x="10534802" y="178216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ATA_GRID_039_REST"/>
          <p:cNvSpPr/>
          <p:nvPr/>
        </p:nvSpPr>
        <p:spPr>
          <a:xfrm>
            <a:off x="10784433" y="178216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ATA_GRID_040_REST"/>
          <p:cNvSpPr/>
          <p:nvPr/>
        </p:nvSpPr>
        <p:spPr>
          <a:xfrm>
            <a:off x="11034064" y="178216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ATA_GRID_041_REST"/>
          <p:cNvSpPr/>
          <p:nvPr/>
        </p:nvSpPr>
        <p:spPr>
          <a:xfrm>
            <a:off x="8787384" y="203179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ATA_GRID_042_REST"/>
          <p:cNvSpPr/>
          <p:nvPr/>
        </p:nvSpPr>
        <p:spPr>
          <a:xfrm>
            <a:off x="9037015" y="203179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ATA_GRID_043_REST"/>
          <p:cNvSpPr/>
          <p:nvPr/>
        </p:nvSpPr>
        <p:spPr>
          <a:xfrm>
            <a:off x="9286646" y="203179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ATA_GRID_044_REST"/>
          <p:cNvSpPr/>
          <p:nvPr/>
        </p:nvSpPr>
        <p:spPr>
          <a:xfrm>
            <a:off x="9536277" y="203179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ATA_GRID_045_REST"/>
          <p:cNvSpPr/>
          <p:nvPr/>
        </p:nvSpPr>
        <p:spPr>
          <a:xfrm>
            <a:off x="9785908" y="203179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ATA_GRID_046_REST"/>
          <p:cNvSpPr/>
          <p:nvPr/>
        </p:nvSpPr>
        <p:spPr>
          <a:xfrm>
            <a:off x="10035540" y="203179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ATA_GRID_047_REST"/>
          <p:cNvSpPr/>
          <p:nvPr/>
        </p:nvSpPr>
        <p:spPr>
          <a:xfrm>
            <a:off x="10285171" y="203179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ATA_GRID_048_REST"/>
          <p:cNvSpPr/>
          <p:nvPr/>
        </p:nvSpPr>
        <p:spPr>
          <a:xfrm>
            <a:off x="10534802" y="203179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ATA_GRID_049_REST"/>
          <p:cNvSpPr/>
          <p:nvPr/>
        </p:nvSpPr>
        <p:spPr>
          <a:xfrm>
            <a:off x="10784433" y="203179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ATA_GRID_050_REST"/>
          <p:cNvSpPr/>
          <p:nvPr/>
        </p:nvSpPr>
        <p:spPr>
          <a:xfrm>
            <a:off x="11034064" y="203179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ATA_GRID_051_REST"/>
          <p:cNvSpPr/>
          <p:nvPr/>
        </p:nvSpPr>
        <p:spPr>
          <a:xfrm>
            <a:off x="8787384" y="228142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ATA_GRID_052_REST"/>
          <p:cNvSpPr/>
          <p:nvPr/>
        </p:nvSpPr>
        <p:spPr>
          <a:xfrm>
            <a:off x="9037015" y="228142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ATA_GRID_053_REST"/>
          <p:cNvSpPr/>
          <p:nvPr/>
        </p:nvSpPr>
        <p:spPr>
          <a:xfrm>
            <a:off x="9286646" y="228142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DATA_GRID_054_REST"/>
          <p:cNvSpPr/>
          <p:nvPr/>
        </p:nvSpPr>
        <p:spPr>
          <a:xfrm>
            <a:off x="9536277" y="228142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ATA_GRID_055_REST"/>
          <p:cNvSpPr/>
          <p:nvPr/>
        </p:nvSpPr>
        <p:spPr>
          <a:xfrm>
            <a:off x="9785908" y="228142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ATA_GRID_056_REST"/>
          <p:cNvSpPr/>
          <p:nvPr/>
        </p:nvSpPr>
        <p:spPr>
          <a:xfrm>
            <a:off x="10035540" y="228142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ATA_GRID_057_REST"/>
          <p:cNvSpPr/>
          <p:nvPr/>
        </p:nvSpPr>
        <p:spPr>
          <a:xfrm>
            <a:off x="10285171" y="228142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ATA_GRID_058_REST"/>
          <p:cNvSpPr/>
          <p:nvPr/>
        </p:nvSpPr>
        <p:spPr>
          <a:xfrm>
            <a:off x="10534802" y="228142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ATA_GRID_059_REST"/>
          <p:cNvSpPr/>
          <p:nvPr/>
        </p:nvSpPr>
        <p:spPr>
          <a:xfrm>
            <a:off x="10784433" y="228142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ATA_GRID_060_REST"/>
          <p:cNvSpPr/>
          <p:nvPr/>
        </p:nvSpPr>
        <p:spPr>
          <a:xfrm>
            <a:off x="11034064" y="228142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ATA_GRID_061_REST"/>
          <p:cNvSpPr/>
          <p:nvPr/>
        </p:nvSpPr>
        <p:spPr>
          <a:xfrm>
            <a:off x="8787384" y="253105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ATA_GRID_062_REST"/>
          <p:cNvSpPr/>
          <p:nvPr/>
        </p:nvSpPr>
        <p:spPr>
          <a:xfrm>
            <a:off x="9037015" y="253105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DATA_GRID_063_REST"/>
          <p:cNvSpPr/>
          <p:nvPr/>
        </p:nvSpPr>
        <p:spPr>
          <a:xfrm>
            <a:off x="9286646" y="253105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DATA_GRID_064_REST"/>
          <p:cNvSpPr/>
          <p:nvPr/>
        </p:nvSpPr>
        <p:spPr>
          <a:xfrm>
            <a:off x="9536277" y="253105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ATA_GRID_065_REST"/>
          <p:cNvSpPr/>
          <p:nvPr/>
        </p:nvSpPr>
        <p:spPr>
          <a:xfrm>
            <a:off x="9785908" y="253105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ATA_GRID_066_REST"/>
          <p:cNvSpPr/>
          <p:nvPr/>
        </p:nvSpPr>
        <p:spPr>
          <a:xfrm>
            <a:off x="10035540" y="253105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DATA_GRID_067_REST"/>
          <p:cNvSpPr/>
          <p:nvPr/>
        </p:nvSpPr>
        <p:spPr>
          <a:xfrm>
            <a:off x="10285171" y="253105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ATA_GRID_068_REST"/>
          <p:cNvSpPr/>
          <p:nvPr/>
        </p:nvSpPr>
        <p:spPr>
          <a:xfrm>
            <a:off x="10534802" y="253105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ATA_GRID_069_REST"/>
          <p:cNvSpPr/>
          <p:nvPr/>
        </p:nvSpPr>
        <p:spPr>
          <a:xfrm>
            <a:off x="10784433" y="253105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DATA_GRID_070_REST"/>
          <p:cNvSpPr/>
          <p:nvPr/>
        </p:nvSpPr>
        <p:spPr>
          <a:xfrm>
            <a:off x="11034064" y="253105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ATA_GRID_071_REST"/>
          <p:cNvSpPr/>
          <p:nvPr/>
        </p:nvSpPr>
        <p:spPr>
          <a:xfrm>
            <a:off x="8787384" y="278069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ATA_GRID_072_REST"/>
          <p:cNvSpPr/>
          <p:nvPr/>
        </p:nvSpPr>
        <p:spPr>
          <a:xfrm>
            <a:off x="9037015" y="278069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ATA_GRID_073_REST"/>
          <p:cNvSpPr/>
          <p:nvPr/>
        </p:nvSpPr>
        <p:spPr>
          <a:xfrm>
            <a:off x="9286646" y="278069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ATA_GRID_074_REST"/>
          <p:cNvSpPr/>
          <p:nvPr/>
        </p:nvSpPr>
        <p:spPr>
          <a:xfrm>
            <a:off x="9536277" y="278069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ATA_GRID_075_REST"/>
          <p:cNvSpPr/>
          <p:nvPr/>
        </p:nvSpPr>
        <p:spPr>
          <a:xfrm>
            <a:off x="9785908" y="278069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DATA_GRID_076_REST"/>
          <p:cNvSpPr/>
          <p:nvPr/>
        </p:nvSpPr>
        <p:spPr>
          <a:xfrm>
            <a:off x="10035540" y="278069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ATA_GRID_077_REST"/>
          <p:cNvSpPr/>
          <p:nvPr/>
        </p:nvSpPr>
        <p:spPr>
          <a:xfrm>
            <a:off x="10285171" y="278069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DATA_GRID_078_REST"/>
          <p:cNvSpPr/>
          <p:nvPr/>
        </p:nvSpPr>
        <p:spPr>
          <a:xfrm>
            <a:off x="10534802" y="278069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DATA_GRID_079_REST"/>
          <p:cNvSpPr/>
          <p:nvPr/>
        </p:nvSpPr>
        <p:spPr>
          <a:xfrm>
            <a:off x="10784433" y="278069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ATA_GRID_080_REST"/>
          <p:cNvSpPr/>
          <p:nvPr/>
        </p:nvSpPr>
        <p:spPr>
          <a:xfrm>
            <a:off x="11034064" y="278069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DATA_GRID_081_REST"/>
          <p:cNvSpPr/>
          <p:nvPr/>
        </p:nvSpPr>
        <p:spPr>
          <a:xfrm>
            <a:off x="8787384" y="303032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DATA_GRID_082_REST"/>
          <p:cNvSpPr/>
          <p:nvPr/>
        </p:nvSpPr>
        <p:spPr>
          <a:xfrm>
            <a:off x="9037015" y="303032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DATA_GRID_083_REST"/>
          <p:cNvSpPr/>
          <p:nvPr/>
        </p:nvSpPr>
        <p:spPr>
          <a:xfrm>
            <a:off x="9286646" y="303032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DATA_GRID_084_REST"/>
          <p:cNvSpPr/>
          <p:nvPr/>
        </p:nvSpPr>
        <p:spPr>
          <a:xfrm>
            <a:off x="9536277" y="303032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DATA_GRID_085_REST"/>
          <p:cNvSpPr/>
          <p:nvPr/>
        </p:nvSpPr>
        <p:spPr>
          <a:xfrm>
            <a:off x="9785908" y="303032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DATA_GRID_086_REST"/>
          <p:cNvSpPr/>
          <p:nvPr/>
        </p:nvSpPr>
        <p:spPr>
          <a:xfrm>
            <a:off x="10035540" y="303032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DATA_GRID_087_REST"/>
          <p:cNvSpPr/>
          <p:nvPr/>
        </p:nvSpPr>
        <p:spPr>
          <a:xfrm>
            <a:off x="10285171" y="303032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ATA_GRID_088_REST"/>
          <p:cNvSpPr/>
          <p:nvPr/>
        </p:nvSpPr>
        <p:spPr>
          <a:xfrm>
            <a:off x="10534802" y="303032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DATA_GRID_089_REST"/>
          <p:cNvSpPr/>
          <p:nvPr/>
        </p:nvSpPr>
        <p:spPr>
          <a:xfrm>
            <a:off x="10784433" y="303032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ATA_GRID_090_REST"/>
          <p:cNvSpPr/>
          <p:nvPr/>
        </p:nvSpPr>
        <p:spPr>
          <a:xfrm>
            <a:off x="11034064" y="303032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DATA_GRID_091_REST"/>
          <p:cNvSpPr/>
          <p:nvPr/>
        </p:nvSpPr>
        <p:spPr>
          <a:xfrm>
            <a:off x="8787384" y="327995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DATA_GRID_092_REST"/>
          <p:cNvSpPr/>
          <p:nvPr/>
        </p:nvSpPr>
        <p:spPr>
          <a:xfrm>
            <a:off x="9037015" y="327995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DATA_GRID_093_REST"/>
          <p:cNvSpPr/>
          <p:nvPr/>
        </p:nvSpPr>
        <p:spPr>
          <a:xfrm>
            <a:off x="9286646" y="327995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DATA_GRID_094_REST"/>
          <p:cNvSpPr/>
          <p:nvPr/>
        </p:nvSpPr>
        <p:spPr>
          <a:xfrm>
            <a:off x="9536277" y="327995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DATA_GRID_095_REST"/>
          <p:cNvSpPr/>
          <p:nvPr/>
        </p:nvSpPr>
        <p:spPr>
          <a:xfrm>
            <a:off x="9785908" y="327995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DATA_GRID_096_REST"/>
          <p:cNvSpPr/>
          <p:nvPr/>
        </p:nvSpPr>
        <p:spPr>
          <a:xfrm>
            <a:off x="10035540" y="327995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DATA_GRID_097_REST"/>
          <p:cNvSpPr/>
          <p:nvPr/>
        </p:nvSpPr>
        <p:spPr>
          <a:xfrm>
            <a:off x="10285171" y="327995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DATA_GRID_098_REST"/>
          <p:cNvSpPr/>
          <p:nvPr/>
        </p:nvSpPr>
        <p:spPr>
          <a:xfrm>
            <a:off x="10534802" y="327995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DATA_GRID_099_REST"/>
          <p:cNvSpPr/>
          <p:nvPr/>
        </p:nvSpPr>
        <p:spPr>
          <a:xfrm>
            <a:off x="10784433" y="327995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DATA_GRID_100_REST"/>
          <p:cNvSpPr/>
          <p:nvPr/>
        </p:nvSpPr>
        <p:spPr>
          <a:xfrm>
            <a:off x="11034064" y="327995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315968" y="3977639"/>
            <a:ext cx="7260336" cy="10972"/>
          </a:xfrm>
          <a:prstGeom prst="rect">
            <a:avLst/>
          </a:prstGeom>
          <a:solidFill>
            <a:srgbClr val="D5C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315968" y="4197096"/>
            <a:ext cx="72603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药物副作用导致的急诊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315968" y="4681728"/>
            <a:ext cx="4343400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D65162"/>
                </a:solidFill>
                <a:latin typeface="Noto Sans CJK SC"/>
              </a:defRPr>
            </a:pPr>
            <a:r>
              <a:t>5次中，约1次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823960" y="4745736"/>
            <a:ext cx="275234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涉及抗生素反应</a:t>
            </a:r>
          </a:p>
        </p:txBody>
      </p:sp>
      <p:sp>
        <p:nvSpPr>
          <p:cNvPr id="118" name="DATA_ED_1_HIGHLIGHT"/>
          <p:cNvSpPr/>
          <p:nvPr/>
        </p:nvSpPr>
        <p:spPr>
          <a:xfrm>
            <a:off x="4361688" y="5358384"/>
            <a:ext cx="1069848" cy="960120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789627" y="5504688"/>
            <a:ext cx="213969" cy="256032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650546" y="5577840"/>
            <a:ext cx="492130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821722" y="5952744"/>
            <a:ext cx="192572" cy="365760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532863" y="587044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142677" y="587044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DATA_ED_2_REST"/>
          <p:cNvSpPr/>
          <p:nvPr/>
        </p:nvSpPr>
        <p:spPr>
          <a:xfrm>
            <a:off x="5824727" y="5358384"/>
            <a:ext cx="1069848" cy="960120"/>
          </a:xfrm>
          <a:prstGeom prst="roundRect">
            <a:avLst>
              <a:gd name="adj" fmla="val 6000"/>
            </a:avLst>
          </a:prstGeom>
          <a:solidFill>
            <a:srgbClr val="234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252667" y="5504688"/>
            <a:ext cx="213969" cy="256032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113586" y="5577840"/>
            <a:ext cx="492130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284762" y="5952744"/>
            <a:ext cx="192572" cy="365760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995903" y="587044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605717" y="587044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DATA_ED_3_REST"/>
          <p:cNvSpPr/>
          <p:nvPr/>
        </p:nvSpPr>
        <p:spPr>
          <a:xfrm>
            <a:off x="7287768" y="5358384"/>
            <a:ext cx="1069848" cy="960120"/>
          </a:xfrm>
          <a:prstGeom prst="roundRect">
            <a:avLst>
              <a:gd name="adj" fmla="val 6000"/>
            </a:avLst>
          </a:prstGeom>
          <a:solidFill>
            <a:srgbClr val="234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715707" y="5504688"/>
            <a:ext cx="213969" cy="256032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576626" y="5577840"/>
            <a:ext cx="492130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747802" y="5952744"/>
            <a:ext cx="192572" cy="365760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458943" y="587044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068757" y="587044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DATA_ED_4_REST"/>
          <p:cNvSpPr/>
          <p:nvPr/>
        </p:nvSpPr>
        <p:spPr>
          <a:xfrm>
            <a:off x="8750808" y="5358384"/>
            <a:ext cx="1069848" cy="960120"/>
          </a:xfrm>
          <a:prstGeom prst="roundRect">
            <a:avLst>
              <a:gd name="adj" fmla="val 6000"/>
            </a:avLst>
          </a:prstGeom>
          <a:solidFill>
            <a:srgbClr val="234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178747" y="5504688"/>
            <a:ext cx="213969" cy="256032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039666" y="5577840"/>
            <a:ext cx="492130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210842" y="5952744"/>
            <a:ext cx="192572" cy="365760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921983" y="587044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531797" y="587044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DATA_ED_5_REST"/>
          <p:cNvSpPr/>
          <p:nvPr/>
        </p:nvSpPr>
        <p:spPr>
          <a:xfrm>
            <a:off x="10213848" y="5358384"/>
            <a:ext cx="1069848" cy="960120"/>
          </a:xfrm>
          <a:prstGeom prst="roundRect">
            <a:avLst>
              <a:gd name="adj" fmla="val 6000"/>
            </a:avLst>
          </a:prstGeom>
          <a:solidFill>
            <a:srgbClr val="234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0641787" y="5504688"/>
            <a:ext cx="213969" cy="256032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502706" y="5577840"/>
            <a:ext cx="492130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0673882" y="5952744"/>
            <a:ext cx="192572" cy="365760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0385023" y="587044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0994837" y="587044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315968" y="6409944"/>
            <a:ext cx="5577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34453"/>
                </a:solidFill>
                <a:latin typeface="Noto Sans CJK SC"/>
              </a:defRPr>
            </a:pPr>
            <a:r>
              <a:t>皮疹、腹泻，也可能严重过敏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11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STYLE_PAPER_WASH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8260079" cy="6858000"/>
          </a:xfrm>
          <a:prstGeom prst="rect">
            <a:avLst/>
          </a:prstGeom>
          <a:gradFill rotWithShape="1">
            <a:gsLst>
              <a:gs pos="0">
                <a:srgbClr val="203F50"/>
              </a:gs>
              <a:gs pos="100000">
                <a:srgbClr val="335C6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5216" y="24688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1031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03 / 安全用药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2761488" cy="2606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50646B"/>
                </a:solidFill>
                <a:latin typeface="Noto Sans CJK SC"/>
              </a:defRPr>
            </a:pPr>
            <a:r>
              <a:t>从四个案例，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4453"/>
                </a:solidFill>
                <a:latin typeface="Noto Sans CJK SC"/>
              </a:defRPr>
            </a:pPr>
            <a:r>
              <a:t>走到四个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4453"/>
                </a:solidFill>
                <a:latin typeface="Noto Sans CJK SC"/>
              </a:defRPr>
            </a:pPr>
            <a:r>
              <a:t>用药动作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416552"/>
            <a:ext cx="320040" cy="25603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809744"/>
            <a:ext cx="2761488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先把信息看清，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再把不确定问清。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4" y="1143000"/>
            <a:ext cx="1362456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5400" b="0">
                <a:solidFill>
                  <a:srgbClr val="EEB9AF"/>
                </a:solidFill>
                <a:latin typeface="Noto Sans CJK SC"/>
              </a:defRPr>
            </a:pPr>
            <a:r>
              <a:t>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4" y="2441448"/>
            <a:ext cx="299923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症状、说明书、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就医信号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1143000"/>
            <a:ext cx="1362456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5400" b="0">
                <a:solidFill>
                  <a:srgbClr val="EEB9AF"/>
                </a:solidFill>
                <a:latin typeface="Noto Sans CJK SC"/>
              </a:defRPr>
            </a:pPr>
            <a:r>
              <a:t>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2441448"/>
            <a:ext cx="299923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成分、用法、禁忌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与相互作用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3977639"/>
            <a:ext cx="1362456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5400" b="0">
                <a:solidFill>
                  <a:srgbClr val="EEB9AF"/>
                </a:solidFill>
                <a:latin typeface="Noto Sans CJK SC"/>
              </a:defRPr>
            </a:pPr>
            <a:r>
              <a:t>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5276088"/>
            <a:ext cx="299923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带齐信息，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问医生或药师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3977639"/>
            <a:ext cx="1362456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5400" b="0">
                <a:solidFill>
                  <a:srgbClr val="EEB9AF"/>
                </a:solidFill>
                <a:latin typeface="Noto Sans CJK SC"/>
              </a:defRPr>
            </a:pPr>
            <a:r>
              <a:t>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5276088"/>
            <a:ext cx="299923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药名、时间、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用量与反应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43984" y="3529584"/>
            <a:ext cx="6839712" cy="9144"/>
          </a:xfrm>
          <a:prstGeom prst="rect">
            <a:avLst/>
          </a:prstGeom>
          <a:solidFill>
            <a:srgbClr val="5A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90688" y="1197864"/>
            <a:ext cx="9144" cy="5038344"/>
          </a:xfrm>
          <a:prstGeom prst="rect">
            <a:avLst/>
          </a:prstGeom>
          <a:solidFill>
            <a:srgbClr val="5A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80192" y="656539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8F5EE"/>
                </a:solidFill>
                <a:latin typeface="Noto Sans CJK SC"/>
              </a:defRPr>
            </a:pPr>
            <a:r>
              <a:t>17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