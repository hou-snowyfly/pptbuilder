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9" r:id="rId41"/>
    <p:sldId id="290" r:id="rId42"/>
    <p:sldId id="291" r:id="rId43"/>
  </p:sldIdLst>
  <p:sldSz cx="24383998" cy="74066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notesMaster" Target="notesMasters/notesMaster1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第5页｜甲主讲｜建议75秒</a:t>
            </a:r>
          </a:p>
          <a:p/>
          <a:p/>
          <a:p>
            <a:r>
              <a:t>甲：小周觉得头痛还没缓解，拿起另一盒感冒药。室友说，名字不同，一盒管头痛、一盒管感冒，听起来像双保险。三格漫画从不舒服，到听起来合理的建议，再把判断停在药盒背面。症状宣传不同，不代表有效成分不同。下一页不算剂量，只把成分摆在一起，看双保险有没有变成重复。</a:t>
            </a:r>
          </a:p>
          <a:p/>
          <a:p>
            <a:r>
              <a:t>视觉说明：成熟编辑三格：小周头痛、室友递第二盒、展开两份说明书；成人比例与克制表情。</a:t>
            </a:r>
          </a:p>
          <a:p/>
          <a:p>
            <a:r>
              <a:t>参考：</a:t>
            </a:r>
          </a:p>
          <a:p>
            <a:r>
              <a:t>[S2] FDA. Don’t Overuse Acetaminophen.</a:t>
            </a:r>
          </a:p>
          <a:p>
            <a:r>
              <a:t>https://www.fda.gov/consumers/consumer-updates/dont-overuse-acetaminophen</a:t>
            </a:r>
          </a:p>
          <a:p/>
          <a:p>
            <a:r>
              <a:t>情境画面为成熟出版物编辑插画，人物与事件为虚构；医学插图按参考资料核对组织关系，受体为功能标记。</a:t>
            </a:r>
          </a:p>
          <a:p>
            <a:r>
              <a:t>本页素材：</a:t>
            </a:r>
          </a:p>
          <a:p>
            <a:r>
              <a:t>key_stories.png｜R1C1｜症状仍在</a:t>
            </a:r>
          </a:p>
          <a:p>
            <a:r>
              <a:t>key_stories.png｜R1C2｜室友递第二盒</a:t>
            </a:r>
          </a:p>
          <a:p>
            <a:r>
              <a:t>key_stories.png｜R1C3｜展开两份说明书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第11页｜甲主讲｜建议110秒</a:t>
            </a:r>
          </a:p>
          <a:p/>
          <a:p/>
          <a:p>
            <a:r>
              <a:t>甲：上一页说普通感冒通常由病毒引起，抗生素没有相应治疗作用。为什么不能想着吃一点总没坏处？左边一百格中，高亮28格：CDC汇总至少28%的美国门诊抗生素处方被估计为不必要，所引研究该估计来自2014—2015年。这是美国门诊处方比例，不是中国大学生的发生率，其余格子也不代表全部合理。</a:t>
            </a:r>
          </a:p>
          <a:p>
            <a:r>
              <a:t>右边换成五个急诊图标：CDC介绍，药物相关急诊中，约五次就有一次来自抗生素反应。常见副作用包括皮疹、恶心、腹泻，严重时可出现严重过敏等。这里数的是药物反应相关急诊，不是所有急诊，不是说五个吃抗生素的人就有一个进急诊，也不能把所有这些事件都归为滥用。</a:t>
            </a:r>
          </a:p>
          <a:p>
            <a:r>
              <a:t>【留15秒读五个图标；问：若治疗不需要，额外承担这样的风险值不值？停10秒】</a:t>
            </a:r>
          </a:p>
          <a:p>
            <a:r>
              <a:t>甲：两幅图分别展示不必要的处方与药物反应造成的急诊负担，不能相乘推算个人概率。我们要带走的是：没有需要时吃抗生素，未必得到预期获益，却仍可能遇到副作用；确实需要时，规范使用的获益可以超过风险，不自行停药。下一页把结论换成三个实际动作。</a:t>
            </a:r>
          </a:p>
          <a:p/>
          <a:p>
            <a:r>
              <a:t>视觉说明：双图并排：左侧100格中28格珊瑚红高亮，右侧五个急诊图标中一个红色突出抗生素反应。正文写清药物副作用导致的急诊这一分母；数据年份、范围和来源保留在备注和附页。</a:t>
            </a:r>
          </a:p>
          <a:p/>
          <a:p>
            <a:r>
              <a:t>参考：</a:t>
            </a:r>
          </a:p>
          <a:p>
            <a:r>
              <a:t>[S5] CDC. Antibiotic Use in the United States（2025更新；门诊至少28%不必要处方）</a:t>
            </a:r>
          </a:p>
          <a:p>
            <a:r>
              <a:t>https://www.cdc.gov/antibiotic-use/hcp/data-research/antibiotic-prescribing.html</a:t>
            </a:r>
          </a:p>
          <a:p>
            <a:r>
              <a:t>[S15] CDC. Do antibiotics have side effects?（药物相关急诊约1/5来自抗生素反应）</a:t>
            </a:r>
          </a:p>
          <a:p>
            <a:r>
              <a:t>https://www.cdc.gov/antibiotic-use/media/pdfs/Do-Antibiotics-Have-Side-Effects-508.pdf</a:t>
            </a:r>
          </a:p>
          <a:p>
            <a:r>
              <a:t>[S16] Hersh AL et al. Unnecessary Antibiotic Prescribing in US Ambulatory Care Settings, 2010–2015. Clin Infect Dis. 2021;72:133–137.</a:t>
            </a:r>
          </a:p>
          <a:p>
            <a:r>
              <a:t>https://stacks.cdc.gov/view/cdc/120299/cdc_120299_DS1.pdf</a:t>
            </a:r>
          </a:p>
          <a:p/>
          <a:p>
            <a:r>
              <a:t>情境画面为成熟出版物编辑插画，人物与事件为虚构；医学插图按参考资料核对组织关系，受体为功能标记。</a:t>
            </a:r>
          </a:p>
          <a:p>
            <a:r>
              <a:t>本页素材：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第17页｜乙主讲｜建议60秒</a:t>
            </a:r>
          </a:p>
          <a:p/>
          <a:p/>
          <a:p>
            <a:r>
              <a:t>乙：第三部分，我们把前面的例子浓缩成四个动作：看、核、问、记。看，是观察症状，也看说明书和需要就医的信号。核，是核对成分有没有重复，剂量与时间是否符合要求，自己有没有相关禁忌。问，是把不确定的地方交给医生或药师确认，不用猜测填空。记，是记录已经用过的药、时间、用量以及出现的反应。上一题选C，就把“这盒药能不能配酒”的不确定性变成了一个清楚的咨询问题。这四步是课堂助记法，不是替代诊疗的专业流程。</a:t>
            </a:r>
          </a:p>
          <a:p>
            <a:r>
              <a:t>乙：下一页从“看”开始，把说明书里会影响判断的信息找出来。</a:t>
            </a:r>
          </a:p>
          <a:p/>
          <a:p>
            <a:r>
              <a:t>视觉说明：无插图四格方法框架，放大看核问记。</a:t>
            </a:r>
          </a:p>
          <a:p/>
          <a:p>
            <a:r>
              <a:t>参考：</a:t>
            </a:r>
          </a:p>
          <a:p>
            <a:r>
              <a:t>[S1] 国家卫生健康委等（2020）《关于加强医疗机构药事管理促进合理用药的意见》</a:t>
            </a:r>
          </a:p>
          <a:p>
            <a:r>
              <a:t>https://www.nhc.gov.cn/yzygj/c100068/202002/fdb7240014db4d49827ca25bbb41b177.shtml</a:t>
            </a:r>
          </a:p>
          <a:p>
            <a:r>
              <a:t>[S2] FDA. Don’t Overuse Acetaminophen.</a:t>
            </a:r>
          </a:p>
          <a:p>
            <a:r>
              <a:t>https://www.fda.gov/consumers/consumer-updates/dont-overuse-acetaminophen</a:t>
            </a:r>
          </a:p>
          <a:p>
            <a:r>
              <a:t>[S8] NHS. Antihistamines.</a:t>
            </a:r>
          </a:p>
          <a:p>
            <a:r>
              <a:t>https://www.nhs.uk/medicines/antihistamines/</a:t>
            </a:r>
          </a:p>
          <a:p>
            <a:r>
              <a:t>[S9] NIAAA. Alcohol-Medication Interactions: Potentially Dangerous Mixes.</a:t>
            </a:r>
          </a:p>
          <a:p>
            <a:r>
              <a:t>https://www.niaaa.nih.gov/health-professionals-communities/core-resource-on-alcohol/alcohol-medication-interactions-potentially-dangerous-mixes</a:t>
            </a:r>
          </a:p>
          <a:p/>
          <a:p>
            <a:r>
              <a:t>情境画面为成熟出版物编辑插画，人物与事件为虚构；医学插图按参考资料核对组织关系，受体为功能标记。</a:t>
            </a:r>
          </a:p>
          <a:p>
            <a:r>
              <a:t>本页素材：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36.xml"/></Relationships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998" cy="54864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972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3B50"/>
                </a:solidFill>
                <a:latin typeface="Noto Sans CJK SC"/>
              </a:defRPr>
            </a:pPr>
            <a:r>
              <a:t>原版 · 第5页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86359" y="109728"/>
            <a:ext cx="9144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3B50"/>
                </a:solidFill>
                <a:latin typeface="Noto Sans CJK SC"/>
              </a:defRPr>
            </a:pPr>
            <a:r>
              <a:t>新版 · 暖白纸感与深色编辑版</a:t>
            </a:r>
          </a:p>
        </p:txBody>
      </p:sp>
      <p:sp>
        <p:nvSpPr>
          <p:cNvPr id="6" name="Rectangle 1"/>
          <p:cNvSpPr/>
          <p:nvPr/>
        </p:nvSpPr>
        <p:spPr>
          <a:xfrm>
            <a:off x="502920" y="914400"/>
            <a:ext cx="64008" cy="246888"/>
          </a:xfrm>
          <a:prstGeom prst="rect">
            <a:avLst/>
          </a:prstGeom>
          <a:solidFill>
            <a:srgbClr val="E3464F"/>
          </a:solidFill>
          <a:ln>
            <a:solidFill>
              <a:srgbClr val="E34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2"/>
          <p:cNvSpPr txBox="1"/>
          <p:nvPr/>
        </p:nvSpPr>
        <p:spPr>
          <a:xfrm>
            <a:off x="685800" y="841248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53E75"/>
                </a:solidFill>
                <a:latin typeface="Noto Sans CJK SC"/>
                <a:ea typeface="Noto Sans CJK SC"/>
              </a:rPr>
              <a:t>02 / 宿舍误区</a:t>
            </a:r>
          </a:p>
        </p:txBody>
      </p:sp>
      <p:sp>
        <p:nvSpPr>
          <p:cNvPr id="8" name="TextBox 3"/>
          <p:cNvSpPr txBox="1"/>
          <p:nvPr/>
        </p:nvSpPr>
        <p:spPr>
          <a:xfrm>
            <a:off x="594360" y="1444752"/>
            <a:ext cx="110185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53E75"/>
                </a:solidFill>
                <a:latin typeface="Noto Sans CJK SC"/>
                <a:ea typeface="Noto Sans CJK SC"/>
              </a:rPr>
              <a:t>两盒药，是“双保险”还是撞车？</a:t>
            </a:r>
          </a:p>
        </p:txBody>
      </p:sp>
      <p:cxnSp>
        <p:nvCxnSpPr>
          <p:cNvPr id="9" name="Connector 4"/>
          <p:cNvCxnSpPr/>
          <p:nvPr/>
        </p:nvCxnSpPr>
        <p:spPr>
          <a:xfrm>
            <a:off x="594360" y="6391656"/>
            <a:ext cx="11000232" cy="0"/>
          </a:xfrm>
          <a:prstGeom prst="line">
            <a:avLst/>
          </a:prstGeom>
          <a:ln w="8890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5"/>
          <p:cNvSpPr txBox="1"/>
          <p:nvPr/>
        </p:nvSpPr>
        <p:spPr>
          <a:xfrm>
            <a:off x="640080" y="6492240"/>
            <a:ext cx="1074420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53E75"/>
                </a:solidFill>
                <a:latin typeface="Noto Sans CJK SC"/>
                <a:ea typeface="Noto Sans CJK SC"/>
              </a:rPr>
              <a:t>包装不同，也可能含有同一成分。</a:t>
            </a:r>
          </a:p>
        </p:txBody>
      </p:sp>
      <p:sp>
        <p:nvSpPr>
          <p:cNvPr id="11" name="TextBox 6"/>
          <p:cNvSpPr txBox="1"/>
          <p:nvPr/>
        </p:nvSpPr>
        <p:spPr>
          <a:xfrm>
            <a:off x="10744200" y="7004304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53E75"/>
                </a:solidFill>
                <a:latin typeface="Noto Sans CJK SC"/>
                <a:ea typeface="Noto Sans CJK SC"/>
              </a:rPr>
              <a:t>05 / 27</a:t>
            </a:r>
          </a:p>
        </p:txBody>
      </p:sp>
      <p:pic>
        <p:nvPicPr>
          <p:cNvPr id="12" name="EDITORIAL_KEY_R1_C1" descr="成熟出版物编辑插画；不同案例更换人物，同一连续故事保持一致；抽象药盒为情境道具"/>
          <p:cNvPicPr>
            <a:picLocks noChangeAspect="1"/>
          </p:cNvPicPr>
          <p:nvPr/>
        </p:nvPicPr>
        <p:blipFill>
          <a:blip r:embed="rId2"/>
          <a:srcRect l="218" r="67470" b="67773"/>
          <a:stretch>
            <a:fillRect/>
          </a:stretch>
        </p:blipFill>
        <p:spPr>
          <a:xfrm>
            <a:off x="749808" y="2505456"/>
            <a:ext cx="3465576" cy="2304288"/>
          </a:xfrm>
          <a:prstGeom prst="rect">
            <a:avLst/>
          </a:prstGeom>
        </p:spPr>
      </p:pic>
      <p:sp>
        <p:nvSpPr>
          <p:cNvPr id="13" name="Rounded Rectangle 8"/>
          <p:cNvSpPr/>
          <p:nvPr/>
        </p:nvSpPr>
        <p:spPr>
          <a:xfrm>
            <a:off x="749808" y="4965192"/>
            <a:ext cx="3465576" cy="1024128"/>
          </a:xfrm>
          <a:prstGeom prst="roundRect">
            <a:avLst>
              <a:gd name="adj" fmla="val 10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9"/>
          <p:cNvSpPr txBox="1"/>
          <p:nvPr/>
        </p:nvSpPr>
        <p:spPr>
          <a:xfrm>
            <a:off x="914400" y="5047488"/>
            <a:ext cx="3136392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100" b="1">
                <a:solidFill>
                  <a:srgbClr val="203354"/>
                </a:solidFill>
                <a:latin typeface="Noto Sans CJK SC"/>
              </a:rPr>
              <a:t>头痛还在，要不再加一盒？</a:t>
            </a:r>
          </a:p>
        </p:txBody>
      </p:sp>
      <p:pic>
        <p:nvPicPr>
          <p:cNvPr id="15" name="EDITORIAL_KEY_R1_C2" descr="成熟出版物编辑插画；不同案例更换人物，同一连续故事保持一致；抽象药盒为情境道具"/>
          <p:cNvPicPr>
            <a:picLocks noChangeAspect="1"/>
          </p:cNvPicPr>
          <p:nvPr/>
        </p:nvPicPr>
        <p:blipFill>
          <a:blip r:embed="rId2"/>
          <a:srcRect l="33844" r="33844" b="67773"/>
          <a:stretch>
            <a:fillRect/>
          </a:stretch>
        </p:blipFill>
        <p:spPr>
          <a:xfrm>
            <a:off x="4434840" y="2505456"/>
            <a:ext cx="3465576" cy="2304288"/>
          </a:xfrm>
          <a:prstGeom prst="rect">
            <a:avLst/>
          </a:prstGeom>
        </p:spPr>
      </p:pic>
      <p:sp>
        <p:nvSpPr>
          <p:cNvPr id="16" name="Rounded Rectangle 11"/>
          <p:cNvSpPr/>
          <p:nvPr/>
        </p:nvSpPr>
        <p:spPr>
          <a:xfrm>
            <a:off x="4434840" y="4965192"/>
            <a:ext cx="3465576" cy="1024128"/>
          </a:xfrm>
          <a:prstGeom prst="roundRect">
            <a:avLst>
              <a:gd name="adj" fmla="val 10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2"/>
          <p:cNvSpPr txBox="1"/>
          <p:nvPr/>
        </p:nvSpPr>
        <p:spPr>
          <a:xfrm>
            <a:off x="4599432" y="5047488"/>
            <a:ext cx="3136392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100" b="1">
                <a:solidFill>
                  <a:srgbClr val="203354"/>
                </a:solidFill>
                <a:latin typeface="Noto Sans CJK SC"/>
              </a:rPr>
              <a:t>名字不同，应该不重复吧？</a:t>
            </a:r>
          </a:p>
        </p:txBody>
      </p:sp>
      <p:pic>
        <p:nvPicPr>
          <p:cNvPr id="18" name="EDITORIAL_KEY_R1_C3" descr="成熟出版物编辑插画；不同案例更换人物，同一连续故事保持一致；抽象药盒为情境道具"/>
          <p:cNvPicPr>
            <a:picLocks noChangeAspect="1"/>
          </p:cNvPicPr>
          <p:nvPr/>
        </p:nvPicPr>
        <p:blipFill>
          <a:blip r:embed="rId2"/>
          <a:srcRect l="67438" r="250" b="67773"/>
          <a:stretch>
            <a:fillRect/>
          </a:stretch>
        </p:blipFill>
        <p:spPr>
          <a:xfrm>
            <a:off x="8119872" y="2505456"/>
            <a:ext cx="3465576" cy="2304288"/>
          </a:xfrm>
          <a:prstGeom prst="rect">
            <a:avLst/>
          </a:prstGeom>
        </p:spPr>
      </p:pic>
      <p:sp>
        <p:nvSpPr>
          <p:cNvPr id="19" name="Rounded Rectangle 14"/>
          <p:cNvSpPr/>
          <p:nvPr/>
        </p:nvSpPr>
        <p:spPr>
          <a:xfrm>
            <a:off x="8119872" y="4965192"/>
            <a:ext cx="3465576" cy="1024128"/>
          </a:xfrm>
          <a:prstGeom prst="roundRect">
            <a:avLst>
              <a:gd name="adj" fmla="val 10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5"/>
          <p:cNvSpPr txBox="1"/>
          <p:nvPr/>
        </p:nvSpPr>
        <p:spPr>
          <a:xfrm>
            <a:off x="8284464" y="5047488"/>
            <a:ext cx="3136392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100" b="1">
                <a:solidFill>
                  <a:srgbClr val="203354"/>
                </a:solidFill>
                <a:latin typeface="Noto Sans CJK SC"/>
              </a:rPr>
              <a:t>药盒不同，里面的成分呢？</a:t>
            </a:r>
          </a:p>
        </p:txBody>
      </p:sp>
      <p:pic>
        <p:nvPicPr>
          <p:cNvPr id="21" name="STYLE_WARM_PAPER" descr="warm_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1999" y="548640"/>
            <a:ext cx="12191999" cy="6858000"/>
          </a:xfrm>
          <a:prstGeom prst="rect">
            <a:avLst/>
          </a:prstGeom>
        </p:spPr>
      </p:pic>
      <p:sp>
        <p:nvSpPr>
          <p:cNvPr id="22" name="Rectangle 2"/>
          <p:cNvSpPr/>
          <p:nvPr/>
        </p:nvSpPr>
        <p:spPr>
          <a:xfrm>
            <a:off x="12777215" y="795528"/>
            <a:ext cx="64008" cy="164592"/>
          </a:xfrm>
          <a:prstGeom prst="rect">
            <a:avLst/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3"/>
          <p:cNvSpPr txBox="1"/>
          <p:nvPr/>
        </p:nvSpPr>
        <p:spPr>
          <a:xfrm>
            <a:off x="13005815" y="758952"/>
            <a:ext cx="45720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3B50"/>
                </a:solidFill>
                <a:latin typeface="Noto Sans CJK SC"/>
              </a:defRPr>
            </a:pPr>
            <a:r>
              <a:t>02 / 宿舍误区</a:t>
            </a:r>
          </a:p>
        </p:txBody>
      </p:sp>
      <p:sp>
        <p:nvSpPr>
          <p:cNvPr id="24" name="TextBox 4"/>
          <p:cNvSpPr txBox="1"/>
          <p:nvPr/>
        </p:nvSpPr>
        <p:spPr>
          <a:xfrm>
            <a:off x="12777215" y="1106424"/>
            <a:ext cx="10991088" cy="1261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73B50"/>
                </a:solidFill>
                <a:latin typeface="Noto Sans CJK SC"/>
              </a:defRPr>
            </a:pPr>
            <a:r>
              <a:t>两盒药，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73B50"/>
                </a:solidFill>
                <a:latin typeface="Noto Sans CJK SC"/>
              </a:defRPr>
            </a:pPr>
            <a:r>
              <a:t>是“双保险”还是撞车？</a:t>
            </a:r>
          </a:p>
        </p:txBody>
      </p:sp>
      <p:pic>
        <p:nvPicPr>
          <p:cNvPr id="25" name="EDITORIAL_KEY_R1_C1" descr="image.png"/>
          <p:cNvPicPr>
            <a:picLocks noChangeAspect="1"/>
          </p:cNvPicPr>
          <p:nvPr/>
        </p:nvPicPr>
        <p:blipFill>
          <a:blip r:embed="rId2"/>
          <a:srcRect l="218" r="67470" b="67773"/>
          <a:stretch>
            <a:fillRect/>
          </a:stretch>
        </p:blipFill>
        <p:spPr>
          <a:xfrm>
            <a:off x="12191999" y="2633471"/>
            <a:ext cx="5885931" cy="3913632"/>
          </a:xfrm>
          <a:prstGeom prst="rect">
            <a:avLst/>
          </a:prstGeom>
        </p:spPr>
      </p:pic>
      <p:sp>
        <p:nvSpPr>
          <p:cNvPr id="26" name="Rectangle 6"/>
          <p:cNvSpPr/>
          <p:nvPr/>
        </p:nvSpPr>
        <p:spPr>
          <a:xfrm>
            <a:off x="12502895" y="6611112"/>
            <a:ext cx="5504688" cy="420624"/>
          </a:xfrm>
          <a:prstGeom prst="rect">
            <a:avLst/>
          </a:prstGeom>
          <a:gradFill rotWithShape="1">
            <a:gsLst>
              <a:gs pos="0">
                <a:srgbClr val="EFE5D7"/>
              </a:gs>
              <a:gs pos="100000">
                <a:srgbClr val="F7F2E8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7"/>
          <p:cNvSpPr txBox="1"/>
          <p:nvPr/>
        </p:nvSpPr>
        <p:spPr>
          <a:xfrm>
            <a:off x="12658343" y="6638544"/>
            <a:ext cx="523036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73B50"/>
                </a:solidFill>
                <a:latin typeface="Noto Sans CJK SC"/>
              </a:defRPr>
            </a:pPr>
            <a:r>
              <a:t>头痛还在，要不再加一盒？</a:t>
            </a:r>
          </a:p>
        </p:txBody>
      </p:sp>
      <p:pic>
        <p:nvPicPr>
          <p:cNvPr id="28" name="EDITORIAL_KEY_R1_C2" descr="image.png"/>
          <p:cNvPicPr>
            <a:picLocks noChangeAspect="1"/>
          </p:cNvPicPr>
          <p:nvPr/>
        </p:nvPicPr>
        <p:blipFill>
          <a:blip r:embed="rId2"/>
          <a:srcRect l="33844" r="33844" b="67773"/>
          <a:stretch>
            <a:fillRect/>
          </a:stretch>
        </p:blipFill>
        <p:spPr>
          <a:xfrm>
            <a:off x="18711671" y="2569464"/>
            <a:ext cx="2505456" cy="1665910"/>
          </a:xfrm>
          <a:prstGeom prst="rect">
            <a:avLst/>
          </a:prstGeom>
        </p:spPr>
      </p:pic>
      <p:sp>
        <p:nvSpPr>
          <p:cNvPr id="29" name="Rectangle 9"/>
          <p:cNvSpPr/>
          <p:nvPr/>
        </p:nvSpPr>
        <p:spPr>
          <a:xfrm>
            <a:off x="21445727" y="2825496"/>
            <a:ext cx="2322576" cy="1097280"/>
          </a:xfrm>
          <a:prstGeom prst="rect">
            <a:avLst/>
          </a:prstGeom>
          <a:gradFill rotWithShape="1">
            <a:gsLst>
              <a:gs pos="0">
                <a:srgbClr val="EFE5D7"/>
              </a:gs>
              <a:gs pos="100000">
                <a:srgbClr val="F7F2E8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10"/>
          <p:cNvSpPr txBox="1"/>
          <p:nvPr/>
        </p:nvSpPr>
        <p:spPr>
          <a:xfrm>
            <a:off x="21601175" y="2962656"/>
            <a:ext cx="201168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3B50"/>
                </a:solidFill>
                <a:latin typeface="Noto Sans CJK SC"/>
              </a:defRPr>
            </a:pPr>
            <a:r>
              <a:t>名字不同，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3B50"/>
                </a:solidFill>
                <a:latin typeface="Noto Sans CJK SC"/>
              </a:defRPr>
            </a:pPr>
            <a:r>
              <a:t>应该不重复吧？</a:t>
            </a:r>
          </a:p>
        </p:txBody>
      </p:sp>
      <p:pic>
        <p:nvPicPr>
          <p:cNvPr id="31" name="EDITORIAL_KEY_R1_C3" descr="image.png"/>
          <p:cNvPicPr>
            <a:picLocks noChangeAspect="1"/>
          </p:cNvPicPr>
          <p:nvPr/>
        </p:nvPicPr>
        <p:blipFill>
          <a:blip r:embed="rId2"/>
          <a:srcRect l="67438" r="250" b="67773"/>
          <a:stretch>
            <a:fillRect/>
          </a:stretch>
        </p:blipFill>
        <p:spPr>
          <a:xfrm>
            <a:off x="18711671" y="4425696"/>
            <a:ext cx="2505456" cy="1665910"/>
          </a:xfrm>
          <a:prstGeom prst="rect">
            <a:avLst/>
          </a:prstGeom>
        </p:spPr>
      </p:pic>
      <p:sp>
        <p:nvSpPr>
          <p:cNvPr id="32" name="Rectangle 12"/>
          <p:cNvSpPr/>
          <p:nvPr/>
        </p:nvSpPr>
        <p:spPr>
          <a:xfrm>
            <a:off x="21445727" y="4681728"/>
            <a:ext cx="2322576" cy="1097280"/>
          </a:xfrm>
          <a:prstGeom prst="rect">
            <a:avLst/>
          </a:prstGeom>
          <a:gradFill rotWithShape="1">
            <a:gsLst>
              <a:gs pos="0">
                <a:srgbClr val="EFE5D7"/>
              </a:gs>
              <a:gs pos="100000">
                <a:srgbClr val="F7F2E8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13"/>
          <p:cNvSpPr txBox="1"/>
          <p:nvPr/>
        </p:nvSpPr>
        <p:spPr>
          <a:xfrm>
            <a:off x="21601175" y="4818888"/>
            <a:ext cx="201168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3B50"/>
                </a:solidFill>
                <a:latin typeface="Noto Sans CJK SC"/>
              </a:defRPr>
            </a:pPr>
            <a:r>
              <a:t>药盒不同，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3B50"/>
                </a:solidFill>
                <a:latin typeface="Noto Sans CJK SC"/>
              </a:defRPr>
            </a:pPr>
            <a:r>
              <a:t>里面的成分呢？</a:t>
            </a:r>
          </a:p>
        </p:txBody>
      </p:sp>
      <p:sp>
        <p:nvSpPr>
          <p:cNvPr id="34" name="Rectangle 14"/>
          <p:cNvSpPr/>
          <p:nvPr/>
        </p:nvSpPr>
        <p:spPr>
          <a:xfrm>
            <a:off x="18711671" y="6327648"/>
            <a:ext cx="5056632" cy="731520"/>
          </a:xfrm>
          <a:prstGeom prst="rect">
            <a:avLst/>
          </a:prstGeom>
          <a:gradFill rotWithShape="1">
            <a:gsLst>
              <a:gs pos="0">
                <a:srgbClr val="143446"/>
              </a:gs>
              <a:gs pos="100000">
                <a:srgbClr val="23485C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15"/>
          <p:cNvSpPr txBox="1"/>
          <p:nvPr/>
        </p:nvSpPr>
        <p:spPr>
          <a:xfrm>
            <a:off x="18931127" y="6391656"/>
            <a:ext cx="46177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7F2E8"/>
                </a:solidFill>
                <a:latin typeface="Noto Sans CJK SC"/>
              </a:defRPr>
            </a:pPr>
            <a:r>
              <a:t>包装不同，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7F2E8"/>
                </a:solidFill>
                <a:latin typeface="Noto Sans CJK SC"/>
              </a:defRPr>
            </a:pPr>
            <a:r>
              <a:t>也可能含有同一成分。</a:t>
            </a:r>
          </a:p>
        </p:txBody>
      </p:sp>
      <p:sp>
        <p:nvSpPr>
          <p:cNvPr id="36" name="TextBox 16"/>
          <p:cNvSpPr txBox="1"/>
          <p:nvPr/>
        </p:nvSpPr>
        <p:spPr>
          <a:xfrm>
            <a:off x="22872191" y="711403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73B50"/>
                </a:solidFill>
                <a:latin typeface="Noto Sans CJK SC"/>
              </a:defRPr>
            </a:pPr>
            <a:r>
              <a:t>05 / 27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191999" y="548640"/>
            <a:ext cx="14630" cy="6858000"/>
          </a:xfrm>
          <a:prstGeom prst="rect">
            <a:avLst/>
          </a:prstGeom>
          <a:solidFill>
            <a:srgbClr val="B6B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998" cy="54864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972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3B50"/>
                </a:solidFill>
                <a:latin typeface="Noto Sans CJK SC"/>
              </a:defRPr>
            </a:pPr>
            <a:r>
              <a:t>原版 · 第11页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86359" y="109728"/>
            <a:ext cx="9144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3B50"/>
                </a:solidFill>
                <a:latin typeface="Noto Sans CJK SC"/>
              </a:defRPr>
            </a:pPr>
            <a:r>
              <a:t>新版 · 暖白纸感与深色编辑版</a:t>
            </a:r>
          </a:p>
        </p:txBody>
      </p:sp>
      <p:sp>
        <p:nvSpPr>
          <p:cNvPr id="6" name="Rectangle 1"/>
          <p:cNvSpPr/>
          <p:nvPr/>
        </p:nvSpPr>
        <p:spPr>
          <a:xfrm>
            <a:off x="502920" y="914400"/>
            <a:ext cx="64008" cy="246888"/>
          </a:xfrm>
          <a:prstGeom prst="rect">
            <a:avLst/>
          </a:prstGeom>
          <a:solidFill>
            <a:srgbClr val="E3464F"/>
          </a:solidFill>
          <a:ln>
            <a:solidFill>
              <a:srgbClr val="E34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2"/>
          <p:cNvSpPr txBox="1"/>
          <p:nvPr/>
        </p:nvSpPr>
        <p:spPr>
          <a:xfrm>
            <a:off x="685800" y="841248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53E75"/>
                </a:solidFill>
                <a:latin typeface="Noto Sans CJK SC"/>
                <a:ea typeface="Noto Sans CJK SC"/>
              </a:rPr>
              <a:t>02 / 宿舍误区</a:t>
            </a:r>
          </a:p>
        </p:txBody>
      </p:sp>
      <p:sp>
        <p:nvSpPr>
          <p:cNvPr id="8" name="TextBox 3"/>
          <p:cNvSpPr txBox="1"/>
          <p:nvPr/>
        </p:nvSpPr>
        <p:spPr>
          <a:xfrm>
            <a:off x="594360" y="1444752"/>
            <a:ext cx="110185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53E75"/>
                </a:solidFill>
                <a:latin typeface="Noto Sans CJK SC"/>
                <a:ea typeface="Noto Sans CJK SC"/>
              </a:rPr>
              <a:t>不需要的抗生素，也可能带来真实伤害</a:t>
            </a:r>
          </a:p>
        </p:txBody>
      </p:sp>
      <p:cxnSp>
        <p:nvCxnSpPr>
          <p:cNvPr id="9" name="Connector 4"/>
          <p:cNvCxnSpPr/>
          <p:nvPr/>
        </p:nvCxnSpPr>
        <p:spPr>
          <a:xfrm>
            <a:off x="594360" y="6391656"/>
            <a:ext cx="11000232" cy="0"/>
          </a:xfrm>
          <a:prstGeom prst="line">
            <a:avLst/>
          </a:prstGeom>
          <a:ln w="8890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5"/>
          <p:cNvSpPr txBox="1"/>
          <p:nvPr/>
        </p:nvSpPr>
        <p:spPr>
          <a:xfrm>
            <a:off x="640080" y="6492240"/>
            <a:ext cx="1074420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53E75"/>
                </a:solidFill>
                <a:latin typeface="Noto Sans CJK SC"/>
                <a:ea typeface="Noto Sans CJK SC"/>
              </a:rPr>
              <a:t>没有治疗需要，也要承担用药风险。</a:t>
            </a:r>
          </a:p>
        </p:txBody>
      </p:sp>
      <p:sp>
        <p:nvSpPr>
          <p:cNvPr id="11" name="TextBox 6"/>
          <p:cNvSpPr txBox="1"/>
          <p:nvPr/>
        </p:nvSpPr>
        <p:spPr>
          <a:xfrm>
            <a:off x="10744200" y="7004304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53E75"/>
                </a:solidFill>
                <a:latin typeface="Noto Sans CJK SC"/>
                <a:ea typeface="Noto Sans CJK SC"/>
              </a:rPr>
              <a:t>11 / 27</a:t>
            </a:r>
          </a:p>
        </p:txBody>
      </p:sp>
      <p:sp>
        <p:nvSpPr>
          <p:cNvPr id="12" name="Rounded Rectangle 7"/>
          <p:cNvSpPr/>
          <p:nvPr/>
        </p:nvSpPr>
        <p:spPr>
          <a:xfrm>
            <a:off x="777240" y="2468880"/>
            <a:ext cx="5148072" cy="3749039"/>
          </a:xfrm>
          <a:prstGeom prst="roundRect">
            <a:avLst>
              <a:gd name="adj" fmla="val 10000"/>
            </a:avLst>
          </a:prstGeom>
          <a:solidFill>
            <a:srgbClr val="F0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8"/>
          <p:cNvSpPr/>
          <p:nvPr/>
        </p:nvSpPr>
        <p:spPr>
          <a:xfrm>
            <a:off x="6245352" y="2468880"/>
            <a:ext cx="5148072" cy="3749039"/>
          </a:xfrm>
          <a:prstGeom prst="roundRect">
            <a:avLst>
              <a:gd name="adj" fmla="val 10000"/>
            </a:avLst>
          </a:prstGeom>
          <a:solidFill>
            <a:srgbClr val="F0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9"/>
          <p:cNvSpPr txBox="1"/>
          <p:nvPr/>
        </p:nvSpPr>
        <p:spPr>
          <a:xfrm>
            <a:off x="1033271" y="2660904"/>
            <a:ext cx="45720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203354"/>
                </a:solidFill>
                <a:latin typeface="Noto Sans CJK SC"/>
              </a:rPr>
              <a:t>美国门诊抗生素处方</a:t>
            </a:r>
          </a:p>
        </p:txBody>
      </p:sp>
      <p:sp>
        <p:nvSpPr>
          <p:cNvPr id="15" name="TextBox 10"/>
          <p:cNvSpPr txBox="1"/>
          <p:nvPr/>
        </p:nvSpPr>
        <p:spPr>
          <a:xfrm>
            <a:off x="1033271" y="3639312"/>
            <a:ext cx="216712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EB5969"/>
                </a:solidFill>
                <a:latin typeface="Noto Sans CJK SC"/>
              </a:rPr>
              <a:t>至少</a:t>
            </a:r>
          </a:p>
        </p:txBody>
      </p:sp>
      <p:sp>
        <p:nvSpPr>
          <p:cNvPr id="16" name="TextBox 11"/>
          <p:cNvSpPr txBox="1"/>
          <p:nvPr/>
        </p:nvSpPr>
        <p:spPr>
          <a:xfrm>
            <a:off x="1033271" y="4105656"/>
            <a:ext cx="2167128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800" b="1">
                <a:solidFill>
                  <a:srgbClr val="EB5969"/>
                </a:solidFill>
                <a:latin typeface="Noto Sans CJK SC"/>
              </a:rPr>
              <a:t>28%</a:t>
            </a:r>
          </a:p>
        </p:txBody>
      </p:sp>
      <p:sp>
        <p:nvSpPr>
          <p:cNvPr id="17" name="Rounded Rectangle 12"/>
          <p:cNvSpPr/>
          <p:nvPr/>
        </p:nvSpPr>
        <p:spPr>
          <a:xfrm>
            <a:off x="3474720" y="348386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3"/>
          <p:cNvSpPr/>
          <p:nvPr/>
        </p:nvSpPr>
        <p:spPr>
          <a:xfrm>
            <a:off x="3680459" y="348386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4"/>
          <p:cNvSpPr/>
          <p:nvPr/>
        </p:nvSpPr>
        <p:spPr>
          <a:xfrm>
            <a:off x="3886200" y="348386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5"/>
          <p:cNvSpPr/>
          <p:nvPr/>
        </p:nvSpPr>
        <p:spPr>
          <a:xfrm>
            <a:off x="4091939" y="348386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16"/>
          <p:cNvSpPr/>
          <p:nvPr/>
        </p:nvSpPr>
        <p:spPr>
          <a:xfrm>
            <a:off x="4297680" y="348386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17"/>
          <p:cNvSpPr/>
          <p:nvPr/>
        </p:nvSpPr>
        <p:spPr>
          <a:xfrm>
            <a:off x="4503420" y="348386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18"/>
          <p:cNvSpPr/>
          <p:nvPr/>
        </p:nvSpPr>
        <p:spPr>
          <a:xfrm>
            <a:off x="4709160" y="348386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19"/>
          <p:cNvSpPr/>
          <p:nvPr/>
        </p:nvSpPr>
        <p:spPr>
          <a:xfrm>
            <a:off x="4914900" y="348386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0"/>
          <p:cNvSpPr/>
          <p:nvPr/>
        </p:nvSpPr>
        <p:spPr>
          <a:xfrm>
            <a:off x="5120640" y="348386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1"/>
          <p:cNvSpPr/>
          <p:nvPr/>
        </p:nvSpPr>
        <p:spPr>
          <a:xfrm>
            <a:off x="5326379" y="348386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2"/>
          <p:cNvSpPr/>
          <p:nvPr/>
        </p:nvSpPr>
        <p:spPr>
          <a:xfrm>
            <a:off x="3474720" y="368960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3"/>
          <p:cNvSpPr/>
          <p:nvPr/>
        </p:nvSpPr>
        <p:spPr>
          <a:xfrm>
            <a:off x="3680459" y="368960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4"/>
          <p:cNvSpPr/>
          <p:nvPr/>
        </p:nvSpPr>
        <p:spPr>
          <a:xfrm>
            <a:off x="3886200" y="368960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5"/>
          <p:cNvSpPr/>
          <p:nvPr/>
        </p:nvSpPr>
        <p:spPr>
          <a:xfrm>
            <a:off x="4091939" y="368960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26"/>
          <p:cNvSpPr/>
          <p:nvPr/>
        </p:nvSpPr>
        <p:spPr>
          <a:xfrm>
            <a:off x="4297680" y="368960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27"/>
          <p:cNvSpPr/>
          <p:nvPr/>
        </p:nvSpPr>
        <p:spPr>
          <a:xfrm>
            <a:off x="4503420" y="368960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28"/>
          <p:cNvSpPr/>
          <p:nvPr/>
        </p:nvSpPr>
        <p:spPr>
          <a:xfrm>
            <a:off x="4709160" y="368960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29"/>
          <p:cNvSpPr/>
          <p:nvPr/>
        </p:nvSpPr>
        <p:spPr>
          <a:xfrm>
            <a:off x="4914900" y="368960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0"/>
          <p:cNvSpPr/>
          <p:nvPr/>
        </p:nvSpPr>
        <p:spPr>
          <a:xfrm>
            <a:off x="5120640" y="368960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1"/>
          <p:cNvSpPr/>
          <p:nvPr/>
        </p:nvSpPr>
        <p:spPr>
          <a:xfrm>
            <a:off x="5326379" y="368960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2"/>
          <p:cNvSpPr/>
          <p:nvPr/>
        </p:nvSpPr>
        <p:spPr>
          <a:xfrm>
            <a:off x="3474720" y="389534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3"/>
          <p:cNvSpPr/>
          <p:nvPr/>
        </p:nvSpPr>
        <p:spPr>
          <a:xfrm>
            <a:off x="3680459" y="389534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4"/>
          <p:cNvSpPr/>
          <p:nvPr/>
        </p:nvSpPr>
        <p:spPr>
          <a:xfrm>
            <a:off x="3886200" y="389534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5"/>
          <p:cNvSpPr/>
          <p:nvPr/>
        </p:nvSpPr>
        <p:spPr>
          <a:xfrm>
            <a:off x="4091939" y="389534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36"/>
          <p:cNvSpPr/>
          <p:nvPr/>
        </p:nvSpPr>
        <p:spPr>
          <a:xfrm>
            <a:off x="4297680" y="389534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37"/>
          <p:cNvSpPr/>
          <p:nvPr/>
        </p:nvSpPr>
        <p:spPr>
          <a:xfrm>
            <a:off x="4503420" y="389534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38"/>
          <p:cNvSpPr/>
          <p:nvPr/>
        </p:nvSpPr>
        <p:spPr>
          <a:xfrm>
            <a:off x="4709160" y="389534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39"/>
          <p:cNvSpPr/>
          <p:nvPr/>
        </p:nvSpPr>
        <p:spPr>
          <a:xfrm>
            <a:off x="4914900" y="389534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0"/>
          <p:cNvSpPr/>
          <p:nvPr/>
        </p:nvSpPr>
        <p:spPr>
          <a:xfrm>
            <a:off x="5120640" y="389534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1"/>
          <p:cNvSpPr/>
          <p:nvPr/>
        </p:nvSpPr>
        <p:spPr>
          <a:xfrm>
            <a:off x="5326379" y="389534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2"/>
          <p:cNvSpPr/>
          <p:nvPr/>
        </p:nvSpPr>
        <p:spPr>
          <a:xfrm>
            <a:off x="3474720" y="410108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3"/>
          <p:cNvSpPr/>
          <p:nvPr/>
        </p:nvSpPr>
        <p:spPr>
          <a:xfrm>
            <a:off x="3680459" y="410108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4"/>
          <p:cNvSpPr/>
          <p:nvPr/>
        </p:nvSpPr>
        <p:spPr>
          <a:xfrm>
            <a:off x="3886200" y="410108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5"/>
          <p:cNvSpPr/>
          <p:nvPr/>
        </p:nvSpPr>
        <p:spPr>
          <a:xfrm>
            <a:off x="4091939" y="410108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46"/>
          <p:cNvSpPr/>
          <p:nvPr/>
        </p:nvSpPr>
        <p:spPr>
          <a:xfrm>
            <a:off x="4297680" y="410108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47"/>
          <p:cNvSpPr/>
          <p:nvPr/>
        </p:nvSpPr>
        <p:spPr>
          <a:xfrm>
            <a:off x="4503420" y="410108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48"/>
          <p:cNvSpPr/>
          <p:nvPr/>
        </p:nvSpPr>
        <p:spPr>
          <a:xfrm>
            <a:off x="4709160" y="410108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49"/>
          <p:cNvSpPr/>
          <p:nvPr/>
        </p:nvSpPr>
        <p:spPr>
          <a:xfrm>
            <a:off x="4914900" y="410108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0"/>
          <p:cNvSpPr/>
          <p:nvPr/>
        </p:nvSpPr>
        <p:spPr>
          <a:xfrm>
            <a:off x="5120640" y="410108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1"/>
          <p:cNvSpPr/>
          <p:nvPr/>
        </p:nvSpPr>
        <p:spPr>
          <a:xfrm>
            <a:off x="5326379" y="410108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2"/>
          <p:cNvSpPr/>
          <p:nvPr/>
        </p:nvSpPr>
        <p:spPr>
          <a:xfrm>
            <a:off x="3474720" y="430682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3"/>
          <p:cNvSpPr/>
          <p:nvPr/>
        </p:nvSpPr>
        <p:spPr>
          <a:xfrm>
            <a:off x="3680459" y="430682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4"/>
          <p:cNvSpPr/>
          <p:nvPr/>
        </p:nvSpPr>
        <p:spPr>
          <a:xfrm>
            <a:off x="3886200" y="430682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5"/>
          <p:cNvSpPr/>
          <p:nvPr/>
        </p:nvSpPr>
        <p:spPr>
          <a:xfrm>
            <a:off x="4091939" y="430682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56"/>
          <p:cNvSpPr/>
          <p:nvPr/>
        </p:nvSpPr>
        <p:spPr>
          <a:xfrm>
            <a:off x="4297680" y="430682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57"/>
          <p:cNvSpPr/>
          <p:nvPr/>
        </p:nvSpPr>
        <p:spPr>
          <a:xfrm>
            <a:off x="4503420" y="430682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58"/>
          <p:cNvSpPr/>
          <p:nvPr/>
        </p:nvSpPr>
        <p:spPr>
          <a:xfrm>
            <a:off x="4709160" y="430682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59"/>
          <p:cNvSpPr/>
          <p:nvPr/>
        </p:nvSpPr>
        <p:spPr>
          <a:xfrm>
            <a:off x="4914900" y="430682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0"/>
          <p:cNvSpPr/>
          <p:nvPr/>
        </p:nvSpPr>
        <p:spPr>
          <a:xfrm>
            <a:off x="5120640" y="430682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1"/>
          <p:cNvSpPr/>
          <p:nvPr/>
        </p:nvSpPr>
        <p:spPr>
          <a:xfrm>
            <a:off x="5326379" y="430682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2"/>
          <p:cNvSpPr/>
          <p:nvPr/>
        </p:nvSpPr>
        <p:spPr>
          <a:xfrm>
            <a:off x="3474720" y="451256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3"/>
          <p:cNvSpPr/>
          <p:nvPr/>
        </p:nvSpPr>
        <p:spPr>
          <a:xfrm>
            <a:off x="3680459" y="451256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4"/>
          <p:cNvSpPr/>
          <p:nvPr/>
        </p:nvSpPr>
        <p:spPr>
          <a:xfrm>
            <a:off x="3886200" y="451256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5"/>
          <p:cNvSpPr/>
          <p:nvPr/>
        </p:nvSpPr>
        <p:spPr>
          <a:xfrm>
            <a:off x="4091939" y="451256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66"/>
          <p:cNvSpPr/>
          <p:nvPr/>
        </p:nvSpPr>
        <p:spPr>
          <a:xfrm>
            <a:off x="4297680" y="451256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67"/>
          <p:cNvSpPr/>
          <p:nvPr/>
        </p:nvSpPr>
        <p:spPr>
          <a:xfrm>
            <a:off x="4503420" y="451256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68"/>
          <p:cNvSpPr/>
          <p:nvPr/>
        </p:nvSpPr>
        <p:spPr>
          <a:xfrm>
            <a:off x="4709160" y="451256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69"/>
          <p:cNvSpPr/>
          <p:nvPr/>
        </p:nvSpPr>
        <p:spPr>
          <a:xfrm>
            <a:off x="4914900" y="451256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0"/>
          <p:cNvSpPr/>
          <p:nvPr/>
        </p:nvSpPr>
        <p:spPr>
          <a:xfrm>
            <a:off x="5120640" y="451256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1"/>
          <p:cNvSpPr/>
          <p:nvPr/>
        </p:nvSpPr>
        <p:spPr>
          <a:xfrm>
            <a:off x="5326379" y="451256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2"/>
          <p:cNvSpPr/>
          <p:nvPr/>
        </p:nvSpPr>
        <p:spPr>
          <a:xfrm>
            <a:off x="3474720" y="471830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3"/>
          <p:cNvSpPr/>
          <p:nvPr/>
        </p:nvSpPr>
        <p:spPr>
          <a:xfrm>
            <a:off x="3680459" y="471830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4"/>
          <p:cNvSpPr/>
          <p:nvPr/>
        </p:nvSpPr>
        <p:spPr>
          <a:xfrm>
            <a:off x="3886200" y="471830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5"/>
          <p:cNvSpPr/>
          <p:nvPr/>
        </p:nvSpPr>
        <p:spPr>
          <a:xfrm>
            <a:off x="4091939" y="471830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76"/>
          <p:cNvSpPr/>
          <p:nvPr/>
        </p:nvSpPr>
        <p:spPr>
          <a:xfrm>
            <a:off x="4297680" y="471830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77"/>
          <p:cNvSpPr/>
          <p:nvPr/>
        </p:nvSpPr>
        <p:spPr>
          <a:xfrm>
            <a:off x="4503420" y="471830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78"/>
          <p:cNvSpPr/>
          <p:nvPr/>
        </p:nvSpPr>
        <p:spPr>
          <a:xfrm>
            <a:off x="4709160" y="471830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79"/>
          <p:cNvSpPr/>
          <p:nvPr/>
        </p:nvSpPr>
        <p:spPr>
          <a:xfrm>
            <a:off x="4914900" y="471830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0"/>
          <p:cNvSpPr/>
          <p:nvPr/>
        </p:nvSpPr>
        <p:spPr>
          <a:xfrm>
            <a:off x="5120640" y="471830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1"/>
          <p:cNvSpPr/>
          <p:nvPr/>
        </p:nvSpPr>
        <p:spPr>
          <a:xfrm>
            <a:off x="5326379" y="471830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2"/>
          <p:cNvSpPr/>
          <p:nvPr/>
        </p:nvSpPr>
        <p:spPr>
          <a:xfrm>
            <a:off x="3474720" y="492404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3"/>
          <p:cNvSpPr/>
          <p:nvPr/>
        </p:nvSpPr>
        <p:spPr>
          <a:xfrm>
            <a:off x="3680459" y="492404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4"/>
          <p:cNvSpPr/>
          <p:nvPr/>
        </p:nvSpPr>
        <p:spPr>
          <a:xfrm>
            <a:off x="3886200" y="492404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5"/>
          <p:cNvSpPr/>
          <p:nvPr/>
        </p:nvSpPr>
        <p:spPr>
          <a:xfrm>
            <a:off x="4091939" y="492404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86"/>
          <p:cNvSpPr/>
          <p:nvPr/>
        </p:nvSpPr>
        <p:spPr>
          <a:xfrm>
            <a:off x="4297680" y="492404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87"/>
          <p:cNvSpPr/>
          <p:nvPr/>
        </p:nvSpPr>
        <p:spPr>
          <a:xfrm>
            <a:off x="4503420" y="492404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88"/>
          <p:cNvSpPr/>
          <p:nvPr/>
        </p:nvSpPr>
        <p:spPr>
          <a:xfrm>
            <a:off x="4709160" y="492404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89"/>
          <p:cNvSpPr/>
          <p:nvPr/>
        </p:nvSpPr>
        <p:spPr>
          <a:xfrm>
            <a:off x="4914900" y="492404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0"/>
          <p:cNvSpPr/>
          <p:nvPr/>
        </p:nvSpPr>
        <p:spPr>
          <a:xfrm>
            <a:off x="5120640" y="492404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1"/>
          <p:cNvSpPr/>
          <p:nvPr/>
        </p:nvSpPr>
        <p:spPr>
          <a:xfrm>
            <a:off x="5326379" y="492404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2"/>
          <p:cNvSpPr/>
          <p:nvPr/>
        </p:nvSpPr>
        <p:spPr>
          <a:xfrm>
            <a:off x="3474720" y="512978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3"/>
          <p:cNvSpPr/>
          <p:nvPr/>
        </p:nvSpPr>
        <p:spPr>
          <a:xfrm>
            <a:off x="3680459" y="512978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4"/>
          <p:cNvSpPr/>
          <p:nvPr/>
        </p:nvSpPr>
        <p:spPr>
          <a:xfrm>
            <a:off x="3886200" y="512978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5"/>
          <p:cNvSpPr/>
          <p:nvPr/>
        </p:nvSpPr>
        <p:spPr>
          <a:xfrm>
            <a:off x="4091939" y="512978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96"/>
          <p:cNvSpPr/>
          <p:nvPr/>
        </p:nvSpPr>
        <p:spPr>
          <a:xfrm>
            <a:off x="4297680" y="512978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97"/>
          <p:cNvSpPr/>
          <p:nvPr/>
        </p:nvSpPr>
        <p:spPr>
          <a:xfrm>
            <a:off x="4503420" y="512978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98"/>
          <p:cNvSpPr/>
          <p:nvPr/>
        </p:nvSpPr>
        <p:spPr>
          <a:xfrm>
            <a:off x="4709160" y="512978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99"/>
          <p:cNvSpPr/>
          <p:nvPr/>
        </p:nvSpPr>
        <p:spPr>
          <a:xfrm>
            <a:off x="4914900" y="512978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0"/>
          <p:cNvSpPr/>
          <p:nvPr/>
        </p:nvSpPr>
        <p:spPr>
          <a:xfrm>
            <a:off x="5120640" y="512978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1"/>
          <p:cNvSpPr/>
          <p:nvPr/>
        </p:nvSpPr>
        <p:spPr>
          <a:xfrm>
            <a:off x="5326379" y="512978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2"/>
          <p:cNvSpPr/>
          <p:nvPr/>
        </p:nvSpPr>
        <p:spPr>
          <a:xfrm>
            <a:off x="3474720" y="5335523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3"/>
          <p:cNvSpPr/>
          <p:nvPr/>
        </p:nvSpPr>
        <p:spPr>
          <a:xfrm>
            <a:off x="3680459" y="5335523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104"/>
          <p:cNvSpPr/>
          <p:nvPr/>
        </p:nvSpPr>
        <p:spPr>
          <a:xfrm>
            <a:off x="3886200" y="5335523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5"/>
          <p:cNvSpPr/>
          <p:nvPr/>
        </p:nvSpPr>
        <p:spPr>
          <a:xfrm>
            <a:off x="4091939" y="5335523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06"/>
          <p:cNvSpPr/>
          <p:nvPr/>
        </p:nvSpPr>
        <p:spPr>
          <a:xfrm>
            <a:off x="4297680" y="5335523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07"/>
          <p:cNvSpPr/>
          <p:nvPr/>
        </p:nvSpPr>
        <p:spPr>
          <a:xfrm>
            <a:off x="4503420" y="5335523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08"/>
          <p:cNvSpPr/>
          <p:nvPr/>
        </p:nvSpPr>
        <p:spPr>
          <a:xfrm>
            <a:off x="4709160" y="5335523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ounded Rectangle 109"/>
          <p:cNvSpPr/>
          <p:nvPr/>
        </p:nvSpPr>
        <p:spPr>
          <a:xfrm>
            <a:off x="4914900" y="5335523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0"/>
          <p:cNvSpPr/>
          <p:nvPr/>
        </p:nvSpPr>
        <p:spPr>
          <a:xfrm>
            <a:off x="5120640" y="5335523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ounded Rectangle 111"/>
          <p:cNvSpPr/>
          <p:nvPr/>
        </p:nvSpPr>
        <p:spPr>
          <a:xfrm>
            <a:off x="5326379" y="5335523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2"/>
          <p:cNvSpPr txBox="1"/>
          <p:nvPr/>
        </p:nvSpPr>
        <p:spPr>
          <a:xfrm>
            <a:off x="1033271" y="5623560"/>
            <a:ext cx="457200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EB5969"/>
                </a:solidFill>
                <a:latin typeface="Noto Sans CJK SC"/>
              </a:rPr>
              <a:t>被估计为不必要</a:t>
            </a:r>
          </a:p>
        </p:txBody>
      </p:sp>
      <p:sp>
        <p:nvSpPr>
          <p:cNvPr id="118" name="TextBox 113"/>
          <p:cNvSpPr txBox="1"/>
          <p:nvPr/>
        </p:nvSpPr>
        <p:spPr>
          <a:xfrm>
            <a:off x="6501384" y="2660904"/>
            <a:ext cx="45720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203354"/>
                </a:solidFill>
                <a:latin typeface="Noto Sans CJK SC"/>
              </a:rPr>
              <a:t>药物副作用导致的急诊</a:t>
            </a:r>
          </a:p>
        </p:txBody>
      </p:sp>
      <p:sp>
        <p:nvSpPr>
          <p:cNvPr id="119" name="TextBox 114"/>
          <p:cNvSpPr txBox="1"/>
          <p:nvPr/>
        </p:nvSpPr>
        <p:spPr>
          <a:xfrm>
            <a:off x="6501384" y="3319272"/>
            <a:ext cx="457200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>
                <a:solidFill>
                  <a:srgbClr val="EB5969"/>
                </a:solidFill>
                <a:latin typeface="Noto Sans CJK SC"/>
              </a:rPr>
              <a:t>5次中，约1次</a:t>
            </a:r>
          </a:p>
        </p:txBody>
      </p:sp>
      <p:sp>
        <p:nvSpPr>
          <p:cNvPr id="120" name="TextBox 115"/>
          <p:cNvSpPr txBox="1"/>
          <p:nvPr/>
        </p:nvSpPr>
        <p:spPr>
          <a:xfrm>
            <a:off x="6501384" y="3904488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1">
                <a:solidFill>
                  <a:srgbClr val="203354"/>
                </a:solidFill>
                <a:latin typeface="Noto Sans CJK SC"/>
              </a:rPr>
              <a:t>涉及抗生素反应</a:t>
            </a:r>
          </a:p>
        </p:txBody>
      </p:sp>
      <p:sp>
        <p:nvSpPr>
          <p:cNvPr id="121" name="Rounded Rectangle 116"/>
          <p:cNvSpPr/>
          <p:nvPr/>
        </p:nvSpPr>
        <p:spPr>
          <a:xfrm>
            <a:off x="6528816" y="4572000"/>
            <a:ext cx="694944" cy="923544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ounded Rectangle 117"/>
          <p:cNvSpPr/>
          <p:nvPr/>
        </p:nvSpPr>
        <p:spPr>
          <a:xfrm>
            <a:off x="6748272" y="4709160"/>
            <a:ext cx="256032" cy="731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ounded Rectangle 118"/>
          <p:cNvSpPr/>
          <p:nvPr/>
        </p:nvSpPr>
        <p:spPr>
          <a:xfrm>
            <a:off x="6839712" y="4617720"/>
            <a:ext cx="73152" cy="256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ounded Rectangle 119"/>
          <p:cNvSpPr/>
          <p:nvPr/>
        </p:nvSpPr>
        <p:spPr>
          <a:xfrm>
            <a:off x="6803136" y="5193792"/>
            <a:ext cx="146304" cy="3017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ounded Rectangle 120"/>
          <p:cNvSpPr/>
          <p:nvPr/>
        </p:nvSpPr>
        <p:spPr>
          <a:xfrm>
            <a:off x="6638544" y="4983480"/>
            <a:ext cx="109728" cy="109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ounded Rectangle 121"/>
          <p:cNvSpPr/>
          <p:nvPr/>
        </p:nvSpPr>
        <p:spPr>
          <a:xfrm>
            <a:off x="6967728" y="4983480"/>
            <a:ext cx="109728" cy="109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ounded Rectangle 122"/>
          <p:cNvSpPr/>
          <p:nvPr/>
        </p:nvSpPr>
        <p:spPr>
          <a:xfrm>
            <a:off x="7406640" y="4572000"/>
            <a:ext cx="694944" cy="923544"/>
          </a:xfrm>
          <a:prstGeom prst="roundRect">
            <a:avLst>
              <a:gd name="adj" fmla="val 10000"/>
            </a:avLst>
          </a:prstGeom>
          <a:solidFill>
            <a:srgbClr val="20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ounded Rectangle 123"/>
          <p:cNvSpPr/>
          <p:nvPr/>
        </p:nvSpPr>
        <p:spPr>
          <a:xfrm>
            <a:off x="7626096" y="4709160"/>
            <a:ext cx="256032" cy="731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ounded Rectangle 124"/>
          <p:cNvSpPr/>
          <p:nvPr/>
        </p:nvSpPr>
        <p:spPr>
          <a:xfrm>
            <a:off x="7717536" y="4617720"/>
            <a:ext cx="73152" cy="256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ounded Rectangle 125"/>
          <p:cNvSpPr/>
          <p:nvPr/>
        </p:nvSpPr>
        <p:spPr>
          <a:xfrm>
            <a:off x="7680960" y="5193792"/>
            <a:ext cx="146304" cy="3017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ounded Rectangle 126"/>
          <p:cNvSpPr/>
          <p:nvPr/>
        </p:nvSpPr>
        <p:spPr>
          <a:xfrm>
            <a:off x="7516367" y="4983480"/>
            <a:ext cx="109728" cy="109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ounded Rectangle 127"/>
          <p:cNvSpPr/>
          <p:nvPr/>
        </p:nvSpPr>
        <p:spPr>
          <a:xfrm>
            <a:off x="7845551" y="4983480"/>
            <a:ext cx="109728" cy="109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ounded Rectangle 128"/>
          <p:cNvSpPr/>
          <p:nvPr/>
        </p:nvSpPr>
        <p:spPr>
          <a:xfrm>
            <a:off x="8284463" y="4572000"/>
            <a:ext cx="694944" cy="923544"/>
          </a:xfrm>
          <a:prstGeom prst="roundRect">
            <a:avLst>
              <a:gd name="adj" fmla="val 10000"/>
            </a:avLst>
          </a:prstGeom>
          <a:solidFill>
            <a:srgbClr val="20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ounded Rectangle 129"/>
          <p:cNvSpPr/>
          <p:nvPr/>
        </p:nvSpPr>
        <p:spPr>
          <a:xfrm>
            <a:off x="8503919" y="4709160"/>
            <a:ext cx="256032" cy="731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ounded Rectangle 130"/>
          <p:cNvSpPr/>
          <p:nvPr/>
        </p:nvSpPr>
        <p:spPr>
          <a:xfrm>
            <a:off x="8595359" y="4617720"/>
            <a:ext cx="73152" cy="256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ounded Rectangle 131"/>
          <p:cNvSpPr/>
          <p:nvPr/>
        </p:nvSpPr>
        <p:spPr>
          <a:xfrm>
            <a:off x="8558784" y="5193792"/>
            <a:ext cx="146304" cy="3017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ounded Rectangle 132"/>
          <p:cNvSpPr/>
          <p:nvPr/>
        </p:nvSpPr>
        <p:spPr>
          <a:xfrm>
            <a:off x="8394191" y="4983480"/>
            <a:ext cx="109728" cy="109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ounded Rectangle 133"/>
          <p:cNvSpPr/>
          <p:nvPr/>
        </p:nvSpPr>
        <p:spPr>
          <a:xfrm>
            <a:off x="8723375" y="4983480"/>
            <a:ext cx="109728" cy="109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ounded Rectangle 134"/>
          <p:cNvSpPr/>
          <p:nvPr/>
        </p:nvSpPr>
        <p:spPr>
          <a:xfrm>
            <a:off x="9162288" y="4572000"/>
            <a:ext cx="694944" cy="923544"/>
          </a:xfrm>
          <a:prstGeom prst="roundRect">
            <a:avLst>
              <a:gd name="adj" fmla="val 10000"/>
            </a:avLst>
          </a:prstGeom>
          <a:solidFill>
            <a:srgbClr val="20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ounded Rectangle 135"/>
          <p:cNvSpPr/>
          <p:nvPr/>
        </p:nvSpPr>
        <p:spPr>
          <a:xfrm>
            <a:off x="9381744" y="4709160"/>
            <a:ext cx="256032" cy="731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ounded Rectangle 136"/>
          <p:cNvSpPr/>
          <p:nvPr/>
        </p:nvSpPr>
        <p:spPr>
          <a:xfrm>
            <a:off x="9473184" y="4617720"/>
            <a:ext cx="73152" cy="256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ounded Rectangle 137"/>
          <p:cNvSpPr/>
          <p:nvPr/>
        </p:nvSpPr>
        <p:spPr>
          <a:xfrm>
            <a:off x="9436608" y="5193792"/>
            <a:ext cx="146304" cy="3017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ounded Rectangle 138"/>
          <p:cNvSpPr/>
          <p:nvPr/>
        </p:nvSpPr>
        <p:spPr>
          <a:xfrm>
            <a:off x="9272015" y="4983480"/>
            <a:ext cx="109728" cy="109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ounded Rectangle 139"/>
          <p:cNvSpPr/>
          <p:nvPr/>
        </p:nvSpPr>
        <p:spPr>
          <a:xfrm>
            <a:off x="9601199" y="4983480"/>
            <a:ext cx="109728" cy="109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ounded Rectangle 140"/>
          <p:cNvSpPr/>
          <p:nvPr/>
        </p:nvSpPr>
        <p:spPr>
          <a:xfrm>
            <a:off x="10040112" y="4572000"/>
            <a:ext cx="694944" cy="923544"/>
          </a:xfrm>
          <a:prstGeom prst="roundRect">
            <a:avLst>
              <a:gd name="adj" fmla="val 10000"/>
            </a:avLst>
          </a:prstGeom>
          <a:solidFill>
            <a:srgbClr val="20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ounded Rectangle 141"/>
          <p:cNvSpPr/>
          <p:nvPr/>
        </p:nvSpPr>
        <p:spPr>
          <a:xfrm>
            <a:off x="10259568" y="4709160"/>
            <a:ext cx="256032" cy="731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ounded Rectangle 142"/>
          <p:cNvSpPr/>
          <p:nvPr/>
        </p:nvSpPr>
        <p:spPr>
          <a:xfrm>
            <a:off x="10351008" y="4617720"/>
            <a:ext cx="73152" cy="256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ounded Rectangle 143"/>
          <p:cNvSpPr/>
          <p:nvPr/>
        </p:nvSpPr>
        <p:spPr>
          <a:xfrm>
            <a:off x="10314432" y="5193792"/>
            <a:ext cx="146304" cy="3017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ounded Rectangle 144"/>
          <p:cNvSpPr/>
          <p:nvPr/>
        </p:nvSpPr>
        <p:spPr>
          <a:xfrm>
            <a:off x="10149840" y="4983480"/>
            <a:ext cx="109728" cy="109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ounded Rectangle 145"/>
          <p:cNvSpPr/>
          <p:nvPr/>
        </p:nvSpPr>
        <p:spPr>
          <a:xfrm>
            <a:off x="10479024" y="4983480"/>
            <a:ext cx="109728" cy="109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46"/>
          <p:cNvSpPr txBox="1"/>
          <p:nvPr/>
        </p:nvSpPr>
        <p:spPr>
          <a:xfrm>
            <a:off x="6501384" y="5724144"/>
            <a:ext cx="45720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>
                <a:solidFill>
                  <a:srgbClr val="203354"/>
                </a:solidFill>
                <a:latin typeface="Noto Sans CJK SC"/>
              </a:rPr>
              <a:t>皮疹、腹泻，也可能严重过敏</a:t>
            </a:r>
          </a:p>
        </p:txBody>
      </p:sp>
      <p:pic>
        <p:nvPicPr>
          <p:cNvPr id="152" name="STYLE_WARM_PAPER" descr="warm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1999" y="548640"/>
            <a:ext cx="12191999" cy="6858000"/>
          </a:xfrm>
          <a:prstGeom prst="rect">
            <a:avLst/>
          </a:prstGeom>
        </p:spPr>
      </p:pic>
      <p:sp>
        <p:nvSpPr>
          <p:cNvPr id="153" name="Rectangle 2"/>
          <p:cNvSpPr/>
          <p:nvPr/>
        </p:nvSpPr>
        <p:spPr>
          <a:xfrm>
            <a:off x="12191999" y="548640"/>
            <a:ext cx="4791456" cy="6858000"/>
          </a:xfrm>
          <a:prstGeom prst="rect">
            <a:avLst/>
          </a:prstGeom>
          <a:gradFill rotWithShape="1">
            <a:gsLst>
              <a:gs pos="0">
                <a:srgbClr val="122C3C"/>
              </a:gs>
              <a:gs pos="100000">
                <a:srgbClr val="254B6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3"/>
          <p:cNvSpPr/>
          <p:nvPr/>
        </p:nvSpPr>
        <p:spPr>
          <a:xfrm>
            <a:off x="12777215" y="795528"/>
            <a:ext cx="64008" cy="164592"/>
          </a:xfrm>
          <a:prstGeom prst="rect">
            <a:avLst/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4"/>
          <p:cNvSpPr txBox="1"/>
          <p:nvPr/>
        </p:nvSpPr>
        <p:spPr>
          <a:xfrm>
            <a:off x="13005815" y="758952"/>
            <a:ext cx="45720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7F2E8"/>
                </a:solidFill>
                <a:latin typeface="Noto Sans CJK SC"/>
              </a:defRPr>
            </a:pPr>
            <a:r>
              <a:t>02 / 宿舍误区</a:t>
            </a:r>
          </a:p>
        </p:txBody>
      </p:sp>
      <p:sp>
        <p:nvSpPr>
          <p:cNvPr id="156" name="TextBox 5"/>
          <p:cNvSpPr txBox="1"/>
          <p:nvPr/>
        </p:nvSpPr>
        <p:spPr>
          <a:xfrm>
            <a:off x="12786359" y="1499616"/>
            <a:ext cx="3730752" cy="23591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7F2E8"/>
                </a:solidFill>
                <a:latin typeface="Noto Sans CJK SC"/>
              </a:defRPr>
            </a:pPr>
            <a:r>
              <a:t>不需要的抗生素，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7F2E8"/>
                </a:solidFill>
                <a:latin typeface="Noto Sans CJK SC"/>
              </a:defRPr>
            </a:pPr>
            <a:r>
              <a:t>也可能带来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7F2E8"/>
                </a:solidFill>
                <a:latin typeface="Noto Sans CJK SC"/>
              </a:defRPr>
            </a:pPr>
            <a:r>
              <a:t>真实伤害</a:t>
            </a:r>
          </a:p>
        </p:txBody>
      </p:sp>
      <p:sp>
        <p:nvSpPr>
          <p:cNvPr id="157" name="Rectangle 6"/>
          <p:cNvSpPr/>
          <p:nvPr/>
        </p:nvSpPr>
        <p:spPr>
          <a:xfrm>
            <a:off x="12786359" y="5065776"/>
            <a:ext cx="457200" cy="41148"/>
          </a:xfrm>
          <a:prstGeom prst="rect">
            <a:avLst/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7"/>
          <p:cNvSpPr txBox="1"/>
          <p:nvPr/>
        </p:nvSpPr>
        <p:spPr>
          <a:xfrm>
            <a:off x="12786359" y="5559552"/>
            <a:ext cx="3685032" cy="11155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7F2E8"/>
                </a:solidFill>
                <a:latin typeface="Noto Sans CJK SC"/>
              </a:defRPr>
            </a:pPr>
            <a:r>
              <a:t>没有治疗需要，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7F2E8"/>
                </a:solidFill>
                <a:latin typeface="Noto Sans CJK SC"/>
              </a:defRPr>
            </a:pPr>
            <a:r>
              <a:t>也要承担用药风险。</a:t>
            </a:r>
          </a:p>
        </p:txBody>
      </p:sp>
      <p:sp>
        <p:nvSpPr>
          <p:cNvPr id="159" name="TextBox 8"/>
          <p:cNvSpPr txBox="1"/>
          <p:nvPr/>
        </p:nvSpPr>
        <p:spPr>
          <a:xfrm>
            <a:off x="17550383" y="1033272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D95361"/>
                </a:solidFill>
                <a:latin typeface="Noto Sans CJK SC"/>
              </a:defRPr>
            </a:pPr>
            <a:r>
              <a:t>至少</a:t>
            </a:r>
          </a:p>
        </p:txBody>
      </p:sp>
      <p:sp>
        <p:nvSpPr>
          <p:cNvPr id="160" name="TextBox 9"/>
          <p:cNvSpPr txBox="1"/>
          <p:nvPr/>
        </p:nvSpPr>
        <p:spPr>
          <a:xfrm>
            <a:off x="17495519" y="1490472"/>
            <a:ext cx="3081528" cy="1225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800" b="1">
                <a:solidFill>
                  <a:srgbClr val="D95361"/>
                </a:solidFill>
                <a:latin typeface="Noto Sans CJK SC"/>
              </a:defRPr>
            </a:pPr>
            <a:r>
              <a:t>28%</a:t>
            </a:r>
          </a:p>
        </p:txBody>
      </p:sp>
      <p:sp>
        <p:nvSpPr>
          <p:cNvPr id="161" name="TextBox 10"/>
          <p:cNvSpPr txBox="1"/>
          <p:nvPr/>
        </p:nvSpPr>
        <p:spPr>
          <a:xfrm>
            <a:off x="17550383" y="2825496"/>
            <a:ext cx="2990088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3B50"/>
                </a:solidFill>
                <a:latin typeface="Noto Sans CJK SC"/>
              </a:defRPr>
            </a:pPr>
            <a:r>
              <a:t>美国门诊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3B50"/>
                </a:solidFill>
                <a:latin typeface="Noto Sans CJK SC"/>
              </a:defRPr>
            </a:pPr>
            <a:r>
              <a:t>抗生素处方</a:t>
            </a:r>
          </a:p>
        </p:txBody>
      </p:sp>
      <p:sp>
        <p:nvSpPr>
          <p:cNvPr id="162" name="DATA_GRID_001_HIGHLIGHT"/>
          <p:cNvSpPr/>
          <p:nvPr/>
        </p:nvSpPr>
        <p:spPr>
          <a:xfrm>
            <a:off x="21006815" y="117043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DATA_GRID_002_HIGHLIGHT"/>
          <p:cNvSpPr/>
          <p:nvPr/>
        </p:nvSpPr>
        <p:spPr>
          <a:xfrm>
            <a:off x="21256446" y="117043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DATA_GRID_003_HIGHLIGHT"/>
          <p:cNvSpPr/>
          <p:nvPr/>
        </p:nvSpPr>
        <p:spPr>
          <a:xfrm>
            <a:off x="21506077" y="117043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DATA_GRID_004_HIGHLIGHT"/>
          <p:cNvSpPr/>
          <p:nvPr/>
        </p:nvSpPr>
        <p:spPr>
          <a:xfrm>
            <a:off x="21755708" y="117043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DATA_GRID_005_HIGHLIGHT"/>
          <p:cNvSpPr/>
          <p:nvPr/>
        </p:nvSpPr>
        <p:spPr>
          <a:xfrm>
            <a:off x="22005339" y="117043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DATA_GRID_006_HIGHLIGHT"/>
          <p:cNvSpPr/>
          <p:nvPr/>
        </p:nvSpPr>
        <p:spPr>
          <a:xfrm>
            <a:off x="22254971" y="117043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DATA_GRID_007_HIGHLIGHT"/>
          <p:cNvSpPr/>
          <p:nvPr/>
        </p:nvSpPr>
        <p:spPr>
          <a:xfrm>
            <a:off x="22504602" y="117043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DATA_GRID_008_HIGHLIGHT"/>
          <p:cNvSpPr/>
          <p:nvPr/>
        </p:nvSpPr>
        <p:spPr>
          <a:xfrm>
            <a:off x="22754233" y="117043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DATA_GRID_009_HIGHLIGHT"/>
          <p:cNvSpPr/>
          <p:nvPr/>
        </p:nvSpPr>
        <p:spPr>
          <a:xfrm>
            <a:off x="23003864" y="117043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DATA_GRID_010_HIGHLIGHT"/>
          <p:cNvSpPr/>
          <p:nvPr/>
        </p:nvSpPr>
        <p:spPr>
          <a:xfrm>
            <a:off x="23253495" y="117043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DATA_GRID_011_HIGHLIGHT"/>
          <p:cNvSpPr/>
          <p:nvPr/>
        </p:nvSpPr>
        <p:spPr>
          <a:xfrm>
            <a:off x="21006815" y="1420063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DATA_GRID_012_HIGHLIGHT"/>
          <p:cNvSpPr/>
          <p:nvPr/>
        </p:nvSpPr>
        <p:spPr>
          <a:xfrm>
            <a:off x="21256446" y="1420063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DATA_GRID_013_HIGHLIGHT"/>
          <p:cNvSpPr/>
          <p:nvPr/>
        </p:nvSpPr>
        <p:spPr>
          <a:xfrm>
            <a:off x="21506077" y="1420063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DATA_GRID_014_HIGHLIGHT"/>
          <p:cNvSpPr/>
          <p:nvPr/>
        </p:nvSpPr>
        <p:spPr>
          <a:xfrm>
            <a:off x="21755708" y="1420063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DATA_GRID_015_HIGHLIGHT"/>
          <p:cNvSpPr/>
          <p:nvPr/>
        </p:nvSpPr>
        <p:spPr>
          <a:xfrm>
            <a:off x="22005339" y="1420063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DATA_GRID_016_HIGHLIGHT"/>
          <p:cNvSpPr/>
          <p:nvPr/>
        </p:nvSpPr>
        <p:spPr>
          <a:xfrm>
            <a:off x="22254971" y="1420063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DATA_GRID_017_HIGHLIGHT"/>
          <p:cNvSpPr/>
          <p:nvPr/>
        </p:nvSpPr>
        <p:spPr>
          <a:xfrm>
            <a:off x="22504602" y="1420063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DATA_GRID_018_HIGHLIGHT"/>
          <p:cNvSpPr/>
          <p:nvPr/>
        </p:nvSpPr>
        <p:spPr>
          <a:xfrm>
            <a:off x="22754233" y="1420063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DATA_GRID_019_HIGHLIGHT"/>
          <p:cNvSpPr/>
          <p:nvPr/>
        </p:nvSpPr>
        <p:spPr>
          <a:xfrm>
            <a:off x="23003864" y="1420063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DATA_GRID_020_HIGHLIGHT"/>
          <p:cNvSpPr/>
          <p:nvPr/>
        </p:nvSpPr>
        <p:spPr>
          <a:xfrm>
            <a:off x="23253495" y="1420063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DATA_GRID_021_HIGHLIGHT"/>
          <p:cNvSpPr/>
          <p:nvPr/>
        </p:nvSpPr>
        <p:spPr>
          <a:xfrm>
            <a:off x="21006815" y="1669694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DATA_GRID_022_HIGHLIGHT"/>
          <p:cNvSpPr/>
          <p:nvPr/>
        </p:nvSpPr>
        <p:spPr>
          <a:xfrm>
            <a:off x="21256446" y="1669694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DATA_GRID_023_HIGHLIGHT"/>
          <p:cNvSpPr/>
          <p:nvPr/>
        </p:nvSpPr>
        <p:spPr>
          <a:xfrm>
            <a:off x="21506077" y="1669694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DATA_GRID_024_HIGHLIGHT"/>
          <p:cNvSpPr/>
          <p:nvPr/>
        </p:nvSpPr>
        <p:spPr>
          <a:xfrm>
            <a:off x="21755708" y="1669694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DATA_GRID_025_HIGHLIGHT"/>
          <p:cNvSpPr/>
          <p:nvPr/>
        </p:nvSpPr>
        <p:spPr>
          <a:xfrm>
            <a:off x="22005339" y="1669694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DATA_GRID_026_HIGHLIGHT"/>
          <p:cNvSpPr/>
          <p:nvPr/>
        </p:nvSpPr>
        <p:spPr>
          <a:xfrm>
            <a:off x="22254971" y="1669694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DATA_GRID_027_HIGHLIGHT"/>
          <p:cNvSpPr/>
          <p:nvPr/>
        </p:nvSpPr>
        <p:spPr>
          <a:xfrm>
            <a:off x="22504602" y="1669694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DATA_GRID_028_HIGHLIGHT"/>
          <p:cNvSpPr/>
          <p:nvPr/>
        </p:nvSpPr>
        <p:spPr>
          <a:xfrm>
            <a:off x="22754233" y="1669694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DATA_GRID_029_REST"/>
          <p:cNvSpPr/>
          <p:nvPr/>
        </p:nvSpPr>
        <p:spPr>
          <a:xfrm>
            <a:off x="23003864" y="1669694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DATA_GRID_030_REST"/>
          <p:cNvSpPr/>
          <p:nvPr/>
        </p:nvSpPr>
        <p:spPr>
          <a:xfrm>
            <a:off x="23253495" y="1669694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DATA_GRID_031_REST"/>
          <p:cNvSpPr/>
          <p:nvPr/>
        </p:nvSpPr>
        <p:spPr>
          <a:xfrm>
            <a:off x="21006815" y="1919325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DATA_GRID_032_REST"/>
          <p:cNvSpPr/>
          <p:nvPr/>
        </p:nvSpPr>
        <p:spPr>
          <a:xfrm>
            <a:off x="21256446" y="1919325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DATA_GRID_033_REST"/>
          <p:cNvSpPr/>
          <p:nvPr/>
        </p:nvSpPr>
        <p:spPr>
          <a:xfrm>
            <a:off x="21506077" y="1919325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DATA_GRID_034_REST"/>
          <p:cNvSpPr/>
          <p:nvPr/>
        </p:nvSpPr>
        <p:spPr>
          <a:xfrm>
            <a:off x="21755708" y="1919325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DATA_GRID_035_REST"/>
          <p:cNvSpPr/>
          <p:nvPr/>
        </p:nvSpPr>
        <p:spPr>
          <a:xfrm>
            <a:off x="22005339" y="1919325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DATA_GRID_036_REST"/>
          <p:cNvSpPr/>
          <p:nvPr/>
        </p:nvSpPr>
        <p:spPr>
          <a:xfrm>
            <a:off x="22254971" y="1919325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DATA_GRID_037_REST"/>
          <p:cNvSpPr/>
          <p:nvPr/>
        </p:nvSpPr>
        <p:spPr>
          <a:xfrm>
            <a:off x="22504602" y="1919325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DATA_GRID_038_REST"/>
          <p:cNvSpPr/>
          <p:nvPr/>
        </p:nvSpPr>
        <p:spPr>
          <a:xfrm>
            <a:off x="22754233" y="1919325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DATA_GRID_039_REST"/>
          <p:cNvSpPr/>
          <p:nvPr/>
        </p:nvSpPr>
        <p:spPr>
          <a:xfrm>
            <a:off x="23003864" y="1919325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DATA_GRID_040_REST"/>
          <p:cNvSpPr/>
          <p:nvPr/>
        </p:nvSpPr>
        <p:spPr>
          <a:xfrm>
            <a:off x="23253495" y="1919325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DATA_GRID_041_REST"/>
          <p:cNvSpPr/>
          <p:nvPr/>
        </p:nvSpPr>
        <p:spPr>
          <a:xfrm>
            <a:off x="21006815" y="2168956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DATA_GRID_042_REST"/>
          <p:cNvSpPr/>
          <p:nvPr/>
        </p:nvSpPr>
        <p:spPr>
          <a:xfrm>
            <a:off x="21256446" y="2168956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DATA_GRID_043_REST"/>
          <p:cNvSpPr/>
          <p:nvPr/>
        </p:nvSpPr>
        <p:spPr>
          <a:xfrm>
            <a:off x="21506077" y="2168956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DATA_GRID_044_REST"/>
          <p:cNvSpPr/>
          <p:nvPr/>
        </p:nvSpPr>
        <p:spPr>
          <a:xfrm>
            <a:off x="21755708" y="2168956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DATA_GRID_045_REST"/>
          <p:cNvSpPr/>
          <p:nvPr/>
        </p:nvSpPr>
        <p:spPr>
          <a:xfrm>
            <a:off x="22005339" y="2168956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DATA_GRID_046_REST"/>
          <p:cNvSpPr/>
          <p:nvPr/>
        </p:nvSpPr>
        <p:spPr>
          <a:xfrm>
            <a:off x="22254971" y="2168956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DATA_GRID_047_REST"/>
          <p:cNvSpPr/>
          <p:nvPr/>
        </p:nvSpPr>
        <p:spPr>
          <a:xfrm>
            <a:off x="22504602" y="2168956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DATA_GRID_048_REST"/>
          <p:cNvSpPr/>
          <p:nvPr/>
        </p:nvSpPr>
        <p:spPr>
          <a:xfrm>
            <a:off x="22754233" y="2168956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DATA_GRID_049_REST"/>
          <p:cNvSpPr/>
          <p:nvPr/>
        </p:nvSpPr>
        <p:spPr>
          <a:xfrm>
            <a:off x="23003864" y="2168956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DATA_GRID_050_REST"/>
          <p:cNvSpPr/>
          <p:nvPr/>
        </p:nvSpPr>
        <p:spPr>
          <a:xfrm>
            <a:off x="23253495" y="2168956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DATA_GRID_051_REST"/>
          <p:cNvSpPr/>
          <p:nvPr/>
        </p:nvSpPr>
        <p:spPr>
          <a:xfrm>
            <a:off x="21006815" y="2418588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DATA_GRID_052_REST"/>
          <p:cNvSpPr/>
          <p:nvPr/>
        </p:nvSpPr>
        <p:spPr>
          <a:xfrm>
            <a:off x="21256446" y="2418588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DATA_GRID_053_REST"/>
          <p:cNvSpPr/>
          <p:nvPr/>
        </p:nvSpPr>
        <p:spPr>
          <a:xfrm>
            <a:off x="21506077" y="2418588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DATA_GRID_054_REST"/>
          <p:cNvSpPr/>
          <p:nvPr/>
        </p:nvSpPr>
        <p:spPr>
          <a:xfrm>
            <a:off x="21755708" y="2418588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DATA_GRID_055_REST"/>
          <p:cNvSpPr/>
          <p:nvPr/>
        </p:nvSpPr>
        <p:spPr>
          <a:xfrm>
            <a:off x="22005339" y="2418588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DATA_GRID_056_REST"/>
          <p:cNvSpPr/>
          <p:nvPr/>
        </p:nvSpPr>
        <p:spPr>
          <a:xfrm>
            <a:off x="22254971" y="2418588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DATA_GRID_057_REST"/>
          <p:cNvSpPr/>
          <p:nvPr/>
        </p:nvSpPr>
        <p:spPr>
          <a:xfrm>
            <a:off x="22504602" y="2418588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DATA_GRID_058_REST"/>
          <p:cNvSpPr/>
          <p:nvPr/>
        </p:nvSpPr>
        <p:spPr>
          <a:xfrm>
            <a:off x="22754233" y="2418588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DATA_GRID_059_REST"/>
          <p:cNvSpPr/>
          <p:nvPr/>
        </p:nvSpPr>
        <p:spPr>
          <a:xfrm>
            <a:off x="23003864" y="2418588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DATA_GRID_060_REST"/>
          <p:cNvSpPr/>
          <p:nvPr/>
        </p:nvSpPr>
        <p:spPr>
          <a:xfrm>
            <a:off x="23253495" y="2418588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DATA_GRID_061_REST"/>
          <p:cNvSpPr/>
          <p:nvPr/>
        </p:nvSpPr>
        <p:spPr>
          <a:xfrm>
            <a:off x="21006815" y="2668219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DATA_GRID_062_REST"/>
          <p:cNvSpPr/>
          <p:nvPr/>
        </p:nvSpPr>
        <p:spPr>
          <a:xfrm>
            <a:off x="21256446" y="2668219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DATA_GRID_063_REST"/>
          <p:cNvSpPr/>
          <p:nvPr/>
        </p:nvSpPr>
        <p:spPr>
          <a:xfrm>
            <a:off x="21506077" y="2668219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DATA_GRID_064_REST"/>
          <p:cNvSpPr/>
          <p:nvPr/>
        </p:nvSpPr>
        <p:spPr>
          <a:xfrm>
            <a:off x="21755708" y="2668219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DATA_GRID_065_REST"/>
          <p:cNvSpPr/>
          <p:nvPr/>
        </p:nvSpPr>
        <p:spPr>
          <a:xfrm>
            <a:off x="22005339" y="2668219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DATA_GRID_066_REST"/>
          <p:cNvSpPr/>
          <p:nvPr/>
        </p:nvSpPr>
        <p:spPr>
          <a:xfrm>
            <a:off x="22254971" y="2668219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DATA_GRID_067_REST"/>
          <p:cNvSpPr/>
          <p:nvPr/>
        </p:nvSpPr>
        <p:spPr>
          <a:xfrm>
            <a:off x="22504602" y="2668219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DATA_GRID_068_REST"/>
          <p:cNvSpPr/>
          <p:nvPr/>
        </p:nvSpPr>
        <p:spPr>
          <a:xfrm>
            <a:off x="22754233" y="2668219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DATA_GRID_069_REST"/>
          <p:cNvSpPr/>
          <p:nvPr/>
        </p:nvSpPr>
        <p:spPr>
          <a:xfrm>
            <a:off x="23003864" y="2668219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DATA_GRID_070_REST"/>
          <p:cNvSpPr/>
          <p:nvPr/>
        </p:nvSpPr>
        <p:spPr>
          <a:xfrm>
            <a:off x="23253495" y="2668219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DATA_GRID_071_REST"/>
          <p:cNvSpPr/>
          <p:nvPr/>
        </p:nvSpPr>
        <p:spPr>
          <a:xfrm>
            <a:off x="21006815" y="2917850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DATA_GRID_072_REST"/>
          <p:cNvSpPr/>
          <p:nvPr/>
        </p:nvSpPr>
        <p:spPr>
          <a:xfrm>
            <a:off x="21256446" y="2917850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DATA_GRID_073_REST"/>
          <p:cNvSpPr/>
          <p:nvPr/>
        </p:nvSpPr>
        <p:spPr>
          <a:xfrm>
            <a:off x="21506077" y="2917850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DATA_GRID_074_REST"/>
          <p:cNvSpPr/>
          <p:nvPr/>
        </p:nvSpPr>
        <p:spPr>
          <a:xfrm>
            <a:off x="21755708" y="2917850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DATA_GRID_075_REST"/>
          <p:cNvSpPr/>
          <p:nvPr/>
        </p:nvSpPr>
        <p:spPr>
          <a:xfrm>
            <a:off x="22005339" y="2917850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DATA_GRID_076_REST"/>
          <p:cNvSpPr/>
          <p:nvPr/>
        </p:nvSpPr>
        <p:spPr>
          <a:xfrm>
            <a:off x="22254971" y="2917850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DATA_GRID_077_REST"/>
          <p:cNvSpPr/>
          <p:nvPr/>
        </p:nvSpPr>
        <p:spPr>
          <a:xfrm>
            <a:off x="22504602" y="2917850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DATA_GRID_078_REST"/>
          <p:cNvSpPr/>
          <p:nvPr/>
        </p:nvSpPr>
        <p:spPr>
          <a:xfrm>
            <a:off x="22754233" y="2917850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DATA_GRID_079_REST"/>
          <p:cNvSpPr/>
          <p:nvPr/>
        </p:nvSpPr>
        <p:spPr>
          <a:xfrm>
            <a:off x="23003864" y="2917850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DATA_GRID_080_REST"/>
          <p:cNvSpPr/>
          <p:nvPr/>
        </p:nvSpPr>
        <p:spPr>
          <a:xfrm>
            <a:off x="23253495" y="2917850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DATA_GRID_081_REST"/>
          <p:cNvSpPr/>
          <p:nvPr/>
        </p:nvSpPr>
        <p:spPr>
          <a:xfrm>
            <a:off x="21006815" y="316748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DATA_GRID_082_REST"/>
          <p:cNvSpPr/>
          <p:nvPr/>
        </p:nvSpPr>
        <p:spPr>
          <a:xfrm>
            <a:off x="21256446" y="316748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DATA_GRID_083_REST"/>
          <p:cNvSpPr/>
          <p:nvPr/>
        </p:nvSpPr>
        <p:spPr>
          <a:xfrm>
            <a:off x="21506077" y="316748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DATA_GRID_084_REST"/>
          <p:cNvSpPr/>
          <p:nvPr/>
        </p:nvSpPr>
        <p:spPr>
          <a:xfrm>
            <a:off x="21755708" y="316748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DATA_GRID_085_REST"/>
          <p:cNvSpPr/>
          <p:nvPr/>
        </p:nvSpPr>
        <p:spPr>
          <a:xfrm>
            <a:off x="22005339" y="316748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DATA_GRID_086_REST"/>
          <p:cNvSpPr/>
          <p:nvPr/>
        </p:nvSpPr>
        <p:spPr>
          <a:xfrm>
            <a:off x="22254971" y="316748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DATA_GRID_087_REST"/>
          <p:cNvSpPr/>
          <p:nvPr/>
        </p:nvSpPr>
        <p:spPr>
          <a:xfrm>
            <a:off x="22504602" y="316748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DATA_GRID_088_REST"/>
          <p:cNvSpPr/>
          <p:nvPr/>
        </p:nvSpPr>
        <p:spPr>
          <a:xfrm>
            <a:off x="22754233" y="316748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DATA_GRID_089_REST"/>
          <p:cNvSpPr/>
          <p:nvPr/>
        </p:nvSpPr>
        <p:spPr>
          <a:xfrm>
            <a:off x="23003864" y="316748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DATA_GRID_090_REST"/>
          <p:cNvSpPr/>
          <p:nvPr/>
        </p:nvSpPr>
        <p:spPr>
          <a:xfrm>
            <a:off x="23253495" y="316748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DATA_GRID_091_REST"/>
          <p:cNvSpPr/>
          <p:nvPr/>
        </p:nvSpPr>
        <p:spPr>
          <a:xfrm>
            <a:off x="21006815" y="341711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DATA_GRID_092_REST"/>
          <p:cNvSpPr/>
          <p:nvPr/>
        </p:nvSpPr>
        <p:spPr>
          <a:xfrm>
            <a:off x="21256446" y="341711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DATA_GRID_093_REST"/>
          <p:cNvSpPr/>
          <p:nvPr/>
        </p:nvSpPr>
        <p:spPr>
          <a:xfrm>
            <a:off x="21506077" y="341711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DATA_GRID_094_REST"/>
          <p:cNvSpPr/>
          <p:nvPr/>
        </p:nvSpPr>
        <p:spPr>
          <a:xfrm>
            <a:off x="21755708" y="341711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DATA_GRID_095_REST"/>
          <p:cNvSpPr/>
          <p:nvPr/>
        </p:nvSpPr>
        <p:spPr>
          <a:xfrm>
            <a:off x="22005339" y="341711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DATA_GRID_096_REST"/>
          <p:cNvSpPr/>
          <p:nvPr/>
        </p:nvSpPr>
        <p:spPr>
          <a:xfrm>
            <a:off x="22254971" y="341711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DATA_GRID_097_REST"/>
          <p:cNvSpPr/>
          <p:nvPr/>
        </p:nvSpPr>
        <p:spPr>
          <a:xfrm>
            <a:off x="22504602" y="341711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DATA_GRID_098_REST"/>
          <p:cNvSpPr/>
          <p:nvPr/>
        </p:nvSpPr>
        <p:spPr>
          <a:xfrm>
            <a:off x="22754233" y="341711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DATA_GRID_099_REST"/>
          <p:cNvSpPr/>
          <p:nvPr/>
        </p:nvSpPr>
        <p:spPr>
          <a:xfrm>
            <a:off x="23003864" y="341711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DATA_GRID_100_REST"/>
          <p:cNvSpPr/>
          <p:nvPr/>
        </p:nvSpPr>
        <p:spPr>
          <a:xfrm>
            <a:off x="23253495" y="341711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111"/>
          <p:cNvSpPr txBox="1"/>
          <p:nvPr/>
        </p:nvSpPr>
        <p:spPr>
          <a:xfrm>
            <a:off x="17550383" y="3648456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3B50"/>
                </a:solidFill>
                <a:latin typeface="Noto Sans CJK SC"/>
              </a:defRPr>
            </a:pPr>
            <a:r>
              <a:t>被估计为不必要</a:t>
            </a:r>
          </a:p>
        </p:txBody>
      </p:sp>
      <p:sp>
        <p:nvSpPr>
          <p:cNvPr id="263" name="Rectangle 112"/>
          <p:cNvSpPr/>
          <p:nvPr/>
        </p:nvSpPr>
        <p:spPr>
          <a:xfrm>
            <a:off x="17550383" y="4251960"/>
            <a:ext cx="6217920" cy="14630"/>
          </a:xfrm>
          <a:prstGeom prst="rect">
            <a:avLst/>
          </a:prstGeom>
          <a:solidFill>
            <a:srgbClr val="CF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113"/>
          <p:cNvSpPr txBox="1"/>
          <p:nvPr/>
        </p:nvSpPr>
        <p:spPr>
          <a:xfrm>
            <a:off x="17550383" y="4471416"/>
            <a:ext cx="621792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3B50"/>
                </a:solidFill>
                <a:latin typeface="Noto Sans CJK SC"/>
              </a:defRPr>
            </a:pPr>
            <a:r>
              <a:t>药物副作用导致的急诊</a:t>
            </a:r>
          </a:p>
        </p:txBody>
      </p:sp>
      <p:sp>
        <p:nvSpPr>
          <p:cNvPr id="265" name="TextBox 114"/>
          <p:cNvSpPr txBox="1"/>
          <p:nvPr/>
        </p:nvSpPr>
        <p:spPr>
          <a:xfrm>
            <a:off x="17550383" y="5065776"/>
            <a:ext cx="4169663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D95361"/>
                </a:solidFill>
                <a:latin typeface="Noto Sans CJK SC"/>
              </a:defRPr>
            </a:pPr>
            <a:r>
              <a:t>5次中，约1次</a:t>
            </a:r>
          </a:p>
        </p:txBody>
      </p:sp>
      <p:sp>
        <p:nvSpPr>
          <p:cNvPr id="266" name="TextBox 115"/>
          <p:cNvSpPr txBox="1"/>
          <p:nvPr/>
        </p:nvSpPr>
        <p:spPr>
          <a:xfrm>
            <a:off x="21683471" y="5084064"/>
            <a:ext cx="208483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3B50"/>
                </a:solidFill>
                <a:latin typeface="Noto Sans CJK SC"/>
              </a:defRPr>
            </a:pPr>
            <a:r>
              <a:t>涉及抗生素反应</a:t>
            </a:r>
          </a:p>
        </p:txBody>
      </p:sp>
      <p:sp>
        <p:nvSpPr>
          <p:cNvPr id="267" name="DATA_ED_1_HIGHLIGHT"/>
          <p:cNvSpPr/>
          <p:nvPr/>
        </p:nvSpPr>
        <p:spPr>
          <a:xfrm>
            <a:off x="17577815" y="5833872"/>
            <a:ext cx="950976" cy="960120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117"/>
          <p:cNvSpPr/>
          <p:nvPr/>
        </p:nvSpPr>
        <p:spPr>
          <a:xfrm>
            <a:off x="17958205" y="5980176"/>
            <a:ext cx="190195" cy="256032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118"/>
          <p:cNvSpPr/>
          <p:nvPr/>
        </p:nvSpPr>
        <p:spPr>
          <a:xfrm>
            <a:off x="17834578" y="6053328"/>
            <a:ext cx="437448" cy="109728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119"/>
          <p:cNvSpPr/>
          <p:nvPr/>
        </p:nvSpPr>
        <p:spPr>
          <a:xfrm>
            <a:off x="17986734" y="6428232"/>
            <a:ext cx="171175" cy="36576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120"/>
          <p:cNvSpPr/>
          <p:nvPr/>
        </p:nvSpPr>
        <p:spPr>
          <a:xfrm>
            <a:off x="17729971" y="6345936"/>
            <a:ext cx="114117" cy="109728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121"/>
          <p:cNvSpPr/>
          <p:nvPr/>
        </p:nvSpPr>
        <p:spPr>
          <a:xfrm>
            <a:off x="18272027" y="6345936"/>
            <a:ext cx="114117" cy="109728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DATA_ED_2_REST"/>
          <p:cNvSpPr/>
          <p:nvPr/>
        </p:nvSpPr>
        <p:spPr>
          <a:xfrm>
            <a:off x="18825971" y="5833872"/>
            <a:ext cx="950976" cy="960120"/>
          </a:xfrm>
          <a:prstGeom prst="roundRect">
            <a:avLst>
              <a:gd name="adj" fmla="val 6000"/>
            </a:avLst>
          </a:prstGeom>
          <a:solidFill>
            <a:srgbClr val="173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123"/>
          <p:cNvSpPr/>
          <p:nvPr/>
        </p:nvSpPr>
        <p:spPr>
          <a:xfrm>
            <a:off x="19206361" y="5980176"/>
            <a:ext cx="190195" cy="256032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124"/>
          <p:cNvSpPr/>
          <p:nvPr/>
        </p:nvSpPr>
        <p:spPr>
          <a:xfrm>
            <a:off x="19082734" y="6053328"/>
            <a:ext cx="437448" cy="109728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125"/>
          <p:cNvSpPr/>
          <p:nvPr/>
        </p:nvSpPr>
        <p:spPr>
          <a:xfrm>
            <a:off x="19234890" y="6428232"/>
            <a:ext cx="171175" cy="36576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126"/>
          <p:cNvSpPr/>
          <p:nvPr/>
        </p:nvSpPr>
        <p:spPr>
          <a:xfrm>
            <a:off x="18978127" y="6345936"/>
            <a:ext cx="114117" cy="109728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127"/>
          <p:cNvSpPr/>
          <p:nvPr/>
        </p:nvSpPr>
        <p:spPr>
          <a:xfrm>
            <a:off x="19520183" y="6345936"/>
            <a:ext cx="114117" cy="109728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DATA_ED_3_REST"/>
          <p:cNvSpPr/>
          <p:nvPr/>
        </p:nvSpPr>
        <p:spPr>
          <a:xfrm>
            <a:off x="20074126" y="5833872"/>
            <a:ext cx="950976" cy="960120"/>
          </a:xfrm>
          <a:prstGeom prst="roundRect">
            <a:avLst>
              <a:gd name="adj" fmla="val 6000"/>
            </a:avLst>
          </a:prstGeom>
          <a:solidFill>
            <a:srgbClr val="173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129"/>
          <p:cNvSpPr/>
          <p:nvPr/>
        </p:nvSpPr>
        <p:spPr>
          <a:xfrm>
            <a:off x="20454517" y="5980176"/>
            <a:ext cx="190195" cy="256032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130"/>
          <p:cNvSpPr/>
          <p:nvPr/>
        </p:nvSpPr>
        <p:spPr>
          <a:xfrm>
            <a:off x="20330890" y="6053328"/>
            <a:ext cx="437448" cy="109728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131"/>
          <p:cNvSpPr/>
          <p:nvPr/>
        </p:nvSpPr>
        <p:spPr>
          <a:xfrm>
            <a:off x="20483046" y="6428232"/>
            <a:ext cx="171175" cy="36576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132"/>
          <p:cNvSpPr/>
          <p:nvPr/>
        </p:nvSpPr>
        <p:spPr>
          <a:xfrm>
            <a:off x="20226283" y="6345936"/>
            <a:ext cx="114117" cy="109728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133"/>
          <p:cNvSpPr/>
          <p:nvPr/>
        </p:nvSpPr>
        <p:spPr>
          <a:xfrm>
            <a:off x="20768339" y="6345936"/>
            <a:ext cx="114117" cy="109728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DATA_ED_4_REST"/>
          <p:cNvSpPr/>
          <p:nvPr/>
        </p:nvSpPr>
        <p:spPr>
          <a:xfrm>
            <a:off x="21322283" y="5833872"/>
            <a:ext cx="950976" cy="960120"/>
          </a:xfrm>
          <a:prstGeom prst="roundRect">
            <a:avLst>
              <a:gd name="adj" fmla="val 6000"/>
            </a:avLst>
          </a:prstGeom>
          <a:solidFill>
            <a:srgbClr val="173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135"/>
          <p:cNvSpPr/>
          <p:nvPr/>
        </p:nvSpPr>
        <p:spPr>
          <a:xfrm>
            <a:off x="21702673" y="5980176"/>
            <a:ext cx="190195" cy="256032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136"/>
          <p:cNvSpPr/>
          <p:nvPr/>
        </p:nvSpPr>
        <p:spPr>
          <a:xfrm>
            <a:off x="21579046" y="6053328"/>
            <a:ext cx="437448" cy="109728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137"/>
          <p:cNvSpPr/>
          <p:nvPr/>
        </p:nvSpPr>
        <p:spPr>
          <a:xfrm>
            <a:off x="21731202" y="6428232"/>
            <a:ext cx="171175" cy="36576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138"/>
          <p:cNvSpPr/>
          <p:nvPr/>
        </p:nvSpPr>
        <p:spPr>
          <a:xfrm>
            <a:off x="21474439" y="6345936"/>
            <a:ext cx="114117" cy="109728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angle 139"/>
          <p:cNvSpPr/>
          <p:nvPr/>
        </p:nvSpPr>
        <p:spPr>
          <a:xfrm>
            <a:off x="22016495" y="6345936"/>
            <a:ext cx="114117" cy="109728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DATA_ED_5_REST"/>
          <p:cNvSpPr/>
          <p:nvPr/>
        </p:nvSpPr>
        <p:spPr>
          <a:xfrm>
            <a:off x="22570439" y="5833872"/>
            <a:ext cx="950976" cy="960120"/>
          </a:xfrm>
          <a:prstGeom prst="roundRect">
            <a:avLst>
              <a:gd name="adj" fmla="val 6000"/>
            </a:avLst>
          </a:prstGeom>
          <a:solidFill>
            <a:srgbClr val="173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141"/>
          <p:cNvSpPr/>
          <p:nvPr/>
        </p:nvSpPr>
        <p:spPr>
          <a:xfrm>
            <a:off x="22950829" y="5980176"/>
            <a:ext cx="190195" cy="256032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142"/>
          <p:cNvSpPr/>
          <p:nvPr/>
        </p:nvSpPr>
        <p:spPr>
          <a:xfrm>
            <a:off x="22827202" y="6053328"/>
            <a:ext cx="437448" cy="109728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143"/>
          <p:cNvSpPr/>
          <p:nvPr/>
        </p:nvSpPr>
        <p:spPr>
          <a:xfrm>
            <a:off x="22979358" y="6428232"/>
            <a:ext cx="171175" cy="36576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144"/>
          <p:cNvSpPr/>
          <p:nvPr/>
        </p:nvSpPr>
        <p:spPr>
          <a:xfrm>
            <a:off x="22722595" y="6345936"/>
            <a:ext cx="114117" cy="109728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145"/>
          <p:cNvSpPr/>
          <p:nvPr/>
        </p:nvSpPr>
        <p:spPr>
          <a:xfrm>
            <a:off x="23264651" y="6345936"/>
            <a:ext cx="114117" cy="109728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TextBox 146"/>
          <p:cNvSpPr txBox="1"/>
          <p:nvPr/>
        </p:nvSpPr>
        <p:spPr>
          <a:xfrm>
            <a:off x="17550383" y="6922008"/>
            <a:ext cx="62179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3B50"/>
                </a:solidFill>
                <a:latin typeface="Noto Sans CJK SC"/>
              </a:defRPr>
            </a:pPr>
            <a:r>
              <a:t>皮疹、腹泻，也可能严重过敏</a:t>
            </a:r>
          </a:p>
        </p:txBody>
      </p:sp>
      <p:sp>
        <p:nvSpPr>
          <p:cNvPr id="298" name="TextBox 147"/>
          <p:cNvSpPr txBox="1"/>
          <p:nvPr/>
        </p:nvSpPr>
        <p:spPr>
          <a:xfrm>
            <a:off x="22872191" y="711403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73B50"/>
                </a:solidFill>
                <a:latin typeface="Noto Sans CJK SC"/>
              </a:defRPr>
            </a:pPr>
            <a:r>
              <a:t>11 / 27</a:t>
            </a:r>
          </a:p>
        </p:txBody>
      </p:sp>
      <p:sp>
        <p:nvSpPr>
          <p:cNvPr id="299" name="Rectangle 298"/>
          <p:cNvSpPr/>
          <p:nvPr/>
        </p:nvSpPr>
        <p:spPr>
          <a:xfrm>
            <a:off x="12191999" y="548640"/>
            <a:ext cx="14630" cy="6858000"/>
          </a:xfrm>
          <a:prstGeom prst="rect">
            <a:avLst/>
          </a:prstGeom>
          <a:solidFill>
            <a:srgbClr val="B6B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998" cy="54864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972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3B50"/>
                </a:solidFill>
                <a:latin typeface="Noto Sans CJK SC"/>
              </a:defRPr>
            </a:pPr>
            <a:r>
              <a:t>原版 · 第17页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86359" y="109728"/>
            <a:ext cx="9144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3B50"/>
                </a:solidFill>
                <a:latin typeface="Noto Sans CJK SC"/>
              </a:defRPr>
            </a:pPr>
            <a:r>
              <a:t>新版 · 暖白纸感与深色编辑版</a:t>
            </a:r>
          </a:p>
        </p:txBody>
      </p:sp>
      <p:sp>
        <p:nvSpPr>
          <p:cNvPr id="6" name="Rectangle 1"/>
          <p:cNvSpPr/>
          <p:nvPr/>
        </p:nvSpPr>
        <p:spPr>
          <a:xfrm>
            <a:off x="502920" y="914400"/>
            <a:ext cx="64008" cy="246888"/>
          </a:xfrm>
          <a:prstGeom prst="rect">
            <a:avLst/>
          </a:prstGeom>
          <a:solidFill>
            <a:srgbClr val="E3464F"/>
          </a:solidFill>
          <a:ln>
            <a:solidFill>
              <a:srgbClr val="E34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2"/>
          <p:cNvSpPr txBox="1"/>
          <p:nvPr/>
        </p:nvSpPr>
        <p:spPr>
          <a:xfrm>
            <a:off x="685800" y="841248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53E75"/>
                </a:solidFill>
                <a:latin typeface="Noto Sans CJK SC"/>
                <a:ea typeface="Noto Sans CJK SC"/>
              </a:rPr>
              <a:t>03 / 安全用药</a:t>
            </a:r>
          </a:p>
        </p:txBody>
      </p:sp>
      <p:sp>
        <p:nvSpPr>
          <p:cNvPr id="8" name="TextBox 3"/>
          <p:cNvSpPr txBox="1"/>
          <p:nvPr/>
        </p:nvSpPr>
        <p:spPr>
          <a:xfrm>
            <a:off x="594360" y="1444752"/>
            <a:ext cx="110185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53E75"/>
                </a:solidFill>
                <a:latin typeface="Noto Sans CJK SC"/>
                <a:ea typeface="Noto Sans CJK SC"/>
              </a:rPr>
              <a:t>从四个案例，走到四个用药动作</a:t>
            </a:r>
          </a:p>
        </p:txBody>
      </p:sp>
      <p:cxnSp>
        <p:nvCxnSpPr>
          <p:cNvPr id="9" name="Connector 4"/>
          <p:cNvCxnSpPr/>
          <p:nvPr/>
        </p:nvCxnSpPr>
        <p:spPr>
          <a:xfrm>
            <a:off x="594360" y="6391656"/>
            <a:ext cx="11000232" cy="0"/>
          </a:xfrm>
          <a:prstGeom prst="line">
            <a:avLst/>
          </a:prstGeom>
          <a:ln w="8890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5"/>
          <p:cNvSpPr txBox="1"/>
          <p:nvPr/>
        </p:nvSpPr>
        <p:spPr>
          <a:xfrm>
            <a:off x="640080" y="6492240"/>
            <a:ext cx="1074420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53E75"/>
                </a:solidFill>
                <a:latin typeface="Noto Sans CJK SC"/>
                <a:ea typeface="Noto Sans CJK SC"/>
              </a:rPr>
              <a:t>先把信息看清，再把不确定问清。</a:t>
            </a:r>
          </a:p>
        </p:txBody>
      </p:sp>
      <p:sp>
        <p:nvSpPr>
          <p:cNvPr id="11" name="TextBox 6"/>
          <p:cNvSpPr txBox="1"/>
          <p:nvPr/>
        </p:nvSpPr>
        <p:spPr>
          <a:xfrm>
            <a:off x="10744200" y="7004304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53E75"/>
                </a:solidFill>
                <a:latin typeface="Noto Sans CJK SC"/>
                <a:ea typeface="Noto Sans CJK SC"/>
              </a:rPr>
              <a:t>17 / 27</a:t>
            </a:r>
          </a:p>
        </p:txBody>
      </p:sp>
      <p:sp>
        <p:nvSpPr>
          <p:cNvPr id="12" name="Rounded Rectangle 7"/>
          <p:cNvSpPr/>
          <p:nvPr/>
        </p:nvSpPr>
        <p:spPr>
          <a:xfrm>
            <a:off x="777240" y="2496312"/>
            <a:ext cx="5148072" cy="1645920"/>
          </a:xfrm>
          <a:prstGeom prst="roundRect">
            <a:avLst>
              <a:gd name="adj" fmla="val 10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8"/>
          <p:cNvSpPr txBox="1"/>
          <p:nvPr/>
        </p:nvSpPr>
        <p:spPr>
          <a:xfrm>
            <a:off x="1014983" y="2770631"/>
            <a:ext cx="941832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500" b="1">
                <a:solidFill>
                  <a:srgbClr val="153E75"/>
                </a:solidFill>
                <a:latin typeface="Noto Sans CJK SC"/>
              </a:rPr>
              <a:t>看</a:t>
            </a:r>
          </a:p>
        </p:txBody>
      </p:sp>
      <p:sp>
        <p:nvSpPr>
          <p:cNvPr id="14" name="TextBox 9"/>
          <p:cNvSpPr txBox="1"/>
          <p:nvPr/>
        </p:nvSpPr>
        <p:spPr>
          <a:xfrm>
            <a:off x="2185416" y="2770631"/>
            <a:ext cx="3483864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0">
                <a:solidFill>
                  <a:srgbClr val="203354"/>
                </a:solidFill>
                <a:latin typeface="Noto Sans CJK SC"/>
              </a:rPr>
              <a:t>症状、说明书、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0">
                <a:solidFill>
                  <a:srgbClr val="203354"/>
                </a:solidFill>
                <a:latin typeface="Noto Sans CJK SC"/>
              </a:rPr>
              <a:t>就医信号</a:t>
            </a:r>
          </a:p>
        </p:txBody>
      </p:sp>
      <p:sp>
        <p:nvSpPr>
          <p:cNvPr id="15" name="Rounded Rectangle 10"/>
          <p:cNvSpPr/>
          <p:nvPr/>
        </p:nvSpPr>
        <p:spPr>
          <a:xfrm>
            <a:off x="6245352" y="2496312"/>
            <a:ext cx="5148072" cy="1645920"/>
          </a:xfrm>
          <a:prstGeom prst="roundRect">
            <a:avLst>
              <a:gd name="adj" fmla="val 10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1"/>
          <p:cNvSpPr txBox="1"/>
          <p:nvPr/>
        </p:nvSpPr>
        <p:spPr>
          <a:xfrm>
            <a:off x="6483096" y="2770631"/>
            <a:ext cx="941832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500" b="1">
                <a:solidFill>
                  <a:srgbClr val="153E75"/>
                </a:solidFill>
                <a:latin typeface="Noto Sans CJK SC"/>
              </a:rPr>
              <a:t>核</a:t>
            </a:r>
          </a:p>
        </p:txBody>
      </p:sp>
      <p:sp>
        <p:nvSpPr>
          <p:cNvPr id="17" name="TextBox 12"/>
          <p:cNvSpPr txBox="1"/>
          <p:nvPr/>
        </p:nvSpPr>
        <p:spPr>
          <a:xfrm>
            <a:off x="7653528" y="2770631"/>
            <a:ext cx="3483864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0">
                <a:solidFill>
                  <a:srgbClr val="203354"/>
                </a:solidFill>
                <a:latin typeface="Noto Sans CJK SC"/>
              </a:rPr>
              <a:t>成分、用法、禁忌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0">
                <a:solidFill>
                  <a:srgbClr val="203354"/>
                </a:solidFill>
                <a:latin typeface="Noto Sans CJK SC"/>
              </a:rPr>
              <a:t>与相互作用</a:t>
            </a:r>
          </a:p>
        </p:txBody>
      </p:sp>
      <p:sp>
        <p:nvSpPr>
          <p:cNvPr id="18" name="Rounded Rectangle 13"/>
          <p:cNvSpPr/>
          <p:nvPr/>
        </p:nvSpPr>
        <p:spPr>
          <a:xfrm>
            <a:off x="777240" y="4370831"/>
            <a:ext cx="5148072" cy="1645920"/>
          </a:xfrm>
          <a:prstGeom prst="roundRect">
            <a:avLst>
              <a:gd name="adj" fmla="val 10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4"/>
          <p:cNvSpPr txBox="1"/>
          <p:nvPr/>
        </p:nvSpPr>
        <p:spPr>
          <a:xfrm>
            <a:off x="1014983" y="4645151"/>
            <a:ext cx="941832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500" b="1">
                <a:solidFill>
                  <a:srgbClr val="153E75"/>
                </a:solidFill>
                <a:latin typeface="Noto Sans CJK SC"/>
              </a:rPr>
              <a:t>问</a:t>
            </a:r>
          </a:p>
        </p:txBody>
      </p:sp>
      <p:sp>
        <p:nvSpPr>
          <p:cNvPr id="20" name="TextBox 15"/>
          <p:cNvSpPr txBox="1"/>
          <p:nvPr/>
        </p:nvSpPr>
        <p:spPr>
          <a:xfrm>
            <a:off x="2185416" y="4645151"/>
            <a:ext cx="3483864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0">
                <a:solidFill>
                  <a:srgbClr val="203354"/>
                </a:solidFill>
                <a:latin typeface="Noto Sans CJK SC"/>
              </a:rPr>
              <a:t>带齐信息，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0">
                <a:solidFill>
                  <a:srgbClr val="203354"/>
                </a:solidFill>
                <a:latin typeface="Noto Sans CJK SC"/>
              </a:rPr>
              <a:t>问医生或药师</a:t>
            </a:r>
          </a:p>
        </p:txBody>
      </p:sp>
      <p:sp>
        <p:nvSpPr>
          <p:cNvPr id="21" name="Rounded Rectangle 16"/>
          <p:cNvSpPr/>
          <p:nvPr/>
        </p:nvSpPr>
        <p:spPr>
          <a:xfrm>
            <a:off x="6245352" y="4370831"/>
            <a:ext cx="5148072" cy="1645920"/>
          </a:xfrm>
          <a:prstGeom prst="roundRect">
            <a:avLst>
              <a:gd name="adj" fmla="val 10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17"/>
          <p:cNvSpPr txBox="1"/>
          <p:nvPr/>
        </p:nvSpPr>
        <p:spPr>
          <a:xfrm>
            <a:off x="6483096" y="4645151"/>
            <a:ext cx="941832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500" b="1">
                <a:solidFill>
                  <a:srgbClr val="153E75"/>
                </a:solidFill>
                <a:latin typeface="Noto Sans CJK SC"/>
              </a:rPr>
              <a:t>记</a:t>
            </a:r>
          </a:p>
        </p:txBody>
      </p:sp>
      <p:sp>
        <p:nvSpPr>
          <p:cNvPr id="23" name="TextBox 18"/>
          <p:cNvSpPr txBox="1"/>
          <p:nvPr/>
        </p:nvSpPr>
        <p:spPr>
          <a:xfrm>
            <a:off x="7653528" y="4645151"/>
            <a:ext cx="3483864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0">
                <a:solidFill>
                  <a:srgbClr val="203354"/>
                </a:solidFill>
                <a:latin typeface="Noto Sans CJK SC"/>
              </a:rPr>
              <a:t>药名、时间、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0">
                <a:solidFill>
                  <a:srgbClr val="203354"/>
                </a:solidFill>
                <a:latin typeface="Noto Sans CJK SC"/>
              </a:rPr>
              <a:t>用量与反应</a:t>
            </a:r>
          </a:p>
        </p:txBody>
      </p:sp>
      <p:pic>
        <p:nvPicPr>
          <p:cNvPr id="24" name="STYLE_WARM_PAPER" descr="warm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1999" y="548640"/>
            <a:ext cx="12191999" cy="6858000"/>
          </a:xfrm>
          <a:prstGeom prst="rect">
            <a:avLst/>
          </a:prstGeom>
        </p:spPr>
      </p:pic>
      <p:sp>
        <p:nvSpPr>
          <p:cNvPr id="25" name="Rectangle 2"/>
          <p:cNvSpPr/>
          <p:nvPr/>
        </p:nvSpPr>
        <p:spPr>
          <a:xfrm>
            <a:off x="15913607" y="548640"/>
            <a:ext cx="8470391" cy="6858000"/>
          </a:xfrm>
          <a:prstGeom prst="rect">
            <a:avLst/>
          </a:prstGeom>
          <a:gradFill rotWithShape="1">
            <a:gsLst>
              <a:gs pos="0">
                <a:srgbClr val="18374A"/>
              </a:gs>
              <a:gs pos="100000">
                <a:srgbClr val="29516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3"/>
          <p:cNvSpPr/>
          <p:nvPr/>
        </p:nvSpPr>
        <p:spPr>
          <a:xfrm>
            <a:off x="12777215" y="795528"/>
            <a:ext cx="64008" cy="164592"/>
          </a:xfrm>
          <a:prstGeom prst="rect">
            <a:avLst/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4"/>
          <p:cNvSpPr txBox="1"/>
          <p:nvPr/>
        </p:nvSpPr>
        <p:spPr>
          <a:xfrm>
            <a:off x="13005815" y="758952"/>
            <a:ext cx="45720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3B50"/>
                </a:solidFill>
                <a:latin typeface="Noto Sans CJK SC"/>
              </a:defRPr>
            </a:pPr>
            <a:r>
              <a:t>03 / 安全用药</a:t>
            </a:r>
          </a:p>
        </p:txBody>
      </p:sp>
      <p:sp>
        <p:nvSpPr>
          <p:cNvPr id="28" name="TextBox 5"/>
          <p:cNvSpPr txBox="1"/>
          <p:nvPr/>
        </p:nvSpPr>
        <p:spPr>
          <a:xfrm>
            <a:off x="12786359" y="1517904"/>
            <a:ext cx="2688336" cy="2816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3B50"/>
                </a:solidFill>
                <a:latin typeface="Noto Sans CJK SC"/>
              </a:defRPr>
            </a:pPr>
            <a:r>
              <a:t>从四个案例，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3B50"/>
                </a:solidFill>
                <a:latin typeface="Noto Sans CJK SC"/>
              </a:defRPr>
            </a:pPr>
            <a:r>
              <a:t>走到四个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3B50"/>
                </a:solidFill>
                <a:latin typeface="Noto Sans CJK SC"/>
              </a:defRPr>
            </a:pPr>
            <a:r>
              <a:t>用药动作</a:t>
            </a:r>
          </a:p>
        </p:txBody>
      </p:sp>
      <p:sp>
        <p:nvSpPr>
          <p:cNvPr id="29" name="Rectangle 6"/>
          <p:cNvSpPr/>
          <p:nvPr/>
        </p:nvSpPr>
        <p:spPr>
          <a:xfrm>
            <a:off x="12786359" y="4864608"/>
            <a:ext cx="457200" cy="41148"/>
          </a:xfrm>
          <a:prstGeom prst="rect">
            <a:avLst/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7"/>
          <p:cNvSpPr txBox="1"/>
          <p:nvPr/>
        </p:nvSpPr>
        <p:spPr>
          <a:xfrm>
            <a:off x="12786359" y="5312664"/>
            <a:ext cx="2688336" cy="1078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73B50"/>
                </a:solidFill>
                <a:latin typeface="Noto Sans CJK SC"/>
              </a:defRPr>
            </a:pPr>
            <a:r>
              <a:t>先把信息看清，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73B50"/>
                </a:solidFill>
                <a:latin typeface="Noto Sans CJK SC"/>
              </a:defRPr>
            </a:pPr>
            <a:r>
              <a:t>再把不确定问清。</a:t>
            </a:r>
          </a:p>
        </p:txBody>
      </p:sp>
      <p:sp>
        <p:nvSpPr>
          <p:cNvPr id="31" name="TextBox 8"/>
          <p:cNvSpPr txBox="1"/>
          <p:nvPr/>
        </p:nvSpPr>
        <p:spPr>
          <a:xfrm>
            <a:off x="16462247" y="1499616"/>
            <a:ext cx="1444752" cy="1179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000" b="1">
                <a:solidFill>
                  <a:srgbClr val="F2B1AA"/>
                </a:solidFill>
                <a:latin typeface="Noto Sans CJK SC"/>
              </a:defRPr>
            </a:pPr>
            <a:r>
              <a:t>看</a:t>
            </a:r>
          </a:p>
        </p:txBody>
      </p:sp>
      <p:sp>
        <p:nvSpPr>
          <p:cNvPr id="32" name="TextBox 9"/>
          <p:cNvSpPr txBox="1"/>
          <p:nvPr/>
        </p:nvSpPr>
        <p:spPr>
          <a:xfrm>
            <a:off x="16462247" y="2944368"/>
            <a:ext cx="327355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7F2E8"/>
                </a:solidFill>
                <a:latin typeface="Noto Sans CJK SC"/>
              </a:defRPr>
            </a:pPr>
            <a:r>
              <a:t>症状、说明书、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7F2E8"/>
                </a:solidFill>
                <a:latin typeface="Noto Sans CJK SC"/>
              </a:defRPr>
            </a:pPr>
            <a:r>
              <a:t>就医信号</a:t>
            </a:r>
          </a:p>
        </p:txBody>
      </p:sp>
      <p:sp>
        <p:nvSpPr>
          <p:cNvPr id="33" name="TextBox 10"/>
          <p:cNvSpPr txBox="1"/>
          <p:nvPr/>
        </p:nvSpPr>
        <p:spPr>
          <a:xfrm>
            <a:off x="20385023" y="1499616"/>
            <a:ext cx="1444752" cy="1179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000" b="1">
                <a:solidFill>
                  <a:srgbClr val="F2B1AA"/>
                </a:solidFill>
                <a:latin typeface="Noto Sans CJK SC"/>
              </a:defRPr>
            </a:pPr>
            <a:r>
              <a:t>核</a:t>
            </a:r>
          </a:p>
        </p:txBody>
      </p:sp>
      <p:sp>
        <p:nvSpPr>
          <p:cNvPr id="34" name="TextBox 11"/>
          <p:cNvSpPr txBox="1"/>
          <p:nvPr/>
        </p:nvSpPr>
        <p:spPr>
          <a:xfrm>
            <a:off x="20385023" y="2944368"/>
            <a:ext cx="327355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7F2E8"/>
                </a:solidFill>
                <a:latin typeface="Noto Sans CJK SC"/>
              </a:defRPr>
            </a:pPr>
            <a:r>
              <a:t>成分、用法、禁忌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7F2E8"/>
                </a:solidFill>
                <a:latin typeface="Noto Sans CJK SC"/>
              </a:defRPr>
            </a:pPr>
            <a:r>
              <a:t>与相互作用</a:t>
            </a:r>
          </a:p>
        </p:txBody>
      </p:sp>
      <p:sp>
        <p:nvSpPr>
          <p:cNvPr id="35" name="TextBox 12"/>
          <p:cNvSpPr txBox="1"/>
          <p:nvPr/>
        </p:nvSpPr>
        <p:spPr>
          <a:xfrm>
            <a:off x="16462247" y="4279392"/>
            <a:ext cx="1444752" cy="1179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000" b="1">
                <a:solidFill>
                  <a:srgbClr val="F2B1AA"/>
                </a:solidFill>
                <a:latin typeface="Noto Sans CJK SC"/>
              </a:defRPr>
            </a:pPr>
            <a:r>
              <a:t>问</a:t>
            </a:r>
          </a:p>
        </p:txBody>
      </p:sp>
      <p:sp>
        <p:nvSpPr>
          <p:cNvPr id="36" name="TextBox 13"/>
          <p:cNvSpPr txBox="1"/>
          <p:nvPr/>
        </p:nvSpPr>
        <p:spPr>
          <a:xfrm>
            <a:off x="16462247" y="5724144"/>
            <a:ext cx="327355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7F2E8"/>
                </a:solidFill>
                <a:latin typeface="Noto Sans CJK SC"/>
              </a:defRPr>
            </a:pPr>
            <a:r>
              <a:t>带齐信息，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7F2E8"/>
                </a:solidFill>
                <a:latin typeface="Noto Sans CJK SC"/>
              </a:defRPr>
            </a:pPr>
            <a:r>
              <a:t>问医生或药师</a:t>
            </a:r>
          </a:p>
        </p:txBody>
      </p:sp>
      <p:sp>
        <p:nvSpPr>
          <p:cNvPr id="37" name="TextBox 14"/>
          <p:cNvSpPr txBox="1"/>
          <p:nvPr/>
        </p:nvSpPr>
        <p:spPr>
          <a:xfrm>
            <a:off x="20385023" y="4279392"/>
            <a:ext cx="1444752" cy="1179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000" b="1">
                <a:solidFill>
                  <a:srgbClr val="F2B1AA"/>
                </a:solidFill>
                <a:latin typeface="Noto Sans CJK SC"/>
              </a:defRPr>
            </a:pPr>
            <a:r>
              <a:t>记</a:t>
            </a:r>
          </a:p>
        </p:txBody>
      </p:sp>
      <p:sp>
        <p:nvSpPr>
          <p:cNvPr id="38" name="TextBox 15"/>
          <p:cNvSpPr txBox="1"/>
          <p:nvPr/>
        </p:nvSpPr>
        <p:spPr>
          <a:xfrm>
            <a:off x="20385023" y="5724144"/>
            <a:ext cx="327355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7F2E8"/>
                </a:solidFill>
                <a:latin typeface="Noto Sans CJK SC"/>
              </a:defRPr>
            </a:pPr>
            <a:r>
              <a:t>药名、时间、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7F2E8"/>
                </a:solidFill>
                <a:latin typeface="Noto Sans CJK SC"/>
              </a:defRPr>
            </a:pPr>
            <a:r>
              <a:t>用量与反应</a:t>
            </a:r>
          </a:p>
        </p:txBody>
      </p:sp>
      <p:sp>
        <p:nvSpPr>
          <p:cNvPr id="39" name="Rectangle 16"/>
          <p:cNvSpPr/>
          <p:nvPr/>
        </p:nvSpPr>
        <p:spPr>
          <a:xfrm>
            <a:off x="16462247" y="3913632"/>
            <a:ext cx="7068312" cy="10972"/>
          </a:xfrm>
          <a:prstGeom prst="rect">
            <a:avLst/>
          </a:prstGeom>
          <a:solidFill>
            <a:srgbClr val="507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17"/>
          <p:cNvSpPr/>
          <p:nvPr/>
        </p:nvSpPr>
        <p:spPr>
          <a:xfrm>
            <a:off x="19863815" y="1572768"/>
            <a:ext cx="10972" cy="5285232"/>
          </a:xfrm>
          <a:prstGeom prst="rect">
            <a:avLst/>
          </a:prstGeom>
          <a:solidFill>
            <a:srgbClr val="507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18"/>
          <p:cNvSpPr txBox="1"/>
          <p:nvPr/>
        </p:nvSpPr>
        <p:spPr>
          <a:xfrm>
            <a:off x="22872191" y="711403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7F2E8"/>
                </a:solidFill>
                <a:latin typeface="Noto Sans CJK SC"/>
              </a:defRPr>
            </a:pPr>
            <a:r>
              <a:t>17 / 27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2191999" y="548640"/>
            <a:ext cx="14630" cy="6858000"/>
          </a:xfrm>
          <a:prstGeom prst="rect">
            <a:avLst/>
          </a:prstGeom>
          <a:solidFill>
            <a:srgbClr val="B6B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合理用药：给宿舍药箱上堂课</dc:title>
  <dc:subject>苏州大学选修课｜双人35分钟课堂展示</dc:subject>
  <dc:creator>课堂展示制作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