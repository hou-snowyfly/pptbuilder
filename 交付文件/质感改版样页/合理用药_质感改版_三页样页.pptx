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第5页｜甲主讲｜建议75秒</a:t>
            </a:r>
          </a:p>
          <a:p/>
          <a:p/>
          <a:p>
            <a:r>
              <a:t>甲：小周觉得头痛还没缓解，拿起另一盒感冒药。室友说，名字不同，一盒管头痛、一盒管感冒，听起来像双保险。三格漫画从不舒服，到听起来合理的建议，再把判断停在药盒背面。症状宣传不同，不代表有效成分不同。下一页不算剂量，只把成分摆在一起，看双保险有没有变成重复。</a:t>
            </a:r>
          </a:p>
          <a:p/>
          <a:p>
            <a:r>
              <a:t>视觉说明：成熟编辑三格：小周头痛、室友递第二盒、展开两份说明书；成人比例与克制表情。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key_stories.png｜R1C1｜症状仍在</a:t>
            </a:r>
          </a:p>
          <a:p>
            <a:r>
              <a:t>key_stories.png｜R1C2｜室友递第二盒</a:t>
            </a:r>
          </a:p>
          <a:p>
            <a:r>
              <a:t>key_stories.png｜R1C3｜展开两份说明书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第11页｜甲主讲｜建议110秒</a:t>
            </a:r>
          </a:p>
          <a:p/>
          <a:p/>
          <a:p>
            <a:r>
              <a:t>甲：上一页说普通感冒通常由病毒引起，抗生素没有相应治疗作用。为什么不能想着吃一点总没坏处？左边一百格中，高亮28格：CDC汇总至少28%的美国门诊抗生素处方被估计为不必要，所引研究该估计来自2014—2015年。这是美国门诊处方比例，不是中国大学生的发生率，其余格子也不代表全部合理。</a:t>
            </a:r>
          </a:p>
          <a:p>
            <a:r>
              <a:t>右边换成五个急诊图标：CDC介绍，药物相关急诊中，约五次就有一次来自抗生素反应。常见副作用包括皮疹、恶心、腹泻，严重时可出现严重过敏等。这里数的是药物反应相关急诊，不是所有急诊，不是说五个吃抗生素的人就有一个进急诊，也不能把所有这些事件都归为滥用。</a:t>
            </a:r>
          </a:p>
          <a:p>
            <a:r>
              <a:t>【留15秒读五个图标；问：若治疗不需要，额外承担这样的风险值不值？停10秒】</a:t>
            </a:r>
          </a:p>
          <a:p>
            <a:r>
              <a:t>甲：两幅图分别展示不必要的处方与药物反应造成的急诊负担，不能相乘推算个人概率。我们要带走的是：没有需要时吃抗生素，未必得到预期获益，却仍可能遇到副作用；确实需要时，规范使用的获益可以超过风险，不自行停药。下一页把结论换成三个实际动作。</a:t>
            </a:r>
          </a:p>
          <a:p/>
          <a:p>
            <a:r>
              <a:t>视觉说明：双图并排：左侧100格中28格珊瑚红高亮，右侧五个急诊图标中一个红色突出抗生素反应。正文写清药物副作用导致的急诊这一分母；数据年份、范围和来源保留在备注和附页。</a:t>
            </a:r>
          </a:p>
          <a:p/>
          <a:p>
            <a:r>
              <a:t>参考：</a:t>
            </a:r>
          </a:p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第17页｜乙主讲｜建议60秒</a:t>
            </a:r>
          </a:p>
          <a:p/>
          <a:p/>
          <a:p>
            <a:r>
              <a:t>乙：第三部分，我们把前面的例子浓缩成四个动作：看、核、问、记。看，是观察症状，也看说明书和需要就医的信号。核，是核对成分有没有重复，剂量与时间是否符合要求，自己有没有相关禁忌。问，是把不确定的地方交给医生或药师确认，不用猜测填空。记，是记录已经用过的药、时间、用量以及出现的反应。上一题选C，就把“这盒药能不能配酒”的不确定性变成了一个清楚的咨询问题。这四步是课堂助记法，不是替代诊疗的专业流程。</a:t>
            </a:r>
          </a:p>
          <a:p>
            <a:r>
              <a:t>乙：下一页从“看”开始，把说明书里会影响判断的信息找出来。</a:t>
            </a:r>
          </a:p>
          <a:p/>
          <a:p>
            <a:r>
              <a:t>视觉说明：无插图四格方法框架，放大看核问记。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3B50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57784"/>
            <a:ext cx="10991088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B50"/>
                </a:solidFill>
                <a:latin typeface="Noto Sans CJK SC"/>
              </a:defRPr>
            </a:pPr>
            <a:r>
              <a:t>两盒药，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B50"/>
                </a:solidFill>
                <a:latin typeface="Noto Sans CJK SC"/>
              </a:defRPr>
            </a:pPr>
            <a:r>
              <a:t>是“双保险”还是撞车？</a:t>
            </a:r>
          </a:p>
        </p:txBody>
      </p:sp>
      <p:pic>
        <p:nvPicPr>
          <p:cNvPr id="6" name="EDITORIAL_KEY_R1_C1" descr="image.png"/>
          <p:cNvPicPr>
            <a:picLocks noChangeAspect="1"/>
          </p:cNvPicPr>
          <p:nvPr/>
        </p:nvPicPr>
        <p:blipFill>
          <a:blip r:embed="rId4"/>
          <a:srcRect l="218" r="67470" b="67773"/>
          <a:stretch>
            <a:fillRect/>
          </a:stretch>
        </p:blipFill>
        <p:spPr>
          <a:xfrm>
            <a:off x="0" y="2084831"/>
            <a:ext cx="5885931" cy="39136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0896" y="6062472"/>
            <a:ext cx="5504688" cy="420624"/>
          </a:xfrm>
          <a:prstGeom prst="rect">
            <a:avLst/>
          </a:prstGeom>
          <a:gradFill rotWithShape="1">
            <a:gsLst>
              <a:gs pos="0">
                <a:srgbClr val="EFE5D7"/>
              </a:gs>
              <a:gs pos="100000">
                <a:srgbClr val="F7F2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6089904"/>
            <a:ext cx="52303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B50"/>
                </a:solidFill>
                <a:latin typeface="Noto Sans CJK SC"/>
              </a:defRPr>
            </a:pPr>
            <a:r>
              <a:t>头痛还在，要不再加一盒？</a:t>
            </a:r>
          </a:p>
        </p:txBody>
      </p:sp>
      <p:pic>
        <p:nvPicPr>
          <p:cNvPr id="9" name="EDITORIAL_KEY_R1_C2" descr="image.png"/>
          <p:cNvPicPr>
            <a:picLocks noChangeAspect="1"/>
          </p:cNvPicPr>
          <p:nvPr/>
        </p:nvPicPr>
        <p:blipFill>
          <a:blip r:embed="rId4"/>
          <a:srcRect l="33844" r="33844" b="67773"/>
          <a:stretch>
            <a:fillRect/>
          </a:stretch>
        </p:blipFill>
        <p:spPr>
          <a:xfrm>
            <a:off x="6519672" y="2020824"/>
            <a:ext cx="2505456" cy="166591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53728" y="2276856"/>
            <a:ext cx="2322576" cy="1097280"/>
          </a:xfrm>
          <a:prstGeom prst="rect">
            <a:avLst/>
          </a:prstGeom>
          <a:gradFill rotWithShape="1">
            <a:gsLst>
              <a:gs pos="0">
                <a:srgbClr val="EFE5D7"/>
              </a:gs>
              <a:gs pos="100000">
                <a:srgbClr val="F7F2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09176" y="2414016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名字不同，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应该不重复吧？</a:t>
            </a:r>
          </a:p>
        </p:txBody>
      </p:sp>
      <p:pic>
        <p:nvPicPr>
          <p:cNvPr id="12" name="EDITORIAL_KEY_R1_C3" descr="image.png"/>
          <p:cNvPicPr>
            <a:picLocks noChangeAspect="1"/>
          </p:cNvPicPr>
          <p:nvPr/>
        </p:nvPicPr>
        <p:blipFill>
          <a:blip r:embed="rId4"/>
          <a:srcRect l="67438" r="250" b="67773"/>
          <a:stretch>
            <a:fillRect/>
          </a:stretch>
        </p:blipFill>
        <p:spPr>
          <a:xfrm>
            <a:off x="6519672" y="3877056"/>
            <a:ext cx="2505456" cy="166591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253728" y="4133088"/>
            <a:ext cx="2322576" cy="1097280"/>
          </a:xfrm>
          <a:prstGeom prst="rect">
            <a:avLst/>
          </a:prstGeom>
          <a:gradFill rotWithShape="1">
            <a:gsLst>
              <a:gs pos="0">
                <a:srgbClr val="EFE5D7"/>
              </a:gs>
              <a:gs pos="100000">
                <a:srgbClr val="F7F2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09176" y="4270248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药盒不同，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里面的成分呢？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9672" y="5779008"/>
            <a:ext cx="5056632" cy="731520"/>
          </a:xfrm>
          <a:prstGeom prst="rect">
            <a:avLst/>
          </a:prstGeom>
          <a:gradFill rotWithShape="1">
            <a:gsLst>
              <a:gs pos="0">
                <a:srgbClr val="143446"/>
              </a:gs>
              <a:gs pos="100000">
                <a:srgbClr val="23485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5843016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7F2E8"/>
                </a:solidFill>
                <a:latin typeface="Noto Sans CJK SC"/>
              </a:defRPr>
            </a:pPr>
            <a:r>
              <a:t>包装不同，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7F2E8"/>
                </a:solidFill>
                <a:latin typeface="Noto Sans CJK SC"/>
              </a:defRPr>
            </a:pPr>
            <a:r>
              <a:t>也可能含有同一成分。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3B50"/>
                </a:solidFill>
                <a:latin typeface="Noto Sans CJK SC"/>
              </a:defRPr>
            </a:pPr>
            <a:r>
              <a:t>05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791456" cy="6858000"/>
          </a:xfrm>
          <a:prstGeom prst="rect">
            <a:avLst/>
          </a:prstGeom>
          <a:gradFill rotWithShape="1">
            <a:gsLst>
              <a:gs pos="0">
                <a:srgbClr val="122C3C"/>
              </a:gs>
              <a:gs pos="100000">
                <a:srgbClr val="254B6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7F2E8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50976"/>
            <a:ext cx="3730752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2E8"/>
                </a:solidFill>
                <a:latin typeface="Noto Sans CJK SC"/>
              </a:defRPr>
            </a:pPr>
            <a:r>
              <a:t>不需要的抗生素，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2E8"/>
                </a:solidFill>
                <a:latin typeface="Noto Sans CJK SC"/>
              </a:defRPr>
            </a:pPr>
            <a:r>
              <a:t>也可能带来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2E8"/>
                </a:solidFill>
                <a:latin typeface="Noto Sans CJK SC"/>
              </a:defRPr>
            </a:pPr>
            <a:r>
              <a:t>真实伤害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4517136"/>
            <a:ext cx="457200" cy="41148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010912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7F2E8"/>
                </a:solidFill>
                <a:latin typeface="Noto Sans CJK SC"/>
              </a:defRPr>
            </a:pPr>
            <a:r>
              <a:t>没有治疗需要，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7F2E8"/>
                </a:solidFill>
                <a:latin typeface="Noto Sans CJK SC"/>
              </a:defRPr>
            </a:pPr>
            <a:r>
              <a:t>也要承担用药风险。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8384" y="48463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D95361"/>
                </a:solidFill>
                <a:latin typeface="Noto Sans CJK SC"/>
              </a:defRPr>
            </a:pPr>
            <a:r>
              <a:t>至少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941832"/>
            <a:ext cx="3081528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800" b="1">
                <a:solidFill>
                  <a:srgbClr val="D95361"/>
                </a:solidFill>
                <a:latin typeface="Noto Sans CJK SC"/>
              </a:defRPr>
            </a:pPr>
            <a:r>
              <a:t>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8384" y="2276856"/>
            <a:ext cx="299008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美国门诊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抗生素处方</a:t>
            </a:r>
          </a:p>
        </p:txBody>
      </p:sp>
      <p:sp>
        <p:nvSpPr>
          <p:cNvPr id="12" name="DATA_GRID_001_HIGHLIGHT"/>
          <p:cNvSpPr/>
          <p:nvPr/>
        </p:nvSpPr>
        <p:spPr>
          <a:xfrm>
            <a:off x="8814816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ATA_GRID_002_HIGHLIGHT"/>
          <p:cNvSpPr/>
          <p:nvPr/>
        </p:nvSpPr>
        <p:spPr>
          <a:xfrm>
            <a:off x="9064447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ATA_GRID_003_HIGHLIGHT"/>
          <p:cNvSpPr/>
          <p:nvPr/>
        </p:nvSpPr>
        <p:spPr>
          <a:xfrm>
            <a:off x="9314078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TA_GRID_004_HIGHLIGHT"/>
          <p:cNvSpPr/>
          <p:nvPr/>
        </p:nvSpPr>
        <p:spPr>
          <a:xfrm>
            <a:off x="9563709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_GRID_005_HIGHLIGHT"/>
          <p:cNvSpPr/>
          <p:nvPr/>
        </p:nvSpPr>
        <p:spPr>
          <a:xfrm>
            <a:off x="9813340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_GRID_006_HIGHLIGHT"/>
          <p:cNvSpPr/>
          <p:nvPr/>
        </p:nvSpPr>
        <p:spPr>
          <a:xfrm>
            <a:off x="10062972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ATA_GRID_007_HIGHLIGHT"/>
          <p:cNvSpPr/>
          <p:nvPr/>
        </p:nvSpPr>
        <p:spPr>
          <a:xfrm>
            <a:off x="10312603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TA_GRID_008_HIGHLIGHT"/>
          <p:cNvSpPr/>
          <p:nvPr/>
        </p:nvSpPr>
        <p:spPr>
          <a:xfrm>
            <a:off x="10562234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TA_GRID_009_HIGHLIGHT"/>
          <p:cNvSpPr/>
          <p:nvPr/>
        </p:nvSpPr>
        <p:spPr>
          <a:xfrm>
            <a:off x="10811865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ATA_GRID_010_HIGHLIGHT"/>
          <p:cNvSpPr/>
          <p:nvPr/>
        </p:nvSpPr>
        <p:spPr>
          <a:xfrm>
            <a:off x="11061496" y="6217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ATA_GRID_011_HIGHLIGHT"/>
          <p:cNvSpPr/>
          <p:nvPr/>
        </p:nvSpPr>
        <p:spPr>
          <a:xfrm>
            <a:off x="8814816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ATA_GRID_012_HIGHLIGHT"/>
          <p:cNvSpPr/>
          <p:nvPr/>
        </p:nvSpPr>
        <p:spPr>
          <a:xfrm>
            <a:off x="9064447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_GRID_013_HIGHLIGHT"/>
          <p:cNvSpPr/>
          <p:nvPr/>
        </p:nvSpPr>
        <p:spPr>
          <a:xfrm>
            <a:off x="9314078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_GRID_014_HIGHLIGHT"/>
          <p:cNvSpPr/>
          <p:nvPr/>
        </p:nvSpPr>
        <p:spPr>
          <a:xfrm>
            <a:off x="9563709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ATA_GRID_015_HIGHLIGHT"/>
          <p:cNvSpPr/>
          <p:nvPr/>
        </p:nvSpPr>
        <p:spPr>
          <a:xfrm>
            <a:off x="9813340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ATA_GRID_016_HIGHLIGHT"/>
          <p:cNvSpPr/>
          <p:nvPr/>
        </p:nvSpPr>
        <p:spPr>
          <a:xfrm>
            <a:off x="10062972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ATA_GRID_017_HIGHLIGHT"/>
          <p:cNvSpPr/>
          <p:nvPr/>
        </p:nvSpPr>
        <p:spPr>
          <a:xfrm>
            <a:off x="10312603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ATA_GRID_018_HIGHLIGHT"/>
          <p:cNvSpPr/>
          <p:nvPr/>
        </p:nvSpPr>
        <p:spPr>
          <a:xfrm>
            <a:off x="10562234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ATA_GRID_019_HIGHLIGHT"/>
          <p:cNvSpPr/>
          <p:nvPr/>
        </p:nvSpPr>
        <p:spPr>
          <a:xfrm>
            <a:off x="10811865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ATA_GRID_020_HIGHLIGHT"/>
          <p:cNvSpPr/>
          <p:nvPr/>
        </p:nvSpPr>
        <p:spPr>
          <a:xfrm>
            <a:off x="11061496" y="87142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ATA_GRID_021_HIGHLIGHT"/>
          <p:cNvSpPr/>
          <p:nvPr/>
        </p:nvSpPr>
        <p:spPr>
          <a:xfrm>
            <a:off x="8814816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ATA_GRID_022_HIGHLIGHT"/>
          <p:cNvSpPr/>
          <p:nvPr/>
        </p:nvSpPr>
        <p:spPr>
          <a:xfrm>
            <a:off x="9064447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ATA_GRID_023_HIGHLIGHT"/>
          <p:cNvSpPr/>
          <p:nvPr/>
        </p:nvSpPr>
        <p:spPr>
          <a:xfrm>
            <a:off x="9314078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ATA_GRID_024_HIGHLIGHT"/>
          <p:cNvSpPr/>
          <p:nvPr/>
        </p:nvSpPr>
        <p:spPr>
          <a:xfrm>
            <a:off x="9563709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ATA_GRID_025_HIGHLIGHT"/>
          <p:cNvSpPr/>
          <p:nvPr/>
        </p:nvSpPr>
        <p:spPr>
          <a:xfrm>
            <a:off x="9813340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TA_GRID_026_HIGHLIGHT"/>
          <p:cNvSpPr/>
          <p:nvPr/>
        </p:nvSpPr>
        <p:spPr>
          <a:xfrm>
            <a:off x="10062972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ATA_GRID_027_HIGHLIGHT"/>
          <p:cNvSpPr/>
          <p:nvPr/>
        </p:nvSpPr>
        <p:spPr>
          <a:xfrm>
            <a:off x="10312603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ATA_GRID_028_HIGHLIGHT"/>
          <p:cNvSpPr/>
          <p:nvPr/>
        </p:nvSpPr>
        <p:spPr>
          <a:xfrm>
            <a:off x="10562234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ATA_GRID_029_REST"/>
          <p:cNvSpPr/>
          <p:nvPr/>
        </p:nvSpPr>
        <p:spPr>
          <a:xfrm>
            <a:off x="10811865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ATA_GRID_030_REST"/>
          <p:cNvSpPr/>
          <p:nvPr/>
        </p:nvSpPr>
        <p:spPr>
          <a:xfrm>
            <a:off x="11061496" y="112105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ATA_GRID_031_REST"/>
          <p:cNvSpPr/>
          <p:nvPr/>
        </p:nvSpPr>
        <p:spPr>
          <a:xfrm>
            <a:off x="8814816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ATA_GRID_032_REST"/>
          <p:cNvSpPr/>
          <p:nvPr/>
        </p:nvSpPr>
        <p:spPr>
          <a:xfrm>
            <a:off x="9064447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ATA_GRID_033_REST"/>
          <p:cNvSpPr/>
          <p:nvPr/>
        </p:nvSpPr>
        <p:spPr>
          <a:xfrm>
            <a:off x="9314078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ATA_GRID_034_REST"/>
          <p:cNvSpPr/>
          <p:nvPr/>
        </p:nvSpPr>
        <p:spPr>
          <a:xfrm>
            <a:off x="9563709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ATA_GRID_035_REST"/>
          <p:cNvSpPr/>
          <p:nvPr/>
        </p:nvSpPr>
        <p:spPr>
          <a:xfrm>
            <a:off x="9813340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ATA_GRID_036_REST"/>
          <p:cNvSpPr/>
          <p:nvPr/>
        </p:nvSpPr>
        <p:spPr>
          <a:xfrm>
            <a:off x="10062972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ATA_GRID_037_REST"/>
          <p:cNvSpPr/>
          <p:nvPr/>
        </p:nvSpPr>
        <p:spPr>
          <a:xfrm>
            <a:off x="10312603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ATA_GRID_038_REST"/>
          <p:cNvSpPr/>
          <p:nvPr/>
        </p:nvSpPr>
        <p:spPr>
          <a:xfrm>
            <a:off x="10562234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ATA_GRID_039_REST"/>
          <p:cNvSpPr/>
          <p:nvPr/>
        </p:nvSpPr>
        <p:spPr>
          <a:xfrm>
            <a:off x="10811865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ATA_GRID_040_REST"/>
          <p:cNvSpPr/>
          <p:nvPr/>
        </p:nvSpPr>
        <p:spPr>
          <a:xfrm>
            <a:off x="11061496" y="137068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ATA_GRID_041_REST"/>
          <p:cNvSpPr/>
          <p:nvPr/>
        </p:nvSpPr>
        <p:spPr>
          <a:xfrm>
            <a:off x="8814816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ATA_GRID_042_REST"/>
          <p:cNvSpPr/>
          <p:nvPr/>
        </p:nvSpPr>
        <p:spPr>
          <a:xfrm>
            <a:off x="9064447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ATA_GRID_043_REST"/>
          <p:cNvSpPr/>
          <p:nvPr/>
        </p:nvSpPr>
        <p:spPr>
          <a:xfrm>
            <a:off x="9314078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ATA_GRID_044_REST"/>
          <p:cNvSpPr/>
          <p:nvPr/>
        </p:nvSpPr>
        <p:spPr>
          <a:xfrm>
            <a:off x="9563709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ATA_GRID_045_REST"/>
          <p:cNvSpPr/>
          <p:nvPr/>
        </p:nvSpPr>
        <p:spPr>
          <a:xfrm>
            <a:off x="9813340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ATA_GRID_046_REST"/>
          <p:cNvSpPr/>
          <p:nvPr/>
        </p:nvSpPr>
        <p:spPr>
          <a:xfrm>
            <a:off x="10062972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ATA_GRID_047_REST"/>
          <p:cNvSpPr/>
          <p:nvPr/>
        </p:nvSpPr>
        <p:spPr>
          <a:xfrm>
            <a:off x="10312603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ATA_GRID_048_REST"/>
          <p:cNvSpPr/>
          <p:nvPr/>
        </p:nvSpPr>
        <p:spPr>
          <a:xfrm>
            <a:off x="10562234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ATA_GRID_049_REST"/>
          <p:cNvSpPr/>
          <p:nvPr/>
        </p:nvSpPr>
        <p:spPr>
          <a:xfrm>
            <a:off x="10811865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ATA_GRID_050_REST"/>
          <p:cNvSpPr/>
          <p:nvPr/>
        </p:nvSpPr>
        <p:spPr>
          <a:xfrm>
            <a:off x="11061496" y="162031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ATA_GRID_051_REST"/>
          <p:cNvSpPr/>
          <p:nvPr/>
        </p:nvSpPr>
        <p:spPr>
          <a:xfrm>
            <a:off x="8814816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ATA_GRID_052_REST"/>
          <p:cNvSpPr/>
          <p:nvPr/>
        </p:nvSpPr>
        <p:spPr>
          <a:xfrm>
            <a:off x="9064447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ATA_GRID_053_REST"/>
          <p:cNvSpPr/>
          <p:nvPr/>
        </p:nvSpPr>
        <p:spPr>
          <a:xfrm>
            <a:off x="9314078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ATA_GRID_054_REST"/>
          <p:cNvSpPr/>
          <p:nvPr/>
        </p:nvSpPr>
        <p:spPr>
          <a:xfrm>
            <a:off x="9563709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ATA_GRID_055_REST"/>
          <p:cNvSpPr/>
          <p:nvPr/>
        </p:nvSpPr>
        <p:spPr>
          <a:xfrm>
            <a:off x="9813340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ATA_GRID_056_REST"/>
          <p:cNvSpPr/>
          <p:nvPr/>
        </p:nvSpPr>
        <p:spPr>
          <a:xfrm>
            <a:off x="10062972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ATA_GRID_057_REST"/>
          <p:cNvSpPr/>
          <p:nvPr/>
        </p:nvSpPr>
        <p:spPr>
          <a:xfrm>
            <a:off x="10312603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ATA_GRID_058_REST"/>
          <p:cNvSpPr/>
          <p:nvPr/>
        </p:nvSpPr>
        <p:spPr>
          <a:xfrm>
            <a:off x="10562234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ATA_GRID_059_REST"/>
          <p:cNvSpPr/>
          <p:nvPr/>
        </p:nvSpPr>
        <p:spPr>
          <a:xfrm>
            <a:off x="10811865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ATA_GRID_060_REST"/>
          <p:cNvSpPr/>
          <p:nvPr/>
        </p:nvSpPr>
        <p:spPr>
          <a:xfrm>
            <a:off x="11061496" y="186994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ATA_GRID_061_REST"/>
          <p:cNvSpPr/>
          <p:nvPr/>
        </p:nvSpPr>
        <p:spPr>
          <a:xfrm>
            <a:off x="8814816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ATA_GRID_062_REST"/>
          <p:cNvSpPr/>
          <p:nvPr/>
        </p:nvSpPr>
        <p:spPr>
          <a:xfrm>
            <a:off x="9064447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ATA_GRID_063_REST"/>
          <p:cNvSpPr/>
          <p:nvPr/>
        </p:nvSpPr>
        <p:spPr>
          <a:xfrm>
            <a:off x="9314078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ATA_GRID_064_REST"/>
          <p:cNvSpPr/>
          <p:nvPr/>
        </p:nvSpPr>
        <p:spPr>
          <a:xfrm>
            <a:off x="9563709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ATA_GRID_065_REST"/>
          <p:cNvSpPr/>
          <p:nvPr/>
        </p:nvSpPr>
        <p:spPr>
          <a:xfrm>
            <a:off x="9813340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ATA_GRID_066_REST"/>
          <p:cNvSpPr/>
          <p:nvPr/>
        </p:nvSpPr>
        <p:spPr>
          <a:xfrm>
            <a:off x="10062972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ATA_GRID_067_REST"/>
          <p:cNvSpPr/>
          <p:nvPr/>
        </p:nvSpPr>
        <p:spPr>
          <a:xfrm>
            <a:off x="10312603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ATA_GRID_068_REST"/>
          <p:cNvSpPr/>
          <p:nvPr/>
        </p:nvSpPr>
        <p:spPr>
          <a:xfrm>
            <a:off x="10562234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ATA_GRID_069_REST"/>
          <p:cNvSpPr/>
          <p:nvPr/>
        </p:nvSpPr>
        <p:spPr>
          <a:xfrm>
            <a:off x="10811865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ATA_GRID_070_REST"/>
          <p:cNvSpPr/>
          <p:nvPr/>
        </p:nvSpPr>
        <p:spPr>
          <a:xfrm>
            <a:off x="11061496" y="211957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ATA_GRID_071_REST"/>
          <p:cNvSpPr/>
          <p:nvPr/>
        </p:nvSpPr>
        <p:spPr>
          <a:xfrm>
            <a:off x="8814816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ATA_GRID_072_REST"/>
          <p:cNvSpPr/>
          <p:nvPr/>
        </p:nvSpPr>
        <p:spPr>
          <a:xfrm>
            <a:off x="9064447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ATA_GRID_073_REST"/>
          <p:cNvSpPr/>
          <p:nvPr/>
        </p:nvSpPr>
        <p:spPr>
          <a:xfrm>
            <a:off x="9314078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ATA_GRID_074_REST"/>
          <p:cNvSpPr/>
          <p:nvPr/>
        </p:nvSpPr>
        <p:spPr>
          <a:xfrm>
            <a:off x="9563709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ATA_GRID_075_REST"/>
          <p:cNvSpPr/>
          <p:nvPr/>
        </p:nvSpPr>
        <p:spPr>
          <a:xfrm>
            <a:off x="9813340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ATA_GRID_076_REST"/>
          <p:cNvSpPr/>
          <p:nvPr/>
        </p:nvSpPr>
        <p:spPr>
          <a:xfrm>
            <a:off x="10062972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ATA_GRID_077_REST"/>
          <p:cNvSpPr/>
          <p:nvPr/>
        </p:nvSpPr>
        <p:spPr>
          <a:xfrm>
            <a:off x="10312603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ATA_GRID_078_REST"/>
          <p:cNvSpPr/>
          <p:nvPr/>
        </p:nvSpPr>
        <p:spPr>
          <a:xfrm>
            <a:off x="10562234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ATA_GRID_079_REST"/>
          <p:cNvSpPr/>
          <p:nvPr/>
        </p:nvSpPr>
        <p:spPr>
          <a:xfrm>
            <a:off x="10811865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ATA_GRID_080_REST"/>
          <p:cNvSpPr/>
          <p:nvPr/>
        </p:nvSpPr>
        <p:spPr>
          <a:xfrm>
            <a:off x="11061496" y="236921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ATA_GRID_081_REST"/>
          <p:cNvSpPr/>
          <p:nvPr/>
        </p:nvSpPr>
        <p:spPr>
          <a:xfrm>
            <a:off x="8814816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ATA_GRID_082_REST"/>
          <p:cNvSpPr/>
          <p:nvPr/>
        </p:nvSpPr>
        <p:spPr>
          <a:xfrm>
            <a:off x="9064447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ATA_GRID_083_REST"/>
          <p:cNvSpPr/>
          <p:nvPr/>
        </p:nvSpPr>
        <p:spPr>
          <a:xfrm>
            <a:off x="9314078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ATA_GRID_084_REST"/>
          <p:cNvSpPr/>
          <p:nvPr/>
        </p:nvSpPr>
        <p:spPr>
          <a:xfrm>
            <a:off x="9563709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ATA_GRID_085_REST"/>
          <p:cNvSpPr/>
          <p:nvPr/>
        </p:nvSpPr>
        <p:spPr>
          <a:xfrm>
            <a:off x="9813340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ATA_GRID_086_REST"/>
          <p:cNvSpPr/>
          <p:nvPr/>
        </p:nvSpPr>
        <p:spPr>
          <a:xfrm>
            <a:off x="10062972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ATA_GRID_087_REST"/>
          <p:cNvSpPr/>
          <p:nvPr/>
        </p:nvSpPr>
        <p:spPr>
          <a:xfrm>
            <a:off x="10312603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ATA_GRID_088_REST"/>
          <p:cNvSpPr/>
          <p:nvPr/>
        </p:nvSpPr>
        <p:spPr>
          <a:xfrm>
            <a:off x="10562234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ATA_GRID_089_REST"/>
          <p:cNvSpPr/>
          <p:nvPr/>
        </p:nvSpPr>
        <p:spPr>
          <a:xfrm>
            <a:off x="10811865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ATA_GRID_090_REST"/>
          <p:cNvSpPr/>
          <p:nvPr/>
        </p:nvSpPr>
        <p:spPr>
          <a:xfrm>
            <a:off x="11061496" y="261884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ATA_GRID_091_REST"/>
          <p:cNvSpPr/>
          <p:nvPr/>
        </p:nvSpPr>
        <p:spPr>
          <a:xfrm>
            <a:off x="8814816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ATA_GRID_092_REST"/>
          <p:cNvSpPr/>
          <p:nvPr/>
        </p:nvSpPr>
        <p:spPr>
          <a:xfrm>
            <a:off x="9064447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ATA_GRID_093_REST"/>
          <p:cNvSpPr/>
          <p:nvPr/>
        </p:nvSpPr>
        <p:spPr>
          <a:xfrm>
            <a:off x="9314078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ATA_GRID_094_REST"/>
          <p:cNvSpPr/>
          <p:nvPr/>
        </p:nvSpPr>
        <p:spPr>
          <a:xfrm>
            <a:off x="9563709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ATA_GRID_095_REST"/>
          <p:cNvSpPr/>
          <p:nvPr/>
        </p:nvSpPr>
        <p:spPr>
          <a:xfrm>
            <a:off x="9813340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ATA_GRID_096_REST"/>
          <p:cNvSpPr/>
          <p:nvPr/>
        </p:nvSpPr>
        <p:spPr>
          <a:xfrm>
            <a:off x="10062972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DATA_GRID_097_REST"/>
          <p:cNvSpPr/>
          <p:nvPr/>
        </p:nvSpPr>
        <p:spPr>
          <a:xfrm>
            <a:off x="10312603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ATA_GRID_098_REST"/>
          <p:cNvSpPr/>
          <p:nvPr/>
        </p:nvSpPr>
        <p:spPr>
          <a:xfrm>
            <a:off x="10562234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ATA_GRID_099_REST"/>
          <p:cNvSpPr/>
          <p:nvPr/>
        </p:nvSpPr>
        <p:spPr>
          <a:xfrm>
            <a:off x="10811865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ATA_GRID_100_REST"/>
          <p:cNvSpPr/>
          <p:nvPr/>
        </p:nvSpPr>
        <p:spPr>
          <a:xfrm>
            <a:off x="11061496" y="286847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58384" y="309981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被估计为不必要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58384" y="3703320"/>
            <a:ext cx="6217920" cy="14630"/>
          </a:xfrm>
          <a:prstGeom prst="rect">
            <a:avLst/>
          </a:prstGeom>
          <a:solidFill>
            <a:srgbClr val="CF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58384" y="3922776"/>
            <a:ext cx="62179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药物副作用导致的急诊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58384" y="4517136"/>
            <a:ext cx="4169663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D95361"/>
                </a:solidFill>
                <a:latin typeface="Noto Sans CJK SC"/>
              </a:defRPr>
            </a:pPr>
            <a:r>
              <a:t>5次中，约1次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91472" y="4535424"/>
            <a:ext cx="20848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B50"/>
                </a:solidFill>
                <a:latin typeface="Noto Sans CJK SC"/>
              </a:defRPr>
            </a:pPr>
            <a:r>
              <a:t>涉及抗生素反应</a:t>
            </a:r>
          </a:p>
        </p:txBody>
      </p:sp>
      <p:sp>
        <p:nvSpPr>
          <p:cNvPr id="117" name="DATA_ED_1_HIGHLIGHT"/>
          <p:cNvSpPr/>
          <p:nvPr/>
        </p:nvSpPr>
        <p:spPr>
          <a:xfrm>
            <a:off x="5385816" y="528523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766206" y="543153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642579" y="550468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794735" y="587959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537972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080028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ATA_ED_2_REST"/>
          <p:cNvSpPr/>
          <p:nvPr/>
        </p:nvSpPr>
        <p:spPr>
          <a:xfrm>
            <a:off x="6633972" y="528523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14362" y="543153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890735" y="550468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042891" y="587959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786128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328184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ATA_ED_3_REST"/>
          <p:cNvSpPr/>
          <p:nvPr/>
        </p:nvSpPr>
        <p:spPr>
          <a:xfrm>
            <a:off x="7882127" y="528523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262518" y="543153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138891" y="550468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291047" y="587959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034284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576340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ATA_ED_4_REST"/>
          <p:cNvSpPr/>
          <p:nvPr/>
        </p:nvSpPr>
        <p:spPr>
          <a:xfrm>
            <a:off x="9130284" y="528523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510674" y="543153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387047" y="550468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539203" y="587959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282440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824496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DATA_ED_5_REST"/>
          <p:cNvSpPr/>
          <p:nvPr/>
        </p:nvSpPr>
        <p:spPr>
          <a:xfrm>
            <a:off x="10378440" y="528523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758830" y="543153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635203" y="550468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787359" y="587959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530596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072652" y="579729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358384" y="6373368"/>
            <a:ext cx="6217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B50"/>
                </a:solidFill>
                <a:latin typeface="Noto Sans CJK SC"/>
              </a:defRPr>
            </a:pPr>
            <a:r>
              <a:t>皮疹、腹泻，也可能严重过敏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3B50"/>
                </a:solidFill>
                <a:latin typeface="Noto Sans CJK SC"/>
              </a:defRPr>
            </a:pPr>
            <a:r>
              <a:t>11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21608" y="0"/>
            <a:ext cx="8470391" cy="6858000"/>
          </a:xfrm>
          <a:prstGeom prst="rect">
            <a:avLst/>
          </a:prstGeom>
          <a:gradFill rotWithShape="1">
            <a:gsLst>
              <a:gs pos="0">
                <a:srgbClr val="18374A"/>
              </a:gs>
              <a:gs pos="100000">
                <a:srgbClr val="29516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3B50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2688336" cy="281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B50"/>
                </a:solidFill>
                <a:latin typeface="Noto Sans CJK SC"/>
              </a:defRPr>
            </a:pPr>
            <a:r>
              <a:t>从四个案例，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B50"/>
                </a:solidFill>
                <a:latin typeface="Noto Sans CJK SC"/>
              </a:defRPr>
            </a:pPr>
            <a:r>
              <a:t>走到四个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B50"/>
                </a:solidFill>
                <a:latin typeface="Noto Sans CJK SC"/>
              </a:defRPr>
            </a:pPr>
            <a:r>
              <a:t>用药动作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4315968"/>
            <a:ext cx="457200" cy="41148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268833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B50"/>
                </a:solidFill>
                <a:latin typeface="Noto Sans CJK SC"/>
              </a:defRPr>
            </a:pPr>
            <a:r>
              <a:t>先把信息看清，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B50"/>
                </a:solidFill>
                <a:latin typeface="Noto Sans CJK SC"/>
              </a:defRPr>
            </a:pPr>
            <a:r>
              <a:t>再把不确定问清。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950976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95728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症状、说明书、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就医信号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4" y="950976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4" y="2395728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成分、用法、禁忌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与相互作用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3730752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5175504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带齐信息，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问医生或药师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3730752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5175504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药名、时间、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用量与反应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3364992"/>
            <a:ext cx="7068312" cy="10972"/>
          </a:xfrm>
          <a:prstGeom prst="rect">
            <a:avLst/>
          </a:prstGeom>
          <a:solidFill>
            <a:srgbClr val="50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71816" y="1024128"/>
            <a:ext cx="10972" cy="5285232"/>
          </a:xfrm>
          <a:prstGeom prst="rect">
            <a:avLst/>
          </a:prstGeom>
          <a:solidFill>
            <a:srgbClr val="50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7F2E8"/>
                </a:solidFill>
                <a:latin typeface="Noto Sans CJK SC"/>
              </a:defRPr>
            </a:pPr>
            <a:r>
              <a:t>17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