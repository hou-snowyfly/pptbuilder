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四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视觉说明：蓝底白字封面，右侧为手持药片的真实照片。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第2页｜甲主讲｜建议45秒</a:t>
            </a:r>
          </a:p>
          <a:p>
            <a:r>
              <a:t>移至封面后的第2页；先交代路线，再进入原第2页的开场选择题，不提前揭晓答案。</a:t>
            </a:r>
          </a:p>
          <a:p/>
          <a:p>
            <a:r>
              <a:t>甲：先看路线图。前五分钟建立判断原则；接着用十七分钟看四类校园误区：重复成分、抗生素、抗过敏药以及药物与饮酒。然后八分钟练习安全用药，最后五分钟替小苏做综合选择。甲负责前半段，乙接着讲机制与行动，举手互动已计入时间。大家不用背药名或算剂量，只选更有依据的下一步。现在进入第一个情境：室友感冒了，你会先做哪一步？</a:t>
            </a:r>
          </a:p>
          <a:p/>
          <a:p>
            <a:r>
              <a:t>视觉说明：四段路线卡各配一张校园、药房或医疗空间的真实照片。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George Pak｜https://www.pexels.com/photo/7972512/｜Pexels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National Cancer Institute｜https://unsplash.com/photos/pharmacist-reaching-for-medication-on-shelf-byGTytEGjBo｜Unsplash License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甲：小苏流鼻涕、喉咙不舒服，明天还有课。药箱里有上次剩下的药，室友也递来一盒。沿用经验、先核信息、按症状挑药，三个方案都像是在解决问题。信息还不完整时，你选哪一个第一步？</a:t>
            </a:r>
          </a:p>
          <a:p>
            <a:r>
              <a:t>【静默10秒；A、B、C依次举手，各约5秒】</a:t>
            </a:r>
          </a:p>
          <a:p>
            <a:r>
              <a:t>甲：先保留选择。上次有效不代表这次适用，包装上的症状描述也不能代替核对；下一页看判断需要哪些信息。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第4页｜甲主讲｜建议60秒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第5页｜甲主讲｜建议60秒</a:t>
            </a:r>
          </a:p>
          <a:p/>
          <a:p/>
          <a:p>
            <a:r>
              <a:t>甲：小苏吃了抗过敏药，鼻子舒服了，上课却开始犯困。药明明在起作用，怎么还会影响精神？先看图里的两个位置：组胺在鼻部参与部分过敏反应，在脑内也参与维持清醒。部分抗组胺药能进入脑内，影响相关信号，因此可能在缓解过敏症状的同时让人困倦。这就是生物课里的“信号传递”在生活中的一个例子：同一种信号物质，在不同位置可以参与不同功能。不是所有抗过敏药都一样，也不是人人都会困。对我们有用的结论是：选择药物时，不只问能不能缓解症状，还要查嗜睡提示，向药师说清白天有课或需要通勤；已经困倦时，避免驾驶、骑车等高风险活动。后面再展开解释这个机制。</a:t>
            </a:r>
          </a:p>
          <a:p/>
          <a:p>
            <a:r>
              <a:t>视觉说明：以同一位小苏的两幅场景开场：左侧鼻子舒服、停止擦鼻涕，右侧课堂托腮、眼皮下垂；中间用简化人体轮廓标出鼻部与脑部，分别连接“过敏反应”和“维持清醒”。标注“部分抗组胺药可能进入脑内”，用提示框收束到“查嗜睡提示”。不使用胶囊—六边形—圆点的抽象匹配图；图示为简化机制，不表示所有药物都会致困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第6页｜甲主讲｜建议75秒</a:t>
            </a:r>
          </a:p>
          <a:p/>
          <a:p/>
          <a:p>
            <a:r>
              <a:t>甲：小苏觉得头痛还没缓解，拿起另一盒感冒药。室友说，名字不同，一盒管头痛、一盒管感冒，听起来像双保险。三格漫画从不舒服，到听起来合理的建议，再把判断停在药盒背面。症状宣传不同，不代表有效成分不同。下一页不算剂量，只把成分摆在一起，看双保险有没有变成重复。</a:t>
            </a:r>
          </a:p>
          <a:p/>
          <a:p>
            <a:r>
              <a:t>视觉说明：三格彩色漫画：小苏拿第二盒药、室友用气泡解释、成分栏放大并留下问号。角色统一，每格只留一句。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左边是单方退热止痛药的教学标签，只有对乙酰氨基酚；右边的复方感冒药示例另有马来酸氯苯那敏和盐酸伪麻黄碱。组成不完全相同，但同一个红色成分块出现了两次，其他成分的不同不能抵消重复。先把真实说明书的成分逐项对照，再核规格、已经服用的时间和用量，拿不准就带药盒问药师。这两张教学标签不对应具体产品，不给出剂量；不同产品的组成和要求可能不同。</a:t>
            </a:r>
          </a:p>
          <a:p/>
          <a:p>
            <a:r>
              <a:t>视觉说明：两盒不同配色的教学药盒。重复成分都用红色且完整命名；另两种成分用青绿和紫色，汇合箭头突出同一成分来自两盒，再给出圈重复、核信息、再决定的动作。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第8页｜甲主讲｜建议60秒</a:t>
            </a:r>
          </a:p>
          <a:p/>
          <a:p/>
          <a:p>
            <a:r>
              <a:t>甲：18点，小苏服过一种复方感冒药；20点仍然头痛，想加另一盒退热药。这两个时间只是故事线索，不表示隔两小时就能加药。现在要补齐两盒药的具体药名、成分、规格，以及今天何时用了多少。核对重复和累计使用，不能靠症状还在就自行加量，也不能套统一间隔。怀疑超量或误服应及时寻求医疗帮助；症状持续、加重也应按说明书就医提示处理。下一页只选获取这些信息的下一步。</a:t>
            </a:r>
          </a:p>
          <a:p/>
          <a:p>
            <a:r>
              <a:t>视觉说明：漫画时间线：已服药记录、第二个药盒、末端放大的信息清单；橙色突出想加药，青绿突出先补信息，不出现推荐剂量或等待时长。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甲：室友群里弹出三条消息。A让我们找重复成分，B建议错开服药时间，C让我们补齐今天的药名、规格和时间。可以给多条消息点赞，选择的是现在有助于判断的建议，不是替小苏开药。</a:t>
            </a:r>
          </a:p>
          <a:p>
            <a:r>
              <a:t>【静默10秒；逐条举手各约5秒，可多次举手】</a:t>
            </a:r>
          </a:p>
          <a:p>
            <a:r>
              <a:t>甲：请保留选择，下一页看哪些建议补齐了信息，哪些只是让安排听起来谨慎。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第10页｜甲主讲｜建议30秒</a:t>
            </a:r>
          </a:p>
          <a:p/>
          <a:p/>
          <a:p>
            <a:r>
              <a:t>甲：可以同时给A和C点赞。A找到共有成分，C补齐具体规格与已服记录，两条合起来才更有助于判断。B听起来考虑了时间，但并没有核清成分、规格和累计使用；不能靠错开就推定合用安全。先不自行叠加，带齐这些信息问药师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视觉说明：彩色显微世界插画：青绿细菌有细胞结构与遗传物质；紫色病毒有外壳与遗传物质，连接宿主细胞。用文字说明抗生素针对某些细菌结构或过程；示意不按比例。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第12页｜甲主讲｜建议110秒</a:t>
            </a:r>
          </a:p>
          <a:p/>
          <a:p/>
          <a:p>
            <a:r>
              <a:t>甲：上一页说普通感冒通常由病毒引起，抗生素没有相应治疗作用。为什么不能想着吃一点总没坏处？左边把处方比例换成一百个格子：CDC汇总至少28%的美国门诊抗生素处方被认为不必要，所引研究的这一估计来自2014—2015年。这是处方比例，不是我们班或中国大学生的发生率。右边说的是另一种风险：CDC指出，在服用抗生素期间及结束后一个月，艰难梭菌感染风险最高可达原来的10倍。艰难梭菌可能引起腹泻和结肠炎；抗生素会扰动肠道菌群，给它可乘之机。这里的最高10倍不是人人都会升高10倍，也不是10%的发生率。</a:t>
            </a:r>
          </a:p>
          <a:p>
            <a:r>
              <a:t>【给大家15秒分别读两图；问：左图数的是处方，右图比较的是什么？停顿约10秒，再解释】</a:t>
            </a:r>
          </a:p>
          <a:p>
            <a:r>
              <a:t>甲：两图口径不同，不能把28%与10倍相乘。我们要带走的是：没有需要时吃抗生素，未必得到预期获益，却仍可能遇到副作用。确实需要时按医生方案用药，不因害怕风险自行停药。下一页把这句话换成三个实际动作。</a:t>
            </a:r>
          </a:p>
          <a:p/>
          <a:p>
            <a:r>
              <a:t>视觉说明：蓝与珊瑚红的双图：左侧100格中28格高亮并注明美国门诊2014—2015估计；右侧共同0—10刻度的基准1与最高10倍相对风险示意。注明CDC所述用药期间及结束后1个月，不画成10%的发生率。</a:t>
            </a:r>
          </a:p>
          <a:p/>
          <a:p>
            <a:r>
              <a:t>参考：</a:t>
            </a:r>
          </a:p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>
            <a:r>
              <a:t>[S15] CDC. About C. diff（2026更新；用药期间及结束后1个月感染风险最高10倍）</a:t>
            </a:r>
          </a:p>
          <a:p>
            <a:r>
              <a:t>https://www.cdc.gov/c-diff/about/</a:t>
            </a:r>
          </a:p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第13页｜甲主讲｜建议80秒</a:t>
            </a:r>
          </a:p>
          <a:p/>
          <a:p/>
          <a:p>
            <a:r>
              <a:t>甲：数据看完，回到小苏的药箱。第一，看见感冒症状，不自动把抗生素当作备用保险，先明确是否需要。第二，室友说这盒我吃着有效，不代表适合自己；相似症状可能来自不同原因，不接室友剩药，也不分享自己的处方。第三，确实需要时按具体处方的剂量、间隔与疗程执行，疗效或不良反应有疑问就咨询，不自己缩短、延长或加量。</a:t>
            </a:r>
          </a:p>
          <a:p>
            <a:r>
              <a:t>【停顿10秒，让大家看三张动作卡，选一个最容易忘记的动作】</a:t>
            </a:r>
          </a:p>
          <a:p>
            <a:r>
              <a:t>甲：真正减少可避免风险的，是把这三个动作做出来。</a:t>
            </a:r>
          </a:p>
          <a:p/>
          <a:p>
            <a:r>
              <a:t>视觉说明：浅蓝底的三张动作卡，统一蓝与珊瑚红；放大镜核对、室友药盒暂停、处方清单咨询三幅原创图标，短标题与一行解释分层。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第14页｜甲主讲｜建议90秒</a:t>
            </a:r>
          </a:p>
          <a:p>
            <a:r>
              <a:t>甲主讲至此页末；预计累计15分55秒，交给乙接着讲组胺机制。</a:t>
            </a:r>
          </a:p>
          <a:p/>
          <a:p>
            <a:r>
              <a:t>甲：第三个情境，小苏的过敏症状缓解了，走进教室却犯困。左边漫画只讲一个现象：鼻子舒服与精神清醒，并不一定同时改善。右边三张提示卡给出行动顺序。先查具体药品的嗜睡提示；再向药师说清白天有课、要通勤等需要；已经困倦或反应变慢时，避开骑车、驾驶和其他高风险活动。有些药较少引起嗜睡，但个人反应仍有差异，不靠抗过敏药四个字作判断。</a:t>
            </a:r>
          </a:p>
          <a:p>
            <a:r>
              <a:t>【留10秒读图；甲用一句话复述：别用咖啡或酒精自行抵消这种感觉】</a:t>
            </a:r>
          </a:p>
          <a:p>
            <a:r>
              <a:t>甲：为什么鼻子与清醒程度会同时受影响？下面交给乙看两条作用路径。</a:t>
            </a:r>
          </a:p>
          <a:p/>
          <a:p>
            <a:r>
              <a:t>视觉说明：左侧放大小苏课堂犯困的表情与书桌场景；右侧浅蓝底三张短句提示卡。用同一角色与统一色调，代替无关夜景照片。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第15页｜乙主讲｜建议65秒</a:t>
            </a:r>
          </a:p>
          <a:p/>
          <a:p/>
          <a:p>
            <a:r>
              <a:t>乙：左侧，组胺与H1受体相关的信号参与部分过敏反应；抗组胺药影响相应受体的作用，可以缓解部分症状。右侧，脑内组胺信号也参与维持清醒。血脑屏障是进入脑内的一道选择性屏障，不是对所有药物都完全封闭；部分抗组胺药能够进入脑内，影响相关受体信号，因此可能嗜睡。两条路径解释治疗作用与其他影响为什么可能同时发生，不表示每种药、每个人都一样。具体选择看说明书和药师建议；困倦时避开驾驶、骑车等高风险活动。</a:t>
            </a:r>
          </a:p>
          <a:p/>
          <a:p>
            <a:r>
              <a:t>视觉说明：鼻部青绿、脑部紫色的双路径机制漫画。橙色组胺、H1受体明确命名；脑部单独画血脑屏障闸门并注明部分药物可进入，连接小苏的清醒与困倦表情。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第16页｜乙主讲｜建议150秒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乙：先来一条聚餐邀请。小苏今天服过抗过敏药，但具体饮酒要求没确认。A建议垫肚子并错开时间，B建议按经验少喝，C建议先换白水再核药名。哪条消息先处理了现在的未知？</a:t>
            </a:r>
          </a:p>
          <a:p>
            <a:r>
              <a:t>【同桌讨论20秒，随后静默10秒；A、B、C依次举手，各约5秒】</a:t>
            </a:r>
          </a:p>
          <a:p>
            <a:r>
              <a:t>乙：可以再想十秒：你选的是让自己感觉更放心的安排，还是获取这盒药实际要求的动作？甲只观察，不现场宣布答案，也不问个人用药史。把选择留住，下一页我们让小苏真的走进聚餐，看看这条消息怎样变成行动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第17页｜乙主讲｜建议150秒</a:t>
            </a:r>
          </a:p>
          <a:p/>
          <a:p/>
          <a:p>
            <a:r>
              <a:t>乙：现在把刚才群聊题的答案放回实际聚餐。第一格，小苏白天服过抗过敏药；第二格，室友端来酒杯说就一点；第三格，小苏先换成白水，把具体药名和饮酒要求核实。答案C不是一个显得规矩的口号，而是给信息缺口留出一个核实动作。</a:t>
            </a:r>
          </a:p>
          <a:p>
            <a:r>
              <a:t>【甲演室友：先吃点东西再喝，行不行？乙：这不能证明这个药与酒精合用安全。甲：那等两小时呢？乙：也没有适用于所有药物的统一等待时间。留约20秒表演及停顿】</a:t>
            </a:r>
          </a:p>
          <a:p>
            <a:r>
              <a:t>乙：酒精与部分具有镇静作用的药物合用，可能增加嗜睡及反应受损风险；不同药物还可能有其他相互作用，具体看说明书或问药师。普通口服片剂或胶囊通常用白水，含服、咀嚼等剂型另有要求，仍以具体说明为准。下一步把这些判断整理成看、核、问、记。</a:t>
            </a:r>
          </a:p>
          <a:p/>
          <a:p>
            <a:r>
              <a:t>视觉说明：三格聚餐漫画：白天服药记录、室友酒杯与劝酒气泡、白水及手机药名核实。蓝与珊瑚红为主，人物表情和杯子突出；页末给出C的行动含义。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C，就把“这盒药能不能配酒”的不确定性变成了一个清楚的咨询问题。这四步是课堂助记法，不是替代诊疗的专业流程。</a:t>
            </a:r>
          </a:p>
          <a:p/>
          <a:p>
            <a:r>
              <a:t>视觉说明：原创四步流程，标注“课堂助记法”。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/>
          <a:p>
            <a:r>
              <a:t>视觉说明：说明书六处阅读清单配药瓶实拍照片；提醒以实际说明书为准。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/>
          <a:p>
            <a:r>
              <a:t>视觉说明：时间、剂量、剂型三张行动卡，各配一张药物或药房实拍照片。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/>
          <a:p>
            <a:r>
              <a:t>视觉说明：药师取药实拍照片配咨询时需要说明的三类信息。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National Cancer Institute｜https://unsplash.com/photos/pharmacist-reaching-for-medication-on-shelf-byGTytEGjBo｜Unsplash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/>
          <a:p>
            <a:r>
              <a:t>视觉说明：红色120急救块、危险信号清单及医院走廊实拍照片。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/>
          <a:p>
            <a:r>
              <a:t>视觉说明：药房实拍照片配宿舍药箱管理的三条行动提示。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第24页｜乙主讲｜建议60秒</a:t>
            </a:r>
          </a:p>
          <a:p/>
          <a:p/>
          <a:p>
            <a:r>
              <a:t>乙：挑战前，把四个情境换成四个动作：感冒药想叠加，先核成分；感冒想到抗生素，先确认是否需要；抗过敏后困倦，查提示并避开高风险活动；服药后聚餐，先核实饮酒要求。这些动作都在刚才的案例里出现过，不用背一串药名。最后的小测把它们组合起来，练习在信息缺口前停一下。</a:t>
            </a:r>
          </a:p>
          <a:p/>
          <a:p>
            <a:r>
              <a:t>视觉说明：五行“场景→动作”映射；每行配一个小图标。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第25页｜乙主讲｜建议60秒</a:t>
            </a:r>
          </a:p>
          <a:p/>
          <a:p/>
          <a:p>
            <a:r>
              <a:t>乙：最后进入综合挑战，小苏再次登场。这次信息更完整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视觉说明：手持药片实拍照片配三条虚构综合情境线索。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乙：这次可以采纳多条建议。A处理聚餐饮酒的不确定性，B准备药盒和已服记录，C沿用上次经验调整第二盒的时间。请判断哪些能补齐题目里的未知信息，再把采纳的建议拼成小苏今晚的计划。</a:t>
            </a:r>
          </a:p>
          <a:p>
            <a:r>
              <a:t>【静默10秒；依次举手各约5秒，可以多次举手】</a:t>
            </a:r>
          </a:p>
          <a:p>
            <a:r>
              <a:t>乙：先保留选择。下一页分别核对饮酒、成分与已服情况，不用靠哪个选项最长来猜。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乙：A与B可以一起采纳。A在饮酒要求明确之前先不喝，B把具体药名、规格、成分、何时用了多少一起交给药师核对。C沿用上次经验把药改到睡前，没有解决现在的重复成分和累计使用问题。</a:t>
            </a:r>
          </a:p>
          <a:p>
            <a:r>
              <a:t>甲：症状持续、加重或出现呼吸困难、意识异常等急症表现，要转为就医或急救。</a:t>
            </a:r>
          </a:p>
          <a:p>
            <a:r>
              <a:t>乙：两条建议拼成完整行动，才比一个听起来谨慎的安排更有依据。</a:t>
            </a:r>
          </a:p>
          <a:p/>
          <a:p>
            <a:r>
              <a:t>视觉说明：大号B＋三个“线索→行动”映射。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第28页｜乙主讲｜建议60秒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和用量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视觉说明：蓝底白字收尾，右侧为医疗空间实拍照片。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Martha Dominguez de Gouveia｜https://unsplash.com/photos/hospital-lobby-reception-with-signage-nMyM7fxpokE｜Unsplash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[S15] CDC. About C. diff（2026更新；用药期间及结束后1个月感染风险最高10倍）</a:t>
            </a:r>
          </a:p>
          <a:p>
            <a:r>
              <a:t>https://www.cdc.gov/c-diff/about/</a:t>
            </a:r>
          </a:p>
          <a:p/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tablet-hand.jpg｜Towfiqu barbhuiya</a:t>
            </a:r>
          </a:p>
          <a:p>
            <a:r>
              <a:t>https://www.pexels.com/photo/hand-holding-a-pill-15703464/</a:t>
            </a:r>
          </a:p>
          <a:p>
            <a:r>
              <a:t>Pexels License: https://www.pexels.com/license/</a:t>
            </a:r>
          </a:p>
          <a:p/>
          <a:p>
            <a:r>
              <a:t>pill-bottle.jpg｜Pexels photo 16051935</a:t>
            </a:r>
          </a:p>
          <a:p>
            <a:r>
              <a:t>https://www.pexels.com/photo/16051935/</a:t>
            </a:r>
          </a:p>
          <a:p>
            <a:r>
              <a:t>Pexels License: https://www.pexels.com/license/</a:t>
            </a:r>
          </a:p>
          <a:p/>
          <a:p>
            <a:r>
              <a:t>college-campus.jpg｜George Pak</a:t>
            </a:r>
          </a:p>
          <a:p>
            <a:r>
              <a:t>https://www.pexels.com/photo/7972512/</a:t>
            </a:r>
          </a:p>
          <a:p>
            <a:r>
              <a:t>Pexels License: https://www.pexels.com/license/</a:t>
            </a:r>
          </a:p>
          <a:p/>
          <a:p>
            <a:r>
              <a:t>evening.jpg｜LZ Jian</a:t>
            </a:r>
          </a:p>
          <a:p>
            <a:r>
              <a:t>https://www.pexels.com/photo/black-lamp-beside-bed-5968800/</a:t>
            </a:r>
          </a:p>
          <a:p>
            <a:r>
              <a:t>Pexels License: https://www.pexels.com/license/</a:t>
            </a:r>
          </a:p>
          <a:p/>
          <a:p>
            <a:r>
              <a:t>pharmacy-01.jpg｜Árpád Czapp</a:t>
            </a:r>
          </a:p>
          <a:p>
            <a:r>
              <a:t>https://unsplash.com/photos/a-room-filled-with-lots-of-shelves-filled-with-boxes-and-boxes-tvP6pCnq9iI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pharmacy-02.jpg｜National Cancer Institute</a:t>
            </a:r>
          </a:p>
          <a:p>
            <a:r>
              <a:t>https://unsplash.com/photos/pharmacist-reaching-for-medication-on-shelf-byGTytEGjBo</a:t>
            </a:r>
          </a:p>
          <a:p>
            <a:r>
              <a:t>Unsplash License: https://unsplash.com/license</a:t>
            </a:r>
          </a:p>
          <a:p/>
          <a:p>
            <a:r>
              <a:t>pharmacy-03.jpg｜paws and prints</a:t>
            </a:r>
          </a:p>
          <a:p>
            <a:r>
              <a:t>https://unsplash.com/photos/sQjHIOhiL0E</a:t>
            </a:r>
          </a:p>
          <a:p>
            <a:r>
              <a:t>Unsplash License: https://unsplash.com/license</a:t>
            </a:r>
          </a:p>
          <a:p/>
          <a:p>
            <a:r>
              <a:t>hospital-02.jpg｜Tasha Kostyuk</a:t>
            </a:r>
          </a:p>
          <a:p>
            <a:r>
              <a:t>https://unsplash.com/photos/empty-hospital-corridor-with-benches-and-doors-Pk-KuizxQv8</a:t>
            </a:r>
          </a:p>
          <a:p>
            <a:r>
              <a:t>Unsplash License: https://unsplash.com/license</a:t>
            </a:r>
          </a:p>
          <a:p/>
          <a:p>
            <a:r>
              <a:t>clinic-01.jpg｜Martha Dominguez de Gouveia</a:t>
            </a:r>
          </a:p>
          <a:p>
            <a:r>
              <a:t>https://unsplash.com/photos/hospital-lobby-reception-with-signage-nMyM7fxpokE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jpg"/><Relationship Id="rId4" Type="http://schemas.openxmlformats.org/officeDocument/2006/relationships/image" Target="../media/image3.jpg"/><Relationship Id="rId5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www.cdc.gov/antibiotic-use/about/" TargetMode="External"/><Relationship Id="rId5" Type="http://schemas.openxmlformats.org/officeDocument/2006/relationships/hyperlink" Target="https://www.cdc.gov/antibiotic-use/hcp/data-research/antibiotic-prescribing.html" TargetMode="External"/><Relationship Id="rId6" Type="http://schemas.openxmlformats.org/officeDocument/2006/relationships/hyperlink" Target="https://www.nhs.uk/medicines/antihistamines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3" Type="http://schemas.openxmlformats.org/officeDocument/2006/relationships/hyperlink" Target="https://sps.nhs.uk/articles/advising-on-missed-or-delayed-doses-of-medicines/" TargetMode="External"/><Relationship Id="rId4" Type="http://schemas.openxmlformats.org/officeDocument/2006/relationships/hyperlink" Target="https://www.cdc.gov/common-cold/treatment/index.html" TargetMode="External"/><Relationship Id="rId5" Type="http://schemas.openxmlformats.org/officeDocument/2006/relationships/hyperlink" Target="https://www.nhs.uk/conditions/anaphylaxis/" TargetMode="External"/><Relationship Id="rId6" Type="http://schemas.openxmlformats.org/officeDocument/2006/relationships/hyperlink" Target="https://www.nhs.uk/medicines/omeprazole/" TargetMode="External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mc.ncbi.nlm.nih.gov/articles/PMC3650962/" TargetMode="External"/><Relationship Id="rId3" Type="http://schemas.openxmlformats.org/officeDocument/2006/relationships/hyperlink" Target="https://www.cdc.gov/c-diff/about/" TargetMode="External"/><Relationship Id="rId4" Type="http://schemas.openxmlformats.org/officeDocument/2006/relationships/hyperlink" Target="https://stacks.cdc.gov/view/cdc/120299/cdc_120299_DS1.pdf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exels.com/photo/hand-holding-a-pill-15703464/" TargetMode="External"/><Relationship Id="rId3" Type="http://schemas.openxmlformats.org/officeDocument/2006/relationships/hyperlink" Target="https://www.pexels.com/license/" TargetMode="External"/><Relationship Id="rId4" Type="http://schemas.openxmlformats.org/officeDocument/2006/relationships/hyperlink" Target="https://www.pexels.com/photo/16051935/" TargetMode="External"/><Relationship Id="rId5" Type="http://schemas.openxmlformats.org/officeDocument/2006/relationships/hyperlink" Target="https://www.pexels.com/photo/7972512/" TargetMode="External"/><Relationship Id="rId6" Type="http://schemas.openxmlformats.org/officeDocument/2006/relationships/hyperlink" Target="https://www.pexels.com/photo/black-lamp-beside-bed-5968800/" TargetMode="External"/><Relationship Id="rId7" Type="http://schemas.openxmlformats.org/officeDocument/2006/relationships/hyperlink" Target="https://unsplash.com/photos/a-room-filled-with-lots-of-shelves-filled-with-boxes-and-boxes-tvP6pCnq9iI" TargetMode="External"/><Relationship Id="rId8" Type="http://schemas.openxmlformats.org/officeDocument/2006/relationships/hyperlink" Target="https://unsplash.com/license" TargetMode="External"/><Relationship Id="rId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unsplash.com/photos/pharmacist-reaching-for-medication-on-shelf-byGTytEGjBo" TargetMode="External"/><Relationship Id="rId3" Type="http://schemas.openxmlformats.org/officeDocument/2006/relationships/hyperlink" Target="https://unsplash.com/license" TargetMode="External"/><Relationship Id="rId4" Type="http://schemas.openxmlformats.org/officeDocument/2006/relationships/hyperlink" Target="https://unsplash.com/photos/sQjHIOhiL0E" TargetMode="External"/><Relationship Id="rId5" Type="http://schemas.openxmlformats.org/officeDocument/2006/relationships/hyperlink" Target="https://unsplash.com/photos/empty-hospital-corridor-with-benches-and-doors-Pk-KuizxQv8" TargetMode="External"/><Relationship Id="rId6" Type="http://schemas.openxmlformats.org/officeDocument/2006/relationships/hyperlink" Target="https://unsplash.com/photos/hospital-lobby-reception-with-signage-nMyM7fxpokE" TargetMode="External"/><Relationship Id="rId7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94360"/>
            <a:ext cx="20116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1" y="612648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校园用药生存课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100" b="1">
                <a:solidFill>
                  <a:srgbClr val="FFFFFF"/>
                </a:solidFill>
                <a:latin typeface="Noto Sans CJK SC"/>
                <a:ea typeface="Noto Sans CJK SC"/>
              </a:rPr>
              <a:t>合理用药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5184"/>
            <a:ext cx="6126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给宿舍药箱上堂课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75887"/>
            <a:ext cx="6126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会选药 · 看成分 · 避误区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630936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苏州大学｜选修课课堂展示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主讲：同学甲 / 同学乙</a:t>
            </a:r>
          </a:p>
        </p:txBody>
      </p:sp>
      <p:pic>
        <p:nvPicPr>
          <p:cNvPr id="8" name="Picture 7" descr="tablet-hand.jpg"/>
          <p:cNvPicPr>
            <a:picLocks noChangeAspect="1"/>
          </p:cNvPicPr>
          <p:nvPr/>
        </p:nvPicPr>
        <p:blipFill>
          <a:blip r:embed="rId3"/>
          <a:srcRect l="7477" r="7477"/>
          <a:stretch>
            <a:fillRect/>
          </a:stretch>
        </p:blipFill>
        <p:spPr>
          <a:xfrm>
            <a:off x="7406640" y="1060704"/>
            <a:ext cx="4160520" cy="4892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060704"/>
            <a:ext cx="4160520" cy="48920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5632704"/>
            <a:ext cx="41239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5660136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282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Noto Sans CJK SC"/>
                <a:ea typeface="Noto Sans CJK SC"/>
              </a:rPr>
              <a:t>35分钟 · 2位讲者 · 4部分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llege-campus.jpg"/>
          <p:cNvPicPr>
            <a:picLocks noChangeAspect="1"/>
          </p:cNvPicPr>
          <p:nvPr/>
        </p:nvPicPr>
        <p:blipFill>
          <a:blip r:embed="rId3"/>
          <a:srcRect t="33824" b="33824"/>
          <a:stretch>
            <a:fillRect/>
          </a:stretch>
        </p:blipFill>
        <p:spPr>
          <a:xfrm>
            <a:off x="822960" y="2157984"/>
            <a:ext cx="2487168" cy="12070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基本原则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armacy-01.jpg"/>
          <p:cNvPicPr>
            <a:picLocks noChangeAspect="1"/>
          </p:cNvPicPr>
          <p:nvPr/>
        </p:nvPicPr>
        <p:blipFill>
          <a:blip r:embed="rId4"/>
          <a:srcRect t="6863" b="6863"/>
          <a:stretch>
            <a:fillRect/>
          </a:stretch>
        </p:blipFill>
        <p:spPr>
          <a:xfrm>
            <a:off x="3721608" y="2157984"/>
            <a:ext cx="2487168" cy="120700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721608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宿舍误区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17分钟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armacy-02.jpg"/>
          <p:cNvPicPr>
            <a:picLocks noChangeAspect="1"/>
          </p:cNvPicPr>
          <p:nvPr/>
        </p:nvPicPr>
        <p:blipFill>
          <a:blip r:embed="rId5"/>
          <a:srcRect t="6863" b="6863"/>
          <a:stretch>
            <a:fillRect/>
          </a:stretch>
        </p:blipFill>
        <p:spPr>
          <a:xfrm>
            <a:off x="6620256" y="2157984"/>
            <a:ext cx="2487168" cy="1207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620256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安全用药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8分钟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09176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spital-02.jpg"/>
          <p:cNvPicPr>
            <a:picLocks noChangeAspect="1"/>
          </p:cNvPicPr>
          <p:nvPr/>
        </p:nvPicPr>
        <p:blipFill>
          <a:blip r:embed="rId6"/>
          <a:srcRect t="6863" b="6863"/>
          <a:stretch>
            <a:fillRect/>
          </a:stretch>
        </p:blipFill>
        <p:spPr>
          <a:xfrm>
            <a:off x="9518903" y="2157984"/>
            <a:ext cx="2487168" cy="120700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518903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7776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选择挑战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用上次的剩药，沿用当时吃法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拍清楚药盒，先核对再作决定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按最主要症状，先挑一盒试试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先选哪一步？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关注禁忌与不良反应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3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有效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针对真正需要解决的问题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经济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避免不必要的花费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87183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适宜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鼻子舒服了，为什么上课却犯困？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症状缓解，不代表没有其他影响｜先查嗜睡提示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48072" cy="313639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21408"/>
            <a:ext cx="45628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203354"/>
                </a:solidFill>
                <a:latin typeface="Noto Sans CJK SC"/>
              </a:rPr>
              <a:t>鼻子舒服了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38528"/>
            <a:ext cx="5148072" cy="313639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21408"/>
            <a:ext cx="45628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203354"/>
                </a:solidFill>
                <a:latin typeface="Noto Sans CJK SC"/>
              </a:rPr>
              <a:t>上课却犯困？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67140" y="3654308"/>
            <a:ext cx="1273119" cy="857067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9760" y="3562776"/>
            <a:ext cx="266273" cy="241310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08597" y="2830525"/>
            <a:ext cx="965240" cy="95691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33560" y="2938698"/>
            <a:ext cx="915314" cy="86538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17066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3986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75313" y="2805562"/>
            <a:ext cx="632399" cy="30787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66402" y="2872130"/>
            <a:ext cx="632399" cy="23298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41734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990923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499981" y="3288182"/>
            <a:ext cx="58248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558229" y="3288182"/>
            <a:ext cx="58247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916033" y="3288182"/>
            <a:ext cx="58248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974281" y="3288182"/>
            <a:ext cx="58247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99539" y="3329787"/>
            <a:ext cx="24963" cy="124816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774576" y="3454603"/>
            <a:ext cx="49926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666402" y="3546134"/>
            <a:ext cx="274594" cy="166420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49760" y="3504529"/>
            <a:ext cx="307878" cy="13313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533265" y="3737518"/>
            <a:ext cx="257953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791218" y="3737518"/>
            <a:ext cx="232989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74723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16033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2049170" y="4111965"/>
            <a:ext cx="216347" cy="22466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662684" y="3654308"/>
            <a:ext cx="1273119" cy="857067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145304" y="3562776"/>
            <a:ext cx="266273" cy="241310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04141" y="2830525"/>
            <a:ext cx="965240" cy="95691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29104" y="2938698"/>
            <a:ext cx="915314" cy="86538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12610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69529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70857" y="2805562"/>
            <a:ext cx="632399" cy="30787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61946" y="2872130"/>
            <a:ext cx="632399" cy="23298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278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86467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995525" y="3321466"/>
            <a:ext cx="124816" cy="33284"/>
          </a:xfrm>
          <a:prstGeom prst="line">
            <a:avLst/>
          </a:prstGeom>
          <a:ln w="3302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411577" y="3321466"/>
            <a:ext cx="124816" cy="33284"/>
          </a:xfrm>
          <a:prstGeom prst="line">
            <a:avLst/>
          </a:prstGeom>
          <a:ln w="3302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95083" y="3329787"/>
            <a:ext cx="24963" cy="124816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7270120" y="3454603"/>
            <a:ext cx="49926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236835" y="3546134"/>
            <a:ext cx="124815" cy="14977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028809" y="3737518"/>
            <a:ext cx="257953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286762" y="3737518"/>
            <a:ext cx="232989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170267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11577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7544714" y="4111965"/>
            <a:ext cx="216347" cy="22466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94493" y="2697388"/>
            <a:ext cx="540867" cy="316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Z z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834640" y="2788920"/>
            <a:ext cx="2706624" cy="813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Isosceles Triangle 57"/>
          <p:cNvSpPr/>
          <p:nvPr/>
        </p:nvSpPr>
        <p:spPr>
          <a:xfrm rot="10800000">
            <a:off x="3063240" y="3593592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80944" y="2862072"/>
            <a:ext cx="2414016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终于不用一直擦鼻涕！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21040" y="2788920"/>
            <a:ext cx="2715768" cy="813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Isosceles Triangle 60"/>
          <p:cNvSpPr/>
          <p:nvPr/>
        </p:nvSpPr>
        <p:spPr>
          <a:xfrm rot="10800000">
            <a:off x="8549640" y="3593592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862072"/>
            <a:ext cx="242316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鼻子好了，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脑子想“下课”……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834640" y="3813048"/>
            <a:ext cx="676656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98648" y="383133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鼻部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34640" y="4233672"/>
            <a:ext cx="2734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组胺参与部分过敏反应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4599432"/>
            <a:ext cx="273405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部分症状得到缓解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321040" y="3813048"/>
            <a:ext cx="676656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85048" y="383133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脑内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4233672"/>
            <a:ext cx="2734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组胺信号参与维持清醒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4599432"/>
            <a:ext cx="273405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部分药物入脑后可能致困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766560" y="4389120"/>
            <a:ext cx="822960" cy="182880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839712" y="4169663"/>
            <a:ext cx="822960" cy="182880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903720" y="3950208"/>
            <a:ext cx="822960" cy="18288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848856" y="4453128"/>
            <a:ext cx="566928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922008" y="4233672"/>
            <a:ext cx="566928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986016" y="4014215"/>
            <a:ext cx="566928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22960" y="5294376"/>
            <a:ext cx="10506456" cy="365760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5840" y="5330952"/>
            <a:ext cx="101406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03354"/>
                </a:solidFill>
                <a:latin typeface="Noto Sans CJK SC"/>
              </a:rPr>
              <a:t>选药别只看症状：查嗜睡提示，说清上课与通勤需求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两盒药，是“双保险”还是撞车？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虚构情境｜包装不同，成分可能重复。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 情境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170432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头痛还在，要不再加一盒？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4867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66113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680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883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69364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077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78915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06093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28546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25089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9570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57093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1574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81328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462125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378915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66113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276502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474927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85316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70939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673352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688336" y="3995928"/>
            <a:ext cx="960120" cy="11521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734056" y="4041648"/>
            <a:ext cx="868680" cy="201168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168396" y="4361688"/>
            <a:ext cx="0" cy="27432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24378" y="4498848"/>
            <a:ext cx="288036" cy="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734056" y="48371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08C82"/>
                </a:solidFill>
                <a:latin typeface="Noto Sans CJK SC"/>
              </a:rPr>
              <a:t>药盒A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08C82"/>
                </a:solidFill>
                <a:latin typeface="Noto Sans CJK SC"/>
              </a:rPr>
              <a:t>先有一个需求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25696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36008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0016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 对话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36008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sosceles Triangle 47"/>
          <p:cNvSpPr/>
          <p:nvPr/>
        </p:nvSpPr>
        <p:spPr>
          <a:xfrm rot="10800000">
            <a:off x="4864608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82312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名字不同，应该不重复吧？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89043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60289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97856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17059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727448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63540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772253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73091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900269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22722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4945075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989880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265115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09920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75503" y="4256532"/>
            <a:ext cx="19203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156301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073091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60289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970678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169103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079492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265115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367527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382512" y="3995928"/>
            <a:ext cx="960120" cy="11521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428232" y="4041648"/>
            <a:ext cx="868680" cy="201168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6862572" y="4361688"/>
            <a:ext cx="0" cy="27432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718554" y="4498848"/>
            <a:ext cx="288036" cy="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428232" y="48371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7952D5"/>
                </a:solidFill>
                <a:latin typeface="Noto Sans CJK SC"/>
              </a:rPr>
              <a:t>药盒B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45152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7952D5"/>
                </a:solidFill>
                <a:latin typeface="Noto Sans CJK SC"/>
              </a:rPr>
              <a:t>再来一个建议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119872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330184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94192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 悬念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30184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 rot="10800000">
            <a:off x="8558784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76488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药盒不同，里面的成分呢？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383219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754465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492032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511235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21624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57716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466429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67267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594445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16898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639251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59291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8869680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850477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780068" y="4467758"/>
            <a:ext cx="134417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664854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8863279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8773668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8959291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9061704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208922" y="3776472"/>
            <a:ext cx="2432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106" name="Oval 105"/>
          <p:cNvSpPr/>
          <p:nvPr/>
        </p:nvSpPr>
        <p:spPr>
          <a:xfrm>
            <a:off x="9994392" y="4041648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10652760" y="4736592"/>
            <a:ext cx="374904" cy="402336"/>
          </a:xfrm>
          <a:prstGeom prst="line">
            <a:avLst/>
          </a:prstGeom>
          <a:ln w="889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0076688" y="4288536"/>
            <a:ext cx="7040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成分？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39328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08C82"/>
                </a:solidFill>
                <a:latin typeface="Noto Sans CJK SC"/>
              </a:rPr>
              <a:t>判断停在这里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药盒不同，成分可能“撞车”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同名成分出现两次，是暂停核对的信号｜未确认前不自行叠加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单方退热止痛药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52144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复方感冒药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68496"/>
            <a:ext cx="4206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只有这一种有效成分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9128" y="3694176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73075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马来酸氯苯那敏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4215384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251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盐酸伪麻黄碱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68112" y="3291840"/>
            <a:ext cx="411480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79592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309360" y="3291840"/>
            <a:ext cx="429768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09360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79592" y="4773168"/>
            <a:ext cx="219456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099048" y="4773168"/>
            <a:ext cx="210312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931920" y="4937760"/>
            <a:ext cx="4343400" cy="402336"/>
          </a:xfrm>
          <a:prstGeom prst="roundRect">
            <a:avLst>
              <a:gd name="adj" fmla="val 10000"/>
            </a:avLst>
          </a:prstGeom>
          <a:solidFill>
            <a:srgbClr val="FF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23360" y="4965192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同一成分，来自两盒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4589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03354"/>
                </a:solidFill>
                <a:latin typeface="Noto Sans CJK SC"/>
              </a:rPr>
              <a:t>① 圈出重复　→　② 核规格与已服情况　→　③ 未确认，不自行叠加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18点吃过药，20点还痛：先补哪条信息？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时间只是故事线索，不是推荐给药间隔｜先补信息，不凭感觉加药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65576" cy="3474720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" y="2176272"/>
            <a:ext cx="130759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194560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18:00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529584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76755" y="3454146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95578" y="2850642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16151" y="2939796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0139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08810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68145" y="2830068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90472" y="2884932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05305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7934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353312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01318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696212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744218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00200" y="3262122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579626" y="3364992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490472" y="3440430"/>
            <a:ext cx="226314" cy="137160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76755" y="3406140"/>
            <a:ext cx="253745" cy="10972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380743" y="3598164"/>
            <a:ext cx="212599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593342" y="3598164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330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96212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805940" y="3906774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51760" y="3200400"/>
            <a:ext cx="987552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697479" y="3246120"/>
            <a:ext cx="896112" cy="201168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145536" y="3566160"/>
            <a:ext cx="0" cy="27432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97403" y="3703320"/>
            <a:ext cx="296265" cy="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697479" y="4169664"/>
            <a:ext cx="896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08C82"/>
                </a:solidFill>
                <a:latin typeface="Noto Sans CJK SC"/>
              </a:rPr>
              <a:t>已服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4672584"/>
            <a:ext cx="30266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已经服过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" y="5056632"/>
            <a:ext cx="3026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已经服过一种复方感冒药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34840" y="1993392"/>
            <a:ext cx="3465576" cy="3474720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654296" y="2176272"/>
            <a:ext cx="1307592" cy="32918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18304" y="2194560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20:00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64024" y="3529584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161788" y="3454146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880610" y="2850642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901184" y="2939796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5172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593842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53178" y="2830068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75504" y="2884932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90338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42966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38344" y="3248406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381244" y="3248406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285232" y="3262122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264658" y="3364992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89220" y="3488436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65776" y="3598164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278374" y="3598164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182362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81244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490972" y="3906774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48706" y="2747772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36792" y="3200400"/>
            <a:ext cx="987552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82512" y="3246120"/>
            <a:ext cx="896112" cy="201168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830568" y="3566160"/>
            <a:ext cx="0" cy="274320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682435" y="3703320"/>
            <a:ext cx="296265" cy="0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382512" y="4169664"/>
            <a:ext cx="896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EB5969"/>
                </a:solidFill>
                <a:latin typeface="Noto Sans CJK SC"/>
              </a:rPr>
              <a:t>待核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4296" y="4672584"/>
            <a:ext cx="30266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EB5969"/>
                </a:solidFill>
                <a:latin typeface="Noto Sans CJK SC"/>
              </a:rPr>
              <a:t>准备再加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54296" y="5056632"/>
            <a:ext cx="3026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症状还在，准备加一盒退热药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119872" y="1993392"/>
            <a:ext cx="3465576" cy="3474720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339328" y="2176272"/>
            <a:ext cx="130759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03336" y="2194560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先补信息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94776" y="2834640"/>
            <a:ext cx="2706624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77656" y="29626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药名＋成分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77656" y="33741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规格＋已服用量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77656" y="378561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时间＋其他用药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9328" y="4672584"/>
            <a:ext cx="30266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7952D5"/>
                </a:solidFill>
                <a:latin typeface="Noto Sans CJK SC"/>
              </a:rPr>
              <a:t>核对后再决定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9328" y="5056632"/>
            <a:ext cx="3026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成分、规格、已服用量还没核对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室友群的三条消息，你给哪条点赞？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可多选 A / B / C｜哪些建议先帮我们补齐判断所需的信息？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拍下两盒成分，圈出相同的名字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按症状拆开安排，把服药时间错开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补上今天已服药名、规格与时间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给建议点赞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A＋C：先把两类信息凑齐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同成分先不自行叠加；拿着完整信息，再核实下一步。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A＋C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圈出同名成分，发现可能重复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补规格和已服记录，核对累计使用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错开时间，仍不能代替完整核对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S11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细菌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病毒</a:t>
            </a:r>
          </a:p>
        </p:txBody>
      </p:sp>
      <p:sp>
        <p:nvSpPr>
          <p:cNvPr id="15" name="Oval 14"/>
          <p:cNvSpPr/>
          <p:nvPr/>
        </p:nvSpPr>
        <p:spPr>
          <a:xfrm>
            <a:off x="1225296" y="2935224"/>
            <a:ext cx="2066543" cy="1243584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25880" y="3035808"/>
            <a:ext cx="1865376" cy="1042415"/>
          </a:xfrm>
          <a:prstGeom prst="ellipse">
            <a:avLst/>
          </a:prstGeom>
          <a:solidFill>
            <a:srgbClr val="B5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0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61326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779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258568" y="4197096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636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81592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14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181592" y="3136392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636775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258568" y="2715768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779776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161326" y="3136391"/>
            <a:ext cx="174217" cy="100585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91640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892808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93976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295144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96312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572768" y="327355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57400" y="3236976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15768" y="3346704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627632" y="3813048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386584" y="386791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83864" y="3182112"/>
            <a:ext cx="2075688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有细胞结构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648456"/>
            <a:ext cx="207568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在适宜条件下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可自行繁殖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4672584"/>
            <a:ext cx="4562856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某些细菌结构或过程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可成为抗生素的靶点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44967" y="3566160"/>
            <a:ext cx="201169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89127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669875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777759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473279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7480579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7168108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7113244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6870928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816064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6757415" y="3566160"/>
            <a:ext cx="201168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70255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870928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816064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7168108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7113244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7473279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7480579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7669875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777759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2863" y="3127248"/>
            <a:ext cx="877824" cy="877824"/>
          </a:xfrm>
          <a:prstGeom prst="ellipse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40879" y="3255264"/>
            <a:ext cx="621792" cy="621792"/>
          </a:xfrm>
          <a:prstGeom prst="ellipse">
            <a:avLst/>
          </a:prstGeom>
          <a:solidFill>
            <a:srgbClr val="D8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187183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306055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424927" y="3419856"/>
            <a:ext cx="118873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hevron 66"/>
          <p:cNvSpPr/>
          <p:nvPr/>
        </p:nvSpPr>
        <p:spPr>
          <a:xfrm>
            <a:off x="8247888" y="3465576"/>
            <a:ext cx="365760" cy="274320"/>
          </a:xfrm>
          <a:prstGeom prst="chevron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823960" y="2962656"/>
            <a:ext cx="1965960" cy="1280160"/>
          </a:xfrm>
          <a:prstGeom prst="ellipse">
            <a:avLst/>
          </a:prstGeom>
          <a:solidFill>
            <a:srgbClr val="DBF4ED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400032" y="3346704"/>
            <a:ext cx="557784" cy="493776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33688" y="43616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宿主细胞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60" y="4681728"/>
            <a:ext cx="45628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无细胞结构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依赖宿主细胞复制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不需要的抗生素，也可能带来真实伤害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28%是处方比例，10倍是风险上限说明；口径不同，不能相乘或推算个人概率。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来源：S5; S15; S16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不必要的抗生素处方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615184"/>
            <a:ext cx="45720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美国门诊 · 2014—2015估计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3182112"/>
            <a:ext cx="216712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EB5969"/>
                </a:solidFill>
                <a:latin typeface="Noto Sans CJK SC"/>
              </a:rPr>
              <a:t>至少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3593592"/>
            <a:ext cx="2167128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1">
                <a:solidFill>
                  <a:srgbClr val="EB5969"/>
                </a:solidFill>
                <a:latin typeface="Noto Sans CJK SC"/>
              </a:rPr>
              <a:t>28%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045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9193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768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34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0916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149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32637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747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8045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62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9193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9768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34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0916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149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2064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32637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747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8045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862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09193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9768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034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70916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149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2064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2637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4747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8045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8862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09193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9768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5034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0916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9149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12064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32637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4747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68045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8862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09193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9768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034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70916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9149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12064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2637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4747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368045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8862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09193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29768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5034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70916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9149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12064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32637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4747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68045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8862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9193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29768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5034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70916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9149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12064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32637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4747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8045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862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9193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29768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5034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70916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49149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512064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532637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4747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368045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38862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09193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29768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5034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70916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9149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12064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32637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4747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68045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8862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09193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29768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5034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0916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49149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12064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32637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33271" y="514807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03354"/>
                </a:solidFill>
                <a:latin typeface="Noto Sans CJK SC"/>
              </a:rPr>
              <a:t>每格＝1%处方；红色标出28%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3271" y="544982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其余格子不表示都合理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01384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艰难梭菌感染风险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01384" y="261518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可引起腹泻、结肠炎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501384" y="2944368"/>
            <a:ext cx="457200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EB5969"/>
                </a:solidFill>
                <a:latin typeface="Noto Sans CJK SC"/>
              </a:rPr>
              <a:t>最高10倍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01384" y="3575304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抗生素使用期间及结束后1个月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19672" y="3877056"/>
            <a:ext cx="44074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比较基准＝1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19672" y="4206240"/>
            <a:ext cx="440740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79284" y="4160520"/>
            <a:ext cx="356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19672" y="4544568"/>
            <a:ext cx="44074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最高风险示意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519672" y="4882896"/>
            <a:ext cx="4407408" cy="201168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6519672" y="5294376"/>
            <a:ext cx="4407408" cy="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519672" y="5294376"/>
            <a:ext cx="0" cy="4572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6345936" y="5385816"/>
            <a:ext cx="3474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0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8723376" y="5294376"/>
            <a:ext cx="0" cy="4572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8549640" y="5385816"/>
            <a:ext cx="3474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5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10927080" y="5294376"/>
            <a:ext cx="0" cy="4572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0753344" y="5385816"/>
            <a:ext cx="3474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把“别乱吃抗生素”，换成三个动作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先确认需要，再按具体处方使用；有疑问及时联系医生或药师。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14983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98448" y="2770632"/>
            <a:ext cx="914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44168" y="2816351"/>
            <a:ext cx="822960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755648" y="3136391"/>
            <a:ext cx="0" cy="27432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18488" y="3273552"/>
            <a:ext cx="274319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44168" y="3602735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抗生素</a:t>
            </a:r>
          </a:p>
        </p:txBody>
      </p:sp>
      <p:sp>
        <p:nvSpPr>
          <p:cNvPr id="17" name="Oval 16"/>
          <p:cNvSpPr/>
          <p:nvPr/>
        </p:nvSpPr>
        <p:spPr>
          <a:xfrm>
            <a:off x="2468880" y="2834640"/>
            <a:ext cx="941832" cy="941832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154680"/>
            <a:ext cx="7498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EB5969"/>
                </a:solidFill>
                <a:latin typeface="Noto Sans CJK SC"/>
              </a:rPr>
              <a:t>需要？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9544" y="3593592"/>
            <a:ext cx="420624" cy="374904"/>
          </a:xfrm>
          <a:prstGeom prst="line">
            <a:avLst/>
          </a:prstGeom>
          <a:ln w="762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4983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先确认需要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感冒症状，不自动等于要用抗生素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1416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09159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01183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46903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362955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24424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46903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室友剩药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19672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935724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797192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19672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我的用药</a:t>
            </a:r>
          </a:p>
        </p:txBody>
      </p:sp>
      <p:sp>
        <p:nvSpPr>
          <p:cNvPr id="35" name="Oval 34"/>
          <p:cNvSpPr/>
          <p:nvPr/>
        </p:nvSpPr>
        <p:spPr>
          <a:xfrm>
            <a:off x="5843016" y="3136392"/>
            <a:ext cx="548640" cy="548640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43600" y="3246120"/>
            <a:ext cx="347472" cy="347472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09159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不接室友剩药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59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相似症状，不代表同一病因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5592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403336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7344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2761488"/>
            <a:ext cx="2103120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36024" y="2898648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剂量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924544" y="3017520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043416" y="2907791"/>
            <a:ext cx="182880" cy="210313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336024" y="3291840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间隔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24544" y="3410712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043416" y="3300984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336024" y="368503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疗程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924544" y="3803904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43416" y="3694176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403336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按处方执行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3336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疗效或反应有疑问，及时咨询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案例③：鼻子舒服了，上课却困了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“较少嗜睡”不等于人人不困；第一次使用时尤其留意个人反应。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48072" cy="36301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3972" y="3851452"/>
            <a:ext cx="1468983" cy="988923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10842" y="3745839"/>
            <a:ext cx="307238" cy="278434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17193" y="2900934"/>
            <a:ext cx="1113739" cy="110413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45996" y="3025749"/>
            <a:ext cx="1056132" cy="998524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11580" y="3457803"/>
            <a:ext cx="211226" cy="21122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15718" y="3457803"/>
            <a:ext cx="211226" cy="21122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78788" y="2872130"/>
            <a:ext cx="729691" cy="35524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0044" y="2948940"/>
            <a:ext cx="729691" cy="268833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70812" y="3611422"/>
            <a:ext cx="144018" cy="124815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4491" y="3611422"/>
            <a:ext cx="144018" cy="124815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538020" y="3467404"/>
            <a:ext cx="144018" cy="38405"/>
          </a:xfrm>
          <a:prstGeom prst="line">
            <a:avLst/>
          </a:prstGeom>
          <a:ln w="3302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18080" y="3467404"/>
            <a:ext cx="144018" cy="38405"/>
          </a:xfrm>
          <a:prstGeom prst="line">
            <a:avLst/>
          </a:prstGeom>
          <a:ln w="3302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83664" y="3477006"/>
            <a:ext cx="28803" cy="144018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854860" y="3621024"/>
            <a:ext cx="57607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816455" y="3726637"/>
            <a:ext cx="144018" cy="172821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576425" y="3947464"/>
            <a:ext cx="297637" cy="24003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874062" y="3947464"/>
            <a:ext cx="268834" cy="24003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39646" y="4216298"/>
            <a:ext cx="0" cy="23042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8080" y="4216298"/>
            <a:ext cx="0" cy="23042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171700" y="4379518"/>
            <a:ext cx="249631" cy="259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44521" y="2747314"/>
            <a:ext cx="624078" cy="3648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Z z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88720" y="4681728"/>
            <a:ext cx="987552" cy="182880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61872" y="4462272"/>
            <a:ext cx="987552" cy="182880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5880" y="4242816"/>
            <a:ext cx="987552" cy="18288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271016" y="4745736"/>
            <a:ext cx="73152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44168" y="4526280"/>
            <a:ext cx="731519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8176" y="4306824"/>
            <a:ext cx="73152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026664" y="2569464"/>
            <a:ext cx="25146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0800000">
            <a:off x="3255264" y="3566160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72968" y="2642616"/>
            <a:ext cx="22219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鼻子舒服了，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老师讲哪儿了？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1" y="5138928"/>
            <a:ext cx="45720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03354"/>
                </a:solidFill>
                <a:latin typeface="Noto Sans CJK SC"/>
              </a:rPr>
              <a:t>症状缓解 ≠ 人人都不困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45352" y="1938528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73952" y="2121408"/>
            <a:ext cx="114300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139696"/>
            <a:ext cx="10149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先查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2532888"/>
            <a:ext cx="463600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说明书中的嗜睡提示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45352" y="3200400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73952" y="3383280"/>
            <a:ext cx="114300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3401568"/>
            <a:ext cx="10149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再说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3794760"/>
            <a:ext cx="463600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白天有课、需要通勤等需求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45352" y="44622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473952" y="4645152"/>
            <a:ext cx="1143000" cy="32918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60" y="4663440"/>
            <a:ext cx="10149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已经困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3952" y="5056632"/>
            <a:ext cx="4636008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避开驾驶、骑车等高风险活动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同一种组胺信号，为什么有两种影响？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这是简化机制图；不能据此自行换药。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S14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鼻部：参与过敏反应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3109" y="3369381"/>
            <a:ext cx="867399" cy="583935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21927" y="3307019"/>
            <a:ext cx="181416" cy="164409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89486" y="2808122"/>
            <a:ext cx="657636" cy="651967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06494" y="2881823"/>
            <a:ext cx="623620" cy="589605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7124" y="3136940"/>
            <a:ext cx="124724" cy="124724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79092" y="3136940"/>
            <a:ext cx="124724" cy="124724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66809" y="2791114"/>
            <a:ext cx="430865" cy="209763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33265" y="2836468"/>
            <a:ext cx="430865" cy="15873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80195" y="3227649"/>
            <a:ext cx="85039" cy="7370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4367" y="3227649"/>
            <a:ext cx="85039" cy="7370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419880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59565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703344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743029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23974" y="3148279"/>
            <a:ext cx="17008" cy="85039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606966" y="3233318"/>
            <a:ext cx="34016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533265" y="3295680"/>
            <a:ext cx="187086" cy="11338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21927" y="3267334"/>
            <a:ext cx="209763" cy="9070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442557" y="3426073"/>
            <a:ext cx="175748" cy="141732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618305" y="3426073"/>
            <a:ext cx="158739" cy="141732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38935" y="3584813"/>
            <a:ext cx="0" cy="13606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03344" y="3584813"/>
            <a:ext cx="0" cy="13606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794052" y="3681191"/>
            <a:ext cx="147401" cy="153070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386584" y="2843784"/>
            <a:ext cx="135331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 rot="10800000">
            <a:off x="2615184" y="3401568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32888" y="2916936"/>
            <a:ext cx="106070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阿嚏！</a:t>
            </a:r>
          </a:p>
        </p:txBody>
      </p:sp>
      <p:sp>
        <p:nvSpPr>
          <p:cNvPr id="38" name="Oval 37"/>
          <p:cNvSpPr/>
          <p:nvPr/>
        </p:nvSpPr>
        <p:spPr>
          <a:xfrm>
            <a:off x="4251960" y="2880360"/>
            <a:ext cx="594360" cy="594360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1184" y="2999232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组胺</a:t>
            </a:r>
          </a:p>
        </p:txBody>
      </p:sp>
      <p:sp>
        <p:nvSpPr>
          <p:cNvPr id="40" name="Chevron 39"/>
          <p:cNvSpPr/>
          <p:nvPr/>
        </p:nvSpPr>
        <p:spPr>
          <a:xfrm rot="5400000">
            <a:off x="4370832" y="3584448"/>
            <a:ext cx="310896" cy="274320"/>
          </a:xfrm>
          <a:prstGeom prst="chevron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2596896" y="4059936"/>
            <a:ext cx="356616" cy="274320"/>
          </a:xfrm>
          <a:prstGeom prst="chevron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136392" y="3895344"/>
            <a:ext cx="2103120" cy="576072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64408" y="3968496"/>
            <a:ext cx="18470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</a:rPr>
              <a:t>H1 受体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" y="4050791"/>
            <a:ext cx="832104" cy="27432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225296" y="4087368"/>
            <a:ext cx="366125" cy="20116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" y="4489704"/>
            <a:ext cx="162763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EB5969"/>
                </a:solidFill>
                <a:latin typeface="Noto Sans CJK SC"/>
              </a:rPr>
              <a:t>抗组胺药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1" y="5010912"/>
            <a:ext cx="45628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影响受体作用 → 缓解部分症状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脑内：也参与维持清醒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44383" y="2743200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血脑屏障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84464" y="313639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284464" y="373075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693408" y="3465576"/>
            <a:ext cx="950976" cy="32004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29984" y="3502152"/>
            <a:ext cx="418429" cy="24688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7799831" y="3474720"/>
            <a:ext cx="420624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evron 54"/>
          <p:cNvSpPr/>
          <p:nvPr/>
        </p:nvSpPr>
        <p:spPr>
          <a:xfrm>
            <a:off x="8586216" y="3474720"/>
            <a:ext cx="384048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4584" y="3306470"/>
            <a:ext cx="546811" cy="6056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345533" y="3096158"/>
            <a:ext cx="630936" cy="63934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732507" y="3054096"/>
            <a:ext cx="639348" cy="6729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153131" y="3239170"/>
            <a:ext cx="563636" cy="647760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749332" y="3491544"/>
            <a:ext cx="647760" cy="479511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9505370" y="3289645"/>
            <a:ext cx="143013" cy="159837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9799807" y="3255995"/>
            <a:ext cx="33650" cy="2776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03606" y="3373770"/>
            <a:ext cx="134600" cy="1766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606320" y="3693444"/>
            <a:ext cx="218725" cy="757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119481" y="3727094"/>
            <a:ext cx="117775" cy="1093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098280" y="41422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脑内 H1 信号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01384" y="4645152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7952D5"/>
                </a:solidFill>
                <a:latin typeface="Noto Sans CJK SC"/>
              </a:rPr>
              <a:t>部分药物可进入脑内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01384" y="5093208"/>
            <a:ext cx="45628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清醒相关信号受影响 → 可能嗜睡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聚餐邀请到了，你先回哪条消息？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单选｜今天服过抗过敏药，具体饮酒要求未确认；下一页再揭晓。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先吃点东西，把两者错开两小时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照以前的经验，只小酌不碰烈酒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今晚先换白水，按具体药名查要求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先选哪一步？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案例④：聚餐这杯酒，先停一下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C：拿不准就先不喝；错开两小时、酒量好都不能代替核实。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S9; S13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47672"/>
            <a:ext cx="3474720" cy="360273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6695" y="2139696"/>
            <a:ext cx="10058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157984"/>
            <a:ext cx="8778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白天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5" y="2706624"/>
            <a:ext cx="3035808" cy="923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225295" y="3621024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2999" y="2779776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已经服过抗过敏药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4011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5257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2824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2027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2416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78508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7221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88059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5237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37690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260043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04848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580083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24888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90472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471269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388059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75257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285646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484071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94460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0083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682496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770632" y="3968496"/>
            <a:ext cx="941832" cy="11612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16352" y="4014215"/>
            <a:ext cx="850392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241548" y="4334256"/>
            <a:ext cx="0" cy="27432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100273" y="4471416"/>
            <a:ext cx="282549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816352" y="4818888"/>
            <a:ext cx="8503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抗过敏药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5" y="5221224"/>
            <a:ext cx="303580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03354"/>
                </a:solidFill>
                <a:latin typeface="Noto Sans CJK SC"/>
              </a:rPr>
              <a:t>先记住药名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71416" y="1947672"/>
            <a:ext cx="3474720" cy="3602736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90872" y="2139696"/>
            <a:ext cx="10058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0" y="2157984"/>
            <a:ext cx="8778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晚上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90872" y="2706624"/>
            <a:ext cx="3035808" cy="923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sosceles Triangle 47"/>
          <p:cNvSpPr/>
          <p:nvPr/>
        </p:nvSpPr>
        <p:spPr>
          <a:xfrm rot="10800000">
            <a:off x="4919472" y="3621024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37176" y="2779776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室友劝：就喝一点，没事吧？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98187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69433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07000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26203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736592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72683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781397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82235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909413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31866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495421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99902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27425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1906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84647" y="4256532"/>
            <a:ext cx="19203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165445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082235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69433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979822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178247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088636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274259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376671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rapezoid 72"/>
          <p:cNvSpPr/>
          <p:nvPr/>
        </p:nvSpPr>
        <p:spPr>
          <a:xfrm>
            <a:off x="6373368" y="4032504"/>
            <a:ext cx="1024128" cy="649224"/>
          </a:xfrm>
          <a:prstGeom prst="trapezoid">
            <a:avLst/>
          </a:prstGeom>
          <a:solidFill>
            <a:srgbClr val="FFFFFF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592823" y="4306824"/>
            <a:ext cx="585216" cy="19202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6885431" y="4681728"/>
            <a:ext cx="0" cy="448056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574536" y="5138928"/>
            <a:ext cx="621791" cy="0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4690872" y="5221224"/>
            <a:ext cx="303580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03354"/>
                </a:solidFill>
                <a:latin typeface="Noto Sans CJK SC"/>
              </a:rPr>
              <a:t>劝酒不是依据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65592" y="1947672"/>
            <a:ext cx="3474720" cy="360273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385048" y="2139696"/>
            <a:ext cx="10058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49056" y="2157984"/>
            <a:ext cx="8778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行动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385048" y="2706624"/>
            <a:ext cx="3035808" cy="923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 rot="10800000">
            <a:off x="8613648" y="3621024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1352" y="2779776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暂换白水，核实具体药品要求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392363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8763609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501176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520379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430768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166860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475573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776411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03589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026042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648395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68435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8878824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859621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789212" y="4467758"/>
            <a:ext cx="134417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673998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872423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8782812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8968435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9070848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218066" y="3776472"/>
            <a:ext cx="2432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105" name="Oval 104"/>
          <p:cNvSpPr/>
          <p:nvPr/>
        </p:nvSpPr>
        <p:spPr>
          <a:xfrm>
            <a:off x="10652760" y="4215384"/>
            <a:ext cx="356616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0113263" y="4050791"/>
            <a:ext cx="713232" cy="996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10222992" y="4745736"/>
            <a:ext cx="502920" cy="0"/>
          </a:xfrm>
          <a:prstGeom prst="line">
            <a:avLst/>
          </a:prstGeom>
          <a:ln w="190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11055096" y="4105656"/>
            <a:ext cx="374904" cy="758952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082528" y="4325112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查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85048" y="5221224"/>
            <a:ext cx="3035808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03354"/>
                </a:solidFill>
                <a:latin typeface="Noto Sans CJK SC"/>
              </a:rPr>
              <a:t>白水＋核实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安全用药四步：看、核、问、记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C｜把“不确定”变成一个咨询动作。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症状、说明书、就医信号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成分、剂量、间隔、禁忌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医生 / 药师，确认不确定处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说明书很长？先定位这六处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六处是阅读起点，不代表其余内容可以跳过。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801368"/>
            <a:ext cx="10305288" cy="37673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9576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 / 通用名</a:t>
            </a:r>
          </a:p>
        </p:txBody>
      </p:sp>
      <p:sp>
        <p:nvSpPr>
          <p:cNvPr id="13" name="Oval 12"/>
          <p:cNvSpPr/>
          <p:nvPr/>
        </p:nvSpPr>
        <p:spPr>
          <a:xfrm>
            <a:off x="4864608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2976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适应证或功能主治</a:t>
            </a:r>
          </a:p>
        </p:txBody>
      </p:sp>
      <p:sp>
        <p:nvSpPr>
          <p:cNvPr id="16" name="Oval 15"/>
          <p:cNvSpPr/>
          <p:nvPr/>
        </p:nvSpPr>
        <p:spPr>
          <a:xfrm>
            <a:off x="1179576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7943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用法用量</a:t>
            </a:r>
          </a:p>
        </p:txBody>
      </p:sp>
      <p:sp>
        <p:nvSpPr>
          <p:cNvPr id="19" name="Oval 18"/>
          <p:cNvSpPr/>
          <p:nvPr/>
        </p:nvSpPr>
        <p:spPr>
          <a:xfrm>
            <a:off x="4864608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2976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禁忌与注意事项</a:t>
            </a:r>
          </a:p>
        </p:txBody>
      </p:sp>
      <p:sp>
        <p:nvSpPr>
          <p:cNvPr id="22" name="Oval 21"/>
          <p:cNvSpPr/>
          <p:nvPr/>
        </p:nvSpPr>
        <p:spPr>
          <a:xfrm>
            <a:off x="1179576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9576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7943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相互作用 / 不良反应</a:t>
            </a:r>
          </a:p>
        </p:txBody>
      </p:sp>
      <p:sp>
        <p:nvSpPr>
          <p:cNvPr id="25" name="Oval 24"/>
          <p:cNvSpPr/>
          <p:nvPr/>
        </p:nvSpPr>
        <p:spPr>
          <a:xfrm>
            <a:off x="4864608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2976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贮藏条件 / 有效期</a:t>
            </a:r>
          </a:p>
        </p:txBody>
      </p:sp>
      <p:pic>
        <p:nvPicPr>
          <p:cNvPr id="28" name="Picture 27" descr="pill-bottle.jpg"/>
          <p:cNvPicPr>
            <a:picLocks noChangeAspect="1"/>
          </p:cNvPicPr>
          <p:nvPr/>
        </p:nvPicPr>
        <p:blipFill>
          <a:blip r:embed="rId3"/>
          <a:srcRect t="7230" b="7230"/>
          <a:stretch>
            <a:fillRect/>
          </a:stretch>
        </p:blipFill>
        <p:spPr>
          <a:xfrm>
            <a:off x="8613648" y="1975104"/>
            <a:ext cx="2331720" cy="319125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613648" y="1975104"/>
            <a:ext cx="2331720" cy="31912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31936" y="4846320"/>
            <a:ext cx="2295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487375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30952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请以手中的真实说明书为准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时间、剂量、剂型，都别凭感觉改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不同药物要求不同；不要套用同一条补药规则。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来源：S10; S13;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ll-bottle.jpg"/>
          <p:cNvPicPr>
            <a:picLocks noChangeAspect="1"/>
          </p:cNvPicPr>
          <p:nvPr/>
        </p:nvPicPr>
        <p:blipFill>
          <a:blip r:embed="rId3"/>
          <a:srcRect t="37981" b="37981"/>
          <a:stretch>
            <a:fillRect/>
          </a:stretch>
        </p:blipFill>
        <p:spPr>
          <a:xfrm>
            <a:off x="868680" y="2103120"/>
            <a:ext cx="3209544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漏服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先查具体处理要求，不自行加倍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armacy-01.jpg"/>
          <p:cNvPicPr>
            <a:picLocks noChangeAspect="1"/>
          </p:cNvPicPr>
          <p:nvPr/>
        </p:nvPicPr>
        <p:blipFill>
          <a:blip r:embed="rId4"/>
          <a:srcRect t="15812" b="15812"/>
          <a:stretch>
            <a:fillRect/>
          </a:stretch>
        </p:blipFill>
        <p:spPr>
          <a:xfrm>
            <a:off x="4709160" y="2103120"/>
            <a:ext cx="3209544" cy="1234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疗程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按处方执行，有问题及时咨询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blet-hand.jpg"/>
          <p:cNvPicPr>
            <a:picLocks noChangeAspect="1"/>
          </p:cNvPicPr>
          <p:nvPr/>
        </p:nvPicPr>
        <p:blipFill>
          <a:blip r:embed="rId5"/>
          <a:srcRect t="30769" b="30769"/>
          <a:stretch>
            <a:fillRect/>
          </a:stretch>
        </p:blipFill>
        <p:spPr>
          <a:xfrm>
            <a:off x="8549640" y="2103120"/>
            <a:ext cx="3209544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54964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4108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423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剂型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问药师时，把信息一次说清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带药盒 / 说明书照片，比“那种白色药片”更有用。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28</a:t>
            </a:r>
          </a:p>
        </p:txBody>
      </p:sp>
      <p:pic>
        <p:nvPicPr>
          <p:cNvPr id="9" name="Picture 8" descr="pharmacy-02.jpg"/>
          <p:cNvPicPr>
            <a:picLocks noChangeAspect="1"/>
          </p:cNvPicPr>
          <p:nvPr/>
        </p:nvPicPr>
        <p:blipFill>
          <a:blip r:embed="rId3"/>
          <a:srcRect l="29209" r="29209"/>
          <a:stretch>
            <a:fillRect/>
          </a:stretch>
        </p:blipFill>
        <p:spPr>
          <a:xfrm>
            <a:off x="822960" y="1975104"/>
            <a:ext cx="2514600" cy="3401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2960" y="1975104"/>
            <a:ext cx="2514600" cy="340156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056632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084064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975104"/>
            <a:ext cx="7726679" cy="34015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6200" y="2240279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5384" y="2103120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我有什么症状，持续多久？</a:t>
            </a:r>
          </a:p>
        </p:txBody>
      </p:sp>
      <p:sp>
        <p:nvSpPr>
          <p:cNvPr id="16" name="Oval 15"/>
          <p:cNvSpPr/>
          <p:nvPr/>
        </p:nvSpPr>
        <p:spPr>
          <a:xfrm>
            <a:off x="3886200" y="322783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4" y="3090672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我正在吃什么，何时吃了多少？</a:t>
            </a:r>
          </a:p>
        </p:txBody>
      </p:sp>
      <p:sp>
        <p:nvSpPr>
          <p:cNvPr id="18" name="Oval 17"/>
          <p:cNvSpPr/>
          <p:nvPr/>
        </p:nvSpPr>
        <p:spPr>
          <a:xfrm>
            <a:off x="3886200" y="4215384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5384" y="4078224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我有哪些过敏史、疾病或特殊情况？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什么时候，不该继续自己试药？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严重急症拨打120；带上药品信息，别等“自己好”。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2852928" cy="3465576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237744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86784"/>
            <a:ext cx="222199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严重急症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立即求助</a:t>
            </a:r>
          </a:p>
        </p:txBody>
      </p:sp>
      <p:pic>
        <p:nvPicPr>
          <p:cNvPr id="12" name="Picture 11" descr="hospital-02.jpg"/>
          <p:cNvPicPr>
            <a:picLocks noChangeAspect="1"/>
          </p:cNvPicPr>
          <p:nvPr/>
        </p:nvPicPr>
        <p:blipFill>
          <a:blip r:embed="rId3"/>
          <a:srcRect l="34960" r="34960"/>
          <a:stretch>
            <a:fillRect/>
          </a:stretch>
        </p:blipFill>
        <p:spPr>
          <a:xfrm>
            <a:off x="9555480" y="1956816"/>
            <a:ext cx="1828800" cy="34198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555480" y="1956816"/>
            <a:ext cx="1828800" cy="34198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73767" y="5056632"/>
            <a:ext cx="17922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83496" y="5084064"/>
            <a:ext cx="15727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1984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呼吸困难 / 喉舌肿胀 / 意识异常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5" y="2514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立即急救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5" y="3127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疑似超量或误服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5" y="3657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及时寻求医疗帮助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4270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症状持续、加重或反复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5" y="4800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宿舍药箱：留信息，也留秩序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数量不求多；需要时能认清、查到、说清。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28</a:t>
            </a:r>
          </a:p>
        </p:txBody>
      </p:sp>
      <p:pic>
        <p:nvPicPr>
          <p:cNvPr id="9" name="Picture 8" descr="pharmacy-01.jpg"/>
          <p:cNvPicPr>
            <a:picLocks noChangeAspect="1"/>
          </p:cNvPicPr>
          <p:nvPr/>
        </p:nvPicPr>
        <p:blipFill>
          <a:blip r:embed="rId3"/>
          <a:srcRect l="19318" r="19318"/>
          <a:stretch>
            <a:fillRect/>
          </a:stretch>
        </p:blipFill>
        <p:spPr>
          <a:xfrm>
            <a:off x="914400" y="2048256"/>
            <a:ext cx="3291840" cy="3017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048256"/>
            <a:ext cx="3291840" cy="301752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4745736"/>
            <a:ext cx="325526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773168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Oval 12"/>
          <p:cNvSpPr/>
          <p:nvPr/>
        </p:nvSpPr>
        <p:spPr>
          <a:xfrm>
            <a:off x="4599432" y="2231136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616" y="2093976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原包装＋说明书｜一起保留</a:t>
            </a:r>
          </a:p>
        </p:txBody>
      </p:sp>
      <p:sp>
        <p:nvSpPr>
          <p:cNvPr id="15" name="Oval 14"/>
          <p:cNvSpPr/>
          <p:nvPr/>
        </p:nvSpPr>
        <p:spPr>
          <a:xfrm>
            <a:off x="4599432" y="3346703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3209544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有效期＋贮藏条件｜定期检查</a:t>
            </a:r>
          </a:p>
        </p:txBody>
      </p:sp>
      <p:sp>
        <p:nvSpPr>
          <p:cNvPr id="17" name="Oval 16"/>
          <p:cNvSpPr/>
          <p:nvPr/>
        </p:nvSpPr>
        <p:spPr>
          <a:xfrm>
            <a:off x="4599432" y="446227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325112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个人用药记录｜不混装、不分享处方药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把四个误区，换成四个动作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看、核、问、记：现在进入简单挑战。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28800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1828800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感冒药叠加</a:t>
            </a:r>
          </a:p>
        </p:txBody>
      </p:sp>
      <p:sp>
        <p:nvSpPr>
          <p:cNvPr id="11" name="Chevron 10"/>
          <p:cNvSpPr/>
          <p:nvPr/>
        </p:nvSpPr>
        <p:spPr>
          <a:xfrm>
            <a:off x="5907024" y="1883664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828800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核对成分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69464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69464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感冒吃抗生素</a:t>
            </a:r>
          </a:p>
        </p:txBody>
      </p:sp>
      <p:sp>
        <p:nvSpPr>
          <p:cNvPr id="15" name="Chevron 14"/>
          <p:cNvSpPr/>
          <p:nvPr/>
        </p:nvSpPr>
        <p:spPr>
          <a:xfrm>
            <a:off x="5907024" y="2624328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2569464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先确认是否需要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310128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310128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抗过敏后困倦</a:t>
            </a:r>
          </a:p>
        </p:txBody>
      </p:sp>
      <p:sp>
        <p:nvSpPr>
          <p:cNvPr id="19" name="Chevron 18"/>
          <p:cNvSpPr/>
          <p:nvPr/>
        </p:nvSpPr>
        <p:spPr>
          <a:xfrm>
            <a:off x="5907024" y="3364992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4264" y="3310128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查提示、避高风险活动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050791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4050791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吃药后聚餐</a:t>
            </a:r>
          </a:p>
        </p:txBody>
      </p:sp>
      <p:sp>
        <p:nvSpPr>
          <p:cNvPr id="23" name="Chevron 22"/>
          <p:cNvSpPr/>
          <p:nvPr/>
        </p:nvSpPr>
        <p:spPr>
          <a:xfrm>
            <a:off x="5907024" y="4105655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50791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先核实饮酒要求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综合挑战：小苏今晚怎么安排？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虚构情境｜无呼吸困难、意识异常等急症表现。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28</a:t>
            </a:r>
          </a:p>
        </p:txBody>
      </p:sp>
      <p:pic>
        <p:nvPicPr>
          <p:cNvPr id="9" name="Picture 8" descr="tablet-hand.jpg"/>
          <p:cNvPicPr>
            <a:picLocks noChangeAspect="1"/>
          </p:cNvPicPr>
          <p:nvPr/>
        </p:nvPicPr>
        <p:blipFill>
          <a:blip r:embed="rId3"/>
          <a:srcRect l="12534" r="12534"/>
          <a:stretch>
            <a:fillRect/>
          </a:stretch>
        </p:blipFill>
        <p:spPr>
          <a:xfrm>
            <a:off x="795528" y="1901952"/>
            <a:ext cx="2514600" cy="33558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8" y="1901952"/>
            <a:ext cx="2514600" cy="335584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" y="4937760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965192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901952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2011680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已服：一种复方感冒药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072384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3182112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准备：再加一盒药＋参加聚餐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242816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3632" y="4352544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当前：成分没核对，症状尚轻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小苏的晚间计划，你采纳哪几条？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可多选 A / B / C｜逐条判断；想10秒，再举手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聚餐先点白水，具体饮酒要求再查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药盒和已服记录，一起交给药师核对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照上次的经验，把第二盒改到睡前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给建议点赞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A＋B：把建议拼成完整行动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S4; S9;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A＋B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饮酒要求未明 → 先用白水，再查询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药盒与已服记录 → 一起核对，再决定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沿用经验错开时间 → 信息缺口仍在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58368"/>
            <a:ext cx="210312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76656"/>
            <a:ext cx="19568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把判断带回生活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7208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药可以常备，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判断不能省略。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先看说明书，再做用药决定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核对重复成分，记录已服药物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拿不准，问医生 / 药师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会看 · 会核 · 会问 · 会记</a:t>
            </a:r>
          </a:p>
        </p:txBody>
      </p:sp>
      <p:pic>
        <p:nvPicPr>
          <p:cNvPr id="9" name="Picture 8" descr="clinic-01.jpg"/>
          <p:cNvPicPr>
            <a:picLocks noChangeAspect="1"/>
          </p:cNvPicPr>
          <p:nvPr/>
        </p:nvPicPr>
        <p:blipFill>
          <a:blip r:embed="rId3"/>
          <a:srcRect l="28099" r="28099"/>
          <a:stretch>
            <a:fillRect/>
          </a:stretch>
        </p:blipFill>
        <p:spPr>
          <a:xfrm>
            <a:off x="7909560" y="1417320"/>
            <a:ext cx="3474720" cy="44622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09560" y="1417320"/>
            <a:ext cx="3474720" cy="446227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7848" y="5559552"/>
            <a:ext cx="3438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5586983"/>
            <a:ext cx="3218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610819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Healthy Habits: Antibiotic Do’s and Don’ts.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Antibiotic Use in the United States（2025更新；门诊至少28%不必要处方）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Antihistamines.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NIAAA. Alcohol-Medication Interactions: Potentially Dangerous Mixes.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 Specialist Pharmacy Service. Advising on missed or delayed doses of medicines.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Manage Common Cold.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NHS. Anaphylaxis.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Omeprazole.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CDC. About C. diff（2026更新；用药期间及结束后1个月感染风险最高10倍）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Hersh AL et al. Unnecessary Antibiotic Prescribing in US Ambulatory Care Settings, 2010–2015. Clin Infect Dis. 2021;72:133–137.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图片为真实图库照片，仅作课堂场景示意；照片中的人物、药物、场所与虚构案例无关。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Towfiqu barbhuiya · tablet-hand.jpg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Pexels photo 16051935 · pill-bottle.jpg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George Pak · college-campus.jpg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LZ Jian · evening.jpg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4088" y="526694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7"/>
              </a:rPr>
              <a:t>Árpád Czapp · pharmacy-01.jpg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60527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8"/>
              </a:rPr>
              <a:t>Unsplash License · 点击标题访问原图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81912" y="598932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附页，不计入35分钟｜完整原图链接与许可见配套文件。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图片为真实图库照片，仅作课堂场景示意；照片中的人物、药物、场所与虚构案例无关。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National Cancer Institute · pharmacy-02.jpg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paws and prints · pharmacy-03.jpg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Tasha Kostyuk · hospital-02.jpg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Martha Dominguez de Gouveia · clinic-01.jpg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附页，不计入35分钟｜完整原图链接与许可见配套文件。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