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第1页｜甲主讲｜建议45秒</a:t>
            </a:r>
          </a:p>
          <a:p>
            <a:r>
              <a:t>甲主讲；乙操作翻页。</a:t>
            </a:r>
          </a:p>
          <a:p/>
          <a:p>
            <a:r>
              <a:t>甲：大家好。今天我们聊一个进入大学后越来越需要自己做决定的问题：身体不舒服时，药到底该怎么用？离开父母的提醒，宿舍药箱、室友推荐和手机搜索，可能成了我们的第一反应。但名字熟悉，不代表适合自己；药吃得多，也不代表好得快。接下来我们用四类校园情境和几轮举手选择，练习几个能直接用上的判断。我们不考药名，也不背剂量表，目标是学会看什么、问什么，以及什么时候应该就医。</a:t>
            </a:r>
          </a:p>
          <a:p/>
          <a:p>
            <a:r>
              <a:t>视觉说明：蓝底白字封面，右侧为手持药片的真实照片。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第2页｜甲主讲｜建议45秒</a:t>
            </a:r>
          </a:p>
          <a:p>
            <a:r>
              <a:t>移至封面后的第2页；先交代路线，再进入原第2页的开场选择题，不提前揭晓答案。</a:t>
            </a:r>
          </a:p>
          <a:p/>
          <a:p>
            <a:r>
              <a:t>甲：先看路线图。前五分钟建立判断原则；接着用十七分钟看四类校园误区：重复成分、抗生素、抗过敏药以及药物与饮酒。然后八分钟练习安全用药，最后五分钟替小苏做综合选择。甲负责前半段，乙接着讲机制与行动，举手互动已计入时间。大家不用背药名或算剂量，只选更有依据的下一步。现在进入第一个情境：室友感冒了，你会先做哪一步？</a:t>
            </a:r>
          </a:p>
          <a:p/>
          <a:p>
            <a:r>
              <a:t>视觉说明：四段浅底色路线卡，分别用判断、宿舍药箱、安全步骤、选择挑战的可编辑图标呈现，不嵌入重复照片。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第3页｜甲主讲｜建议90秒</a:t>
            </a:r>
          </a:p>
          <a:p>
            <a:r>
              <a:t>10秒阅读＋三轮举手约25秒；不追问个人用药史。</a:t>
            </a:r>
          </a:p>
          <a:p/>
          <a:p>
            <a:r>
              <a:t>甲：小苏流鼻涕、喉咙不舒服，明天还有课。药箱里有上次剩下的药，室友也递来一盒。沿用经验、先核信息、按症状挑药，三个方案都像是在解决问题。信息还不完整时，你选哪一个第一步？</a:t>
            </a:r>
          </a:p>
          <a:p>
            <a:r>
              <a:t>【静默10秒；A、B、C依次举手，各约5秒】</a:t>
            </a:r>
          </a:p>
          <a:p>
            <a:r>
              <a:t>甲：先保留选择。上次有效不代表这次适用，包装上的症状描述也不能代替核对；下一页看判断需要哪些信息。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第4页｜甲主讲｜建议120秒</a:t>
            </a:r>
          </a:p>
          <a:p/>
          <a:p/>
          <a:p>
            <a:r>
              <a:t>甲：合理用药可以用四个词记住：安全、有效、经济、适宜。安全不是承诺任何药都没有风险，而是识别禁忌和可能的不良反应。有效，是药物针对的问题与实际需要相符。经济，是在满足治疗需要的前提下，避免不必要的药物和花费。适宜，则提醒我们，同一个药对室友合适，对自己不一定合适，年龄、过敏史、正在使用的其他药物，都可能影响选择。所以开场选B，是先把这些信息补齐，而不是看到一个症状就直接往药箱里伸手。</a:t>
            </a:r>
          </a:p>
          <a:p>
            <a:r>
              <a:t>【增加一分钟情境比较：同桌讨论30秒——室友剩药便宜、广告药很热门，各会卡在哪一道关？再用30秒邀请举手并串联四关。经济不只是便宜，适宜也不等于别人有效。】</a:t>
            </a:r>
          </a:p>
          <a:p/>
          <a:p>
            <a:r>
              <a:t>视觉说明：四象限原则卡；每格一个关键词和一个简短解释。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第5页｜甲主讲｜建议75秒</a:t>
            </a:r>
          </a:p>
          <a:p/>
          <a:p/>
          <a:p>
            <a:r>
              <a:t>甲：小苏觉得头痛还没缓解，拿起另一盒感冒药。室友说，名字不同，一盒管头痛、一盒管感冒，听起来像双保险。三格漫画从不舒服，到听起来合理的建议，再把判断停在药盒背面。症状宣传不同，不代表有效成分不同。下一页不算剂量，只把成分摆在一起，看双保险有没有变成重复。</a:t>
            </a:r>
          </a:p>
          <a:p/>
          <a:p>
            <a:r>
              <a:t>视觉说明：宿舍核药动漫三格：头痛、室友递来第二盒药、两盒成分核对。删除情境、对话、悬念以及重复总结标题；独立对白可编辑。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第6页｜甲主讲｜建议60秒</a:t>
            </a:r>
          </a:p>
          <a:p/>
          <a:p/>
          <a:p>
            <a:r>
              <a:t>甲：左边是单方退热止痛药的教学标签，只有对乙酰氨基酚；右边的复方感冒药示例另有马来酸氯苯那敏和盐酸伪麻黄碱。组成不完全相同，但同一个红色成分块出现了两次，其他成分的不同不能抵消重复。先把真实说明书的成分逐项对照，再核规格、已经服用的时间和用量，拿不准就带药盒问药师。这两张教学标签不对应具体产品，不给出剂量；不同产品的组成和要求可能不同。</a:t>
            </a:r>
          </a:p>
          <a:p/>
          <a:p>
            <a:r>
              <a:t>视觉说明：两盒不同配色的教学药盒。重复成分都用红色且完整命名；另两种成分用青绿和紫色，汇合箭头突出同一成分来自两盒，再给出圈重复、核信息、再决定的动作。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第7页｜甲主讲｜建议60秒</a:t>
            </a:r>
          </a:p>
          <a:p/>
          <a:p/>
          <a:p>
            <a:r>
              <a:t>甲：18点，小苏服过一种复方感冒药；20点仍然头痛，想加另一盒退热药。这两个时间只是故事线索，不表示隔两小时就能加药。现在要补齐两盒药的具体药名、成分、规格，以及今天何时用了多少。核对重复和累计使用，不能靠症状还在就自行加量，也不能套统一间隔。怀疑超量或误服应及时寻求医疗帮助；症状持续、加重也应按说明书就医提示处理。下一页只选获取这些信息的下一步。</a:t>
            </a:r>
          </a:p>
          <a:p/>
          <a:p>
            <a:r>
              <a:t>视觉说明：三幅全新动漫分镜：傍晚查看用药记录、夜间症状仍在、俯视核对两盒药和说明书；每幅仅在本页使用。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第8页｜甲主讲｜建议75秒</a:t>
            </a:r>
          </a:p>
          <a:p>
            <a:r>
              <a:t>阅读10秒；举手约25秒；其余时间复述问题并转场。</a:t>
            </a:r>
          </a:p>
          <a:p/>
          <a:p>
            <a:r>
              <a:t>甲：室友群里弹出三条消息。A让我们找重复成分，B建议错开服药时间，C让我们补齐今天的药名、规格和时间。可以给多条消息点赞，选择的是现在有助于判断的建议，不是替小苏开药。</a:t>
            </a:r>
          </a:p>
          <a:p>
            <a:r>
              <a:t>【静默10秒；逐条举手各约5秒，可多次举手】</a:t>
            </a:r>
          </a:p>
          <a:p>
            <a:r>
              <a:t>甲：请保留选择，下一页看哪些建议补齐了信息，哪些只是让安排听起来谨慎。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第9页｜甲主讲｜建议30秒</a:t>
            </a:r>
          </a:p>
          <a:p/>
          <a:p/>
          <a:p>
            <a:r>
              <a:t>甲：可以同时给A和C点赞。A找到共有成分，C补齐具体规格与已服记录，两条合起来才更有助于判断。B听起来考虑了时间，但并没有核清成分、规格和累计使用；不能靠错开就推定合用安全。先不自行叠加，带齐这些信息问药师。</a:t>
            </a:r>
          </a:p>
          <a:p/>
          <a:p>
            <a:r>
              <a:t>视觉说明：大号C与三步行动箭头。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第10页｜甲主讲｜建议75秒</a:t>
            </a:r>
          </a:p>
          <a:p/>
          <a:p/>
          <a:p>
            <a:r>
              <a:t>甲：第二个误区是把抗生素当成感冒时的保险药。回到高中生物，细菌具有细胞结构，病毒没有完整的细胞结构，需要利用宿主细胞复制。不同类别的抗生素，可以作用于细菌的细胞壁合成、蛋白质合成等过程；对引起普通感冒的病毒，它们没有相应的治疗作用。所以流鼻涕、嗓子痛，并不能自动推出“应该吃抗生素”。当然，出现这些症状也可能有其他原因，少数病毒感染之后还可能发生细菌感染，是否需要抗生素需要评估。我们能做的是描述症状、接受判断，而不是自己拿剩药试试看。</a:t>
            </a:r>
          </a:p>
          <a:p/>
          <a:p>
            <a:r>
              <a:t>视觉说明：彩色显微世界插画：青绿细菌有细胞结构与遗传物质；紫色病毒有外壳与遗传物质，连接宿主细胞。用文字说明抗生素针对某些细菌结构或过程；示意不按比例。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第11页｜甲主讲｜建议110秒</a:t>
            </a:r>
          </a:p>
          <a:p/>
          <a:p/>
          <a:p>
            <a:r>
              <a:t>甲：上一页说普通感冒通常由病毒引起，抗生素没有相应治疗作用。为什么不能想着吃一点总没坏处？左边一百格中，高亮28格：CDC汇总至少28%的美国门诊抗生素处方被估计为不必要，所引研究该估计来自2014—2015年。这是美国门诊处方比例，不是中国大学生的发生率，其余格子也不代表全部合理。</a:t>
            </a:r>
          </a:p>
          <a:p>
            <a:r>
              <a:t>右边换成五个急诊图标：CDC介绍，药物相关急诊中，约五次就有一次来自抗生素反应。常见副作用包括皮疹、恶心、腹泻，严重时可出现严重过敏等。这里数的是药物反应相关急诊，不是所有急诊，不是说五个吃抗生素的人就有一个进急诊，也不能把所有这些事件都归为滥用。</a:t>
            </a:r>
          </a:p>
          <a:p>
            <a:r>
              <a:t>【留15秒读五个图标；问：若治疗不需要，额外承担这样的风险值不值？停10秒】</a:t>
            </a:r>
          </a:p>
          <a:p>
            <a:r>
              <a:t>甲：两幅图分别展示不必要的处方与药物反应造成的急诊负担，不能相乘推算个人概率。我们要带走的是：没有需要时吃抗生素，未必得到预期获益，却仍可能遇到副作用；确实需要时，规范使用的获益可以超过风险，不自行停药。下一页把结论换成三个实际动作。</a:t>
            </a:r>
          </a:p>
          <a:p/>
          <a:p>
            <a:r>
              <a:t>视觉说明：双图并排：左侧100格中28格珊瑚红高亮，右侧五个急诊图标中一个红色突出抗生素反应。正文写清药物副作用导致的急诊这一分母；数据年份、范围和来源保留在备注和附页。</a:t>
            </a:r>
          </a:p>
          <a:p/>
          <a:p>
            <a:r>
              <a:t>参考：</a:t>
            </a:r>
          </a:p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>
            <a:r>
              <a:t>[S15] CDC. Do antibiotics have side effects?（药物相关急诊约1/5来自抗生素反应）</a:t>
            </a:r>
          </a:p>
          <a:p>
            <a:r>
              <a:t>https://www.cdc.gov/antibiotic-use/media/pdfs/Do-Antibiotics-Have-Side-Effects-508.pdf</a:t>
            </a:r>
          </a:p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第12页｜甲主讲｜建议80秒</a:t>
            </a:r>
          </a:p>
          <a:p/>
          <a:p/>
          <a:p>
            <a:r>
              <a:t>甲：数据看完，回到小苏的药箱。第一，看见感冒症状，不自动把抗生素当作备用保险，先明确是否需要。第二，室友说这盒我吃着有效，不代表适合自己；相似症状可能来自不同原因，不接室友剩药，也不分享自己的处方。第三，确实需要时按具体处方的剂量、间隔与疗程执行，疗效或不良反应有疑问就咨询，不自己缩短、延长或加量。</a:t>
            </a:r>
          </a:p>
          <a:p>
            <a:r>
              <a:t>【停顿10秒，让大家看三张动作卡，选一个最容易忘记的动作】</a:t>
            </a:r>
          </a:p>
          <a:p>
            <a:r>
              <a:t>甲：真正减少可避免风险的，是把这三个动作做出来。</a:t>
            </a:r>
          </a:p>
          <a:p/>
          <a:p>
            <a:r>
              <a:t>视觉说明：浅蓝底的三张动作卡，统一蓝与珊瑚红；放大镜核对、室友药盒暂停、处方清单咨询三幅原创图标，短标题与一行解释分层。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第13页｜甲主讲｜建议90秒</a:t>
            </a:r>
          </a:p>
          <a:p>
            <a:r>
              <a:t>甲主讲至此页末；预计累计15分55秒，交给乙接着讲组胺机制。</a:t>
            </a:r>
          </a:p>
          <a:p/>
          <a:p>
            <a:r>
              <a:t>甲：第三个案例换到课堂。小苏用了抗过敏药，终于不用一直擦鼻涕，却开始听不清老师在讲什么。先看两幅画，同一种用药经历带来了两个结果：鼻部舒服了，精神却不如平时。药物的治疗作用和其他影响可能同时出现。不是所有抗过敏药都一样，也不是人人都会困。</a:t>
            </a:r>
          </a:p>
          <a:p>
            <a:r>
              <a:t>【留15秒看两幅图；请大家用一句话描述前后变化，再给10秒思考：下午有课、晚上要骑车，会向药师补充什么信息？】</a:t>
            </a:r>
          </a:p>
          <a:p>
            <a:r>
              <a:t>甲：先查具体药品的嗜睡提示，把上课、通勤和其他用药告诉药师；已经困倦或反应变慢时，避开驾驶、骑车等高风险活动。别靠咖啡或酒精自行抵消这种感觉。为什么鼻子与清醒程度会同时受影响？下面交给乙，从组胺信号的两个位置来解释。</a:t>
            </a:r>
          </a:p>
          <a:p/>
          <a:p>
            <a:r>
              <a:t>视觉说明：两幅独立动漫分镜：鼻部症状缓解、课堂犯困；各用一句对白呈现现象，后页自然引出组胺机制。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第14页｜乙主讲｜建议65秒</a:t>
            </a:r>
          </a:p>
          <a:p/>
          <a:p/>
          <a:p>
            <a:r>
              <a:t>乙：左侧，组胺与H1受体相关的信号参与部分过敏反应；抗组胺药影响相应受体的作用，可以缓解部分症状。右侧，脑内组胺信号也参与维持清醒。血脑屏障是进入脑内的一道选择性屏障，不是对所有药物都完全封闭；部分抗组胺药能够进入脑内，影响相关受体信号，因此可能嗜睡。两条路径解释治疗作用与其他影响为什么可能同时发生，不表示每种药、每个人都一样。具体选择看说明书和药师建议；困倦时避开驾驶、骑车等高风险活动。</a:t>
            </a:r>
          </a:p>
          <a:p/>
          <a:p>
            <a:r>
              <a:t>视觉说明：可编辑组胺双路径示意配原创动漫肖像；鼻部、脑内、H1受体及血脑屏障为必要机制标注，保留。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第15页｜乙主讲｜建议150秒</a:t>
            </a:r>
          </a:p>
          <a:p>
            <a:r>
              <a:t>同桌讨论20秒＋举手约25秒；答案口头公布，不追问开放观点。</a:t>
            </a:r>
          </a:p>
          <a:p/>
          <a:p>
            <a:r>
              <a:t>乙：先来一条聚餐邀请。小苏今天服过抗过敏药，但具体饮酒要求没确认。A建议垫肚子并错开时间，B建议按经验少喝，C建议先换白水再核药名。哪条消息先处理了现在的未知？</a:t>
            </a:r>
          </a:p>
          <a:p>
            <a:r>
              <a:t>【同桌讨论20秒，随后静默10秒；A、B、C依次举手，各约5秒】</a:t>
            </a:r>
          </a:p>
          <a:p>
            <a:r>
              <a:t>乙：可以再想十秒：你选的是让自己感觉更放心的安排，还是获取这盒药实际要求的动作？甲只观察，不现场宣布答案，也不问个人用药史。把选择留住，下一页我们让小苏真的走进聚餐，看看这条消息怎样变成行动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第16页｜乙主讲｜建议150秒</a:t>
            </a:r>
          </a:p>
          <a:p/>
          <a:p/>
          <a:p>
            <a:r>
              <a:t>乙：现在把刚才群聊题的答案放回实际聚餐。第一格，小苏白天服过抗过敏药；第二格，室友端来酒杯说就一点；第三格，小苏先换成白水，把具体药名和饮酒要求核实。答案C不是一个显得规矩的口号，而是给信息缺口留出一个核实动作。</a:t>
            </a:r>
          </a:p>
          <a:p>
            <a:r>
              <a:t>【甲演室友：先吃点东西再喝，行不行？乙：这不能证明这个药与酒精合用安全。甲：那等两小时呢？乙：也没有适用于所有药物的统一等待时间。留约20秒表演及停顿】</a:t>
            </a:r>
          </a:p>
          <a:p>
            <a:r>
              <a:t>乙：酒精与部分具有镇静作用的药物合用，可能增加嗜睡及反应受损风险；不同药物还可能有其他相互作用，具体看说明书或问药师。普通口服片剂或胶囊通常用白水，含服、咀嚼等剂型另有要求，仍以具体说明为准。下一步把这些判断整理成看、核、问、记。</a:t>
            </a:r>
          </a:p>
          <a:p/>
          <a:p>
            <a:r>
              <a:t>视觉说明：原创动漫聚餐三格：记起已服药、室友劝酒、选白水并核实信息。取消白天、晚上、行动的独立标题和复述性短语，时间与行为直接写入对白。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第17页｜乙主讲｜建议60秒</a:t>
            </a:r>
          </a:p>
          <a:p/>
          <a:p/>
          <a:p>
            <a:r>
              <a:t>乙：第三部分，我们把前面的例子浓缩成四个动作：看、核、问、记。看，是观察症状，也看说明书和需要就医的信号。核，是核对成分有没有重复，剂量与时间是否符合要求，自己有没有相关禁忌。问，是把不确定的地方交给医生或药师确认，不用猜测填空。记，是记录已经用过的药、时间、用量以及出现的反应。上一题选C，就把“这盒药能不能配酒”的不确定性变成了一个清楚的咨询问题。这四步是课堂助记法，不是替代诊疗的专业流程。</a:t>
            </a:r>
          </a:p>
          <a:p/>
          <a:p>
            <a:r>
              <a:t>视觉说明：原创四步流程，标注“课堂助记法”。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第18页｜乙主讲｜建议90秒</a:t>
            </a:r>
          </a:p>
          <a:p/>
          <a:p/>
          <a:p>
            <a:r>
              <a:t>乙：看到密密麻麻的说明书，不少人的反应是只找“一次几片”。更有效的办法，是先定位六类信息。第一，成分和通用名，解决“我究竟在吃什么”。第二，适应证，确认它用于什么情况。第三，用法用量，包含每次多少、间隔多久以及如何服用。第四，禁忌和注意事项，查看过敏史、既往疾病和特殊人群等相关要求。第五，相互作用与不良反应，看看与其他药物、食物饮料是否存在需要注意的地方。第六，贮藏条件和有效期，确认药品是否仍适合使用。</a:t>
            </a:r>
          </a:p>
          <a:p>
            <a:r>
              <a:t>这张是重新设计的阅读示意，不是实际产品的说明书，也不能替代完整说明书。如果处方要求与自己的理解不一致，应向开方医生或药师核实，而不是自己随意选一种理解执行。</a:t>
            </a:r>
          </a:p>
          <a:p/>
          <a:p>
            <a:r>
              <a:t>视觉说明：说明书六处阅读清单配药瓶实拍照片；提醒以实际说明书为准。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第19页｜乙主讲｜建议70秒</a:t>
            </a:r>
          </a:p>
          <a:p/>
          <a:p/>
          <a:p>
            <a:r>
              <a:t>乙：用药过程中的很多问题，不是药选错了，而是自己改变了使用方式。比如漏了一次，不要自动理解成下次吃双倍。不同药物的处理方法不同，先查说明书，拿不准就问药师。再比如疗程，按处方使用，同时留意症状与反应；出现疑问要及时沟通，不能自行加量或延长。还有剂型，一些缓释或肠溶制剂依赖特定结构控制释放位置和速度，随意掰碎、咀嚼或打开胶囊，可能改变原先设计。也不是说所有带刻痕的药都不能分，而是能不能分、怎样分，应以具体产品说明为准。</a:t>
            </a:r>
          </a:p>
          <a:p/>
          <a:p>
            <a:r>
              <a:t>视觉说明：三张浅底色行动卡：漏服用钟表与问号，疗程用处方清单，剂型用完整药片与保护层；图形可编辑，无重复照片。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第20页｜乙主讲｜建议60秒</a:t>
            </a:r>
          </a:p>
          <a:p/>
          <a:p/>
          <a:p>
            <a:r>
              <a:t>乙：咨询是否有效，很大程度取决于我们提供的信息。可以按三句话组织。第一，我有什么症状，持续多久，正在变好还是加重。第二，我正在使用哪些药物或保健食品，具体药名和规格是什么，已经什么时候用了多少。第三，我有哪些已知药物过敏史、既往疾病或特殊情况。最好把药盒和说明书带上，或者拍清楚成分、规格和用法用量。只说“那种白色药片”，专业人员也难以准确判断。如果需要描述私密情况，可以单独咨询，不必在课堂或宿舍群里公开。</a:t>
            </a:r>
          </a:p>
          <a:p/>
          <a:p>
            <a:r>
              <a:t>视觉说明：药师取药实拍照片配咨询时需要说明的三类信息。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National Cancer Institute｜https://unsplash.com/photos/pharmacist-reaching-for-medication-on-shelf-byGTytEGjBo｜Unsplash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第21页｜乙主讲｜建议75秒</a:t>
            </a:r>
          </a:p>
          <a:p/>
          <a:p/>
          <a:p>
            <a:r>
              <a:t>乙：合理用药还包括知道什么时候停止自己试错。用药后出现呼吸困难、喉部或舌头肿胀、明显意识异常等情况，可能是严重反应，应立即寻求急救，在国内拨打120。不要靠继续加药来压住症状。怀疑超量或误服，也要及时获得医疗帮助，有些问题并不一定马上表现出来。就诊时带上药盒和已经服用的时间、用量记录。如果不是急症，但症状持续、反复或越来越重，也应该按药品说明书的就医提示及时就诊。我们列的是几个重要信号，不是完整清单，更不是要大家在宿舍自行鉴别各种严重疾病。</a:t>
            </a:r>
          </a:p>
          <a:p/>
          <a:p>
            <a:r>
              <a:t>视觉说明：红色120急救块、危险信号清单及医院走廊实拍照片。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Tasha Kostyuk｜https://unsplash.com/photos/empty-hospital-corridor-with-benches-and-doors-Pk-KuizxQv8｜Unsplash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第22页｜乙主讲｜建议65秒</a:t>
            </a:r>
          </a:p>
          <a:p/>
          <a:p/>
          <a:p>
            <a:r>
              <a:t>乙：说到药箱，最重要的不是囤得多，而是需要时能认清。药品尽量保留原包装和说明书，避免把不同药片混在一个没有标签的小盒子里。检查有效期，也检查包装上的贮藏要求，不能把“放冰箱”当作所有药物的统一保存方法。自己的处方药不要分享给室友，过期或不再需要的药品按当地药品回收或分类要求处理。再保留一个简单的用药记录，例如手机备忘录，写药名、时间、用量和反应。这样复诊或咨询时，信息会比凭印象回忆更准确。</a:t>
            </a:r>
          </a:p>
          <a:p/>
          <a:p>
            <a:r>
              <a:t>视觉说明：药房实拍照片配宿舍药箱管理的三条行动提示。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第23页｜乙主讲｜建议60秒</a:t>
            </a:r>
          </a:p>
          <a:p/>
          <a:p/>
          <a:p>
            <a:r>
              <a:t>乙：挑战前，把四个情境换成四个动作：感冒药想叠加，先核成分；感冒想到抗生素，先确认是否需要；抗过敏后困倦，查提示并避开高风险活动；服药后聚餐，先核实饮酒要求。这些动作都在刚才的案例里出现过，不用背一串药名。最后的小测把它们组合起来，练习在信息缺口前停一下。</a:t>
            </a:r>
          </a:p>
          <a:p/>
          <a:p>
            <a:r>
              <a:t>视觉说明：五行“场景→动作”映射；每行配一个小图标。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第24页｜乙主讲｜建议60秒</a:t>
            </a:r>
          </a:p>
          <a:p/>
          <a:p/>
          <a:p>
            <a:r>
              <a:t>乙：最后进入综合挑战，小苏再次登场。这次信息更完整：他今天已经服用一种复方感冒药，晚上觉得还没完全舒服，想再加另一盒，同时准备去聚餐。现在两盒药的成分没有核对，饮酒要求也不清楚，症状目前较轻，没有我们刚才提到的严重急症表现。这里不要求大家诊断他得了什么病，也不要求给他开药，只选一个更稳妥的下一步方案。请记住三个线索：已经服过药、还没核对成分、聚餐可能喝酒。下一页有三个方案，答案不会藏在复杂医学知识里。</a:t>
            </a:r>
          </a:p>
          <a:p/>
          <a:p>
            <a:r>
              <a:t>视觉说明：全新动漫全景：小苏背包站在桌旁，对着两盒药和聚餐手机消息思考；旁边呈现三条短线索。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第25页｜乙主讲｜建议90秒</a:t>
            </a:r>
          </a:p>
          <a:p>
            <a:r>
              <a:t>阅读10秒＋举手约25秒；甲负责观察，乙主讲。</a:t>
            </a:r>
          </a:p>
          <a:p/>
          <a:p>
            <a:r>
              <a:t>乙：这次可以采纳多条建议。A处理聚餐饮酒的不确定性，B准备药盒和已服记录，C沿用上次经验调整第二盒的时间。请判断哪些能补齐题目里的未知信息，再把采纳的建议拼成小苏今晚的计划。</a:t>
            </a:r>
          </a:p>
          <a:p>
            <a:r>
              <a:t>【静默10秒；依次举手各约5秒，可以多次举手】</a:t>
            </a:r>
          </a:p>
          <a:p>
            <a:r>
              <a:t>乙：先保留选择。下一页分别核对饮酒、成分与已服情况，不用靠哪个选项最长来猜。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第26页｜乙主讲｜建议90秒</a:t>
            </a:r>
          </a:p>
          <a:p>
            <a:r>
              <a:t>乙揭晓；甲补充就医边界约15秒，再交回乙。</a:t>
            </a:r>
          </a:p>
          <a:p/>
          <a:p>
            <a:r>
              <a:t>乙：A与B可以一起采纳。A在饮酒要求明确之前先不喝，B把具体药名、规格、成分、何时用了多少一起交给药师核对。C沿用上次经验把药改到睡前，没有解决现在的重复成分和累计使用问题。</a:t>
            </a:r>
          </a:p>
          <a:p>
            <a:r>
              <a:t>甲：症状持续、加重或出现呼吸困难、意识异常等急症表现，要转为就医或急救。</a:t>
            </a:r>
          </a:p>
          <a:p>
            <a:r>
              <a:t>乙：两条建议拼成完整行动，才比一个听起来谨慎的安排更有依据。</a:t>
            </a:r>
          </a:p>
          <a:p/>
          <a:p>
            <a:r>
              <a:t>视觉说明：大号B＋三个“线索→行动”映射。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第27页｜乙主讲｜建议60秒</a:t>
            </a:r>
          </a:p>
          <a:p>
            <a:r>
              <a:t>甲乙共同收尾；参考文献附页不逐页讲解。</a:t>
            </a:r>
          </a:p>
          <a:p/>
          <a:p>
            <a:r>
              <a:t>乙：最后，我们把今天的内容收在三句话里。第一，先看说明书，再做用药决定，不让包装和熟悉感替我们判断。第二，核对重复成分，并记录已经服用的药物、时间和用量。第三，遇到不确定的信息，向医生或药师询问；该就医的时候，不继续靠自己试药。</a:t>
            </a:r>
          </a:p>
          <a:p>
            <a:r>
              <a:t>甲：希望下一次室友拿出药盒时，大家能多做一个核对动作，多问一个具体问题。</a:t>
            </a:r>
          </a:p>
          <a:p>
            <a:r>
              <a:t>乙：药可以常备，判断不能省略。谢谢大家。我们的数据出处和参考资料放在后面的附页，方便课后查阅。</a:t>
            </a:r>
          </a:p>
          <a:p>
            <a:r>
              <a:t>【留出约10秒结束停顿；不在35分钟内另加开放讨论。】</a:t>
            </a:r>
          </a:p>
          <a:p/>
          <a:p>
            <a:r>
              <a:t>视觉说明：蓝底白字收尾，右侧为医疗空间实拍照片。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Martha Dominguez de Gouveia｜https://unsplash.com/photos/hospital-lobby-reception-with-signage-nMyM7fxpokE｜Unsplash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/>
          <a:p>
            <a:r>
              <a:t>[S8] NHS. Antihistamines.</a:t>
            </a:r>
          </a:p>
          <a:p>
            <a:r>
              <a:t>https://www.nhs.uk/medicines/antihistamines/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/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[S13] NHS. Omeprazole.</a:t>
            </a:r>
          </a:p>
          <a:p>
            <a:r>
              <a:t>https://www.nhs.uk/medicines/omeprazole/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[S15] CDC. Do antibiotics have side effects?（药物相关急诊约1/5来自抗生素反应）</a:t>
            </a:r>
          </a:p>
          <a:p>
            <a:r>
              <a:t>https://www.cdc.gov/antibiotic-use/media/pdfs/Do-Antibiotics-Have-Side-Effects-508.pdf</a:t>
            </a:r>
          </a:p>
          <a:p/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tablet-hand.jpg｜Towfiqu barbhuiya</a:t>
            </a:r>
          </a:p>
          <a:p>
            <a:r>
              <a:t>https://www.pexels.com/photo/hand-holding-a-pill-15703464/</a:t>
            </a:r>
          </a:p>
          <a:p>
            <a:r>
              <a:t>Pexels License: https://www.pexels.com/license/</a:t>
            </a:r>
          </a:p>
          <a:p/>
          <a:p>
            <a:r>
              <a:t>pill-bottle.jpg｜Pexels photo 16051935</a:t>
            </a:r>
          </a:p>
          <a:p>
            <a:r>
              <a:t>https://www.pexels.com/photo/16051935/</a:t>
            </a:r>
          </a:p>
          <a:p>
            <a:r>
              <a:t>Pexels License: https://www.pexels.com/license/</a:t>
            </a:r>
          </a:p>
          <a:p/>
          <a:p>
            <a:r>
              <a:t>pharmacy-01.jpg｜Árpád Czapp</a:t>
            </a:r>
          </a:p>
          <a:p>
            <a:r>
              <a:t>https://unsplash.com/photos/a-room-filled-with-lots-of-shelves-filled-with-boxes-and-boxes-tvP6pCnq9iI</a:t>
            </a:r>
          </a:p>
          <a:p>
            <a:r>
              <a:t>Unsplash License: https://unsplash.com/license</a:t>
            </a:r>
          </a:p>
          <a:p/>
          <a:p>
            <a:r>
              <a:t>pharmacy-02.jpg｜National Cancer Institute</a:t>
            </a:r>
          </a:p>
          <a:p>
            <a:r>
              <a:t>https://unsplash.com/photos/pharmacist-reaching-for-medication-on-shelf-byGTytEGjBo</a:t>
            </a:r>
          </a:p>
          <a:p>
            <a:r>
              <a:t>Unsplash License: https://unsplash.com/license</a:t>
            </a:r>
          </a:p>
          <a:p/>
          <a:p>
            <a:r>
              <a:t>hospital-02.jpg｜Tasha Kostyuk</a:t>
            </a:r>
          </a:p>
          <a:p>
            <a:r>
              <a:t>https://unsplash.com/photos/empty-hospital-corridor-with-benches-and-doors-Pk-KuizxQv8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clinic-01.jpg｜Martha Dominguez de Gouveia</a:t>
            </a:r>
          </a:p>
          <a:p>
            <a:r>
              <a:t>https://unsplash.com/photos/hospital-lobby-reception-with-signage-nMyM7fxpokE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hc.gov.cn/yzygj/c100068/202002/fdb7240014db4d49827ca25bbb41b177.shtml" TargetMode="External"/><Relationship Id="rId3" Type="http://schemas.openxmlformats.org/officeDocument/2006/relationships/hyperlink" Target="https://www.fda.gov/consumers/consumer-updates/dont-overuse-acetaminophen" TargetMode="External"/><Relationship Id="rId4" Type="http://schemas.openxmlformats.org/officeDocument/2006/relationships/hyperlink" Target="https://www.cdc.gov/antibiotic-use/about/" TargetMode="External"/><Relationship Id="rId5" Type="http://schemas.openxmlformats.org/officeDocument/2006/relationships/hyperlink" Target="https://www.cdc.gov/antibiotic-use/hcp/data-research/antibiotic-prescribing.html" TargetMode="External"/><Relationship Id="rId6" Type="http://schemas.openxmlformats.org/officeDocument/2006/relationships/hyperlink" Target="https://www.nhs.uk/medicines/antihistamines/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iaaa.nih.gov/health-professionals-communities/core-resource-on-alcohol/alcohol-medication-interactions-potentially-dangerous-mixes" TargetMode="External"/><Relationship Id="rId3" Type="http://schemas.openxmlformats.org/officeDocument/2006/relationships/hyperlink" Target="https://sps.nhs.uk/articles/advising-on-missed-or-delayed-doses-of-medicines/" TargetMode="External"/><Relationship Id="rId4" Type="http://schemas.openxmlformats.org/officeDocument/2006/relationships/hyperlink" Target="https://www.cdc.gov/common-cold/treatment/index.html" TargetMode="External"/><Relationship Id="rId5" Type="http://schemas.openxmlformats.org/officeDocument/2006/relationships/hyperlink" Target="https://www.nhs.uk/conditions/anaphylaxis/" TargetMode="External"/><Relationship Id="rId6" Type="http://schemas.openxmlformats.org/officeDocument/2006/relationships/hyperlink" Target="https://www.nhs.uk/medicines/omeprazole/" TargetMode="External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mc.ncbi.nlm.nih.gov/articles/PMC3650962/" TargetMode="External"/><Relationship Id="rId3" Type="http://schemas.openxmlformats.org/officeDocument/2006/relationships/hyperlink" Target="https://www.cdc.gov/antibiotic-use/media/pdfs/Do-Antibiotics-Have-Side-Effects-508.pdf" TargetMode="External"/><Relationship Id="rId4" Type="http://schemas.openxmlformats.org/officeDocument/2006/relationships/hyperlink" Target="https://stacks.cdc.gov/view/cdc/120299/cdc_120299_DS1.pdf" TargetMode="Externa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exels.com/photo/hand-holding-a-pill-15703464/" TargetMode="External"/><Relationship Id="rId3" Type="http://schemas.openxmlformats.org/officeDocument/2006/relationships/hyperlink" Target="https://www.pexels.com/license/" TargetMode="External"/><Relationship Id="rId4" Type="http://schemas.openxmlformats.org/officeDocument/2006/relationships/hyperlink" Target="https://www.pexels.com/photo/16051935/" TargetMode="External"/><Relationship Id="rId5" Type="http://schemas.openxmlformats.org/officeDocument/2006/relationships/hyperlink" Target="https://unsplash.com/photos/a-room-filled-with-lots-of-shelves-filled-with-boxes-and-boxes-tvP6pCnq9iI" TargetMode="External"/><Relationship Id="rId6" Type="http://schemas.openxmlformats.org/officeDocument/2006/relationships/hyperlink" Target="https://unsplash.com/license" TargetMode="External"/><Relationship Id="rId7" Type="http://schemas.openxmlformats.org/officeDocument/2006/relationships/hyperlink" Target="https://unsplash.com/photos/pharmacist-reaching-for-medication-on-shelf-byGTytEGjBo" TargetMode="External"/><Relationship Id="rId8" Type="http://schemas.openxmlformats.org/officeDocument/2006/relationships/hyperlink" Target="https://unsplash.com/photos/empty-hospital-corridor-with-benches-and-doors-Pk-KuizxQv8" TargetMode="External"/><Relationship Id="rId9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unsplash.com/photos/hospital-lobby-reception-with-signage-nMyM7fxpokE" TargetMode="External"/><Relationship Id="rId3" Type="http://schemas.openxmlformats.org/officeDocument/2006/relationships/hyperlink" Target="https://unsplash.com/license" TargetMode="Externa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94360"/>
            <a:ext cx="201168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1" y="612648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校园用药生存课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64008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100" b="1">
                <a:solidFill>
                  <a:srgbClr val="FFFFFF"/>
                </a:solidFill>
                <a:latin typeface="Noto Sans CJK SC"/>
                <a:ea typeface="Noto Sans CJK SC"/>
              </a:rPr>
              <a:t>合理用药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15184"/>
            <a:ext cx="6126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给宿舍药箱上堂课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75887"/>
            <a:ext cx="61264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FFFFFF"/>
                </a:solidFill>
                <a:latin typeface="Noto Sans CJK SC"/>
                <a:ea typeface="Noto Sans CJK SC"/>
              </a:rPr>
              <a:t>会选药 · 看成分 · 避误区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6309360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苏州大学｜选修课课堂展示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主讲：同学甲 / 同学乙</a:t>
            </a:r>
          </a:p>
        </p:txBody>
      </p:sp>
      <p:pic>
        <p:nvPicPr>
          <p:cNvPr id="8" name="Picture 7" descr="tablet-hand.jpg"/>
          <p:cNvPicPr>
            <a:picLocks noChangeAspect="1"/>
          </p:cNvPicPr>
          <p:nvPr/>
        </p:nvPicPr>
        <p:blipFill>
          <a:blip r:embed="rId3"/>
          <a:srcRect l="7477" r="7477"/>
          <a:stretch>
            <a:fillRect/>
          </a:stretch>
        </p:blipFill>
        <p:spPr>
          <a:xfrm>
            <a:off x="7406640" y="1060704"/>
            <a:ext cx="4160520" cy="48920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06640" y="1060704"/>
            <a:ext cx="4160520" cy="48920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282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Noto Sans CJK SC"/>
                <a:ea typeface="Noto Sans CJK SC"/>
              </a:rPr>
              <a:t>35分钟 · 2位讲者 · 4部分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今天的路线：从会判断，到会行动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全程约35分钟，已包含举手互动。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02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75104"/>
            <a:ext cx="2587752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6695" y="2176272"/>
            <a:ext cx="576072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2194560"/>
            <a:ext cx="448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1316736" y="2935224"/>
            <a:ext cx="1069848" cy="10698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212848" y="3822191"/>
            <a:ext cx="493776" cy="466345"/>
          </a:xfrm>
          <a:prstGeom prst="line">
            <a:avLst/>
          </a:prstGeom>
          <a:ln w="635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527048" y="3108960"/>
            <a:ext cx="64922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500" b="1">
                <a:solidFill>
                  <a:srgbClr val="EB5969"/>
                </a:solidFill>
                <a:latin typeface="Noto Sans CJK SC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636008"/>
            <a:ext cx="22219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基本原则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148072"/>
            <a:ext cx="222199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5分钟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1975104"/>
            <a:ext cx="2587752" cy="3593592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67328" y="2176272"/>
            <a:ext cx="576072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31336" y="2194560"/>
            <a:ext cx="448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33672" y="2880360"/>
            <a:ext cx="1216152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79392" y="2926079"/>
            <a:ext cx="1124712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41748" y="3246120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59325" y="3383280"/>
            <a:ext cx="364845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79392" y="3968496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宿舍药箱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30752" y="4636008"/>
            <a:ext cx="22219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宿舍误区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30752" y="5148072"/>
            <a:ext cx="222199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17分钟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3" y="1975104"/>
            <a:ext cx="2587752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37959" y="2176272"/>
            <a:ext cx="576072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2194560"/>
            <a:ext cx="448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7999" y="2862072"/>
            <a:ext cx="1508760" cy="14538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022592" y="3118104"/>
            <a:ext cx="128015" cy="11887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150607" y="3044952"/>
            <a:ext cx="201168" cy="19202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534655" y="3118104"/>
            <a:ext cx="649224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022592" y="3483864"/>
            <a:ext cx="128015" cy="11887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150607" y="3410712"/>
            <a:ext cx="201168" cy="19202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534655" y="3483864"/>
            <a:ext cx="649224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022592" y="3849624"/>
            <a:ext cx="128015" cy="11887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150607" y="3776472"/>
            <a:ext cx="201168" cy="19202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534655" y="3849624"/>
            <a:ext cx="649224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01383" y="4636008"/>
            <a:ext cx="22219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安全用药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01383" y="5148072"/>
            <a:ext cx="222199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8分钟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89136" y="1975104"/>
            <a:ext cx="2587752" cy="3593592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08592" y="2176272"/>
            <a:ext cx="576072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72600" y="2194560"/>
            <a:ext cx="448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82328" y="3346704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46336" y="33649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5832" y="3346704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0" y="33649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89336" y="3346704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53344" y="33649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2015" y="4636008"/>
            <a:ext cx="22219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选择挑战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72015" y="5148072"/>
            <a:ext cx="222199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5分钟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室友感冒了，你先做哪一步？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举手选择 A / B / C｜暂不揭晓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03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用上次的剩药，沿用当时吃法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拍清楚药盒，先核对再作决定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按最主要症状，先挑一盒试试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ANIME_EXTRA_R2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8733" r="75725" t="30566" b="39844"/>
          <a:stretch>
            <a:fillRect/>
          </a:stretch>
        </p:blipFill>
        <p:spPr>
          <a:xfrm>
            <a:off x="9509760" y="2715768"/>
            <a:ext cx="1664208" cy="2112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合理用药，要同时过四关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刚才选 B：先了解，再决定。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04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关注禁忌与不良反应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7183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有效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针对真正需要解决的问题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0784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经济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5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避免不必要的花费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922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62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7183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适宜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适合这个人、这个时机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两盒药，是“双保险”还是撞车？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包装不同，也可能含有同一成分。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05 / 27</a:t>
            </a:r>
          </a:p>
        </p:txBody>
      </p:sp>
      <p:pic>
        <p:nvPicPr>
          <p:cNvPr id="8" name="ANIME_BASE_R1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1621" r="68613" b="70312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头痛还在，要不再加一盒？</a:t>
            </a:r>
          </a:p>
        </p:txBody>
      </p:sp>
      <p:pic>
        <p:nvPicPr>
          <p:cNvPr id="11" name="ANIME_BASE_R1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5084" r="35150" b="70312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名字不同，应该不重复吧？</a:t>
            </a:r>
          </a:p>
        </p:txBody>
      </p:sp>
      <p:pic>
        <p:nvPicPr>
          <p:cNvPr id="14" name="ANIME_BASE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8613" r="1621" b="70312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药盒不同，里面的成分呢？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药盒不同，成分可能“撞车”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同名成分出现两次，是暂停核对的信号｜未确认前不自行叠加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06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单方退热止痛药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52144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9672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复方感冒药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39128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0568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968496"/>
            <a:ext cx="4206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只有这一种有效成分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3694176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73075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马来酸氯苯那敏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4215384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4251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盐酸伪麻黄碱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68112" y="3291840"/>
            <a:ext cx="411480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79592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309360" y="3291840"/>
            <a:ext cx="429768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309360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879592" y="4773168"/>
            <a:ext cx="219456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099048" y="4773168"/>
            <a:ext cx="210312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931920" y="4937760"/>
            <a:ext cx="4343400" cy="402336"/>
          </a:xfrm>
          <a:prstGeom prst="roundRect">
            <a:avLst>
              <a:gd name="adj" fmla="val 10000"/>
            </a:avLst>
          </a:prstGeom>
          <a:solidFill>
            <a:srgbClr val="FF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0" y="4965192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同一成分，来自两盒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4589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203354"/>
                </a:solidFill>
                <a:latin typeface="Noto Sans CJK SC"/>
              </a:rPr>
              <a:t>① 圈出重复　→　② 核规格与已服情况　→　③ 未确认，不自行叠加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18点吃过药，20点还痛：先补哪条信息？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成分、规格、今天吃过什么：先核清，再决定。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07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938528"/>
            <a:ext cx="3465576" cy="362102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0976" y="2093976"/>
            <a:ext cx="12344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12264"/>
            <a:ext cx="11064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18:00</a:t>
            </a:r>
          </a:p>
        </p:txBody>
      </p:sp>
      <p:pic>
        <p:nvPicPr>
          <p:cNvPr id="11" name="ANIME_EXTRA_R1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80" r="67672" b="70312"/>
          <a:stretch>
            <a:fillRect/>
          </a:stretch>
        </p:blipFill>
        <p:spPr>
          <a:xfrm>
            <a:off x="932688" y="2596896"/>
            <a:ext cx="3099816" cy="1938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50976" y="47091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已经服过一种复方感冒药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938528"/>
            <a:ext cx="3465576" cy="362102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36008" y="2093976"/>
            <a:ext cx="12344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16" y="2112264"/>
            <a:ext cx="11064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20:00</a:t>
            </a:r>
          </a:p>
        </p:txBody>
      </p:sp>
      <p:pic>
        <p:nvPicPr>
          <p:cNvPr id="16" name="ANIME_EXTRA_R1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4143" r="34209" b="70312"/>
          <a:stretch>
            <a:fillRect/>
          </a:stretch>
        </p:blipFill>
        <p:spPr>
          <a:xfrm>
            <a:off x="4617720" y="2596896"/>
            <a:ext cx="3099816" cy="193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36008" y="47091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症状还在，准备加一盒退热药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938528"/>
            <a:ext cx="3465576" cy="362102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ANIME_EXTRA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7672" r="680" b="70312"/>
          <a:stretch>
            <a:fillRect/>
          </a:stretch>
        </p:blipFill>
        <p:spPr>
          <a:xfrm>
            <a:off x="8302752" y="2596896"/>
            <a:ext cx="3099816" cy="19385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47091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成分、规格、已服用量还没核对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室友群的三条消息，你给哪条点赞？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可多选 A / B / C｜哪些建议先帮我们补齐判断所需的信息？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08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拍下两盒成分，圈出相同的名字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按症状拆开安排，把服药时间错开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补上今天已服药名、规格与时间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ANIME_EXTRA_R2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42196" r="42261" t="30566" b="39844"/>
          <a:stretch>
            <a:fillRect/>
          </a:stretch>
        </p:blipFill>
        <p:spPr>
          <a:xfrm>
            <a:off x="9509760" y="2715768"/>
            <a:ext cx="1664208" cy="2112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A＋C：先把两类信息凑齐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同成分先不自行叠加；拿着完整信息，再核实下一步。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09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4231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3464F"/>
                </a:solidFill>
                <a:latin typeface="Noto Sans CJK SC"/>
                <a:ea typeface="Noto Sans CJK SC"/>
              </a:rPr>
              <a:t>A＋C</a:t>
            </a:r>
          </a:p>
        </p:txBody>
      </p:sp>
      <p:sp>
        <p:nvSpPr>
          <p:cNvPr id="9" name="Oval 8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A 圈出同名成分，发现可能重复</a:t>
            </a:r>
          </a:p>
        </p:txBody>
      </p:sp>
      <p:sp>
        <p:nvSpPr>
          <p:cNvPr id="11" name="Oval 10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C 补规格和已服记录，核对累计使用</a:t>
            </a:r>
          </a:p>
        </p:txBody>
      </p:sp>
      <p:sp>
        <p:nvSpPr>
          <p:cNvPr id="13" name="Oval 12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B 错开时间，仍不能代替完整核对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案例②：抗生素，不是感冒的通用答案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普通感冒通常由病毒引起；是否需要抗生素，由医生判断。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10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5352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细菌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病毒</a:t>
            </a:r>
          </a:p>
        </p:txBody>
      </p:sp>
      <p:sp>
        <p:nvSpPr>
          <p:cNvPr id="14" name="Oval 13"/>
          <p:cNvSpPr/>
          <p:nvPr/>
        </p:nvSpPr>
        <p:spPr>
          <a:xfrm>
            <a:off x="1225296" y="2935224"/>
            <a:ext cx="2066543" cy="1243584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3035808"/>
            <a:ext cx="1865376" cy="1042415"/>
          </a:xfrm>
          <a:prstGeom prst="ellipse">
            <a:avLst/>
          </a:prstGeom>
          <a:solidFill>
            <a:srgbClr val="B5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300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61326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79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258568" y="4197096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636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81592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014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1181592" y="3136392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1636775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258568" y="2715768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779776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161326" y="3136391"/>
            <a:ext cx="174217" cy="100585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91640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892808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093976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295144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496312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572768" y="327355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057400" y="3236976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15768" y="3346704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627632" y="3813048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386584" y="386791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83864" y="3182112"/>
            <a:ext cx="2075688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08C82"/>
                </a:solidFill>
                <a:latin typeface="Noto Sans CJK SC"/>
              </a:rPr>
              <a:t>有细胞结构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3648456"/>
            <a:ext cx="207568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在适宜条件下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可自行繁殖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672584"/>
            <a:ext cx="4562856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某些细菌结构或过程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可成为抗生素的靶点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744967" y="3566160"/>
            <a:ext cx="201169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789127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7669875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7777759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473279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7480579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H="1">
            <a:off x="7168108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7113244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6870928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816064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H="1">
            <a:off x="6757415" y="3566160"/>
            <a:ext cx="201168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70255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 flipV="1">
            <a:off x="6870928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816064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7168108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7113244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7473279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7480579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7669875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7777759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12863" y="3127248"/>
            <a:ext cx="877824" cy="877824"/>
          </a:xfrm>
          <a:prstGeom prst="ellipse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040879" y="3255264"/>
            <a:ext cx="621792" cy="621792"/>
          </a:xfrm>
          <a:prstGeom prst="ellipse">
            <a:avLst/>
          </a:prstGeom>
          <a:solidFill>
            <a:srgbClr val="D8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7187183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306055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424927" y="3419856"/>
            <a:ext cx="118873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Chevron 65"/>
          <p:cNvSpPr/>
          <p:nvPr/>
        </p:nvSpPr>
        <p:spPr>
          <a:xfrm>
            <a:off x="8247888" y="3465576"/>
            <a:ext cx="365760" cy="274320"/>
          </a:xfrm>
          <a:prstGeom prst="chevron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823960" y="2962656"/>
            <a:ext cx="1965960" cy="1280160"/>
          </a:xfrm>
          <a:prstGeom prst="ellipse">
            <a:avLst/>
          </a:prstGeom>
          <a:solidFill>
            <a:srgbClr val="DBF4ED"/>
          </a:solidFill>
          <a:ln w="19050">
            <a:solidFill>
              <a:srgbClr val="008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400032" y="3346704"/>
            <a:ext cx="557784" cy="493776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33688" y="43616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08C82"/>
                </a:solidFill>
                <a:latin typeface="Noto Sans CJK SC"/>
              </a:rPr>
              <a:t>宿主细胞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37960" y="4681728"/>
            <a:ext cx="456285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无细胞结构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依赖宿主细胞复制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不需要的抗生素，也可能带来真实伤害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没有治疗需要，也要承担用药风险。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11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5352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美国门诊抗生素处方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3090672"/>
            <a:ext cx="21671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至少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557016"/>
            <a:ext cx="216712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1">
                <a:solidFill>
                  <a:srgbClr val="EB5969"/>
                </a:solidFill>
                <a:latin typeface="Noto Sans CJK SC"/>
              </a:rPr>
              <a:t>28%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045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862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193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034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6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149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2637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8045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862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09193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9768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034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0916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9149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2064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2637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747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8045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862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09193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9768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034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70916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9149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2064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32637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747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8045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8862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09193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29768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5034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0916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9149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12064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32637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4747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68045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8862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9193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9768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034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70916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9149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12064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32637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4747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68045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38862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09193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29768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5034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0916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9149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12064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32637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4747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68045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8862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09193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29768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5034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70916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9149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12064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32637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4747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68045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8862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09193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29768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5034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470916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9149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12064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32637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4747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368045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8862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09193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9768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5034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70916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9149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12064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32637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34747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368045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8862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409193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29768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45034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0916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9149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512064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32637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33271" y="5074920"/>
            <a:ext cx="457200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EB5969"/>
                </a:solidFill>
                <a:latin typeface="Noto Sans CJK SC"/>
              </a:rPr>
              <a:t>被估计为不必要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01384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药物副作用导致的急诊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501384" y="2770632"/>
            <a:ext cx="457200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EB5969"/>
                </a:solidFill>
                <a:latin typeface="Noto Sans CJK SC"/>
              </a:rPr>
              <a:t>5次中，约1次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01384" y="3355848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203354"/>
                </a:solidFill>
                <a:latin typeface="Noto Sans CJK SC"/>
              </a:rPr>
              <a:t>涉及抗生素反应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528816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748272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839712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6803136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638544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6967728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7406640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626096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7717536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7680960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516367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7845551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8284463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8503919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8595359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8558784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8394191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8723375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9162288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9381744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473184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9436608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272015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9601199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10040112" y="4023360"/>
            <a:ext cx="694944" cy="92354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0259568" y="4160520"/>
            <a:ext cx="256032" cy="731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0351008" y="4069080"/>
            <a:ext cx="73152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10314432" y="4645152"/>
            <a:ext cx="146304" cy="301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10149840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10479024" y="4434840"/>
            <a:ext cx="109728" cy="109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501384" y="5175504"/>
            <a:ext cx="45720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皮疹、腹泻，也可能严重过敏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把“别乱吃抗生素”，换成三个动作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先确认需要，再按具体处方使用；有疑问及时联系医生或药师。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12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83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98448" y="2770632"/>
            <a:ext cx="9144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816351"/>
            <a:ext cx="822960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755648" y="3136391"/>
            <a:ext cx="0" cy="27432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18488" y="3273552"/>
            <a:ext cx="274319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44168" y="3602735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抗生素</a:t>
            </a:r>
          </a:p>
        </p:txBody>
      </p:sp>
      <p:sp>
        <p:nvSpPr>
          <p:cNvPr id="16" name="Oval 15"/>
          <p:cNvSpPr/>
          <p:nvPr/>
        </p:nvSpPr>
        <p:spPr>
          <a:xfrm>
            <a:off x="2468880" y="2834640"/>
            <a:ext cx="941832" cy="941832"/>
          </a:xfrm>
          <a:prstGeom prst="ellipse">
            <a:avLst/>
          </a:prstGeom>
          <a:solidFill>
            <a:srgbClr val="FFEEF0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3154680"/>
            <a:ext cx="74980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EB5969"/>
                </a:solidFill>
                <a:latin typeface="Noto Sans CJK SC"/>
              </a:rPr>
              <a:t>需要？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09544" y="3593592"/>
            <a:ext cx="420624" cy="374904"/>
          </a:xfrm>
          <a:prstGeom prst="line">
            <a:avLst/>
          </a:prstGeom>
          <a:ln w="762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4983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先确认需要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感冒症状，不自动等于要用抗生素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1416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09159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2807208"/>
            <a:ext cx="923544" cy="1179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946903" y="2852927"/>
            <a:ext cx="832104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362955" y="3172968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24424" y="3310128"/>
            <a:ext cx="277063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946903" y="3675887"/>
            <a:ext cx="83210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室友剩药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3952" y="2807208"/>
            <a:ext cx="923544" cy="1179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19672" y="2852927"/>
            <a:ext cx="832104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935724" y="3172968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797192" y="3310128"/>
            <a:ext cx="277063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19672" y="3675887"/>
            <a:ext cx="83210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我的用药</a:t>
            </a:r>
          </a:p>
        </p:txBody>
      </p:sp>
      <p:sp>
        <p:nvSpPr>
          <p:cNvPr id="34" name="Oval 33"/>
          <p:cNvSpPr/>
          <p:nvPr/>
        </p:nvSpPr>
        <p:spPr>
          <a:xfrm>
            <a:off x="5843016" y="3136392"/>
            <a:ext cx="548640" cy="548640"/>
          </a:xfrm>
          <a:prstGeom prst="ellipse">
            <a:avLst/>
          </a:prstGeom>
          <a:solidFill>
            <a:srgbClr val="FFEEF0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943600" y="3246120"/>
            <a:ext cx="347472" cy="347472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09159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不接室友剩药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59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相似症状，不代表同一病因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65592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403336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67344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8240" y="2761488"/>
            <a:ext cx="2103120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36024" y="2898648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剂量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924544" y="3017520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43416" y="2907791"/>
            <a:ext cx="182880" cy="210313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336024" y="3291840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间隔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924544" y="3410712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043416" y="3300984"/>
            <a:ext cx="182880" cy="21031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336024" y="368503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疗程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924544" y="3803904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043416" y="3694176"/>
            <a:ext cx="182880" cy="21031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403336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按处方执行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03336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疗效或反应有疑问，及时咨询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案例③：鼻子舒服了，上课却犯困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症状缓解，也要留意精神状态与日常活动。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13 / 27</a:t>
            </a:r>
          </a:p>
        </p:txBody>
      </p:sp>
      <p:pic>
        <p:nvPicPr>
          <p:cNvPr id="8" name="ANIME_BASE_R2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r="66992" t="30905" b="42888"/>
          <a:stretch>
            <a:fillRect/>
          </a:stretch>
        </p:blipFill>
        <p:spPr>
          <a:xfrm>
            <a:off x="777240" y="1938528"/>
            <a:ext cx="5148072" cy="27249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4800600"/>
            <a:ext cx="5148072" cy="548640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4882896"/>
            <a:ext cx="4818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终于不用一直擦鼻涕！</a:t>
            </a:r>
          </a:p>
        </p:txBody>
      </p:sp>
      <p:pic>
        <p:nvPicPr>
          <p:cNvPr id="11" name="ANIME_BASE_R2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3464" r="33529" t="30905" b="42888"/>
          <a:stretch>
            <a:fillRect/>
          </a:stretch>
        </p:blipFill>
        <p:spPr>
          <a:xfrm>
            <a:off x="6245352" y="1938528"/>
            <a:ext cx="5148072" cy="27249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45352" y="4800600"/>
            <a:ext cx="5148072" cy="548640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4882896"/>
            <a:ext cx="4818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鼻子好了，脑子想“下课”……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同一种组胺信号，为什么有两种影响？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同一种信号，在鼻部和脑内承担不同作用。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14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5352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008C82"/>
                </a:solidFill>
                <a:latin typeface="Noto Sans CJK SC"/>
              </a:rPr>
              <a:t>鼻部：参与过敏反应</a:t>
            </a:r>
          </a:p>
        </p:txBody>
      </p:sp>
      <p:pic>
        <p:nvPicPr>
          <p:cNvPr id="11" name="ANIME_EXTRA_R3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9762" r="39827" t="61035"/>
          <a:stretch>
            <a:fillRect/>
          </a:stretch>
        </p:blipFill>
        <p:spPr>
          <a:xfrm>
            <a:off x="1170432" y="2779776"/>
            <a:ext cx="935431" cy="119054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86584" y="2843784"/>
            <a:ext cx="135331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2615184" y="3401568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2888" y="2916936"/>
            <a:ext cx="1060704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阿嚏！</a:t>
            </a:r>
          </a:p>
        </p:txBody>
      </p:sp>
      <p:sp>
        <p:nvSpPr>
          <p:cNvPr id="15" name="Oval 14"/>
          <p:cNvSpPr/>
          <p:nvPr/>
        </p:nvSpPr>
        <p:spPr>
          <a:xfrm>
            <a:off x="4251960" y="2880360"/>
            <a:ext cx="594360" cy="594360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01184" y="2999232"/>
            <a:ext cx="7863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203354"/>
                </a:solidFill>
                <a:latin typeface="Noto Sans CJK SC"/>
              </a:rPr>
              <a:t>组胺</a:t>
            </a:r>
          </a:p>
        </p:txBody>
      </p:sp>
      <p:sp>
        <p:nvSpPr>
          <p:cNvPr id="17" name="Chevron 16"/>
          <p:cNvSpPr/>
          <p:nvPr/>
        </p:nvSpPr>
        <p:spPr>
          <a:xfrm rot="5400000">
            <a:off x="4370832" y="3584448"/>
            <a:ext cx="310896" cy="274320"/>
          </a:xfrm>
          <a:prstGeom prst="chevron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2596896" y="4059936"/>
            <a:ext cx="356616" cy="274320"/>
          </a:xfrm>
          <a:prstGeom prst="chevron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136392" y="3895344"/>
            <a:ext cx="2103120" cy="576072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64408" y="3968496"/>
            <a:ext cx="184708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</a:rPr>
              <a:t>H1 受体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050791"/>
            <a:ext cx="832104" cy="27432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25296" y="4087368"/>
            <a:ext cx="366125" cy="20116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1" y="4489704"/>
            <a:ext cx="162763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EB5969"/>
                </a:solidFill>
                <a:latin typeface="Noto Sans CJK SC"/>
              </a:rPr>
              <a:t>抗组胺药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1" y="5010912"/>
            <a:ext cx="45628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影响受体作用 → 缓解部分症状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7952D5"/>
                </a:solidFill>
                <a:latin typeface="Noto Sans CJK SC"/>
              </a:rPr>
              <a:t>脑内：也参与维持清醒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2743200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7952D5"/>
                </a:solidFill>
                <a:latin typeface="Noto Sans CJK SC"/>
              </a:rPr>
              <a:t>血脑屏障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13639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84464" y="373075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93408" y="3465576"/>
            <a:ext cx="950976" cy="32004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729984" y="3502152"/>
            <a:ext cx="418429" cy="24688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799831" y="3474720"/>
            <a:ext cx="420624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8586216" y="3474720"/>
            <a:ext cx="384048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244584" y="3306470"/>
            <a:ext cx="546811" cy="6056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45533" y="3096158"/>
            <a:ext cx="630936" cy="63934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732507" y="3054096"/>
            <a:ext cx="639348" cy="6729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53131" y="3239170"/>
            <a:ext cx="563636" cy="647760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749332" y="3491544"/>
            <a:ext cx="647760" cy="479511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9505370" y="3289645"/>
            <a:ext cx="143013" cy="159837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9799807" y="3255995"/>
            <a:ext cx="33650" cy="2776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203606" y="3373770"/>
            <a:ext cx="134600" cy="1766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06320" y="3693444"/>
            <a:ext cx="218725" cy="757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119481" y="3727094"/>
            <a:ext cx="117775" cy="1093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098280" y="414223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7952D5"/>
                </a:solidFill>
                <a:latin typeface="Noto Sans CJK SC"/>
              </a:rPr>
              <a:t>脑内 H1 信号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01384" y="4645152"/>
            <a:ext cx="4562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7952D5"/>
                </a:solidFill>
                <a:latin typeface="Noto Sans CJK SC"/>
              </a:rPr>
              <a:t>部分药物可进入脑内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1384" y="5093208"/>
            <a:ext cx="45628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清醒相关信号受影响 → 可能嗜睡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聚餐邀请到了，你先回哪条消息？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单选｜今天服过抗过敏药，具体饮酒要求未确认；下一页再揭晓。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15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先吃点东西，把两者错开两小时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照以前的经验，只小酌不碰烈酒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今晚先换白水，按具体药名查要求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ANIME_EXTRA_R2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75725" r="8733" t="30566" b="39844"/>
          <a:stretch>
            <a:fillRect/>
          </a:stretch>
        </p:blipFill>
        <p:spPr>
          <a:xfrm>
            <a:off x="9509760" y="2715768"/>
            <a:ext cx="1664208" cy="2112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案例④：聚餐这杯酒，先停一下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刚才选 C：拿不准就先不喝；错开两小时、酒量好都不能代替核实。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16 / 27</a:t>
            </a:r>
          </a:p>
        </p:txBody>
      </p:sp>
      <p:pic>
        <p:nvPicPr>
          <p:cNvPr id="8" name="ANIME_BASE_R3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r="66992" t="61640" b="5440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白天服过药，今晚聚餐怎么办？</a:t>
            </a:r>
          </a:p>
        </p:txBody>
      </p:sp>
      <p:pic>
        <p:nvPicPr>
          <p:cNvPr id="11" name="ANIME_BASE_R3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3464" r="33529" t="61640" b="5440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室友：就喝一点，没事吧？</a:t>
            </a:r>
          </a:p>
        </p:txBody>
      </p:sp>
      <p:pic>
        <p:nvPicPr>
          <p:cNvPr id="14" name="ANIME_BASE_R3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6992" t="61640" b="5440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我先换白水，再核实这盒药的要求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安全用药四步：看、核、问、记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刚才选 C｜把“不确定”变成一个咨询动作。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17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症状、说明书、就医信号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成分、剂量、间隔、禁忌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医生 / 药师，确认不确定处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药名、时间、用量与反应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说明书很长？先定位这六处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先找成分、用法和禁忌，把关键信息看清。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18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801368"/>
            <a:ext cx="10305288" cy="37673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9576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成分 / 通用名</a:t>
            </a:r>
          </a:p>
        </p:txBody>
      </p:sp>
      <p:sp>
        <p:nvSpPr>
          <p:cNvPr id="12" name="Oval 11"/>
          <p:cNvSpPr/>
          <p:nvPr/>
        </p:nvSpPr>
        <p:spPr>
          <a:xfrm>
            <a:off x="4864608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4608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2976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适应证或功能主治</a:t>
            </a:r>
          </a:p>
        </p:txBody>
      </p:sp>
      <p:sp>
        <p:nvSpPr>
          <p:cNvPr id="15" name="Oval 14"/>
          <p:cNvSpPr/>
          <p:nvPr/>
        </p:nvSpPr>
        <p:spPr>
          <a:xfrm>
            <a:off x="1179576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9576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37943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用法用量</a:t>
            </a:r>
          </a:p>
        </p:txBody>
      </p:sp>
      <p:sp>
        <p:nvSpPr>
          <p:cNvPr id="18" name="Oval 17"/>
          <p:cNvSpPr/>
          <p:nvPr/>
        </p:nvSpPr>
        <p:spPr>
          <a:xfrm>
            <a:off x="4864608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2976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禁忌与注意事项</a:t>
            </a:r>
          </a:p>
        </p:txBody>
      </p:sp>
      <p:sp>
        <p:nvSpPr>
          <p:cNvPr id="21" name="Oval 20"/>
          <p:cNvSpPr/>
          <p:nvPr/>
        </p:nvSpPr>
        <p:spPr>
          <a:xfrm>
            <a:off x="1179576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9576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7943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相互作用 / 不良反应</a:t>
            </a:r>
          </a:p>
        </p:txBody>
      </p:sp>
      <p:sp>
        <p:nvSpPr>
          <p:cNvPr id="24" name="Oval 23"/>
          <p:cNvSpPr/>
          <p:nvPr/>
        </p:nvSpPr>
        <p:spPr>
          <a:xfrm>
            <a:off x="4864608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4608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22976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贮藏条件 / 有效期</a:t>
            </a:r>
          </a:p>
        </p:txBody>
      </p:sp>
      <p:pic>
        <p:nvPicPr>
          <p:cNvPr id="27" name="Picture 26" descr="pill-bottle.jpg"/>
          <p:cNvPicPr>
            <a:picLocks noChangeAspect="1"/>
          </p:cNvPicPr>
          <p:nvPr/>
        </p:nvPicPr>
        <p:blipFill>
          <a:blip r:embed="rId3"/>
          <a:srcRect t="7230" b="7230"/>
          <a:stretch>
            <a:fillRect/>
          </a:stretch>
        </p:blipFill>
        <p:spPr>
          <a:xfrm>
            <a:off x="8613648" y="1975104"/>
            <a:ext cx="2331720" cy="319125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613648" y="1975104"/>
            <a:ext cx="2331720" cy="31912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时间、剂量、剂型，都别凭感觉改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不同药物要求不同；不要套用同一条补药规则。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19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83" y="2148840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67128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1490472" y="2770632"/>
            <a:ext cx="1399032" cy="1399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194560" y="3026664"/>
            <a:ext cx="0" cy="438912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94560" y="3465576"/>
            <a:ext cx="402336" cy="210311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017520" y="2999232"/>
            <a:ext cx="530352" cy="8503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EB5969"/>
                </a:solidFill>
                <a:latin typeface="Noto Sans CJK SC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663440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漏服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3" y="5111496"/>
            <a:ext cx="299923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先查具体处理要求，不自行加倍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71416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09159" y="2148840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73168" y="2167128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84648" y="2770632"/>
            <a:ext cx="1892807" cy="14264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2916936"/>
            <a:ext cx="142646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剂量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4104" y="3291840"/>
            <a:ext cx="142646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间隔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4104" y="3666744"/>
            <a:ext cx="142646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疗程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4663440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疗程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5111496"/>
            <a:ext cx="299923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按处方执行，有问题及时咨询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03336" y="2148840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7344" y="2167128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9" name="Oval 28"/>
          <p:cNvSpPr/>
          <p:nvPr/>
        </p:nvSpPr>
        <p:spPr>
          <a:xfrm>
            <a:off x="8851392" y="2825496"/>
            <a:ext cx="2048256" cy="1280160"/>
          </a:xfrm>
          <a:prstGeom prst="ellipse">
            <a:avLst/>
          </a:prstGeom>
          <a:solidFill>
            <a:srgbClr val="FFEEF0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070848" y="3026664"/>
            <a:ext cx="1609344" cy="8778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9875520" y="3172968"/>
            <a:ext cx="0" cy="576071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814816" y="4224528"/>
            <a:ext cx="217627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EB5969"/>
                </a:solidFill>
                <a:latin typeface="Noto Sans CJK SC"/>
              </a:rPr>
              <a:t>完整保护层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3336" y="4663440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剂型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5111496"/>
            <a:ext cx="299923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203354"/>
                </a:solidFill>
                <a:latin typeface="Noto Sans CJK SC"/>
              </a:rPr>
              <a:t>缓释、肠溶等，不随意掰碎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问药师时，把信息一次说清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带药盒 / 说明书照片，比“那种白色药片”更有用。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20 / 27</a:t>
            </a:r>
          </a:p>
        </p:txBody>
      </p:sp>
      <p:pic>
        <p:nvPicPr>
          <p:cNvPr id="8" name="Picture 7" descr="pharmacy-02.jpg"/>
          <p:cNvPicPr>
            <a:picLocks noChangeAspect="1"/>
          </p:cNvPicPr>
          <p:nvPr/>
        </p:nvPicPr>
        <p:blipFill>
          <a:blip r:embed="rId3"/>
          <a:srcRect l="29209" r="29209"/>
          <a:stretch>
            <a:fillRect/>
          </a:stretch>
        </p:blipFill>
        <p:spPr>
          <a:xfrm>
            <a:off x="822960" y="1975104"/>
            <a:ext cx="2514600" cy="34015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1975104"/>
            <a:ext cx="2514600" cy="340156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2736" y="1975104"/>
            <a:ext cx="7726679" cy="34015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86200" y="2240279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15384" y="2103120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我有什么症状，持续多久？</a:t>
            </a:r>
          </a:p>
        </p:txBody>
      </p:sp>
      <p:sp>
        <p:nvSpPr>
          <p:cNvPr id="13" name="Oval 12"/>
          <p:cNvSpPr/>
          <p:nvPr/>
        </p:nvSpPr>
        <p:spPr>
          <a:xfrm>
            <a:off x="3886200" y="322783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5384" y="3090672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我正在吃什么，何时吃了多少？</a:t>
            </a:r>
          </a:p>
        </p:txBody>
      </p:sp>
      <p:sp>
        <p:nvSpPr>
          <p:cNvPr id="15" name="Oval 14"/>
          <p:cNvSpPr/>
          <p:nvPr/>
        </p:nvSpPr>
        <p:spPr>
          <a:xfrm>
            <a:off x="3886200" y="4215384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384" y="4078224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我有哪些过敏史、疾病或特殊情况？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什么时候，不该继续自己试药？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3464F"/>
                </a:solidFill>
                <a:latin typeface="Noto Sans CJK SC"/>
                <a:ea typeface="Noto Sans CJK SC"/>
              </a:rPr>
              <a:t>严重急症拨打120；带上药品信息，别等“自己好”。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21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38528"/>
            <a:ext cx="2852928" cy="3465576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37744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86784"/>
            <a:ext cx="222199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严重急症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立即求助</a:t>
            </a:r>
          </a:p>
        </p:txBody>
      </p:sp>
      <p:pic>
        <p:nvPicPr>
          <p:cNvPr id="11" name="Picture 10" descr="hospital-02.jpg"/>
          <p:cNvPicPr>
            <a:picLocks noChangeAspect="1"/>
          </p:cNvPicPr>
          <p:nvPr/>
        </p:nvPicPr>
        <p:blipFill>
          <a:blip r:embed="rId3"/>
          <a:srcRect l="34960" r="34960"/>
          <a:stretch>
            <a:fillRect/>
          </a:stretch>
        </p:blipFill>
        <p:spPr>
          <a:xfrm>
            <a:off x="9555480" y="1956816"/>
            <a:ext cx="1828800" cy="34198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555480" y="1956816"/>
            <a:ext cx="1828800" cy="34198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14215" y="1984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呼吸困难 / 喉舌肿胀 / 意识异常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4215" y="2514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立即急救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14215" y="3127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疑似超量或误服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3657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及时寻求医疗帮助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4215" y="4270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症状持续、加重或反复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5" y="4800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及时就诊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宿舍药箱：留信息，也留秩序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数量不求多；需要时能认清、查到、说清。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22 / 27</a:t>
            </a:r>
          </a:p>
        </p:txBody>
      </p:sp>
      <p:pic>
        <p:nvPicPr>
          <p:cNvPr id="8" name="Picture 7" descr="pharmacy-01.jpg"/>
          <p:cNvPicPr>
            <a:picLocks noChangeAspect="1"/>
          </p:cNvPicPr>
          <p:nvPr/>
        </p:nvPicPr>
        <p:blipFill>
          <a:blip r:embed="rId3"/>
          <a:srcRect l="19318" r="19318"/>
          <a:stretch>
            <a:fillRect/>
          </a:stretch>
        </p:blipFill>
        <p:spPr>
          <a:xfrm>
            <a:off x="914400" y="2048256"/>
            <a:ext cx="3291840" cy="301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2048256"/>
            <a:ext cx="3291840" cy="301752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99432" y="2231136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28616" y="2093976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原包装＋说明书｜一起保留</a:t>
            </a:r>
          </a:p>
        </p:txBody>
      </p:sp>
      <p:sp>
        <p:nvSpPr>
          <p:cNvPr id="12" name="Oval 11"/>
          <p:cNvSpPr/>
          <p:nvPr/>
        </p:nvSpPr>
        <p:spPr>
          <a:xfrm>
            <a:off x="4599432" y="3346703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28616" y="3209544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有效期＋贮藏条件｜定期检查</a:t>
            </a:r>
          </a:p>
        </p:txBody>
      </p:sp>
      <p:sp>
        <p:nvSpPr>
          <p:cNvPr id="14" name="Oval 13"/>
          <p:cNvSpPr/>
          <p:nvPr/>
        </p:nvSpPr>
        <p:spPr>
          <a:xfrm>
            <a:off x="4599432" y="446227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28616" y="4325112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个人用药记录｜不混装、不分享处方药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把四个误区，换成四个动作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看、核、问、记：现在进入简单挑战。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23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828800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1828800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感冒药叠加</a:t>
            </a:r>
          </a:p>
        </p:txBody>
      </p:sp>
      <p:sp>
        <p:nvSpPr>
          <p:cNvPr id="10" name="Chevron 9"/>
          <p:cNvSpPr/>
          <p:nvPr/>
        </p:nvSpPr>
        <p:spPr>
          <a:xfrm>
            <a:off x="5907024" y="1883664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84264" y="1828800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核对成分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69464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69464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感冒吃抗生素</a:t>
            </a:r>
          </a:p>
        </p:txBody>
      </p:sp>
      <p:sp>
        <p:nvSpPr>
          <p:cNvPr id="14" name="Chevron 13"/>
          <p:cNvSpPr/>
          <p:nvPr/>
        </p:nvSpPr>
        <p:spPr>
          <a:xfrm>
            <a:off x="5907024" y="2624328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84264" y="2569464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先确认是否需要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310128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3310128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抗过敏后困倦</a:t>
            </a:r>
          </a:p>
        </p:txBody>
      </p:sp>
      <p:sp>
        <p:nvSpPr>
          <p:cNvPr id="18" name="Chevron 17"/>
          <p:cNvSpPr/>
          <p:nvPr/>
        </p:nvSpPr>
        <p:spPr>
          <a:xfrm>
            <a:off x="5907024" y="3364992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84264" y="3310128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查提示、避高风险活动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050791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9344" y="4050791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吃药后聚餐</a:t>
            </a:r>
          </a:p>
        </p:txBody>
      </p:sp>
      <p:sp>
        <p:nvSpPr>
          <p:cNvPr id="22" name="Chevron 21"/>
          <p:cNvSpPr/>
          <p:nvPr/>
        </p:nvSpPr>
        <p:spPr>
          <a:xfrm>
            <a:off x="5907024" y="4105655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4050791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先核实饮酒要求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综合挑战：小苏今晚怎么安排？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成分没核对，饮酒要求也还没确认。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24 / 27</a:t>
            </a:r>
          </a:p>
        </p:txBody>
      </p:sp>
      <p:pic>
        <p:nvPicPr>
          <p:cNvPr id="8" name="ANIME_EXTRA_R3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6992" t="61440" b="3646"/>
          <a:stretch>
            <a:fillRect/>
          </a:stretch>
        </p:blipFill>
        <p:spPr>
          <a:xfrm>
            <a:off x="777240" y="1947672"/>
            <a:ext cx="5148072" cy="363016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5352" y="1947672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64808" y="2295144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2313432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4" y="2093976"/>
            <a:ext cx="390448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已服：一种复方感冒药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209544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64808" y="3557015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3575303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3355848"/>
            <a:ext cx="390448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准备：再加一盒药＋参加聚餐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4471416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64808" y="4818888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4837175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617720"/>
            <a:ext cx="390448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当前：成分没核对，症状尚轻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小苏的晚间计划，你采纳哪几条？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可多选 A / B / C｜逐条判断；想10秒，再举手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25 /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聚餐先点白水，具体饮酒要求再查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药盒和已服记录，一起交给药师核对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照上次的经验，把第二盒改到睡前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ANIME_EXTRA_R3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271" r="73263" t="61035"/>
          <a:stretch>
            <a:fillRect/>
          </a:stretch>
        </p:blipFill>
        <p:spPr>
          <a:xfrm>
            <a:off x="9509760" y="2715768"/>
            <a:ext cx="1664208" cy="211226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A＋B：把建议拼成完整行动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若症状加重或出现急症信号，应及时就医。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26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4231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3464F"/>
                </a:solidFill>
                <a:latin typeface="Noto Sans CJK SC"/>
                <a:ea typeface="Noto Sans CJK SC"/>
              </a:rPr>
              <a:t>A＋B</a:t>
            </a:r>
          </a:p>
        </p:txBody>
      </p:sp>
      <p:sp>
        <p:nvSpPr>
          <p:cNvPr id="9" name="Oval 8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A 饮酒要求未明 → 先用白水，再查询</a:t>
            </a:r>
          </a:p>
        </p:txBody>
      </p:sp>
      <p:sp>
        <p:nvSpPr>
          <p:cNvPr id="11" name="Oval 10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B 药盒与已服记录 → 一起核对，再决定</a:t>
            </a:r>
          </a:p>
        </p:txBody>
      </p:sp>
      <p:sp>
        <p:nvSpPr>
          <p:cNvPr id="13" name="Oval 12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C 沿用经验错开时间 → 信息缺口仍在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58368"/>
            <a:ext cx="210312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676656"/>
            <a:ext cx="19568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把判断带回生活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67208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药可以常备，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判断不能省略。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先看说明书，再做用药决定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核对重复成分，记录已服药物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拿不准，问医生 / 药师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50992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会看 · 会核 · 会问 · 会记</a:t>
            </a:r>
          </a:p>
        </p:txBody>
      </p:sp>
      <p:pic>
        <p:nvPicPr>
          <p:cNvPr id="9" name="Picture 8" descr="clinic-01.jpg"/>
          <p:cNvPicPr>
            <a:picLocks noChangeAspect="1"/>
          </p:cNvPicPr>
          <p:nvPr/>
        </p:nvPicPr>
        <p:blipFill>
          <a:blip r:embed="rId3"/>
          <a:srcRect l="28099" r="28099"/>
          <a:stretch>
            <a:fillRect/>
          </a:stretch>
        </p:blipFill>
        <p:spPr>
          <a:xfrm>
            <a:off x="7909560" y="1417320"/>
            <a:ext cx="3474720" cy="446227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09560" y="1417320"/>
            <a:ext cx="3474720" cy="446227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38360" y="610819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谢谢大家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附页，不计入35分钟｜点击条目标题可访问原文｜原始资料：2026-10-09；新增CDC数据核对与版面修订：2026-10-12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国家卫生健康委等（2020）《关于加强医疗机构药事管理促进合理用药的意见》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FDA. Don’t Overuse Acetaminophen.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Healthy Habits: Antibiotic Do’s and Don’ts.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CDC. Antibiotic Use in the United States（2025更新；门诊至少28%不必要处方）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Antihistamines.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附页，不计入35分钟｜点击条目标题可访问原文｜原始资料：2026-10-09；新增CDC数据核对与版面修订：2026-10-12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NIAAA. Alcohol-Medication Interactions: Potentially Dangerous Mixes.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NHS Specialist Pharmacy Service. Advising on missed or delayed doses of medicines.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Manage Common Cold.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NHS. Anaphylaxis.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Omeprazole.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附页，不计入35分钟｜点击条目标题可访问原文｜原始资料：2026-10-09；新增CDC数据核对与版面修订：2026-10-12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Simons FER, Simons KJ. H1 Antihistamines: Current Status and Future Directions. World Allergy Organ J. 2008;1:145–155.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CDC. Do antibiotics have side effects?（药物相关急诊约1/5来自抗生素反应）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Hersh AL et al. Unnecessary Antibiotic Prescribing in US Ambulatory Care Settings, 2010–2015. Clin Infect Dis. 2021;72:133–137.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以下列出真实图库照片许可；动漫分镜为AI生成原创，人物与事件为虚构教学示意。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Towfiqu barbhuiya · tablet-hand.jpg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4088" y="266090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60604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Pexels photo 16051935 · pill-bottle.jpg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9923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81912" y="338328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" y="352958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47472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Árpád Czapp · pharmacy-01.jpg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867911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6"/>
              </a:rPr>
              <a:t>Unsplash License · 点击标题访问原图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425196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" y="439826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34340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7"/>
              </a:rPr>
              <a:t>National Cancer Institute · pharmacy-02.jpg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7365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6"/>
              </a:rPr>
              <a:t>Unsplash License · 点击标题访问原图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04088" y="526694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8523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8"/>
              </a:rPr>
              <a:t>Tasha Kostyuk · hospital-02.jpg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560527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6"/>
              </a:rPr>
              <a:t>Unsplash License · 点击标题访问原图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581912" y="598932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动漫插画为AI生成原创，非实拍；图库许可与分镜素材说明见配套文件。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以下列出真实图库照片许可；动漫分镜为AI生成原创，人物与事件为虚构教学示意。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Martha Dominguez de Gouveia · clinic-01.jpg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动漫插画为AI生成原创，非实拍；图库许可与分镜素材说明见配套文件。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合理用药：给宿舍药箱上堂课</dc:title>
  <dc:subject>苏州大学选修课｜双人35分钟课堂展示</dc:subject>
  <dc:creator>课堂展示制作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