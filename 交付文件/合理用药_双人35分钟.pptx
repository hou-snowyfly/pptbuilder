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四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视觉说明：白底深蓝大标题合理用药，珊瑚红强调与浅蓝信息块；右侧为全新动漫核药场景，人物、药盒和说明书清楚可见，与全稿画风一致。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cover_rational.png｜FULL｜封面核药场景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第2页｜甲主讲｜建议45秒</a:t>
            </a:r>
          </a:p>
          <a:p>
            <a:r>
              <a:t>移至封面后的第2页；先交代路线，再进入原第2页的开场选择题，不提前揭晓答案。</a:t>
            </a:r>
          </a:p>
          <a:p/>
          <a:p>
            <a:r>
              <a:t>甲：先看路线图。前五分钟建立判断原则；接着用十七分钟看四类校园误区：重复成分、抗生素、抗过敏药以及药物与饮酒。然后八分钟练习安全用药，最后五分钟替小苏做综合选择。甲负责前半段，乙接着讲机制与行动，举手互动已计入时间。大家不用背药名或算剂量，只选更有依据的下一步。现在进入第一个情境：室友感冒了，你会先做哪一步？</a:t>
            </a:r>
          </a:p>
          <a:p/>
          <a:p>
            <a:r>
              <a:t>视觉说明：四段浅底色路线卡，分别用判断、宿舍药箱、安全步骤、选择挑战的可编辑图标呈现，不嵌入重复照片。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甲：小苏流鼻涕、喉咙不舒服，明天还有课。药箱里有上次剩下的药，室友也递来一盒。沿用经验、先核信息、按症状挑药，三个方案都像是在解决问题。信息还不完整时，你选哪一个第一步？</a:t>
            </a:r>
          </a:p>
          <a:p>
            <a:r>
              <a:t>【静默10秒；A、B、C依次举手，各约5秒】</a:t>
            </a:r>
          </a:p>
          <a:p>
            <a:r>
              <a:t>甲：先保留选择。上次有效不代表这次适用，包装上的症状描述也不能代替核对；下一页看判断需要哪些信息。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unique_scenes.png｜R2C1｜开场题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第4页｜甲主讲｜建议120秒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>
            <a:r>
              <a:t>【增加一分钟情境比较：同桌讨论30秒——室友剩药便宜、广告药很热门，各会卡在哪一道关？再用30秒邀请举手并串联四关。经济不只是便宜，适宜也不等于别人有效。】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第5页｜甲主讲｜建议75秒</a:t>
            </a:r>
          </a:p>
          <a:p/>
          <a:p/>
          <a:p>
            <a:r>
              <a:t>甲：小苏觉得头痛还没缓解，拿起另一盒感冒药。室友说，名字不同，一盒管头痛、一盒管感冒，听起来像双保险。三格漫画从不舒服，到听起来合理的建议，再把判断停在药盒背面。症状宣传不同，不代表有效成分不同。下一页不算剂量，只把成分摆在一起，看双保险有没有变成重复。</a:t>
            </a:r>
          </a:p>
          <a:p/>
          <a:p>
            <a:r>
              <a:t>视觉说明：宿舍核药动漫三格：头痛、室友递来第二盒药、两盒成分核对。删除情境、对话、悬念以及重复总结标题；独立对白可编辑。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storyboard.png｜R1C1｜头痛</a:t>
            </a:r>
          </a:p>
          <a:p>
            <a:r>
              <a:t>storyboard.png｜R1C2｜室友递药</a:t>
            </a:r>
          </a:p>
          <a:p>
            <a:r>
              <a:t>storyboard.png｜R1C3｜核对两盒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第6页｜甲主讲｜建议60秒</a:t>
            </a:r>
          </a:p>
          <a:p/>
          <a:p/>
          <a:p>
            <a:r>
              <a:t>甲：左边是单方退热止痛药的教学标签，只有对乙酰氨基酚；右边的复方感冒药示例另有马来酸氯苯那敏和盐酸伪麻黄碱。组成不完全相同，但同一个红色成分块出现了两次，其他成分的不同不能抵消重复。先把真实说明书的成分逐项对照，再核规格、已经服用的时间和用量，拿不准就带药盒问药师。这两张教学标签不对应具体产品，不给出剂量；不同产品的组成和要求可能不同。</a:t>
            </a:r>
          </a:p>
          <a:p/>
          <a:p>
            <a:r>
              <a:t>视觉说明：两盒不同配色的教学药盒。重复成分都用红色且完整命名；另两种成分用青绿和紫色，汇合箭头突出同一成分来自两盒，再给出圈重复、核信息、再决定的动作。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18点，小苏服过一种复方感冒药；20点仍然头痛，想加另一盒退热药。这两个时间只是故事线索，不表示隔两小时就能加药。现在要补齐两盒药的具体药名、成分、规格，以及今天何时用了多少。核对重复和累计使用，不能靠症状还在就自行加量，也不能套统一间隔。怀疑超量或误服应及时寻求医疗帮助；症状持续、加重也应按说明书就医提示处理。下一页只选获取这些信息的下一步。</a:t>
            </a:r>
          </a:p>
          <a:p/>
          <a:p>
            <a:r>
              <a:t>视觉说明：三幅全新动漫分镜：傍晚查看用药记录、夜间症状仍在、俯视核对两盒药和说明书；每幅仅在本页使用。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unique_scenes.png｜R1C1｜查看记录</a:t>
            </a:r>
          </a:p>
          <a:p>
            <a:r>
              <a:t>unique_scenes.png｜R1C2｜症状仍在</a:t>
            </a:r>
          </a:p>
          <a:p>
            <a:r>
              <a:t>unique_scenes.png｜R1C3｜核对包装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甲：室友群里弹出三条消息。A让我们找重复成分，B建议错开服药时间，C让我们补齐今天的药名、规格和时间。可以给多条消息点赞，选择的是现在有助于判断的建议，不是替小苏开药。</a:t>
            </a:r>
          </a:p>
          <a:p>
            <a:r>
              <a:t>【静默10秒；逐条举手各约5秒，可多次举手】</a:t>
            </a:r>
          </a:p>
          <a:p>
            <a:r>
              <a:t>甲：请保留选择，下一页看哪些建议补齐了信息，哪些只是让安排听起来谨慎。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unique_scenes.png｜R2C2｜成分题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第9页｜甲主讲｜建议30秒</a:t>
            </a:r>
          </a:p>
          <a:p/>
          <a:p/>
          <a:p>
            <a:r>
              <a:t>甲：可以同时给A和C点赞。A找到共有成分，C补齐具体规格与已服记录，两条合起来才更有助于判断。B听起来考虑了时间，但并没有核清成分、规格和累计使用；不能靠错开就推定合用安全。先不自行叠加，带齐这些信息问药师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视觉说明：彩色显微世界插画：青绿细菌有细胞结构与遗传物质；紫色病毒有外壳与遗传物质，连接宿主细胞。用文字说明抗生素针对某些细菌结构或过程；示意不按比例。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第11页｜甲主讲｜建议110秒</a:t>
            </a:r>
          </a:p>
          <a:p/>
          <a:p/>
          <a:p>
            <a:r>
              <a:t>甲：上一页说普通感冒通常由病毒引起，抗生素没有相应治疗作用。为什么不能想着吃一点总没坏处？左边一百格中，高亮28格：CDC汇总至少28%的美国门诊抗生素处方被估计为不必要，所引研究该估计来自2014—2015年。这是美国门诊处方比例，不是中国大学生的发生率，其余格子也不代表全部合理。</a:t>
            </a:r>
          </a:p>
          <a:p>
            <a:r>
              <a:t>右边换成五个急诊图标：CDC介绍，药物相关急诊中，约五次就有一次来自抗生素反应。常见副作用包括皮疹、恶心、腹泻，严重时可出现严重过敏等。这里数的是药物反应相关急诊，不是所有急诊，不是说五个吃抗生素的人就有一个进急诊，也不能把所有这些事件都归为滥用。</a:t>
            </a:r>
          </a:p>
          <a:p>
            <a:r>
              <a:t>【留15秒读五个图标；问：若治疗不需要，额外承担这样的风险值不值？停10秒】</a:t>
            </a:r>
          </a:p>
          <a:p>
            <a:r>
              <a:t>甲：两幅图分别展示不必要的处方与药物反应造成的急诊负担，不能相乘推算个人概率。我们要带走的是：没有需要时吃抗生素，未必得到预期获益，却仍可能遇到副作用；确实需要时，规范使用的获益可以超过风险，不自行停药。下一页把结论换成三个实际动作。</a:t>
            </a:r>
          </a:p>
          <a:p/>
          <a:p>
            <a:r>
              <a:t>视觉说明：双图并排：左侧100格中28格珊瑚红高亮，右侧五个急诊图标中一个红色突出抗生素反应。正文写清药物副作用导致的急诊这一分母；数据年份、范围和来源保留在备注和附页。</a:t>
            </a:r>
          </a:p>
          <a:p/>
          <a:p>
            <a:r>
              <a:t>参考：</a:t>
            </a:r>
          </a:p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>
            <a:r>
              <a:t>[S15] CDC. Do antibiotics have side effects?（药物相关急诊约1/5来自抗生素反应）</a:t>
            </a:r>
          </a:p>
          <a:p>
            <a:r>
              <a:t>https://www.cdc.gov/antibiotic-use/media/pdfs/Do-Antibiotics-Have-Side-Effects-508.pdf</a:t>
            </a:r>
          </a:p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第12页｜甲主讲｜建议80秒</a:t>
            </a:r>
          </a:p>
          <a:p/>
          <a:p/>
          <a:p>
            <a:r>
              <a:t>甲：数据看完，回到小苏的药箱。第一，看见感冒症状，不自动把抗生素当作备用保险，先明确是否需要。第二，室友说这盒我吃着有效，不代表适合自己；相似症状可能来自不同原因，不接室友剩药，也不分享自己的处方。第三，确实需要时按具体处方的剂量、间隔与疗程执行，疗效或不良反应有疑问就咨询，不自己缩短、延长或加量。</a:t>
            </a:r>
          </a:p>
          <a:p>
            <a:r>
              <a:t>【停顿10秒，让大家看三张动作卡，选一个最容易忘记的动作】</a:t>
            </a:r>
          </a:p>
          <a:p>
            <a:r>
              <a:t>甲：真正减少可避免风险的，是把这三个动作做出来。</a:t>
            </a:r>
          </a:p>
          <a:p/>
          <a:p>
            <a:r>
              <a:t>视觉说明：浅蓝底的三张动作卡，统一蓝与珊瑚红；放大镜核对、室友药盒暂停、处方清单咨询三幅原创图标，短标题与一行解释分层。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第13页｜甲主讲｜建议90秒</a:t>
            </a:r>
          </a:p>
          <a:p>
            <a:r>
              <a:t>甲主讲至此页末；预计累计15分55秒，交给乙接着讲组胺机制。</a:t>
            </a:r>
          </a:p>
          <a:p/>
          <a:p>
            <a:r>
              <a:t>甲：第三个案例换到课堂。小苏用了抗过敏药，终于不用一直擦鼻涕，却开始听不清老师在讲什么。先看两幅画，同一种用药经历带来了两个结果：鼻部舒服了，精神却不如平时。药物的治疗作用和其他影响可能同时出现。不是所有抗过敏药都一样，也不是人人都会困。</a:t>
            </a:r>
          </a:p>
          <a:p>
            <a:r>
              <a:t>【留15秒看两幅图；请大家用一句话描述前后变化，再给10秒思考：下午有课、晚上要骑车，会向药师补充什么信息？】</a:t>
            </a:r>
          </a:p>
          <a:p>
            <a:r>
              <a:t>甲：先查具体药品的嗜睡提示，把上课、通勤和其他用药告诉药师；已经困倦或反应变慢时，避开驾驶、骑车等高风险活动。别靠咖啡或酒精自行抵消这种感觉。为什么鼻子与清醒程度会同时受影响？下面交给乙，从组胺信号的两个位置来解释。</a:t>
            </a:r>
          </a:p>
          <a:p/>
          <a:p>
            <a:r>
              <a:t>视觉说明：两幅独立动漫分镜：鼻部症状缓解、课堂犯困；各用一句对白呈现现象，后页自然引出组胺机制。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storyboard.png｜R2C1｜鼻部舒服</a:t>
            </a:r>
          </a:p>
          <a:p>
            <a:r>
              <a:t>storyboard.png｜R2C2｜课堂犯困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第14页｜乙主讲｜建议65秒</a:t>
            </a:r>
          </a:p>
          <a:p/>
          <a:p/>
          <a:p>
            <a:r>
              <a:t>乙：左侧，组胺与H1受体相关的信号参与部分过敏反应；抗组胺药影响相应受体的作用，可以缓解部分症状。右侧，脑内组胺信号也参与维持清醒。血脑屏障是进入脑内的一道选择性屏障，不是对所有药物都完全封闭；部分抗组胺药能够进入脑内，影响相关受体信号，因此可能嗜睡。两条路径解释治疗作用与其他影响为什么可能同时发生，不表示每种药、每个人都一样。具体选择看说明书和药师建议；困倦时避开驾驶、骑车等高风险活动。</a:t>
            </a:r>
          </a:p>
          <a:p/>
          <a:p>
            <a:r>
              <a:t>视觉说明：可编辑组胺双路径示意配原创动漫肖像；鼻部、脑内、H1受体及血脑屏障为必要机制标注，保留。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unique_scenes.png｜R3C2｜鼻部组胺肖像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第15页｜乙主讲｜建议150秒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乙：先来一条聚餐邀请。小苏今天服过抗过敏药，但具体饮酒要求没确认。A建议垫肚子并错开时间，B建议按经验少喝，C建议先换白水再核药名。哪条消息先处理了现在的未知？</a:t>
            </a:r>
          </a:p>
          <a:p>
            <a:r>
              <a:t>【同桌讨论20秒，随后静默10秒；A、B、C依次举手，各约5秒】</a:t>
            </a:r>
          </a:p>
          <a:p>
            <a:r>
              <a:t>乙：可以再想十秒：你选的是让自己感觉更放心的安排，还是获取这盒药实际要求的动作？甲只观察，不现场宣布答案，也不问个人用药史。把选择留住，下一页我们让小苏真的走进聚餐，看看这条消息怎样变成行动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unique_scenes.png｜R2C3｜聚餐题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第16页｜乙主讲｜建议150秒</a:t>
            </a:r>
          </a:p>
          <a:p/>
          <a:p/>
          <a:p>
            <a:r>
              <a:t>乙：现在把刚才群聊题的答案放回实际聚餐。第一格，小苏白天服过抗过敏药；第二格，室友端来酒杯说就一点；第三格，小苏先换成白水，把具体药名和饮酒要求核实。答案C不是一个显得规矩的口号，而是给信息缺口留出一个核实动作。</a:t>
            </a:r>
          </a:p>
          <a:p>
            <a:r>
              <a:t>【甲演室友：先吃点东西再喝，行不行？乙：这不能证明这个药与酒精合用安全。甲：那等两小时呢？乙：也没有适用于所有药物的统一等待时间。留约20秒表演及停顿】</a:t>
            </a:r>
          </a:p>
          <a:p>
            <a:r>
              <a:t>乙：酒精与部分具有镇静作用的药物合用，可能增加嗜睡及反应受损风险；不同药物还可能有其他相互作用，具体看说明书或问药师。普通口服片剂或胶囊通常用白水，含服、咀嚼等剂型另有要求，仍以具体说明为准。下一步把这些判断整理成看、核、问、记。</a:t>
            </a:r>
          </a:p>
          <a:p/>
          <a:p>
            <a:r>
              <a:t>视觉说明：原创动漫聚餐三格：记起已服药、室友劝酒、选白水并核实信息。取消白天、晚上、行动的独立标题和复述性短语，时间与行为直接写入对白。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storyboard.png｜R3C1｜想起已服药</a:t>
            </a:r>
          </a:p>
          <a:p>
            <a:r>
              <a:t>storyboard.png｜R3C2｜室友劝酒</a:t>
            </a:r>
          </a:p>
          <a:p>
            <a:r>
              <a:t>storyboard.png｜R3C3｜核实要求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C，就把“这盒药能不能配酒”的不确定性变成了一个清楚的咨询问题。这四步是课堂助记法，不是替代诊疗的专业流程。</a:t>
            </a:r>
          </a:p>
          <a:p>
            <a:r>
              <a:t>乙：下一页从“看”开始，把说明书里会影响判断的信息找出来。</a:t>
            </a:r>
          </a:p>
          <a:p/>
          <a:p>
            <a:r>
              <a:t>视觉说明：左侧全新动漫核药场景，右侧四张浅底色动作卡；看核问记用统一字级与两种强调色呈现。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actions_storyboard.png｜R1C1｜看核问记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>
            <a:r>
              <a:t>乙：找到用法以后，还要避免自己随意改变它，下一页看三个常见做法。</a:t>
            </a:r>
          </a:p>
          <a:p/>
          <a:p>
            <a:r>
              <a:t>视觉说明：左侧六张有浅底色的说明书阅读卡，每张对应一个具体问题；右侧为全新动漫阅读分镜，避免药瓶图库照片。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actions_storyboard.png｜R1C2｜读说明书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>
            <a:r>
              <a:t>乙：核对后仍拿不准，就带着具体信息去问。下一页把咨询整理成三句话。</a:t>
            </a:r>
          </a:p>
          <a:p/>
          <a:p>
            <a:r>
              <a:t>视觉说明：全新动漫核对时钟、药板和说明书；三条使用要求以浅底色横向卡片分层呈现，删除泛化装饰。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actions_storyboard.png｜R1C3｜核使用要求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>
            <a:r>
              <a:t>乙：但出现严重信号时，优先求助，不把常规咨询当作等待的理由。下一页区分几种行动。</a:t>
            </a:r>
          </a:p>
          <a:p/>
          <a:p>
            <a:r>
              <a:t>视觉说明：全新药师咨询动漫画面与一句可编辑对白；右侧三条等宽浅底色气泡，分别呈现症状、已服信息和个人情况。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actions_storyboard.png｜R2C1｜咨询药师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>
            <a:r>
              <a:t>乙：无论咨询还是就医，都需要说清用过什么。下一页把这份信息留在药箱和记录里。</a:t>
            </a:r>
          </a:p>
          <a:p/>
          <a:p>
            <a:r>
              <a:t>视觉说明：珊瑚红120急救卡突出严重信号；另两张浅底色行动卡区分误服与持续症状；右侧全新室友求助动漫，不用医院走廊照片。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actions_storyboard.png｜R2C2｜及时求助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>
            <a:r>
              <a:t>乙：包装、说明书和记录留齐后，前面四个案例就能对应到具体动作。</a:t>
            </a:r>
          </a:p>
          <a:p/>
          <a:p>
            <a:r>
              <a:t>视觉说明：全新动漫整理药箱，包装、说明书和手机记录一同入画；右侧三张浅底色便签，突出信息保留。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actions_storyboard.png｜R2C3｜留信息和记录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第23页｜乙主讲｜建议60秒</a:t>
            </a:r>
          </a:p>
          <a:p/>
          <a:p/>
          <a:p>
            <a:r>
              <a:t>乙：挑战前，把四个情境换成四个动作：感冒药想叠加，先核成分；感冒想到抗生素，先确认是否需要；抗过敏后困倦，查提示并避开高风险活动；服药后聚餐，先核实饮酒要求。这些动作都在刚才的案例里出现过，不用背一串药名。最后的小测把它们组合起来，练习在信息缺口前停一下。</a:t>
            </a:r>
          </a:p>
          <a:p/>
          <a:p>
            <a:r>
              <a:t>视觉说明：四条浅底色情境到行动的配对带，以明确箭头连接，不堆砌裸文字；作为方法部分与综合挑战的桥梁。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第24页｜乙主讲｜建议60秒</a:t>
            </a:r>
          </a:p>
          <a:p/>
          <a:p/>
          <a:p>
            <a:r>
              <a:t>乙：最后进入综合挑战，小苏再次登场。看三幅分镜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图片里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视觉说明：三幅全新动漫分镜：已服药、想加第二盒、准备聚餐；短对白独立可编辑，信息缺口留给下一页选择，不提前给答案。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actions_storyboard.png｜R3C1｜已经服药</a:t>
            </a:r>
          </a:p>
          <a:p>
            <a:r>
              <a:t>actions_storyboard.png｜R3C2｜想加第二盒</a:t>
            </a:r>
          </a:p>
          <a:p>
            <a:r>
              <a:t>actions_storyboard.png｜R3C3｜准备聚餐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乙：这次可以采纳多条建议。A处理聚餐饮酒的不确定性，B准备药盒和已服记录，C沿用上次经验调整第二盒的时间。请判断哪些能补齐题目里的未知信息，再把采纳的建议拼成小苏今晚的计划。</a:t>
            </a:r>
          </a:p>
          <a:p>
            <a:r>
              <a:t>【静默10秒；依次举手各约5秒，可以多次举手】</a:t>
            </a:r>
          </a:p>
          <a:p>
            <a:r>
              <a:t>乙：先保留选择。下一页分别核对饮酒、成分与已服情况，不用靠哪个选项最长来猜。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>
            <a:r>
              <a:t>unique_scenes.png｜R3C1｜综合题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乙：A与B可以一起采纳。A在饮酒要求明确之前先不喝，B把具体药名、规格、成分、何时用了多少一起交给药师核对。C沿用上次经验把药改到睡前，没有解决现在的重复成分和累计使用问题。</a:t>
            </a:r>
          </a:p>
          <a:p>
            <a:r>
              <a:t>甲：症状持续、加重或出现呼吸困难、意识异常等急症表现，要转为就医或急救。</a:t>
            </a:r>
          </a:p>
          <a:p>
            <a:r>
              <a:t>乙：两条建议拼成完整行动，才比一个听起来谨慎的安排更有依据。</a:t>
            </a:r>
          </a:p>
          <a:p/>
          <a:p>
            <a:r>
              <a:t>视觉说明：左侧大号A＋B结论块，右侧两张行动卡与一张辨析卡；浅底色、清楚层次，解释为何错开时间仍未解决问题。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、用量与反应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视觉说明：白底深蓝大标题与珊瑚红点缀呼应封面；三张有底色的行动条与原创可编辑药箱、说明书、记录图示，无复用照片。</a:t>
            </a:r>
          </a:p>
          <a:p/>
          <a:p>
            <a:r>
              <a:t>参考：</a:t>
            </a:r>
          </a:p>
          <a:p/>
          <a:p/>
          <a:p>
            <a:r>
              <a:t>动漫画面为原创教学情境，人物与事件为虚构。</a:t>
            </a:r>
          </a:p>
          <a:p>
            <a:r>
              <a:t>本页素材：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[S15] CDC. Do antibiotics have side effects?（药物相关急诊约1/5来自抗生素反应）</a:t>
            </a:r>
          </a:p>
          <a:p>
            <a:r>
              <a:t>https://www.cdc.gov/antibiotic-use/media/pdfs/Do-Antibiotics-Have-Side-Effects-508.pdf</a:t>
            </a:r>
          </a:p>
          <a:p/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动漫素材附页，不逐页讲解。</a:t>
            </a:r>
          </a:p>
          <a:p/>
          <a:p>
            <a:r>
              <a:t>cover_rational.png｜封面：一起核对药盒与说明书｜2026-10-13</a:t>
            </a:r>
          </a:p>
          <a:p>
            <a:r>
              <a:t>storyboard.png｜宿舍、课堂与聚餐分镜｜2026-10-12</a:t>
            </a:r>
          </a:p>
          <a:p>
            <a:r>
              <a:t>unique_scenes.png｜核药时间线、四道题与组胺肖像｜2026-10-12</a:t>
            </a:r>
          </a:p>
          <a:p>
            <a:r>
              <a:t>actions_storyboard.png｜查、核、问、求助、记录与综合案例｜2026-10-13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www.cdc.gov/antibiotic-use/about/" TargetMode="External"/><Relationship Id="rId5" Type="http://schemas.openxmlformats.org/officeDocument/2006/relationships/hyperlink" Target="https://www.cdc.gov/antibiotic-use/hcp/data-research/antibiotic-prescribing.html" TargetMode="External"/><Relationship Id="rId6" Type="http://schemas.openxmlformats.org/officeDocument/2006/relationships/hyperlink" Target="https://www.nhs.uk/medicines/antihistamines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3" Type="http://schemas.openxmlformats.org/officeDocument/2006/relationships/hyperlink" Target="https://sps.nhs.uk/articles/advising-on-missed-or-delayed-doses-of-medicines/" TargetMode="External"/><Relationship Id="rId4" Type="http://schemas.openxmlformats.org/officeDocument/2006/relationships/hyperlink" Target="https://www.cdc.gov/common-cold/treatment/index.html" TargetMode="External"/><Relationship Id="rId5" Type="http://schemas.openxmlformats.org/officeDocument/2006/relationships/hyperlink" Target="https://www.nhs.uk/conditions/anaphylaxis/" TargetMode="External"/><Relationship Id="rId6" Type="http://schemas.openxmlformats.org/officeDocument/2006/relationships/hyperlink" Target="https://www.nhs.uk/medicines/omeprazole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mc.ncbi.nlm.nih.gov/articles/PMC3650962/" TargetMode="External"/><Relationship Id="rId3" Type="http://schemas.openxmlformats.org/officeDocument/2006/relationships/hyperlink" Target="https://www.cdc.gov/antibiotic-use/media/pdfs/Do-Antibiotics-Have-Side-Effects-508.pdf" TargetMode="External"/><Relationship Id="rId4" Type="http://schemas.openxmlformats.org/officeDocument/2006/relationships/hyperlink" Target="https://stacks.cdc.gov/view/cdc/120299/cdc_120299_DS1.pdf" TargetMode="Externa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20624"/>
            <a:ext cx="73152" cy="25603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491947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3E75"/>
                </a:solidFill>
                <a:latin typeface="Noto Sans CJK SC"/>
              </a:rPr>
              <a:t>苏州大学 · 校园用药课堂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0" y="1124712"/>
            <a:ext cx="5925312" cy="419709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NIME_COVER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79008" y="1280160"/>
            <a:ext cx="5705856" cy="3803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" y="1545336"/>
            <a:ext cx="4928616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400" b="1">
                <a:solidFill>
                  <a:srgbClr val="153E75"/>
                </a:solidFill>
                <a:latin typeface="Noto Sans CJK SC"/>
              </a:rPr>
              <a:t>合理用药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2779776"/>
            <a:ext cx="749808" cy="731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3017520"/>
            <a:ext cx="4727448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153E75"/>
                </a:solidFill>
                <a:latin typeface="Noto Sans CJK SC"/>
              </a:rPr>
              <a:t>给宿舍药箱上堂课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3867912"/>
            <a:ext cx="4562856" cy="11704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4014215"/>
            <a:ext cx="416052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药名熟悉，就能放心吃？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先学会看、核、问、记。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5550408"/>
            <a:ext cx="2596896" cy="57607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632704"/>
            <a:ext cx="22677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</a:rPr>
              <a:t>看说明书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7" y="5550408"/>
            <a:ext cx="2596896" cy="57607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5632704"/>
            <a:ext cx="22677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</a:rPr>
              <a:t>核对成分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5550408"/>
            <a:ext cx="2596896" cy="57607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1" y="5632704"/>
            <a:ext cx="22677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</a:rPr>
              <a:t>问清疑点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9992" y="5550408"/>
            <a:ext cx="2596896" cy="57607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44584" y="5632704"/>
            <a:ext cx="22677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</a:rPr>
              <a:t>留好记录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6400800"/>
            <a:ext cx="61356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153E75"/>
                </a:solidFill>
                <a:latin typeface="Noto Sans CJK SC"/>
              </a:rPr>
              <a:t>主讲：同学甲 / 同学乙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6400800"/>
            <a:ext cx="2798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153E75"/>
                </a:solidFill>
                <a:latin typeface="Noto Sans CJK SC"/>
              </a:rPr>
              <a:t>35分钟 · 双人展示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6695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2935224"/>
            <a:ext cx="1069848" cy="10698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212848" y="3822191"/>
            <a:ext cx="493776" cy="466345"/>
          </a:xfrm>
          <a:prstGeom prst="line">
            <a:avLst/>
          </a:prstGeom>
          <a:ln w="635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527048" y="3108960"/>
            <a:ext cx="64922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500" b="1">
                <a:solidFill>
                  <a:srgbClr val="EB5969"/>
                </a:solidFill>
                <a:latin typeface="Noto Sans CJK SC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基本原则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5分钟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67328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31336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33672" y="2880360"/>
            <a:ext cx="1216152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79392" y="2926079"/>
            <a:ext cx="1124712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41748" y="3246120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59325" y="3383280"/>
            <a:ext cx="364845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79392" y="3968496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宿舍药箱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0752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宿舍误区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0752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17分钟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3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37959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9" y="2862072"/>
            <a:ext cx="1508760" cy="14538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022592" y="3118104"/>
            <a:ext cx="128015" cy="11887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150607" y="3044952"/>
            <a:ext cx="201168" cy="19202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534655" y="3118104"/>
            <a:ext cx="649224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022592" y="3483864"/>
            <a:ext cx="128015" cy="11887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150607" y="3410712"/>
            <a:ext cx="201168" cy="19202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534655" y="3483864"/>
            <a:ext cx="649224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22592" y="3849624"/>
            <a:ext cx="128015" cy="11887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150607" y="3776472"/>
            <a:ext cx="201168" cy="19202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534655" y="3849624"/>
            <a:ext cx="649224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01383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安全用药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01383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8分钟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08592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82328" y="3346704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46336" y="3364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5832" y="3346704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3364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89336" y="3346704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53344" y="3364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5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选择挑战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72015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用上次的剩药，沿用当时吃法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拍清楚药盒，先核对再作决定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按最主要症状，先挑一盒试试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2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8733" r="75725" t="30566" b="39844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关注禁忌与不良反应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183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有效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针对真正需要解决的问题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经济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避免不必要的花费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7183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适宜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两盒药，是“双保险”还是撞车？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包装不同，也可能含有同一成分。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27</a:t>
            </a:r>
          </a:p>
        </p:txBody>
      </p:sp>
      <p:pic>
        <p:nvPicPr>
          <p:cNvPr id="8" name="ANIME_BASE_R1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1621" r="68613" b="70312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头痛还在，要不再加一盒？</a:t>
            </a:r>
          </a:p>
        </p:txBody>
      </p:sp>
      <p:pic>
        <p:nvPicPr>
          <p:cNvPr id="11" name="ANIME_BASE_R1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5084" r="35150" b="70312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名字不同，应该不重复吧？</a:t>
            </a:r>
          </a:p>
        </p:txBody>
      </p:sp>
      <p:pic>
        <p:nvPicPr>
          <p:cNvPr id="14" name="ANIME_BAS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8613" r="1621" b="70312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药盒不同，里面的成分呢？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药盒不同，成分可能“撞车”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同名成分出现两次，是暂停核对的信号｜未确认前不自行叠加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单方退热止痛药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52144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9672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复方感冒药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9128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0568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968496"/>
            <a:ext cx="4206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只有这一种有效成分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3694176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73075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马来酸氯苯那敏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4215384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251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盐酸伪麻黄碱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68112" y="3291840"/>
            <a:ext cx="411480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79592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309360" y="3291840"/>
            <a:ext cx="429768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09360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79592" y="4773168"/>
            <a:ext cx="219456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099048" y="4773168"/>
            <a:ext cx="210312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931920" y="4937760"/>
            <a:ext cx="4343400" cy="402336"/>
          </a:xfrm>
          <a:prstGeom prst="roundRect">
            <a:avLst>
              <a:gd name="adj" fmla="val 10000"/>
            </a:avLst>
          </a:prstGeom>
          <a:solidFill>
            <a:srgbClr val="FF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0" y="4965192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同一成分，来自两盒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4589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03354"/>
                </a:solidFill>
                <a:latin typeface="Noto Sans CJK SC"/>
              </a:rPr>
              <a:t>① 圈出重复　→　② 核规格与已服情况　→　③ 未确认，不自行叠加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18点吃过药，20点还痛：先补哪条信息？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成分、规格、今天吃过什么：先核清，再决定。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2093976"/>
            <a:ext cx="12344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12264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18:00</a:t>
            </a:r>
          </a:p>
        </p:txBody>
      </p:sp>
      <p:pic>
        <p:nvPicPr>
          <p:cNvPr id="11" name="ANIME_EXTRA_R1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80" r="67672" b="70312"/>
          <a:stretch>
            <a:fillRect/>
          </a:stretch>
        </p:blipFill>
        <p:spPr>
          <a:xfrm>
            <a:off x="932688" y="2596896"/>
            <a:ext cx="3099816" cy="1938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50976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已经服过一种复方感冒药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36008" y="2093976"/>
            <a:ext cx="12344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2112264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20:00</a:t>
            </a:r>
          </a:p>
        </p:txBody>
      </p:sp>
      <p:pic>
        <p:nvPicPr>
          <p:cNvPr id="16" name="ANIME_EXTRA_R1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4143" r="34209" b="70312"/>
          <a:stretch>
            <a:fillRect/>
          </a:stretch>
        </p:blipFill>
        <p:spPr>
          <a:xfrm>
            <a:off x="4617720" y="2596896"/>
            <a:ext cx="3099816" cy="193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36008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症状还在，准备加一盒退热药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ANIME_EXTRA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7672" r="680" b="70312"/>
          <a:stretch>
            <a:fillRect/>
          </a:stretch>
        </p:blipFill>
        <p:spPr>
          <a:xfrm>
            <a:off x="8302752" y="2596896"/>
            <a:ext cx="3099816" cy="19385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成分、规格、已服用量还没核对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室友群的三条消息，你给哪条点赞？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可多选 A / B / C｜哪些建议先帮我们补齐判断所需的信息？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拍下两盒成分，圈出相同的名字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按症状拆开安排，把服药时间错开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补上今天已服药名、规格与时间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2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42196" r="42261" t="30566" b="39844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A＋C：先把两类信息凑齐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同成分先不自行叠加；拿着完整信息，再核实下一步。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A＋C</a:t>
            </a:r>
          </a:p>
        </p:txBody>
      </p:sp>
      <p:sp>
        <p:nvSpPr>
          <p:cNvPr id="9" name="Oval 8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圈出同名成分，发现可能重复</a:t>
            </a:r>
          </a:p>
        </p:txBody>
      </p:sp>
      <p:sp>
        <p:nvSpPr>
          <p:cNvPr id="11" name="Oval 10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补规格和已服记录，核对累计使用</a:t>
            </a:r>
          </a:p>
        </p:txBody>
      </p:sp>
      <p:sp>
        <p:nvSpPr>
          <p:cNvPr id="13" name="Oval 12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错开时间，仍不能代替完整核对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细菌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病毒</a:t>
            </a:r>
          </a:p>
        </p:txBody>
      </p:sp>
      <p:sp>
        <p:nvSpPr>
          <p:cNvPr id="14" name="Oval 13"/>
          <p:cNvSpPr/>
          <p:nvPr/>
        </p:nvSpPr>
        <p:spPr>
          <a:xfrm>
            <a:off x="1225296" y="2935224"/>
            <a:ext cx="2066543" cy="1243584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3035808"/>
            <a:ext cx="1865376" cy="1042415"/>
          </a:xfrm>
          <a:prstGeom prst="ellipse">
            <a:avLst/>
          </a:prstGeom>
          <a:solidFill>
            <a:srgbClr val="B5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00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61326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79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258568" y="4197096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36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81592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14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1181592" y="3136392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636775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258568" y="2715768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779776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161326" y="3136391"/>
            <a:ext cx="174217" cy="100585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91640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892808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093976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295144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496312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572768" y="327355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57400" y="3236976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15768" y="3346704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627632" y="3813048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386584" y="386791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83864" y="3182112"/>
            <a:ext cx="2075688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有细胞结构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3648456"/>
            <a:ext cx="207568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在适宜条件下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可自行繁殖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4562856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某些细菌结构或过程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可成为抗生素的靶点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744967" y="3566160"/>
            <a:ext cx="201169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789127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7669875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777759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473279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480579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7168108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113244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6870928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816064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H="1">
            <a:off x="6757415" y="3566160"/>
            <a:ext cx="201168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70255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6870928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816064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7168108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7113244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7473279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480579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7669875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777759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12863" y="3127248"/>
            <a:ext cx="877824" cy="877824"/>
          </a:xfrm>
          <a:prstGeom prst="ellipse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040879" y="3255264"/>
            <a:ext cx="621792" cy="621792"/>
          </a:xfrm>
          <a:prstGeom prst="ellipse">
            <a:avLst/>
          </a:prstGeom>
          <a:solidFill>
            <a:srgbClr val="D8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7187183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306055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424927" y="3419856"/>
            <a:ext cx="118873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hevron 65"/>
          <p:cNvSpPr/>
          <p:nvPr/>
        </p:nvSpPr>
        <p:spPr>
          <a:xfrm>
            <a:off x="8247888" y="3465576"/>
            <a:ext cx="365760" cy="274320"/>
          </a:xfrm>
          <a:prstGeom prst="chevron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23960" y="2962656"/>
            <a:ext cx="1965960" cy="1280160"/>
          </a:xfrm>
          <a:prstGeom prst="ellipse">
            <a:avLst/>
          </a:prstGeom>
          <a:solidFill>
            <a:srgbClr val="DBF4ED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400032" y="3346704"/>
            <a:ext cx="557784" cy="493776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33688" y="43616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宿主细胞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7960" y="4681728"/>
            <a:ext cx="45628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无细胞结构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依赖宿主细胞复制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不需要的抗生素，也可能带来真实伤害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没有治疗需要，也要承担用药风险。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美国门诊抗生素处方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090672"/>
            <a:ext cx="21671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至少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557016"/>
            <a:ext cx="216712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1">
                <a:solidFill>
                  <a:srgbClr val="EB5969"/>
                </a:solidFill>
                <a:latin typeface="Noto Sans CJK SC"/>
              </a:rPr>
              <a:t>28%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045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62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193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034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6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149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2637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8045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862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9193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034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0916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149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2637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747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8045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862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9193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9768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034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70916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9149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2064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32637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747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8045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8862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9193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29768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034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0916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149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12064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32637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4747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68045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8862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193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9768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034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70916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9149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12064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32637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747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68045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8862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193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29768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5034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0916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9149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12064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32637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4747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68045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8862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09193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29768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5034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70916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9149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12064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32637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4747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68045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862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09193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29768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5034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70916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9149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12064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32637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4747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368045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8862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09193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9768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5034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70916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9149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12064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32637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34747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68045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8862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09193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29768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5034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0916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9149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12064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32637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33271" y="5074920"/>
            <a:ext cx="457200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EB5969"/>
                </a:solidFill>
                <a:latin typeface="Noto Sans CJK SC"/>
              </a:rPr>
              <a:t>被估计为不必要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01384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药物副作用导致的急诊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01384" y="2770632"/>
            <a:ext cx="457200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5次中，约1次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01384" y="3355848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涉及抗生素反应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528816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748272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839712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6803136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638544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6967728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7406640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26096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717536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680960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516367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845551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8284463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8503919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8595359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558784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8394191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8723375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9162288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381744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473184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9436608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272015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9601199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0040112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259568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351008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0314432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149840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479024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501384" y="5175504"/>
            <a:ext cx="45720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皮疹、腹泻，也可能严重过敏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把“别乱吃抗生素”，换成三个动作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先确认需要，再按具体处方使用；有疑问及时联系医生或药师。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83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98448" y="2770632"/>
            <a:ext cx="914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816351"/>
            <a:ext cx="822960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755648" y="3136391"/>
            <a:ext cx="0" cy="27432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18488" y="3273552"/>
            <a:ext cx="274319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44168" y="3602735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抗生素</a:t>
            </a:r>
          </a:p>
        </p:txBody>
      </p:sp>
      <p:sp>
        <p:nvSpPr>
          <p:cNvPr id="16" name="Oval 15"/>
          <p:cNvSpPr/>
          <p:nvPr/>
        </p:nvSpPr>
        <p:spPr>
          <a:xfrm>
            <a:off x="2468880" y="2834640"/>
            <a:ext cx="941832" cy="941832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3154680"/>
            <a:ext cx="7498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EB5969"/>
                </a:solidFill>
                <a:latin typeface="Noto Sans CJK SC"/>
              </a:rPr>
              <a:t>需要？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9544" y="3593592"/>
            <a:ext cx="420624" cy="374904"/>
          </a:xfrm>
          <a:prstGeom prst="line">
            <a:avLst/>
          </a:prstGeom>
          <a:ln w="762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4983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先确认需要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感冒症状，不自动等于要用抗生素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1416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09159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46903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362955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24424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946903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室友剩药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3952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9672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935724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797192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19672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我的用药</a:t>
            </a:r>
          </a:p>
        </p:txBody>
      </p:sp>
      <p:sp>
        <p:nvSpPr>
          <p:cNvPr id="34" name="Oval 33"/>
          <p:cNvSpPr/>
          <p:nvPr/>
        </p:nvSpPr>
        <p:spPr>
          <a:xfrm>
            <a:off x="5843016" y="3136392"/>
            <a:ext cx="548640" cy="548640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943600" y="3246120"/>
            <a:ext cx="347472" cy="347472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09159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不接室友剩药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59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相似症状，不代表同一病因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65592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403336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67344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2761488"/>
            <a:ext cx="2103120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36024" y="2898648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剂量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924544" y="3017520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43416" y="2907791"/>
            <a:ext cx="182880" cy="210313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336024" y="3291840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间隔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924544" y="3410712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043416" y="3300984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336024" y="368503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疗程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924544" y="3803904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43416" y="3694176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403336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按处方执行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03336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疗效或反应有疑问，及时咨询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案例③：鼻子舒服了，上课却犯困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症状缓解，也要留意精神状态与日常活动。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27</a:t>
            </a:r>
          </a:p>
        </p:txBody>
      </p:sp>
      <p:pic>
        <p:nvPicPr>
          <p:cNvPr id="8" name="ANIME_BASE_R2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30905" b="42888"/>
          <a:stretch>
            <a:fillRect/>
          </a:stretch>
        </p:blipFill>
        <p:spPr>
          <a:xfrm>
            <a:off x="777240" y="1938528"/>
            <a:ext cx="5148072" cy="2724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800600"/>
            <a:ext cx="5148072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882896"/>
            <a:ext cx="4818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终于不用一直擦鼻涕！</a:t>
            </a:r>
          </a:p>
        </p:txBody>
      </p:sp>
      <p:pic>
        <p:nvPicPr>
          <p:cNvPr id="11" name="ANIME_BASE_R2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30905" b="42888"/>
          <a:stretch>
            <a:fillRect/>
          </a:stretch>
        </p:blipFill>
        <p:spPr>
          <a:xfrm>
            <a:off x="6245352" y="1938528"/>
            <a:ext cx="5148072" cy="27249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45352" y="4800600"/>
            <a:ext cx="5148072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4882896"/>
            <a:ext cx="4818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鼻子好了，脑子想“下课”……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同一种组胺信号，为什么有两种影响？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同一种信号，在鼻部和脑内承担不同作用。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鼻部：参与过敏反应</a:t>
            </a:r>
          </a:p>
        </p:txBody>
      </p:sp>
      <p:pic>
        <p:nvPicPr>
          <p:cNvPr id="11" name="ANIME_EXTRA_R3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9762" r="39827" t="61035"/>
          <a:stretch>
            <a:fillRect/>
          </a:stretch>
        </p:blipFill>
        <p:spPr>
          <a:xfrm>
            <a:off x="1170432" y="2779776"/>
            <a:ext cx="935431" cy="11905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86584" y="2843784"/>
            <a:ext cx="135331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2615184" y="3401568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2888" y="2916936"/>
            <a:ext cx="106070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阿嚏！</a:t>
            </a:r>
          </a:p>
        </p:txBody>
      </p:sp>
      <p:sp>
        <p:nvSpPr>
          <p:cNvPr id="15" name="Oval 14"/>
          <p:cNvSpPr/>
          <p:nvPr/>
        </p:nvSpPr>
        <p:spPr>
          <a:xfrm>
            <a:off x="4251960" y="2880360"/>
            <a:ext cx="594360" cy="594360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1184" y="2999232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组胺</a:t>
            </a:r>
          </a:p>
        </p:txBody>
      </p:sp>
      <p:sp>
        <p:nvSpPr>
          <p:cNvPr id="17" name="Chevron 16"/>
          <p:cNvSpPr/>
          <p:nvPr/>
        </p:nvSpPr>
        <p:spPr>
          <a:xfrm rot="5400000">
            <a:off x="4370832" y="3584448"/>
            <a:ext cx="310896" cy="274320"/>
          </a:xfrm>
          <a:prstGeom prst="chevron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2596896" y="4059936"/>
            <a:ext cx="356616" cy="274320"/>
          </a:xfrm>
          <a:prstGeom prst="chevron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36392" y="3895344"/>
            <a:ext cx="2103120" cy="576072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64408" y="3968496"/>
            <a:ext cx="18470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</a:rPr>
              <a:t>H1 受体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50791"/>
            <a:ext cx="832104" cy="27432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25296" y="4087368"/>
            <a:ext cx="366125" cy="20116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1" y="4489704"/>
            <a:ext cx="162763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EB5969"/>
                </a:solidFill>
                <a:latin typeface="Noto Sans CJK SC"/>
              </a:rPr>
              <a:t>抗组胺药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1" y="5010912"/>
            <a:ext cx="45628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影响受体作用 → 缓解部分症状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脑内：也参与维持清醒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743200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血脑屏障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13639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84464" y="373075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93408" y="3465576"/>
            <a:ext cx="950976" cy="32004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729984" y="3502152"/>
            <a:ext cx="418429" cy="24688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799831" y="3474720"/>
            <a:ext cx="420624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8586216" y="3474720"/>
            <a:ext cx="384048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44584" y="3306470"/>
            <a:ext cx="546811" cy="6056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45533" y="3096158"/>
            <a:ext cx="630936" cy="63934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32507" y="3054096"/>
            <a:ext cx="639348" cy="6729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53131" y="3239170"/>
            <a:ext cx="563636" cy="647760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749332" y="3491544"/>
            <a:ext cx="647760" cy="479511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9505370" y="3289645"/>
            <a:ext cx="143013" cy="159837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9799807" y="3255995"/>
            <a:ext cx="33650" cy="2776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203606" y="3373770"/>
            <a:ext cx="134600" cy="1766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06320" y="3693444"/>
            <a:ext cx="218725" cy="757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119481" y="3727094"/>
            <a:ext cx="117775" cy="1093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098280" y="41422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脑内 H1 信号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1384" y="4645152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7952D5"/>
                </a:solidFill>
                <a:latin typeface="Noto Sans CJK SC"/>
              </a:rPr>
              <a:t>部分药物可进入脑内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1384" y="5093208"/>
            <a:ext cx="45628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清醒相关信号受影响 → 可能嗜睡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聚餐邀请到了，你先回哪条消息？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单选｜今天服过抗过敏药，具体饮酒要求未确认；下一页再揭晓。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先吃点东西，把两者错开两小时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照以前的经验，只小酌不碰烈酒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今晚先换白水，按具体药名查要求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2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75725" r="8733" t="30566" b="39844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案例④：聚餐这杯酒，先停一下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C：拿不准就先不喝；错开两小时、酒量好都不能代替核实。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27</a:t>
            </a:r>
          </a:p>
        </p:txBody>
      </p:sp>
      <p:pic>
        <p:nvPicPr>
          <p:cNvPr id="8" name="ANIME_BASE_R3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61640" b="5440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白天服过药，今晚聚餐怎么办？</a:t>
            </a:r>
          </a:p>
        </p:txBody>
      </p:sp>
      <p:pic>
        <p:nvPicPr>
          <p:cNvPr id="11" name="ANIME_BASE_R3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61640" b="5440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室友：就喝一点，没事吧？</a:t>
            </a:r>
          </a:p>
        </p:txBody>
      </p:sp>
      <p:pic>
        <p:nvPicPr>
          <p:cNvPr id="14" name="ANIME_BASE_R3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6992" t="61640" b="5440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我先换白水，再核实这盒药的要求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从四个案例，走到四个用药动作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先把信息看清，再把不确定问清。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27</a:t>
            </a:r>
          </a:p>
        </p:txBody>
      </p:sp>
      <p:pic>
        <p:nvPicPr>
          <p:cNvPr id="8" name="ANIME_ACTIONS_R1_C1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1628" r="68620" b="70215"/>
          <a:stretch>
            <a:fillRect/>
          </a:stretch>
        </p:blipFill>
        <p:spPr>
          <a:xfrm>
            <a:off x="777240" y="1956816"/>
            <a:ext cx="4096512" cy="27340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910328"/>
            <a:ext cx="4096512" cy="59436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51560" y="5486400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020056"/>
            <a:ext cx="3694176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拿不准，先别靠感觉。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956816"/>
            <a:ext cx="3044952" cy="17465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85816" y="2130552"/>
            <a:ext cx="25694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53E75"/>
                </a:solidFill>
                <a:latin typeface="Noto Sans CJK SC"/>
              </a:rPr>
              <a:t>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5816" y="2862072"/>
            <a:ext cx="2569464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症状、说明书、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就医信号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8" y="1956816"/>
            <a:ext cx="3044952" cy="1746504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2130552"/>
            <a:ext cx="25694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53E75"/>
                </a:solidFill>
                <a:latin typeface="Noto Sans CJK SC"/>
              </a:rPr>
              <a:t>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2862072"/>
            <a:ext cx="2569464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成分、用法、禁忌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与相互作用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8072" y="3840480"/>
            <a:ext cx="3044952" cy="17465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5816" y="4014216"/>
            <a:ext cx="25694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53E75"/>
                </a:solidFill>
                <a:latin typeface="Noto Sans CJK SC"/>
              </a:rPr>
              <a:t>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5816" y="4745736"/>
            <a:ext cx="2569464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带齐信息，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问医生或药师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9328" y="3840480"/>
            <a:ext cx="3044952" cy="1746504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4014216"/>
            <a:ext cx="25694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53E75"/>
                </a:solidFill>
                <a:latin typeface="Noto Sans CJK SC"/>
              </a:rPr>
              <a:t>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4745736"/>
            <a:ext cx="2569464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药名、时间、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用量与反应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说明书：先找能改变判断的信息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看清成分与用途，再核用法和禁忌。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3566160" cy="110642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3200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成分 / 通用名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96312"/>
            <a:ext cx="32004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203354"/>
                </a:solidFill>
                <a:latin typeface="Noto Sans CJK SC"/>
              </a:rPr>
              <a:t>有没有重复成分？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1947672"/>
            <a:ext cx="3566160" cy="110642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103120"/>
            <a:ext cx="3200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适应证 / 功能主治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496312"/>
            <a:ext cx="32004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203354"/>
                </a:solidFill>
                <a:latin typeface="Noto Sans CJK SC"/>
              </a:rPr>
              <a:t>是否适合这次情况？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91256"/>
            <a:ext cx="3566160" cy="110642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46704"/>
            <a:ext cx="3200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用法用量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739896"/>
            <a:ext cx="32004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203354"/>
                </a:solidFill>
                <a:latin typeface="Noto Sans CJK SC"/>
              </a:rPr>
              <a:t>一次多少、间隔多久？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91256"/>
            <a:ext cx="3566160" cy="110642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3346704"/>
            <a:ext cx="3200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禁忌 / 注意事项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3739896"/>
            <a:ext cx="32004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203354"/>
                </a:solidFill>
                <a:latin typeface="Noto Sans CJK SC"/>
              </a:rPr>
              <a:t>哪些情况需要避开？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434840"/>
            <a:ext cx="3566160" cy="110642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90288"/>
            <a:ext cx="3200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相互作用 / 不良反应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983479"/>
            <a:ext cx="32004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203354"/>
                </a:solidFill>
                <a:latin typeface="Noto Sans CJK SC"/>
              </a:rPr>
              <a:t>其他药或酒会影响吗？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79" y="4434840"/>
            <a:ext cx="3566160" cy="110642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59" y="4590288"/>
            <a:ext cx="3200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贮藏 / 有效期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983479"/>
            <a:ext cx="32004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203354"/>
                </a:solidFill>
                <a:latin typeface="Noto Sans CJK SC"/>
              </a:rPr>
              <a:t>现在还能否使用？</a:t>
            </a:r>
          </a:p>
        </p:txBody>
      </p:sp>
      <p:pic>
        <p:nvPicPr>
          <p:cNvPr id="26" name="ANIME_ACTIONS_R1_C2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47363" r="36450" b="70215"/>
          <a:stretch>
            <a:fillRect/>
          </a:stretch>
        </p:blipFill>
        <p:spPr>
          <a:xfrm>
            <a:off x="8439912" y="1947672"/>
            <a:ext cx="294436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核完说明书，使用方式也别随意改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不同药物要求不同，先核具体说明再行动。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27</a:t>
            </a:r>
          </a:p>
        </p:txBody>
      </p:sp>
      <p:pic>
        <p:nvPicPr>
          <p:cNvPr id="8" name="ANIME_ACTIONS_R1_C3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67122" t="9" b="70296"/>
          <a:stretch>
            <a:fillRect/>
          </a:stretch>
        </p:blipFill>
        <p:spPr>
          <a:xfrm>
            <a:off x="777240" y="1947672"/>
            <a:ext cx="5148072" cy="30998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5175504"/>
            <a:ext cx="5148072" cy="49377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51560" y="5650992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285232"/>
            <a:ext cx="47457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用法找到了，别凭感觉改。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476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93976"/>
            <a:ext cx="46817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漏服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532888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先查处理要求，不自行加倍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209544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355848"/>
            <a:ext cx="46817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疗程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794759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按处方执行，有问题及时咨询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471416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617720"/>
            <a:ext cx="46817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剂型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5056631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拿不准时，把三件事告诉药师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带上药盒、说明书与已服记录，让咨询更准确。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27</a:t>
            </a:r>
          </a:p>
        </p:txBody>
      </p:sp>
      <p:pic>
        <p:nvPicPr>
          <p:cNvPr id="8" name="ANIME_ACTIONS_R2_C1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r="66992" t="30378" b="39809"/>
          <a:stretch>
            <a:fillRect/>
          </a:stretch>
        </p:blipFill>
        <p:spPr>
          <a:xfrm>
            <a:off x="777240" y="1947672"/>
            <a:ext cx="5148072" cy="30998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5175504"/>
            <a:ext cx="5148072" cy="49377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51560" y="5650992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285232"/>
            <a:ext cx="47457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药盒和记录，我都带来了。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47672"/>
            <a:ext cx="5148072" cy="1042415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6519672" y="2971799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4745736" cy="8229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哪里不舒服，已经持续多久？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209544"/>
            <a:ext cx="5148072" cy="1042415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10800000">
            <a:off x="6519672" y="4233672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319272"/>
            <a:ext cx="4745736" cy="8229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用了哪些药，何时吃了多少？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471416"/>
            <a:ext cx="5148072" cy="1042415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6519672" y="5495544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81144"/>
            <a:ext cx="4745736" cy="8229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有哪些过敏史、疾病或特殊情况？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出现这些信号，别继续自己试药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3464F"/>
                </a:solidFill>
                <a:latin typeface="Noto Sans CJK SC"/>
                <a:ea typeface="Noto Sans CJK SC"/>
              </a:rPr>
              <a:t>严重信号优先求助，别等症状“自己好”。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468112" cy="123444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70992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Noto Sans CJK SC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5496"/>
            <a:ext cx="16184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立即急救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194560"/>
            <a:ext cx="3072384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</a:rPr>
              <a:t>呼吸困难、喉舌肿胀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</a:rPr>
              <a:t>或意识异常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401568"/>
            <a:ext cx="5468112" cy="10058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47872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疑似超量 / 误服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3977640"/>
            <a:ext cx="49926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及时寻求医疗帮助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553712"/>
            <a:ext cx="5468112" cy="10058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" y="4700016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</a:rPr>
              <a:t>症状持续、加重或反复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" y="5129784"/>
            <a:ext cx="49926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及时就诊</a:t>
            </a:r>
          </a:p>
        </p:txBody>
      </p:sp>
      <p:pic>
        <p:nvPicPr>
          <p:cNvPr id="18" name="ANIME_ACTIONS_R2_C2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34459" r="34394" t="30371" b="39746"/>
          <a:stretch>
            <a:fillRect/>
          </a:stretch>
        </p:blipFill>
        <p:spPr>
          <a:xfrm>
            <a:off x="6537960" y="1947672"/>
            <a:ext cx="4846320" cy="309981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37960" y="5175504"/>
            <a:ext cx="4846320" cy="49377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10800000">
            <a:off x="6812280" y="5650992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5285232"/>
            <a:ext cx="44439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带上药盒与已服记录。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药箱不求满，信息要留全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不混装，不分享处方药；记录让下次咨询更准确。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27</a:t>
            </a:r>
          </a:p>
        </p:txBody>
      </p:sp>
      <p:pic>
        <p:nvPicPr>
          <p:cNvPr id="8" name="ANIME_ACTIONS_R2_C3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67122" t="30390" b="39915"/>
          <a:stretch>
            <a:fillRect/>
          </a:stretch>
        </p:blipFill>
        <p:spPr>
          <a:xfrm>
            <a:off x="777240" y="1947672"/>
            <a:ext cx="5148072" cy="30998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5175504"/>
            <a:ext cx="5148072" cy="493776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51560" y="5650992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5285232"/>
            <a:ext cx="47457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需要时，能认清、查到、说清。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476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93976"/>
            <a:ext cx="46817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保留原包装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532888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药盒和说明书一起留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209544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355848"/>
            <a:ext cx="46817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检查有效期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794759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同时核对贮藏要求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471416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617720"/>
            <a:ext cx="46817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留好用药记录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5056631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把四个案例，变成四个下一步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方法已经齐了：接下来替小苏做一次选择。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148840"/>
            <a:ext cx="29352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叠加感冒药</a:t>
            </a:r>
          </a:p>
        </p:txBody>
      </p:sp>
      <p:sp>
        <p:nvSpPr>
          <p:cNvPr id="10" name="Chevron 9"/>
          <p:cNvSpPr/>
          <p:nvPr/>
        </p:nvSpPr>
        <p:spPr>
          <a:xfrm>
            <a:off x="4352544" y="2240279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02352" y="2148840"/>
            <a:ext cx="600760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核对重复成分与已服记录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80360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3081528"/>
            <a:ext cx="29352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感冒想到抗生素</a:t>
            </a:r>
          </a:p>
        </p:txBody>
      </p:sp>
      <p:sp>
        <p:nvSpPr>
          <p:cNvPr id="14" name="Chevron 13"/>
          <p:cNvSpPr/>
          <p:nvPr/>
        </p:nvSpPr>
        <p:spPr>
          <a:xfrm>
            <a:off x="4352544" y="3172968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3081528"/>
            <a:ext cx="600760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先确认是否需要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13048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014215"/>
            <a:ext cx="29352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用药后困倦</a:t>
            </a:r>
          </a:p>
        </p:txBody>
      </p:sp>
      <p:sp>
        <p:nvSpPr>
          <p:cNvPr id="18" name="Chevron 17"/>
          <p:cNvSpPr/>
          <p:nvPr/>
        </p:nvSpPr>
        <p:spPr>
          <a:xfrm>
            <a:off x="4352544" y="4105656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4014215"/>
            <a:ext cx="600760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查提示，避开高风险活动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45736"/>
            <a:ext cx="10607040" cy="832104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4946903"/>
            <a:ext cx="2935224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服药后聚餐</a:t>
            </a:r>
          </a:p>
        </p:txBody>
      </p:sp>
      <p:sp>
        <p:nvSpPr>
          <p:cNvPr id="22" name="Chevron 21"/>
          <p:cNvSpPr/>
          <p:nvPr/>
        </p:nvSpPr>
        <p:spPr>
          <a:xfrm>
            <a:off x="4352544" y="5038344"/>
            <a:ext cx="411480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4946903"/>
            <a:ext cx="600760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先核实饮酒要求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综合挑战：两盒药，一场聚餐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症状较轻；两盒成分与饮酒要求都未核实。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27</a:t>
            </a:r>
          </a:p>
        </p:txBody>
      </p:sp>
      <p:pic>
        <p:nvPicPr>
          <p:cNvPr id="8" name="ANIME_ACTIONS_R3_C1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r="66992" t="61552" b="5528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白天吃过一种复方感冒药。</a:t>
            </a:r>
          </a:p>
        </p:txBody>
      </p:sp>
      <p:pic>
        <p:nvPicPr>
          <p:cNvPr id="11" name="ANIME_ACTIONS_R3_C2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33464" r="33398" t="61539" b="5411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还不舒服，要加第二盒吗？</a:t>
            </a:r>
          </a:p>
        </p:txBody>
      </p:sp>
      <p:pic>
        <p:nvPicPr>
          <p:cNvPr id="14" name="ANIME_ACTIONS_R3_C3" descr="原创动漫情境，生成日期与分镜用途见素材附页；对白独立可编辑"/>
          <p:cNvPicPr>
            <a:picLocks noChangeAspect="1"/>
          </p:cNvPicPr>
          <p:nvPr/>
        </p:nvPicPr>
        <p:blipFill>
          <a:blip r:embed="rId3"/>
          <a:srcRect l="67122" t="61565" b="5644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今晚聚餐，药和酒能搭吗？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小苏的晚间计划，你采纳哪几条？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可多选：哪些安排能补齐判断所需的信息？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84248"/>
            <a:ext cx="7836408" cy="9418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051560" y="2907792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093976"/>
            <a:ext cx="743407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</a:p>
        </p:txBody>
      </p:sp>
      <p:sp>
        <p:nvSpPr>
          <p:cNvPr id="11" name="Oval 10"/>
          <p:cNvSpPr/>
          <p:nvPr/>
        </p:nvSpPr>
        <p:spPr>
          <a:xfrm>
            <a:off x="987552" y="2212848"/>
            <a:ext cx="502920" cy="502920"/>
          </a:xfrm>
          <a:prstGeom prst="ellipse">
            <a:avLst/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249424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4" y="2130552"/>
            <a:ext cx="655624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聚餐先点白水，具体饮酒要求再查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7836408" cy="9418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051560" y="4133088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319272"/>
            <a:ext cx="743407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</a:p>
        </p:txBody>
      </p:sp>
      <p:sp>
        <p:nvSpPr>
          <p:cNvPr id="17" name="Oval 16"/>
          <p:cNvSpPr/>
          <p:nvPr/>
        </p:nvSpPr>
        <p:spPr>
          <a:xfrm>
            <a:off x="987552" y="3438144"/>
            <a:ext cx="502920" cy="502920"/>
          </a:xfrm>
          <a:prstGeom prst="ellipse">
            <a:avLst/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474720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3355848"/>
            <a:ext cx="655624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药盒和已服记录，一起交给药师核对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434840"/>
            <a:ext cx="7836408" cy="94183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1051560" y="5358384"/>
            <a:ext cx="228600" cy="164592"/>
          </a:xfrm>
          <a:prstGeom prst="triangl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544568"/>
            <a:ext cx="743407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</a:p>
        </p:txBody>
      </p:sp>
      <p:sp>
        <p:nvSpPr>
          <p:cNvPr id="23" name="Oval 22"/>
          <p:cNvSpPr/>
          <p:nvPr/>
        </p:nvSpPr>
        <p:spPr>
          <a:xfrm>
            <a:off x="987552" y="4663440"/>
            <a:ext cx="502920" cy="502920"/>
          </a:xfrm>
          <a:prstGeom prst="ellipse">
            <a:avLst/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7000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2224" y="4581144"/>
            <a:ext cx="6556248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照上次的经验，把第二盒改到睡前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0536" y="1947672"/>
            <a:ext cx="2523744" cy="370332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0576" y="2139696"/>
            <a:ext cx="1883664" cy="384048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217627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pic>
        <p:nvPicPr>
          <p:cNvPr id="29" name="ANIME_EXTRA_R3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061" r="73053" t="61035"/>
          <a:stretch>
            <a:fillRect/>
          </a:stretch>
        </p:blipFill>
        <p:spPr>
          <a:xfrm>
            <a:off x="9034272" y="2724912"/>
            <a:ext cx="2176272" cy="270662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A＋B：把两条建议一起做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3127248" cy="370332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40864"/>
            <a:ext cx="26700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Noto Sans CJK SC"/>
              </a:rPr>
              <a:t>A＋B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47872"/>
            <a:ext cx="267004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</a:rPr>
              <a:t>两步一起做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71016" y="4361688"/>
            <a:ext cx="630936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25880" y="4727448"/>
            <a:ext cx="521207" cy="384048"/>
          </a:xfrm>
          <a:prstGeom prst="roundRect">
            <a:avLst>
              <a:gd name="adj" fmla="val 10000"/>
            </a:avLst>
          </a:prstGeom>
          <a:solidFill>
            <a:srgbClr val="B9D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22576" y="4315968"/>
            <a:ext cx="1024128" cy="923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459736" y="4517136"/>
            <a:ext cx="72237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459736" y="4745736"/>
            <a:ext cx="72237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59736" y="4974336"/>
            <a:ext cx="72237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15384" y="1947672"/>
            <a:ext cx="7168896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1416" y="2084831"/>
            <a:ext cx="665683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A 先用白水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542032"/>
            <a:ext cx="665683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饮酒要求未明，先不喝酒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15384" y="3209544"/>
            <a:ext cx="7168896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3346703"/>
            <a:ext cx="665683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B 带齐信息核对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3803904"/>
            <a:ext cx="665683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两盒药和已服记录，一起问药师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15384" y="4471416"/>
            <a:ext cx="7168896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4608576"/>
            <a:ext cx="665683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</a:rPr>
              <a:t>C 改到睡前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1416" y="5065776"/>
            <a:ext cx="665683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>
                <a:solidFill>
                  <a:srgbClr val="203354"/>
                </a:solidFill>
                <a:latin typeface="Noto Sans CJK SC"/>
              </a:rPr>
              <a:t>仍没补齐成分与已服信息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20624"/>
            <a:ext cx="73152" cy="25603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365760"/>
            <a:ext cx="491947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</a:rPr>
              <a:t>合理用药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069848"/>
            <a:ext cx="6483096" cy="1472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>
                <a:solidFill>
                  <a:srgbClr val="153E75"/>
                </a:solidFill>
                <a:latin typeface="Noto Sans CJK SC"/>
              </a:rPr>
              <a:t>药可以常备，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>
                <a:solidFill>
                  <a:srgbClr val="153E75"/>
                </a:solidFill>
                <a:latin typeface="Noto Sans CJK SC"/>
              </a:rPr>
              <a:t>判断不能省略。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980944"/>
            <a:ext cx="6199632" cy="75895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3163824"/>
            <a:ext cx="1088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EB5969"/>
                </a:solidFill>
                <a:latin typeface="Noto Sans CJK SC"/>
              </a:rPr>
              <a:t>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6" y="3172968"/>
            <a:ext cx="45171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看清说明书与实际需要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913631"/>
            <a:ext cx="6199632" cy="75895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4096511"/>
            <a:ext cx="1088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EB5969"/>
                </a:solidFill>
                <a:latin typeface="Noto Sans CJK SC"/>
              </a:rPr>
              <a:t>核·记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5416" y="4105655"/>
            <a:ext cx="45171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核对成分，留下已服记录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6320"/>
            <a:ext cx="6199632" cy="75895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5029200"/>
            <a:ext cx="108813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EB5969"/>
                </a:solidFill>
                <a:latin typeface="Noto Sans CJK SC"/>
              </a:rPr>
              <a:t>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85416" y="5038344"/>
            <a:ext cx="45171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</a:rPr>
              <a:t>拿不准，问医生或药师</a:t>
            </a:r>
          </a:p>
        </p:txBody>
      </p:sp>
      <p:sp>
        <p:nvSpPr>
          <p:cNvPr id="14" name="Oval 13"/>
          <p:cNvSpPr/>
          <p:nvPr/>
        </p:nvSpPr>
        <p:spPr>
          <a:xfrm>
            <a:off x="7379208" y="1124712"/>
            <a:ext cx="4105656" cy="4105656"/>
          </a:xfrm>
          <a:prstGeom prst="ellipse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50808" y="1563624"/>
            <a:ext cx="1947672" cy="2185416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015984" y="1975104"/>
            <a:ext cx="136245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15984" y="2304288"/>
            <a:ext cx="136245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15984" y="2633472"/>
            <a:ext cx="136245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15984" y="2962656"/>
            <a:ext cx="1362456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571231" y="2011680"/>
            <a:ext cx="1271016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6952" y="2057400"/>
            <a:ext cx="1179575" cy="201168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206740" y="2377440"/>
            <a:ext cx="0" cy="274320"/>
          </a:xfrm>
          <a:prstGeom prst="line">
            <a:avLst/>
          </a:prstGeom>
          <a:ln w="381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6087" y="2514600"/>
            <a:ext cx="381305" cy="0"/>
          </a:xfrm>
          <a:prstGeom prst="line">
            <a:avLst/>
          </a:prstGeom>
          <a:ln w="381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16952" y="3575304"/>
            <a:ext cx="1179575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53E75"/>
                </a:solidFill>
                <a:latin typeface="Noto Sans CJK SC"/>
              </a:rPr>
              <a:t>成分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3520440"/>
            <a:ext cx="3493008" cy="1709928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83296" y="3694176"/>
            <a:ext cx="3145536" cy="1362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41080" y="4251960"/>
            <a:ext cx="923544" cy="201168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97696" y="3895344"/>
            <a:ext cx="201168" cy="91440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06840" y="3191256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53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62288" y="3328416"/>
            <a:ext cx="969264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5650992"/>
            <a:ext cx="359359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</a:rPr>
              <a:t>谢谢大家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6291072"/>
            <a:ext cx="666597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</a:rPr>
              <a:t>会看 · 会核 · 会问 · 会记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Healthy Habits: Antibiotic Do’s and Don’ts.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Antibiotic Use in the United States（2025更新；门诊至少28%不必要处方）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Antihistamines.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NIAAA. Alcohol-Medication Interactions: Potentially Dangerous Mixes.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 Specialist Pharmacy Service. Advising on missed or delayed doses of medicines.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Manage Common Cold.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NHS. Anaphylaxis.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Omeprazole.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附页，不计入35分钟｜点击条目标题可访问原文｜原始资料：2026-10-09；新增CDC数据核对：2026-10-12；封面与后半段整改：2026-10-13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CDC. Do antibiotics have side effects?（药物相关急诊约1/5来自抗生素反应）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Hersh AL et al. Unnecessary Antibiotic Prescribing in US Ambulatory Care Settings, 2010–2015. Clin Infect Dis. 2021;72:133–137.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动漫素材来源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原创AI生成动漫；角色形象统一，具体画面各使用一次；对白独立可编辑。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4708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cover_rational.png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5856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3E75"/>
                </a:solidFill>
                <a:latin typeface="Noto Sans CJK SC"/>
                <a:ea typeface="Noto Sans CJK SC"/>
              </a:rPr>
              <a:t>封面：一起核对药盒与说明书｜生成：2026-10-13｜使用页：1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660904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80720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storyboard.png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3E75"/>
                </a:solidFill>
                <a:latin typeface="Noto Sans CJK SC"/>
                <a:ea typeface="Noto Sans CJK SC"/>
              </a:rPr>
              <a:t>宿舍、课堂与聚餐分镜｜生成：2026-10-12｜使用页：5、13、16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3621024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376732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unique_scenes.png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7880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3E75"/>
                </a:solidFill>
                <a:latin typeface="Noto Sans CJK SC"/>
                <a:ea typeface="Noto Sans CJK SC"/>
              </a:rPr>
              <a:t>核药时间线、四道题与组胺肖像｜生成：2026-10-12｜使用页：3、7、8、14、15、25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4581144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472744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actions_storyboard.png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1955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3E75"/>
                </a:solidFill>
                <a:latin typeface="Noto Sans CJK SC"/>
                <a:ea typeface="Noto Sans CJK SC"/>
              </a:rPr>
              <a:t>查、核、问、求助、记录与综合案例｜生成：2026-10-13｜使用页：17、18、19、20、21、22、24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5541264"/>
            <a:ext cx="10195560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分镜编号与逐页用途见图片素材与页码.csv；原图、分配说明与核验报告随ZIP提供。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