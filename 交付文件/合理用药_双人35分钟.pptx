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占参与者比例</c:v>
                </c:pt>
              </c:strCache>
            </c:strRef>
          </c:tx>
          <c:dPt>
            <c:idx val="0"/>
            <c:spPr>
              <a:solidFill>
                <a:srgbClr val="153E75"/>
              </a:solidFill>
              <a:ln>
                <a:noFill/>
              </a:ln>
            </c:spPr>
          </c:dPt>
          <c:dPt>
            <c:idx val="1"/>
            <c:spPr>
              <a:solidFill>
                <a:srgbClr val="E3464F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单一产品模拟超量</c:v>
                </c:pt>
                <c:pt idx="1">
                  <c:v>模拟联用重复超量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23.8</c:v>
                </c:pt>
                <c:pt idx="1">
                  <c:v>45.6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300" b="1">
                  <a:solidFill>
                    <a:srgbClr val="E3464F"/>
                  </a:solidFill>
                  <a:latin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153E75"/>
                </a:solidFill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numFmt formatCode="0&quot;%&quot;" sourceLinked="0"/>
        <c:majorTickMark val="none"/>
        <c:minorTickMark val="none"/>
        <c:tickLblPos val="nextTo"/>
        <c:spPr>
          <a:ln>
            <a:solidFill>
              <a:srgbClr val="153E75"/>
            </a:solidFill>
          </a:ln>
        </c:spPr>
        <c:txPr>
          <a:bodyPr/>
          <a:lstStyle/>
          <a:p>
            <a:pPr>
              <a:defRPr sz="1400">
                <a:solidFill>
                  <a:srgbClr val="153E75"/>
                </a:solidFill>
                <a:latin typeface="Noto Sans CJK SC"/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700">
          <a:solidFill>
            <a:srgbClr val="153E75"/>
          </a:solidFill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五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视觉说明：蓝底白字封面，右侧为手持药片的真实照片。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甲：先进入一个虚构情境。小苏明天有课，今天流鼻涕、喉咙不舒服，室友递来两盒感冒药，另一位室友说，加一粒抗生素更保险。现在只选第一步，不需要给出具体药名。请大家先用十秒看完三个选项。</a:t>
            </a:r>
          </a:p>
          <a:p>
            <a:r>
              <a:t>【静默10秒】甲依次读A、B、C，每个选项留5秒举手。乙观察大致人数，不做精确统计，也不点名问理由。</a:t>
            </a:r>
          </a:p>
          <a:p>
            <a:r>
              <a:t>甲：谢谢。无论你刚才选了哪个，今天都会解释这些选择背后的差别。选择B，是先获取决定所需的信息；这并不等于自己诊断所有疾病。我们先把答案放在心里，结束时再看看能否把这个动作做得更完整。</a:t>
            </a:r>
          </a:p>
          <a:p/>
          <a:p>
            <a:r>
              <a:t>视觉说明：三条横向选择卡；右侧为手持药片的真实照片。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第3页｜甲主讲｜建议60秒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第4页｜甲主讲｜建议60秒</a:t>
            </a:r>
          </a:p>
          <a:p/>
          <a:p/>
          <a:p>
            <a:r>
              <a:t>甲：回忆高中生物，我们学过蛋白质的结构与功能，也学过酶和细胞间的信息传递。理解药物，可以先用一个简化模型：有些药物与受体结合，改变信号；有些药物影响酶的作用，改变某个反应过程。图中用形状匹配表示识别，它只是一种示意，并不是所有药物都像一把钥匙只开一把锁。相同或相关的靶点可能存在于多个部位，所以治疗作用和其他作用可能同时出现。稍后讲抗过敏药为什么让人困，就会用到这个思路。</a:t>
            </a:r>
          </a:p>
          <a:p/>
          <a:p>
            <a:r>
              <a:t>视觉说明：可编辑“药物—受体—信号”示意，标注简化模型、非比例。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第5页｜甲主讲｜建议45秒</a:t>
            </a:r>
          </a:p>
          <a:p/>
          <a:p/>
          <a:p>
            <a:r>
              <a:t>甲：今天分四部分。我们已经用五分钟建立基本原则，接着用十七分钟看宿舍里容易遇到的五类误区：重复成分、抗生素、备考提神、抗过敏药，以及药物与饮酒。然后用八分钟把知识变成一套操作方法，最后五分钟做一道简单综合题。甲负责前半段，乙负责后半段；投票时另一位同学帮忙观察。大家只需要做选择，不必临时组织一段观点，也不需要公开自己的疾病或用药经历。</a:t>
            </a:r>
          </a:p>
          <a:p/>
          <a:p>
            <a:r>
              <a:t>视觉说明：四段路线卡各配一张校园、药房或医疗空间的真实照片。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George Pak｜https://www.pexels.com/photo/7972512/｜Pexels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第6页｜甲主讲｜建议75秒</a:t>
            </a:r>
          </a:p>
          <a:p/>
          <a:p/>
          <a:p>
            <a:r>
              <a:t>甲：第一幕还是小苏。他拿到两盒药，一盒包装强调缓解头痛，一盒写着缓解感冒症状，于是直觉上觉得，一个管头，一个管感冒，应该互不冲突。但宣传的症状不同，不代表里面的有效成分不同。比如，对乙酰氨基酚既可以作为单一成分用于解热镇痛，也可能出现在复方感冒药里。两盒一起吃时，身体接收到的是所有来源的总量。我们在这里不推荐具体品牌，也不演示个人用药剂量，先练最重要的动作：把两份说明书的成分栏摆在一起比较。包装上的大字可以吸引注意，成分栏才是判断重复的依据。</a:t>
            </a:r>
          </a:p>
          <a:p/>
          <a:p>
            <a:r>
              <a:t>视觉说明：药瓶实拍照片配三条情境线索；照片不对应虚构故事。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这两个标签是教学示意，不对应具体产品。请看红色框出的同一个名字：对乙酰氨基酚。即使两盒药的商品名、用途描述和包装颜色不同，这个成分仍然会重复进入体内。判断时，不能把药盒当作两个互不相关的单位。特别是复方药，一盒里就可能有多种有效成分，所以更需要逐项核对。看到重复后，先不要自行叠加；拿着具体药名、规格和已经服用的时间，向药师确认。如果怀疑已经超量，也不能因为暂时没有不舒服就继续等，应及时获得医疗帮助。</a:t>
            </a:r>
          </a:p>
          <a:p/>
          <a:p>
            <a:r>
              <a:t>视觉说明：两张可编辑药盒成分标签，红框突出同名成分，箭头汇合。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第8页｜甲主讲｜建议60秒</a:t>
            </a:r>
          </a:p>
          <a:p/>
          <a:p/>
          <a:p>
            <a:r>
              <a:t>甲：我们用一项研究说明，读懂药品标签并没有想象中简单。研究发表于2012年，纳入美国门诊的500名成人，让他们完成非处方对乙酰氨基酚产品的模拟用药任务。23.8%的参与者在单一产品任务中安排出了超过研究判定阈值的用量，45.6%在联用任务中出现重复成分造成的潜在超量。请注意，这是模拟任务，不代表这些人实际中毒，更不能推算我们班或中国大学生的发生率。两项指标也可能来自同一名参与者，所以不能相加。我们从图中带走的结论是：核对成分需要一个具体动作，不能只靠“我应该记得”。</a:t>
            </a:r>
          </a:p>
          <a:p/>
          <a:p>
            <a:r>
              <a:t>视觉说明：PowerPoint原生可编辑水平条形图，0—100%；标出美国、n=500、2012。</a:t>
            </a:r>
          </a:p>
          <a:p/>
          <a:p>
            <a:r>
              <a:t>参考：</a:t>
            </a:r>
          </a:p>
          <a:p>
            <a:r>
              <a:t>[S3] Wolf MS, et al. Risk of Unintentional Overdose with Non-Prescription Acetaminophen Products. J Gen Intern Med. 2012;27:1587–1593. DOI: 10.1007/s11606-012-2096-3.</a:t>
            </a:r>
          </a:p>
          <a:p>
            <a:r>
              <a:t>https://pmc.ncbi.nlm.nih.gov/articles/PMC3509295/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甲：现在把刚才学到的动作再练一次。已知两盒药都含有对乙酰氨基酚，我们仍然不知道具体规格、适用人群，也不知道小苏还吃过什么。三个选项中，哪一个最稳妥？请先安静想十秒。</a:t>
            </a:r>
          </a:p>
          <a:p>
            <a:r>
              <a:t>【静默10秒】甲依次读A、B、C，乙观察举手，各留5秒。</a:t>
            </a:r>
          </a:p>
          <a:p>
            <a:r>
              <a:t>甲：这题不需要计算药量。特别留意B，它看起来很谨慎，因为把量减了，但它仍然是在缺少信息时自行拼接方案。我们今天练的是先识别风险，再补齐信息，而不是凭感觉把两盒药重新配方。下一页揭晓。</a:t>
            </a:r>
          </a:p>
          <a:p/>
          <a:p>
            <a:r>
              <a:t>视觉说明：三选一卡片右侧配药瓶实拍照片。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第10页｜甲主讲｜建议30秒</a:t>
            </a:r>
          </a:p>
          <a:p/>
          <a:p/>
          <a:p>
            <a:r>
              <a:t>甲：答案是C。A忽略了成分，B在不知道规格和总量时自行改方案，二者都不可靠。C把操作顺序摆正：先不叠加，再核对，必要时请药师判断。询问时最好带上包装或清晰照片，同时说清已经吃过什么、吃了多少和什么时候吃的，这样对方才能给出有依据的建议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视觉说明：原创细菌与病毒矢量插画；清楚标注细胞壁为部分抗生素靶点。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为什么不必要地用抗生素还会带来后续问题？可以借助高中生物的自然选择来理解。图中蓝色代表敏感细菌，红色代表具有耐药性的细菌。这些差异可以来自遗传变异，也可以来自耐药基因的获得。面对某种抗生素，敏感细菌更容易被抑制，具有相应耐药性的细菌可能存活并繁殖，于是群体中耐药菌的比例上升。图中的数量是教学示意，不是实验数据。这里最容易说错的一句话是“我的身体耐药了”。更准确地说，是病原菌对药物产生了抵抗能力。这个过程还涉及基因传播等因素，今天先记住选择压力这一条主线。</a:t>
            </a:r>
          </a:p>
          <a:p/>
          <a:p>
            <a:r>
              <a:t>视觉说明：三阶段细菌群落示意；红色耐药菌数量标注为概念模型，不作真实比例。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第13页｜甲主讲｜建议70秒</a:t>
            </a:r>
          </a:p>
          <a:p/>
          <a:p/>
          <a:p>
            <a:r>
              <a:t>甲：这里用的是2022年发表于《柳叶刀》的研究，对2019年全球细菌耐药负担进行估计。较宽的“相关”口径约为495万例死亡，而“归因”口径约为127万例。两者的比较假设不同：前者比较没有这类耐药感染的情况，后者比较感染仍然发生、但细菌对药物敏感的情况。它们不能相加，也不能理解为所有死亡都由个人乱吃抗生素造成。图上的细线是不确定性区间，提醒我们这些数字是模型估计，不是精确清点。我们引用这组历史数据说明耐药问题的重要性，并不把它称为今年的最新统计。</a:t>
            </a:r>
          </a:p>
          <a:p/>
          <a:p>
            <a:r>
              <a:t>视觉说明：带95%不确定性区间的水平条形图；单位万人，轴从0起；注明数据年2019、发表年2022。</a:t>
            </a:r>
          </a:p>
          <a:p/>
          <a:p>
            <a:r>
              <a:t>参考：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第14页｜甲主讲｜建议55秒</a:t>
            </a:r>
          </a:p>
          <a:p/>
          <a:p/>
          <a:p>
            <a:r>
              <a:t>甲：回到我们自己能做的事，记住三条。第一，不因为感冒或嗓子痛就自行启用抗生素。第二，不把自己剩下的药分给室友，也不拿室友的处方照着用。第三，确实需要时按医生给出的剂量、间隔和疗程使用，不因为感觉好一点就自行停药，也不为了“彻底一点”擅自延长。这里不是让大家出现严重反应也硬撑着吃完，而是出现异常、疗效不理想，或不知道该如何继续时，及时联系医生或药师，由专业人员调整方案。</a:t>
            </a:r>
          </a:p>
          <a:p/>
          <a:p>
            <a:r>
              <a:t>视觉说明：三条抗生素行动规则分别配药房、药师及药瓶实拍照片。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paws and prints｜https://unsplash.com/photos/sQjHIOhiL0E｜Unsplash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第15页｜甲主讲｜建议60秒</a:t>
            </a:r>
          </a:p>
          <a:p/>
          <a:p/>
          <a:p>
            <a:r>
              <a:t>甲：第三个情境发生在考试周。小苏看到“提升专注、快速提分”的宣传，又听说有人借用治疗注意缺陷多动障碍的处方药来熬夜。这里要分开看：保健食品与药品不是一回事，不能用保健食品替代疾病治疗，也不能把某种功能声称直接等同于提高考试成绩。而处方兴奋剂有明确适应证，非医疗使用存在失眠、焦虑、成瘾及过量等风险，不能因为别人说有效就借来试。对需要这些药物的患者，规范治疗有价值；我们反对的是把别人的处方当作通用学习工具。</a:t>
            </a:r>
          </a:p>
          <a:p/>
          <a:p>
            <a:r>
              <a:t>视觉说明：校园学生实拍照片配备考产品的三项判断。</a:t>
            </a:r>
          </a:p>
          <a:p/>
          <a:p>
            <a:r>
              <a:t>参考：</a:t>
            </a:r>
          </a:p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George Pak｜https://www.pexels.com/photo/7972512/｜Pexels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第16页｜甲主讲｜建议75秒</a:t>
            </a:r>
          </a:p>
          <a:p>
            <a:r>
              <a:t>此页末交接。甲累计16分55秒；乙从第17页开始。</a:t>
            </a:r>
          </a:p>
          <a:p/>
          <a:p>
            <a:r>
              <a:t>甲：第四幕，小苏为了缓解过敏症状服了药，鼻子舒服了，坐进教室却特别想睡觉。这并不一定是药物没有起效，而可能是某些抗组胺药带来的嗜睡作用。有些药更容易让人困，有些相对较少，但个人反应也有差异。因此，选择时要说清自己的需求，例如白天有课、需要通勤，并向药师询问是否容易嗜睡。第一次使用时尤其应留意反应，困倦或反应变慢时，不要驾驶、骑车或做其他需要高度警觉的活动。也不要自己用酒精或其他药物去“抵消”这种感觉。</a:t>
            </a:r>
          </a:p>
          <a:p>
            <a:r>
              <a:t>甲：为什么一种药既影响鼻子，也影响清醒程度？下面交给乙，接着用生物知识解释。</a:t>
            </a:r>
          </a:p>
          <a:p/>
          <a:p>
            <a:r>
              <a:t>视觉说明：夜间床头场景实拍照片配抗过敏药嗜睡提示。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LZ Jian｜https://www.pexels.com/photo/black-lamp-beside-bed-5968800/｜Pexels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第17页｜乙主讲｜建议65秒</a:t>
            </a:r>
          </a:p>
          <a:p/>
          <a:p/>
          <a:p>
            <a:r>
              <a:t>乙：接着刚才的问题。组胺是一种参与信号传递的物质，在外周组织中，它参与部分过敏症状；在脑内，相关信号也参与维持清醒状态。部分抗组胺药能够进入脑内，影响相应的受体作用，因此在缓解过敏症状的同时，也可能让人困倦。这里可以连接高中生物中的信息传递和内环境：同一种信号分子，在不同位置可能参与不同功能。我们把复杂机制压缩成这张示意图，是为了说明作用为什么可能同时发生，而不是让大家按这张图自行选择药物或调整剂量。</a:t>
            </a:r>
          </a:p>
          <a:p/>
          <a:p>
            <a:r>
              <a:t>视觉说明：外周与脑内双路径示意；受体、箭头及说明可编辑。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第18页｜乙主讲｜建议120秒</a:t>
            </a:r>
          </a:p>
          <a:p/>
          <a:p/>
          <a:p>
            <a:r>
              <a:t>乙：第五个情境是聚餐。小苏白天吃了药，晚上被劝“就喝一点”。判断能不能一起用，不能只凭酒量，也不能只靠“上次没事”。酒精可能与多种药物相互作用，特别是与具有镇静作用的药物一起使用时，可能进一步影响警觉性和协调能力。对某些药物，风险还可能涉及肝脏、胃肠道等，但不同药物的机制和影响并不一样。</a:t>
            </a:r>
          </a:p>
          <a:p>
            <a:r>
              <a:t>还有一个常见想法：把喝酒和吃药错开两小时就安全。这个时间不能通用，因为不同药物在体内停留的时间不同，饮酒情况和个体差异也会影响结果。拿不准时，最直接的行动是先不喝，带着具体药名去确认。</a:t>
            </a:r>
          </a:p>
          <a:p>
            <a:r>
              <a:t>顺便说说送服药物。普通口服片剂和胶囊通常选择白水，并按说明书要求服用；不要默认咖啡、果汁、牛奶都能替代。但剂型有差别，例如含服或咀嚼的药物有自己的要求，所以最终仍然要看这盒药的具体说明。</a:t>
            </a:r>
          </a:p>
          <a:p/>
          <a:p>
            <a:r>
              <a:t>视觉说明：药瓶实拍照片配饮酒与服药的三项核对提示。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第19页｜乙主讲｜建议120秒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乙：这一题仍然只选下一步。今天已经服过抗过敏药，但没有确认具体药品的饮酒要求，晚上聚餐时怎样做更合适？请大家看完三个选项，可以和旁边同学小声商量二十秒，只需要最后选一个字母。</a:t>
            </a:r>
          </a:p>
          <a:p>
            <a:r>
              <a:t>【同桌讨论20秒】甲负责依次示意A、B、C，乙主持，给每个选项约5秒举手。</a:t>
            </a:r>
          </a:p>
          <a:p>
            <a:r>
              <a:t>乙：这里有两个很容易误导人的线索，一个是时间，一个是醉不醉。药物相互作用不能靠统一间隔来排除，也不是只有喝醉才可能发生。正确答案是B：看这一个具体药品的要求；如果暂时不能确认，先不喝。即使全班都选对，也值得保留这个动作，因为聚餐时的社交压力容易让人把已经知道的原则放到一边。现在五个情境都看过了，我们把它们整理成一个可以重复使用的方法。</a:t>
            </a:r>
          </a:p>
          <a:p/>
          <a:p>
            <a:r>
              <a:t>视觉说明：三选一卡片右侧配药房实拍照片。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paws and prints｜https://unsplash.com/photos/sQjHIOhiL0E｜Unsplash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B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视觉说明：说明书六处阅读清单配药瓶实拍照片；提醒以实际说明书为准。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视觉说明：时间、剂量、剂型三张行动卡，各配一张药物或药房实拍照片。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视觉说明：药师取药实拍照片配咨询时需要说明的三类信息。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National Cancer Institute｜https://unsplash.com/photos/pharmacist-reaching-for-medication-on-shelf-byGTytEGjBo｜Unsplash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视觉说明：红色120急救块、危险信号清单及医院走廊实拍照片。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视觉说明：药房实拍照片配宿舍药箱管理的三条行动提示。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第26页｜乙主讲｜建议60秒</a:t>
            </a:r>
          </a:p>
          <a:p/>
          <a:p/>
          <a:p>
            <a:r>
              <a:t>乙：在进入挑战前，我们把五个案例各换成一个动作。两盒感冒药放在面前，先核对成分。感冒后想到抗生素，先确认是否真正需要。备考时有人推荐所谓外挂，不借用别人的处方药，也不相信保证提分的宣传。吃抗过敏药后感到困倦，查看注意事项并避开风险活动。聚餐想喝酒，先确认具体药物的要求。我们没有要求大家记住几十个药名，而是练习在几个关键位置停一下。下面的小测只组合这些已经出现的动作，没有新知识，也不需要计算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视觉说明：手持药片实拍照片配三条虚构综合情境线索。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第28页｜乙主讲｜建议90秒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乙：请看三个方案。A，两盒一起吃，聚餐少喝一点。B，先核对成分，拿不准问药师，在没有确认之前先不喝酒。C，加抗生素预防一下，明天再看。大家先自己想十秒。</a:t>
            </a:r>
          </a:p>
          <a:p>
            <a:r>
              <a:t>【静默10秒】甲依次邀请选A、B、C的同学举手，每个选项约5秒；乙观察，不要求任何人解释。</a:t>
            </a:r>
          </a:p>
          <a:p>
            <a:r>
              <a:t>乙：这一题里，B包含的都是我们已经练过的动作；A和C则各自跳过了关键信息。请保留自己的选择，下一页我们按三条线索逐项核对。即使刚才已经猜到答案，也可以再看一遍：你是凭“这个选项最长”选的，还是确实找到了成分、酒精和抗生素三个判断点？</a:t>
            </a:r>
          </a:p>
          <a:p/>
          <a:p>
            <a:r>
              <a:t>视觉说明：三选一卡片右侧配药房实拍照片。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第29页｜乙主讲｜建议90秒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答案是B。我们把题目拆成三步。第一，另一盒药成分不清楚，不能因为症状还在就直接叠加。第二，具体药物的饮酒要求没有确认，先不喝比凭酒量判断更稳妥。第三，题目没有提供使用抗生素的依据，“预防一下”不能替代医生评估。这三条一起组成了更有依据的下一步。</a:t>
            </a:r>
          </a:p>
          <a:p>
            <a:r>
              <a:t>甲：也补充一句，B不是要求小苏一直待在宿舍查说明书。如果症状持续、加重，或者出现呼吸困难、明显意识异常等情况，行动就应该转为及时就医或急救。</a:t>
            </a:r>
          </a:p>
          <a:p>
            <a:r>
              <a:t>乙：所以合理用药不是背出一个永远适用的药方，而是根据已经掌握的信息，选对接下来的动作。今天这道题不难，目的是让大家能把这个顺序带回真实生活。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第30页｜乙主讲｜建议60秒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视觉说明：蓝底白字收尾，右侧为医疗空间实拍照片。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Martha Dominguez de Gouveia｜https://unsplash.com/photos/hospital-lobby-reception-with-signage-nMyM7fxpokE｜Unsplash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[S3] Wolf MS, et al. Risk of Unintentional Overdose with Non-Prescription Acetaminophen Products. J Gen Intern Med. 2012;27:1587–1593. DOI: 10.1007/s11606-012-2096-3.</a:t>
            </a:r>
          </a:p>
          <a:p>
            <a:r>
              <a:t>https://pmc.ncbi.nlm.nih.gov/articles/PMC3509295/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/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tablet-hand.jpg｜Towfiqu barbhuiya</a:t>
            </a:r>
          </a:p>
          <a:p>
            <a:r>
              <a:t>https://www.pexels.com/photo/hand-holding-a-pill-15703464/</a:t>
            </a:r>
          </a:p>
          <a:p>
            <a:r>
              <a:t>Pexels License: https://www.pexels.com/license/</a:t>
            </a:r>
          </a:p>
          <a:p/>
          <a:p>
            <a:r>
              <a:t>pill-bottle.jpg｜Pexels photo 16051935</a:t>
            </a:r>
          </a:p>
          <a:p>
            <a:r>
              <a:t>https://www.pexels.com/photo/16051935/</a:t>
            </a:r>
          </a:p>
          <a:p>
            <a:r>
              <a:t>Pexels License: https://www.pexels.com/license/</a:t>
            </a:r>
          </a:p>
          <a:p/>
          <a:p>
            <a:r>
              <a:t>college-campus.jpg｜George Pak</a:t>
            </a:r>
          </a:p>
          <a:p>
            <a:r>
              <a:t>https://www.pexels.com/photo/7972512/</a:t>
            </a:r>
          </a:p>
          <a:p>
            <a:r>
              <a:t>Pexels License: https://www.pexels.com/license/</a:t>
            </a:r>
          </a:p>
          <a:p/>
          <a:p>
            <a:r>
              <a:t>evening.jpg｜LZ Jian</a:t>
            </a:r>
          </a:p>
          <a:p>
            <a:r>
              <a:t>https://www.pexels.com/photo/black-lamp-beside-bed-5968800/</a:t>
            </a:r>
          </a:p>
          <a:p>
            <a:r>
              <a:t>Pexels License: https://www.pexels.com/license/</a:t>
            </a:r>
          </a:p>
          <a:p/>
          <a:p>
            <a:r>
              <a:t>pharmacy-01.jpg｜Árpád Czapp</a:t>
            </a:r>
          </a:p>
          <a:p>
            <a:r>
              <a:t>https://unsplash.com/photos/a-room-filled-with-lots-of-shelves-filled-with-boxes-and-boxes-tvP6pCnq9iI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pharmacy-02.jpg｜National Cancer Institute</a:t>
            </a:r>
          </a:p>
          <a:p>
            <a:r>
              <a:t>https://unsplash.com/photos/pharmacist-reaching-for-medication-on-shelf-byGTytEGjBo</a:t>
            </a:r>
          </a:p>
          <a:p>
            <a:r>
              <a:t>Unsplash License: https://unsplash.com/license</a:t>
            </a:r>
          </a:p>
          <a:p/>
          <a:p>
            <a:r>
              <a:t>pharmacy-03.jpg｜paws and prints</a:t>
            </a:r>
          </a:p>
          <a:p>
            <a:r>
              <a:t>https://unsplash.com/photos/sQjHIOhiL0E</a:t>
            </a:r>
          </a:p>
          <a:p>
            <a:r>
              <a:t>Unsplash License: https://unsplash.com/license</a:t>
            </a:r>
          </a:p>
          <a:p/>
          <a:p>
            <a:r>
              <a:t>hospital-02.jpg｜Tasha Kostyuk</a:t>
            </a:r>
          </a:p>
          <a:p>
            <a:r>
              <a:t>https://unsplash.com/photos/empty-hospital-corridor-with-benches-and-doors-Pk-KuizxQv8</a:t>
            </a:r>
          </a:p>
          <a:p>
            <a:r>
              <a:t>Unsplash License: https://unsplash.com/license</a:t>
            </a:r>
          </a:p>
          <a:p/>
          <a:p>
            <a:r>
              <a:t>clinic-01.jpg｜Martha Dominguez de Gouveia</a:t>
            </a:r>
          </a:p>
          <a:p>
            <a:r>
              <a:t>https://unsplash.com/photos/hospital-lobby-reception-with-signage-nMyM7fxpokE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jpg"/><Relationship Id="rId4" Type="http://schemas.openxmlformats.org/officeDocument/2006/relationships/image" Target="../media/image3.jpg"/><Relationship Id="rId5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pmc.ncbi.nlm.nih.gov/articles/PMC3509295/" TargetMode="External"/><Relationship Id="rId5" Type="http://schemas.openxmlformats.org/officeDocument/2006/relationships/hyperlink" Target="https://www.cdc.gov/antibiotic-use/about/" TargetMode="External"/><Relationship Id="rId6" Type="http://schemas.openxmlformats.org/officeDocument/2006/relationships/hyperlink" Target="https://pmc.ncbi.nlm.nih.gov/articles/PMC8841637/" TargetMode="External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da.gov/drugs/drug-safety-communications/fda-updating-warnings-improve-safe-use-prescription-stimulants-used-treat-adhd-and-other-conditions" TargetMode="External"/><Relationship Id="rId3" Type="http://schemas.openxmlformats.org/officeDocument/2006/relationships/hyperlink" Target="https://www.samr.gov.cn/xw/zj/art/2023/art_d03ccbcf0c7e482198c4adfa23f9e59a.html" TargetMode="External"/><Relationship Id="rId4" Type="http://schemas.openxmlformats.org/officeDocument/2006/relationships/hyperlink" Target="https://www.nhs.uk/medicines/antihistamines/" TargetMode="External"/><Relationship Id="rId5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6" Type="http://schemas.openxmlformats.org/officeDocument/2006/relationships/hyperlink" Target="https://sps.nhs.uk/articles/advising-on-missed-or-delayed-doses-of-medicines/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dc.gov/common-cold/treatment/index.html" TargetMode="External"/><Relationship Id="rId3" Type="http://schemas.openxmlformats.org/officeDocument/2006/relationships/hyperlink" Target="https://www.nhs.uk/conditions/anaphylaxis/" TargetMode="External"/><Relationship Id="rId4" Type="http://schemas.openxmlformats.org/officeDocument/2006/relationships/hyperlink" Target="https://www.nhs.uk/medicines/omeprazole/" TargetMode="External"/><Relationship Id="rId5" Type="http://schemas.openxmlformats.org/officeDocument/2006/relationships/hyperlink" Target="https://pmc.ncbi.nlm.nih.gov/articles/PMC3650962/" TargetMode="Externa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exels.com/photo/hand-holding-a-pill-15703464/" TargetMode="External"/><Relationship Id="rId3" Type="http://schemas.openxmlformats.org/officeDocument/2006/relationships/hyperlink" Target="https://www.pexels.com/license/" TargetMode="External"/><Relationship Id="rId4" Type="http://schemas.openxmlformats.org/officeDocument/2006/relationships/hyperlink" Target="https://www.pexels.com/photo/16051935/" TargetMode="External"/><Relationship Id="rId5" Type="http://schemas.openxmlformats.org/officeDocument/2006/relationships/hyperlink" Target="https://www.pexels.com/photo/7972512/" TargetMode="External"/><Relationship Id="rId6" Type="http://schemas.openxmlformats.org/officeDocument/2006/relationships/hyperlink" Target="https://www.pexels.com/photo/black-lamp-beside-bed-5968800/" TargetMode="External"/><Relationship Id="rId7" Type="http://schemas.openxmlformats.org/officeDocument/2006/relationships/hyperlink" Target="https://unsplash.com/photos/a-room-filled-with-lots-of-shelves-filled-with-boxes-and-boxes-tvP6pCnq9iI" TargetMode="External"/><Relationship Id="rId8" Type="http://schemas.openxmlformats.org/officeDocument/2006/relationships/hyperlink" Target="https://unsplash.com/license" TargetMode="External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unsplash.com/photos/pharmacist-reaching-for-medication-on-shelf-byGTytEGjBo" TargetMode="External"/><Relationship Id="rId3" Type="http://schemas.openxmlformats.org/officeDocument/2006/relationships/hyperlink" Target="https://unsplash.com/license" TargetMode="External"/><Relationship Id="rId4" Type="http://schemas.openxmlformats.org/officeDocument/2006/relationships/hyperlink" Target="https://unsplash.com/photos/sQjHIOhiL0E" TargetMode="External"/><Relationship Id="rId5" Type="http://schemas.openxmlformats.org/officeDocument/2006/relationships/hyperlink" Target="https://unsplash.com/photos/empty-hospital-corridor-with-benches-and-doors-Pk-KuizxQv8" TargetMode="External"/><Relationship Id="rId6" Type="http://schemas.openxmlformats.org/officeDocument/2006/relationships/hyperlink" Target="https://unsplash.com/photos/hospital-lobby-reception-with-signage-nMyM7fxpokE" TargetMode="External"/><Relationship Id="rId7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pic>
        <p:nvPicPr>
          <p:cNvPr id="8" name="Picture 7" descr="tablet-hand.jpg"/>
          <p:cNvPicPr>
            <a:picLocks noChangeAspect="1"/>
          </p:cNvPicPr>
          <p:nvPr/>
        </p:nvPicPr>
        <p:blipFill>
          <a:blip r:embed="rId3"/>
          <a:srcRect l="7477" r="7477"/>
          <a:stretch>
            <a:fillRect/>
          </a:stretch>
        </p:blipFill>
        <p:spPr>
          <a:xfrm>
            <a:off x="7406640" y="1060704"/>
            <a:ext cx="4160520" cy="4892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060704"/>
            <a:ext cx="4160520" cy="48920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5632704"/>
            <a:ext cx="41239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5660136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先吃室友推荐的两种感冒药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先看症状、成分和注意事项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先加一粒抗生素，求个安心</a:t>
            </a:r>
          </a:p>
        </p:txBody>
      </p:sp>
      <p:pic>
        <p:nvPicPr>
          <p:cNvPr id="21" name="Picture 20" descr="tablet-hand.jpg"/>
          <p:cNvPicPr>
            <a:picLocks noChangeAspect="1"/>
          </p:cNvPicPr>
          <p:nvPr/>
        </p:nvPicPr>
        <p:blipFill>
          <a:blip r:embed="rId3"/>
          <a:srcRect l="18399" r="18399"/>
          <a:stretch>
            <a:fillRect/>
          </a:stretch>
        </p:blipFill>
        <p:spPr>
          <a:xfrm>
            <a:off x="9390888" y="1847088"/>
            <a:ext cx="2057400" cy="3255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390888" y="1847088"/>
            <a:ext cx="2057400" cy="3255264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9176" y="4782312"/>
            <a:ext cx="20208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18904" y="4809744"/>
            <a:ext cx="18013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关注禁忌与不良反应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有效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针对真正需要解决的问题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经济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避免不必要的花费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适宜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高中生物连接：药物也要找“靶点”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结构与功能有关｜靶点也可能分布在多个部位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6192" y="2633472"/>
            <a:ext cx="1280160" cy="548640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27632" y="271576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822191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药物</a:t>
            </a:r>
          </a:p>
        </p:txBody>
      </p:sp>
      <p:sp>
        <p:nvSpPr>
          <p:cNvPr id="12" name="Chevron 11"/>
          <p:cNvSpPr/>
          <p:nvPr/>
        </p:nvSpPr>
        <p:spPr>
          <a:xfrm>
            <a:off x="3246120" y="2834640"/>
            <a:ext cx="603504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4663440" y="2459736"/>
            <a:ext cx="1316736" cy="1115568"/>
          </a:xfrm>
          <a:prstGeom prst="hexagon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822191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受体 / 酶</a:t>
            </a:r>
          </a:p>
        </p:txBody>
      </p:sp>
      <p:sp>
        <p:nvSpPr>
          <p:cNvPr id="15" name="Chevron 14"/>
          <p:cNvSpPr/>
          <p:nvPr/>
        </p:nvSpPr>
        <p:spPr>
          <a:xfrm>
            <a:off x="6858000" y="2834640"/>
            <a:ext cx="603504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3336" y="2532888"/>
            <a:ext cx="1024128" cy="10241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788920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822191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3E75"/>
                </a:solidFill>
                <a:latin typeface="Noto Sans CJK SC"/>
                <a:ea typeface="Noto Sans CJK SC"/>
              </a:rPr>
              <a:t>反应发生变化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28032"/>
            <a:ext cx="101498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53E75"/>
                </a:solidFill>
                <a:latin typeface="Noto Sans CJK SC"/>
                <a:ea typeface="Noto Sans CJK SC"/>
              </a:rPr>
              <a:t>蛋白质的结构，与功能有关。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llege-campus.jpg"/>
          <p:cNvPicPr>
            <a:picLocks noChangeAspect="1"/>
          </p:cNvPicPr>
          <p:nvPr/>
        </p:nvPicPr>
        <p:blipFill>
          <a:blip r:embed="rId3"/>
          <a:srcRect t="33824" b="33824"/>
          <a:stretch>
            <a:fillRect/>
          </a:stretch>
        </p:blipFill>
        <p:spPr>
          <a:xfrm>
            <a:off x="822960" y="2157984"/>
            <a:ext cx="2487168" cy="12070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基本原则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acy-01.jpg"/>
          <p:cNvPicPr>
            <a:picLocks noChangeAspect="1"/>
          </p:cNvPicPr>
          <p:nvPr/>
        </p:nvPicPr>
        <p:blipFill>
          <a:blip r:embed="rId4"/>
          <a:srcRect t="6863" b="6863"/>
          <a:stretch>
            <a:fillRect/>
          </a:stretch>
        </p:blipFill>
        <p:spPr>
          <a:xfrm>
            <a:off x="3721608" y="2157984"/>
            <a:ext cx="2487168" cy="120700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721608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宿舍误区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17分钟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armacy-02.jpg"/>
          <p:cNvPicPr>
            <a:picLocks noChangeAspect="1"/>
          </p:cNvPicPr>
          <p:nvPr/>
        </p:nvPicPr>
        <p:blipFill>
          <a:blip r:embed="rId5"/>
          <a:srcRect t="6863" b="6863"/>
          <a:stretch>
            <a:fillRect/>
          </a:stretch>
        </p:blipFill>
        <p:spPr>
          <a:xfrm>
            <a:off x="6620256" y="2157984"/>
            <a:ext cx="2487168" cy="1207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620256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安全用药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8分钟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09176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spital-02.jpg"/>
          <p:cNvPicPr>
            <a:picLocks noChangeAspect="1"/>
          </p:cNvPicPr>
          <p:nvPr/>
        </p:nvPicPr>
        <p:blipFill>
          <a:blip r:embed="rId6"/>
          <a:srcRect t="6863" b="6863"/>
          <a:stretch>
            <a:fillRect/>
          </a:stretch>
        </p:blipFill>
        <p:spPr>
          <a:xfrm>
            <a:off x="9518903" y="2157984"/>
            <a:ext cx="2487168" cy="120700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518903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7776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选择挑战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案例①：两盒感冒药，真是“双保险”？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虚构情境｜包装不同，成分可能重复。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30</a:t>
            </a:r>
          </a:p>
        </p:txBody>
      </p:sp>
      <p:pic>
        <p:nvPicPr>
          <p:cNvPr id="9" name="Picture 8" descr="pill-bottle.jpg"/>
          <p:cNvPicPr>
            <a:picLocks noChangeAspect="1"/>
          </p:cNvPicPr>
          <p:nvPr/>
        </p:nvPicPr>
        <p:blipFill>
          <a:blip r:embed="rId3"/>
          <a:srcRect t="19751" b="19751"/>
          <a:stretch>
            <a:fillRect/>
          </a:stretch>
        </p:blipFill>
        <p:spPr>
          <a:xfrm>
            <a:off x="704088" y="1856231"/>
            <a:ext cx="3712463" cy="35935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4088" y="1856231"/>
            <a:ext cx="3712463" cy="359359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2376" y="5129784"/>
            <a:ext cx="3675887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15721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小苏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一盒治头痛，一盒治感冒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室友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名字不同，应该能一起吃？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先暂停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翻到“成分”一栏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看成分，才能发现“隐形重复”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通用名 / 成分优先于商品名｜示意标签，不是实际说明书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5074920" cy="234086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121408"/>
            <a:ext cx="15544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139696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教学标签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2724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有效成分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3246120"/>
            <a:ext cx="4663440" cy="6217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42976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3464F"/>
                </a:solidFill>
                <a:latin typeface="Noto Sans CJK SC"/>
                <a:ea typeface="Noto Sans CJK SC"/>
              </a:rPr>
              <a:t>对乙酰氨基酚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920240"/>
            <a:ext cx="5074920" cy="234086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02552" y="2121408"/>
            <a:ext cx="15544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75704" y="2139696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教学标签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3" y="2724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有效成分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7" y="3246120"/>
            <a:ext cx="4663440" cy="62179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328416"/>
            <a:ext cx="42976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3464F"/>
                </a:solidFill>
                <a:latin typeface="Noto Sans CJK SC"/>
                <a:ea typeface="Noto Sans CJK SC"/>
              </a:rPr>
              <a:t>对乙酰氨基酚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7416" y="3931920"/>
            <a:ext cx="43891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＋其他成分</a:t>
            </a:r>
          </a:p>
        </p:txBody>
      </p:sp>
      <p:sp>
        <p:nvSpPr>
          <p:cNvPr id="22" name="Chevron 21"/>
          <p:cNvSpPr/>
          <p:nvPr/>
        </p:nvSpPr>
        <p:spPr>
          <a:xfrm>
            <a:off x="3383280" y="4581144"/>
            <a:ext cx="45720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641080" y="4581144"/>
            <a:ext cx="45720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成分会汇合，风险不能按药盒“分开算”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真实研究：模拟用药，也容易出错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两项指标可能重叠，不能相加；不是实际中毒率。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764792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美国成人模拟任务｜n = 500｜2012年｜单位：%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2395728"/>
          <a:ext cx="10515600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184648"/>
            <a:ext cx="106070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53E75"/>
                </a:solidFill>
                <a:latin typeface="Noto Sans CJK SC"/>
                <a:ea typeface="Noto Sans CJK SC"/>
              </a:rPr>
              <a:t>研究判断的是潜在超量风险，不是实际中毒事件。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选择题②：两盒都含相同成分，怎么办？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请选最稳妥的下一步｜答案在下一页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商品名不同，可以照常同服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两种各减一半，自己调一调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暂不叠加，核对说明书并问药师</a:t>
            </a:r>
          </a:p>
        </p:txBody>
      </p:sp>
      <p:pic>
        <p:nvPicPr>
          <p:cNvPr id="21" name="Picture 20" descr="pill-bottle.jpg"/>
          <p:cNvPicPr>
            <a:picLocks noChangeAspect="1"/>
          </p:cNvPicPr>
          <p:nvPr/>
        </p:nvPicPr>
        <p:blipFill>
          <a:blip r:embed="rId3"/>
          <a:srcRect t="556" b="556"/>
          <a:stretch>
            <a:fillRect/>
          </a:stretch>
        </p:blipFill>
        <p:spPr>
          <a:xfrm>
            <a:off x="9390888" y="1847088"/>
            <a:ext cx="2057400" cy="3255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390888" y="1847088"/>
            <a:ext cx="2057400" cy="3255264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9176" y="4782312"/>
            <a:ext cx="20208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18904" y="4809744"/>
            <a:ext cx="18013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C：先核对，再决定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少猜一步，就少一个出错机会。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57400"/>
            <a:ext cx="210312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E3464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同成分：先不自行叠加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规格、时间、已服药物：一起核对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拿不准：带包装或照片问药师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S11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865376"/>
            <a:ext cx="5285232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91656" y="1865376"/>
            <a:ext cx="5285232" cy="35661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07592" y="2542032"/>
            <a:ext cx="1856231" cy="978408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36192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01368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66543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31720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96896" y="2816352"/>
            <a:ext cx="109728" cy="109728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1344168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719072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2093976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2468880" y="2240280"/>
            <a:ext cx="27432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2843784" y="2240280"/>
            <a:ext cx="27431" cy="237744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456432" y="26243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细菌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922776"/>
            <a:ext cx="470916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具有细胞结构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细胞壁合成等可成为靶点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01583" y="2880360"/>
            <a:ext cx="274321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30183" y="2834640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039105" y="3113532"/>
            <a:ext cx="237568" cy="13715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230953" y="3204972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868412" y="3284225"/>
            <a:ext cx="137159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959851" y="3476073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7635240" y="3346704"/>
            <a:ext cx="0" cy="27432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589519" y="3575304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7264907" y="3284225"/>
            <a:ext cx="137160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219188" y="3476073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6993806" y="3113532"/>
            <a:ext cx="237568" cy="13715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948086" y="3204972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6894575" y="2880360"/>
            <a:ext cx="274321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848855" y="2834640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6993806" y="2510028"/>
            <a:ext cx="237568" cy="13716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6948086" y="2464308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264907" y="2238926"/>
            <a:ext cx="137160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7219188" y="219320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7635240" y="2139696"/>
            <a:ext cx="0" cy="274319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589519" y="209397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7868412" y="2238926"/>
            <a:ext cx="137159" cy="237568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959851" y="2193206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8039105" y="2510027"/>
            <a:ext cx="237568" cy="13716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8230953" y="2464308"/>
            <a:ext cx="91440" cy="9144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168896" y="2414015"/>
            <a:ext cx="932688" cy="9326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 rot="20100000">
            <a:off x="7415783" y="2788920"/>
            <a:ext cx="438912" cy="173736"/>
          </a:xfrm>
          <a:prstGeom prst="roundRect">
            <a:avLst/>
          </a:prstGeom>
          <a:solidFill>
            <a:srgbClr val="E3464F"/>
          </a:solidFill>
          <a:ln w="19050"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 rot="20100000">
            <a:off x="7507223" y="2871215"/>
            <a:ext cx="104241" cy="10424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33104" y="26243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病毒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4264" y="3922776"/>
            <a:ext cx="464515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没有细胞结构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抗生素不治疗普通感冒病毒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耐药：被筛选出来的是细菌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连接高中生物：变异＋选择｜不是“人吃出了耐药体质”。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原有差异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471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1200000">
            <a:off x="176479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200000">
            <a:off x="3044951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2471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 rot="1200000">
            <a:off x="176479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0487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1200000">
            <a:off x="3044951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471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 rot="1200000">
            <a:off x="176479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04872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 rot="1200000">
            <a:off x="3044951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4142232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26864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药物选择压力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4336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663440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53E75"/>
                </a:solidFill>
                <a:latin typeface="Noto Sans CJK SC"/>
                <a:ea typeface="Noto Sans CJK SC"/>
              </a:rPr>
              <a:t>敏感菌更易被抑制</a:t>
            </a:r>
          </a:p>
        </p:txBody>
      </p:sp>
      <p:sp>
        <p:nvSpPr>
          <p:cNvPr id="29" name="Chevron 28"/>
          <p:cNvSpPr/>
          <p:nvPr/>
        </p:nvSpPr>
        <p:spPr>
          <a:xfrm>
            <a:off x="7991856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76488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9367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存活并繁殖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2396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 rot="1200000">
            <a:off x="946404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0412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 rot="1200000">
            <a:off x="1074420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1200000">
            <a:off x="946404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412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 rot="1200000">
            <a:off x="1074420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82396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 rot="1200000">
            <a:off x="946404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10412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 rot="1200000">
            <a:off x="1074420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5431536"/>
            <a:ext cx="105156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蓝：敏感菌　红：耐药菌　｜　数量仅为示意，不代表实验比例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耐药风险，有多大？看清数据口径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2019年全球估计｜两种口径，不可相加。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2019年全球细菌耐药负担｜单位：万人｜2022年发表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60320"/>
            <a:ext cx="194767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相关死亡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587752"/>
            <a:ext cx="5625519" cy="457200"/>
          </a:xfrm>
          <a:prstGeom prst="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040096" y="3227832"/>
            <a:ext cx="3352582" cy="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40096" y="3136392"/>
            <a:ext cx="0" cy="18288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92678" y="3136392"/>
            <a:ext cx="0" cy="182880"/>
          </a:xfrm>
          <a:prstGeom prst="line">
            <a:avLst/>
          </a:prstGeom>
          <a:ln w="254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79615" y="2560320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495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099816"/>
            <a:ext cx="20482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区间：362—657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85615"/>
            <a:ext cx="194767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归因死亡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813048"/>
            <a:ext cx="1443315" cy="457200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961402" y="4453128"/>
            <a:ext cx="908039" cy="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61402" y="4361688"/>
            <a:ext cx="0" cy="18288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869441" y="4361688"/>
            <a:ext cx="0" cy="182880"/>
          </a:xfrm>
          <a:prstGeom prst="line">
            <a:avLst/>
          </a:prstGeom>
          <a:ln w="25400">
            <a:solidFill>
              <a:srgbClr val="E346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97411" y="3785615"/>
            <a:ext cx="1097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127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325112"/>
            <a:ext cx="20482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区间：91.1—171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5138928"/>
            <a:ext cx="7955279" cy="0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926080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670048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2548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06516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100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99017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942985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200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35485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79453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300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71954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15922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400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08422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52390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500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744891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488859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600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881359" y="5138928"/>
            <a:ext cx="0" cy="73152"/>
          </a:xfrm>
          <a:prstGeom prst="line">
            <a:avLst/>
          </a:prstGeom>
          <a:ln w="1270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625328" y="5294376"/>
            <a:ext cx="5120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700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4126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3E75"/>
                </a:solidFill>
                <a:latin typeface="Noto Sans CJK SC"/>
                <a:ea typeface="Noto Sans CJK SC"/>
              </a:rPr>
              <a:t>细线表示95%不确定性区间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抗生素的三条行动规则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出现不良反应或疗效疑问，及时联系医生 / 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armacy-03.jpg"/>
          <p:cNvPicPr>
            <a:picLocks noChangeAspect="1"/>
          </p:cNvPicPr>
          <p:nvPr/>
        </p:nvPicPr>
        <p:blipFill>
          <a:blip r:embed="rId3"/>
          <a:srcRect t="15812" b="15812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不自行启用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2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不分享剩药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相似症状不等于相同病因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ill-bottle.jpg"/>
          <p:cNvPicPr>
            <a:picLocks noChangeAspect="1"/>
          </p:cNvPicPr>
          <p:nvPr/>
        </p:nvPicPr>
        <p:blipFill>
          <a:blip r:embed="rId5"/>
          <a:srcRect t="37981" b="37981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按处方使用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不擅自停、加或延长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案例③：“备考外挂”，真的值得试？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清醒感，不等于学习效果的保证。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来源：S6; S7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30</a:t>
            </a:r>
          </a:p>
        </p:txBody>
      </p:sp>
      <p:pic>
        <p:nvPicPr>
          <p:cNvPr id="9" name="Picture 8" descr="college-campus.jpg"/>
          <p:cNvPicPr>
            <a:picLocks noChangeAspect="1"/>
          </p:cNvPicPr>
          <p:nvPr/>
        </p:nvPicPr>
        <p:blipFill>
          <a:blip r:embed="rId3"/>
          <a:srcRect t="17734" b="17734"/>
          <a:stretch>
            <a:fillRect/>
          </a:stretch>
        </p:blipFill>
        <p:spPr>
          <a:xfrm>
            <a:off x="704088" y="1856231"/>
            <a:ext cx="3712463" cy="35935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4088" y="1856231"/>
            <a:ext cx="3712463" cy="359359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2376" y="5129784"/>
            <a:ext cx="3675887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15721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保健食品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不能代替药物治疗疾病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“提高考试成绩”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警惕夸大宣传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处方兴奋剂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不借药、不自行购买服用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案例④：鼻子舒服了，上课却困了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不能仅凭“抗过敏药”四个字判断影响。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30</a:t>
            </a:r>
          </a:p>
        </p:txBody>
      </p:sp>
      <p:pic>
        <p:nvPicPr>
          <p:cNvPr id="9" name="Picture 8" descr="evening.jpg"/>
          <p:cNvPicPr>
            <a:picLocks noChangeAspect="1"/>
          </p:cNvPicPr>
          <p:nvPr/>
        </p:nvPicPr>
        <p:blipFill>
          <a:blip r:embed="rId3"/>
          <a:srcRect t="1601" b="1601"/>
          <a:stretch>
            <a:fillRect/>
          </a:stretch>
        </p:blipFill>
        <p:spPr>
          <a:xfrm>
            <a:off x="704088" y="1856231"/>
            <a:ext cx="3712463" cy="35935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4088" y="1856231"/>
            <a:ext cx="3712463" cy="359359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2376" y="5129784"/>
            <a:ext cx="3675887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15721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部分抗组胺药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可能引起嗜睡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“较少嗜睡”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不代表人人都不困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困倦时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避免驾驶、骑车等高风险活动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同一条信号，在不同部位有不同作用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这是简化机制图；不能据此自行换药。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S14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9384"/>
            <a:ext cx="523951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5" y="2185416"/>
            <a:ext cx="1399032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203704"/>
            <a:ext cx="12527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外周组织</a:t>
            </a:r>
          </a:p>
        </p:txBody>
      </p:sp>
      <p:sp>
        <p:nvSpPr>
          <p:cNvPr id="12" name="Oval 11"/>
          <p:cNvSpPr/>
          <p:nvPr/>
        </p:nvSpPr>
        <p:spPr>
          <a:xfrm>
            <a:off x="1243584" y="3054096"/>
            <a:ext cx="594360" cy="59436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12848" y="3154680"/>
            <a:ext cx="484632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3236976" y="2980944"/>
            <a:ext cx="832104" cy="77724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123944"/>
            <a:ext cx="474573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组胺信号 → 参与过敏症状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1929384"/>
            <a:ext cx="523951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38544" y="2185416"/>
            <a:ext cx="1399032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2203704"/>
            <a:ext cx="12527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脑内</a:t>
            </a:r>
          </a:p>
        </p:txBody>
      </p:sp>
      <p:sp>
        <p:nvSpPr>
          <p:cNvPr id="19" name="Oval 18"/>
          <p:cNvSpPr/>
          <p:nvPr/>
        </p:nvSpPr>
        <p:spPr>
          <a:xfrm>
            <a:off x="6885431" y="3054096"/>
            <a:ext cx="594360" cy="59436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7854696" y="3154680"/>
            <a:ext cx="484632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8878824" y="2980944"/>
            <a:ext cx="832104" cy="777240"/>
          </a:xfrm>
          <a:prstGeom prst="hexagon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1" y="4123944"/>
            <a:ext cx="474573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组胺信号 → 参与清醒状态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589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3464F"/>
                </a:solidFill>
                <a:latin typeface="Noto Sans CJK SC"/>
                <a:ea typeface="Noto Sans CJK SC"/>
              </a:rPr>
              <a:t>部分抗组胺药进入脑内后，可能引起嗜睡。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案例⑤：聚餐的酒，先缓一缓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拿不准能否饮酒：先不喝，再查说明书或问药师。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S9; S13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30</a:t>
            </a:r>
          </a:p>
        </p:txBody>
      </p:sp>
      <p:pic>
        <p:nvPicPr>
          <p:cNvPr id="9" name="Picture 8" descr="pill-bottle.jpg"/>
          <p:cNvPicPr>
            <a:picLocks noChangeAspect="1"/>
          </p:cNvPicPr>
          <p:nvPr/>
        </p:nvPicPr>
        <p:blipFill>
          <a:blip r:embed="rId3"/>
          <a:srcRect t="25941" b="25941"/>
          <a:stretch>
            <a:fillRect/>
          </a:stretch>
        </p:blipFill>
        <p:spPr>
          <a:xfrm>
            <a:off x="950976" y="1984248"/>
            <a:ext cx="4251960" cy="32735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50976" y="1984248"/>
            <a:ext cx="4251960" cy="327355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4937760"/>
            <a:ext cx="421538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965192"/>
            <a:ext cx="3995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1901952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酒精＋部分抗过敏药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423160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嗜睡与反应受损风险增加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1264" y="3108960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酒精＋某些药物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3630168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可能增加其他不良反应风险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1264" y="4315968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普通口服片剂 / 胶囊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4837176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通常用白水，具体看说明书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选择题③：聚餐前，选哪条路线？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背景：今天服了抗过敏药，具体饮酒要求尚未确认。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已经吃过药，统一等两小时再喝酒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看具体药品要求；拿不准就先不喝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只要不醉，就不会与药物相互作用</a:t>
            </a:r>
          </a:p>
        </p:txBody>
      </p:sp>
      <p:pic>
        <p:nvPicPr>
          <p:cNvPr id="21" name="Picture 20" descr="pharmacy-03.jpg"/>
          <p:cNvPicPr>
            <a:picLocks noChangeAspect="1"/>
          </p:cNvPicPr>
          <p:nvPr/>
        </p:nvPicPr>
        <p:blipFill>
          <a:blip r:embed="rId3"/>
          <a:srcRect l="32224" r="32224"/>
          <a:stretch>
            <a:fillRect/>
          </a:stretch>
        </p:blipFill>
        <p:spPr>
          <a:xfrm>
            <a:off x="9390888" y="1847088"/>
            <a:ext cx="2057400" cy="3255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390888" y="1847088"/>
            <a:ext cx="2057400" cy="3255264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9176" y="4782312"/>
            <a:ext cx="20208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18904" y="4809744"/>
            <a:ext cx="18013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上一题选 B｜把“不确定”变成一个咨询动作。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六处是阅读起点，不代表其余内容可以跳过。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3" name="Oval 12"/>
          <p:cNvSpPr/>
          <p:nvPr/>
        </p:nvSpPr>
        <p:spPr>
          <a:xfrm>
            <a:off x="48646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2976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6" name="Oval 15"/>
          <p:cNvSpPr/>
          <p:nvPr/>
        </p:nvSpPr>
        <p:spPr>
          <a:xfrm>
            <a:off x="11795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7943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9" name="Oval 18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2976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2" name="Oval 21"/>
          <p:cNvSpPr/>
          <p:nvPr/>
        </p:nvSpPr>
        <p:spPr>
          <a:xfrm>
            <a:off x="11795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95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7943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5" name="Oval 24"/>
          <p:cNvSpPr/>
          <p:nvPr/>
        </p:nvSpPr>
        <p:spPr>
          <a:xfrm>
            <a:off x="48646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2976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pic>
        <p:nvPicPr>
          <p:cNvPr id="28" name="Picture 27" descr="pill-bottle.jpg"/>
          <p:cNvPicPr>
            <a:picLocks noChangeAspect="1"/>
          </p:cNvPicPr>
          <p:nvPr/>
        </p:nvPicPr>
        <p:blipFill>
          <a:blip r:embed="rId3"/>
          <a:srcRect t="7230" b="7230"/>
          <a:stretch>
            <a:fillRect/>
          </a:stretch>
        </p:blipFill>
        <p:spPr>
          <a:xfrm>
            <a:off x="8613648" y="1975104"/>
            <a:ext cx="2331720" cy="319125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613648" y="1975104"/>
            <a:ext cx="2331720" cy="31912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31936" y="4846320"/>
            <a:ext cx="2295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487375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请以手中的真实说明书为准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来源：S10; S13;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ll-bottle.jpg"/>
          <p:cNvPicPr>
            <a:picLocks noChangeAspect="1"/>
          </p:cNvPicPr>
          <p:nvPr/>
        </p:nvPicPr>
        <p:blipFill>
          <a:blip r:embed="rId3"/>
          <a:srcRect t="37981" b="37981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漏服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先查具体处理要求，不自行加倍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1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疗程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按处方执行，有问题及时咨询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blet-hand.jpg"/>
          <p:cNvPicPr>
            <a:picLocks noChangeAspect="1"/>
          </p:cNvPicPr>
          <p:nvPr/>
        </p:nvPicPr>
        <p:blipFill>
          <a:blip r:embed="rId5"/>
          <a:srcRect t="30769" b="30769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剂型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30</a:t>
            </a:r>
          </a:p>
        </p:txBody>
      </p:sp>
      <p:pic>
        <p:nvPicPr>
          <p:cNvPr id="9" name="Picture 8" descr="pharmacy-02.jpg"/>
          <p:cNvPicPr>
            <a:picLocks noChangeAspect="1"/>
          </p:cNvPicPr>
          <p:nvPr/>
        </p:nvPicPr>
        <p:blipFill>
          <a:blip r:embed="rId3"/>
          <a:srcRect l="29209" r="29209"/>
          <a:stretch>
            <a:fillRect/>
          </a:stretch>
        </p:blipFill>
        <p:spPr>
          <a:xfrm>
            <a:off x="822960" y="1975104"/>
            <a:ext cx="2514600" cy="3401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2960" y="1975104"/>
            <a:ext cx="2514600" cy="340156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056632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084064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16" name="Oval 15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pic>
        <p:nvPicPr>
          <p:cNvPr id="12" name="Picture 11" descr="hospital-02.jpg"/>
          <p:cNvPicPr>
            <a:picLocks noChangeAspect="1"/>
          </p:cNvPicPr>
          <p:nvPr/>
        </p:nvPicPr>
        <p:blipFill>
          <a:blip r:embed="rId3"/>
          <a:srcRect l="34960" r="34960"/>
          <a:stretch>
            <a:fillRect/>
          </a:stretch>
        </p:blipFill>
        <p:spPr>
          <a:xfrm>
            <a:off x="9555480" y="1956816"/>
            <a:ext cx="1828800" cy="34198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555480" y="1956816"/>
            <a:ext cx="1828800" cy="34198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73767" y="5056632"/>
            <a:ext cx="17922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3496" y="5084064"/>
            <a:ext cx="15727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1984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2514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3127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5" y="3657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4270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5" y="4800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30</a:t>
            </a:r>
          </a:p>
        </p:txBody>
      </p:sp>
      <p:pic>
        <p:nvPicPr>
          <p:cNvPr id="9" name="Picture 8" descr="pharmacy-01.jpg"/>
          <p:cNvPicPr>
            <a:picLocks noChangeAspect="1"/>
          </p:cNvPicPr>
          <p:nvPr/>
        </p:nvPicPr>
        <p:blipFill>
          <a:blip r:embed="rId3"/>
          <a:srcRect l="19318" r="19318"/>
          <a:stretch>
            <a:fillRect/>
          </a:stretch>
        </p:blipFill>
        <p:spPr>
          <a:xfrm>
            <a:off x="914400" y="2048256"/>
            <a:ext cx="3291840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048256"/>
            <a:ext cx="3291840" cy="301752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4745736"/>
            <a:ext cx="325526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773168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Oval 12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5" name="Oval 14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把五个误区，换成五个动作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5" name="Chevron 14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备考“外挂”</a:t>
            </a:r>
          </a:p>
        </p:txBody>
      </p:sp>
      <p:sp>
        <p:nvSpPr>
          <p:cNvPr id="19" name="Chevron 18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不借用处方药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23" name="Chevron 22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查提示、避风险活动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791456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344" y="4791456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7" name="Chevron 26"/>
          <p:cNvSpPr/>
          <p:nvPr/>
        </p:nvSpPr>
        <p:spPr>
          <a:xfrm>
            <a:off x="5907024" y="4846320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84264" y="4791456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先确认饮酒要求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虚构情境｜无呼吸困难、意识异常等急症表现。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27 / 30</a:t>
            </a:r>
          </a:p>
        </p:txBody>
      </p:sp>
      <p:pic>
        <p:nvPicPr>
          <p:cNvPr id="9" name="Picture 8" descr="tablet-hand.jpg"/>
          <p:cNvPicPr>
            <a:picLocks noChangeAspect="1"/>
          </p:cNvPicPr>
          <p:nvPr/>
        </p:nvPicPr>
        <p:blipFill>
          <a:blip r:embed="rId3"/>
          <a:srcRect l="12534" r="12534"/>
          <a:stretch>
            <a:fillRect/>
          </a:stretch>
        </p:blipFill>
        <p:spPr>
          <a:xfrm>
            <a:off x="795528" y="1901952"/>
            <a:ext cx="2514600" cy="33558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8" y="1901952"/>
            <a:ext cx="2514600" cy="335584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" y="4937760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965192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901952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2011680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已服：一种复方感冒药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072384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3182112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准备：再加一盒药＋参加聚餐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242816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4352544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你会替小苏选哪个方案？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单选 A / B / C｜想10秒，然后举手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28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20824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48256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47672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两盒一起吃，聚餐少喝一点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182112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09544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108960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先核对成分，拿不准问药师；先不喝酒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9664"/>
            <a:ext cx="8449056" cy="93268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4343400"/>
            <a:ext cx="566928" cy="566928"/>
          </a:xfrm>
          <a:prstGeom prst="ellipse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370832"/>
            <a:ext cx="5669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270248"/>
            <a:ext cx="7123176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加抗生素预防一下，明天再看</a:t>
            </a:r>
          </a:p>
        </p:txBody>
      </p:sp>
      <p:pic>
        <p:nvPicPr>
          <p:cNvPr id="21" name="Picture 20" descr="pharmacy-01.jpg"/>
          <p:cNvPicPr>
            <a:picLocks noChangeAspect="1"/>
          </p:cNvPicPr>
          <p:nvPr/>
        </p:nvPicPr>
        <p:blipFill>
          <a:blip r:embed="rId3"/>
          <a:srcRect l="32224" r="32224"/>
          <a:stretch>
            <a:fillRect/>
          </a:stretch>
        </p:blipFill>
        <p:spPr>
          <a:xfrm>
            <a:off x="9390888" y="1847088"/>
            <a:ext cx="2057400" cy="3255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390888" y="1847088"/>
            <a:ext cx="2057400" cy="3255264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09176" y="4782312"/>
            <a:ext cx="20208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18904" y="4809744"/>
            <a:ext cx="18013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B：三个判断点，全都用上了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S4; S9;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57400"/>
            <a:ext cx="2103120" cy="2103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E3464F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成分未核对 → 先不自行叠加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饮酒要求不明 → 先不喝，查询确认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没有用药依据 → 不自行加抗生素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7208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pic>
        <p:nvPicPr>
          <p:cNvPr id="9" name="Picture 8" descr="clinic-01.jpg"/>
          <p:cNvPicPr>
            <a:picLocks noChangeAspect="1"/>
          </p:cNvPicPr>
          <p:nvPr/>
        </p:nvPicPr>
        <p:blipFill>
          <a:blip r:embed="rId3"/>
          <a:srcRect l="28099" r="28099"/>
          <a:stretch>
            <a:fillRect/>
          </a:stretch>
        </p:blipFill>
        <p:spPr>
          <a:xfrm>
            <a:off x="7909560" y="1417320"/>
            <a:ext cx="3474720" cy="44622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09560" y="1417320"/>
            <a:ext cx="3474720" cy="446227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7848" y="5559552"/>
            <a:ext cx="3438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5586983"/>
            <a:ext cx="3218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Wolf MS, et al. Risk of Unintentional Overdose with Non-Prescription Acetaminophen Products. J Gen Intern Med. 2012;27:1587–1593. DOI: 10.1007/s11606-012-2096-3.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Healthy Habits: Antibiotic Do’s and Don’ts.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Antimicrobial Resistance Collaborators. Global burden of bacterial antimicrobial resistance in 2019: a systematic analysis. Lancet. 2022;399:629–655. DOI: 10.1016/S0140-6736(21)02724-0.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FDA（2023）Updating warnings to improve safe use of prescription stimulants used to treat ADHD and other conditions.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市场监管总局《关于防范保健食品功能声称虚假宣传的消费提示》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Antihistamines.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NIAAA. Alcohol-Medication Interactions: Potentially Dangerous Mixes.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 Specialist Pharmacy Service. Advising on missed or delayed doses of medicines.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附页，不计入35分钟｜点击条目标题可访问原文｜检索日期：2026-10-09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CDC. Manage Common Cold.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NHS. Anaphylaxis.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Omeprazole.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Towfiqu barbhuiya · tablet-hand.jpg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Pexels photo 16051935 · pill-bottle.jpg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George Pak · college-campus.jpg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LZ Jian · evening.jpg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4088" y="526694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7"/>
              </a:rPr>
              <a:t>Árpád Czapp · pharmacy-01.jpg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60527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8"/>
              </a:rPr>
              <a:t>Unsplash License · 点击标题访问原图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81912" y="598932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National Cancer Institute · pharmacy-02.jpg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paws and prints · pharmacy-03.jpg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Tasha Kostyuk · hospital-02.jpg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Martha Dominguez de Gouveia · clinic-01.jpg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