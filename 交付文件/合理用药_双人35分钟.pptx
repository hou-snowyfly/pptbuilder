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占参与者比例</c:v>
                </c:pt>
              </c:strCache>
            </c:strRef>
          </c:tx>
          <c:dPt>
            <c:idx val="0"/>
            <c:spPr>
              <a:solidFill>
                <a:srgbClr val="153E75"/>
              </a:solidFill>
              <a:ln>
                <a:noFill/>
              </a:ln>
            </c:spPr>
          </c:dPt>
          <c:dPt>
            <c:idx val="1"/>
            <c:spPr>
              <a:solidFill>
                <a:srgbClr val="E3464F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单一产品模拟超量</c:v>
                </c:pt>
                <c:pt idx="1">
                  <c:v>模拟联用重复超量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23.8</c:v>
                </c:pt>
                <c:pt idx="1">
                  <c:v>45.6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300" b="1">
                  <a:solidFill>
                    <a:srgbClr val="E3464F"/>
                  </a:solidFill>
                  <a:latin typeface="Noto Sans CJK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153E75"/>
                </a:solidFill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numFmt formatCode="0&quot;%&quot;" sourceLinked="0"/>
        <c:majorTickMark val="none"/>
        <c:minorTickMark val="none"/>
        <c:tickLblPos val="nextTo"/>
        <c:spPr>
          <a:ln>
            <a:solidFill>
              <a:srgbClr val="153E75"/>
            </a:solidFill>
          </a:ln>
        </c:spPr>
        <c:txPr>
          <a:bodyPr/>
          <a:lstStyle/>
          <a:p>
            <a:pPr>
              <a:defRPr sz="1400">
                <a:solidFill>
                  <a:srgbClr val="153E75"/>
                </a:solidFill>
                <a:latin typeface="Noto Sans CJK SC"/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700">
          <a:solidFill>
            <a:srgbClr val="153E75"/>
          </a:solidFill>
          <a:latin typeface="Noto Sans CJK S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第1页｜甲主讲｜建议45秒</a:t>
            </a:r>
          </a:p>
          <a:p>
            <a:r>
              <a:t>甲主讲；乙操作翻页。</a:t>
            </a:r>
          </a:p>
          <a:p/>
          <a:p>
            <a:r>
              <a:t>甲：大家好。今天我们聊一个进入大学后越来越需要自己做决定的问题：身体不舒服时，药到底该怎么用？离开父母的提醒，宿舍药箱、室友推荐和手机搜索，可能成了我们的第一反应。但名字熟悉，不代表适合自己；药吃得多，也不代表好得快。接下来我们用五类校园情境和几轮举手选择，练习几个能直接用上的判断。我们不考药名，也不背剂量表，目标是学会看什么、问什么，以及什么时候应该就医。</a:t>
            </a:r>
          </a:p>
          <a:p/>
          <a:p>
            <a:r>
              <a:t>视觉说明：蓝红白宿舍桌面插画：药盒、书本、水杯；原创可编辑矢量元素。</a:t>
            </a:r>
          </a:p>
          <a:p/>
          <a:p>
            <a:r>
              <a:t>参考：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第2页｜甲主讲｜建议90秒</a:t>
            </a:r>
          </a:p>
          <a:p>
            <a:r>
              <a:t>10秒阅读＋三轮举手约25秒；不追问个人用药史。</a:t>
            </a:r>
          </a:p>
          <a:p/>
          <a:p>
            <a:r>
              <a:t>甲：先进入一个虚构情境。小苏明天有课，今天流鼻涕、喉咙不舒服，室友递来两盒感冒药，另一位室友说，加一粒抗生素更保险。现在只选第一步，不需要给出具体药名。请大家先用十秒看完三个选项。</a:t>
            </a:r>
          </a:p>
          <a:p>
            <a:r>
              <a:t>【静默10秒】甲依次读A、B、C，每个选项留5秒举手。乙观察大致人数，不做精确统计，也不点名问理由。</a:t>
            </a:r>
          </a:p>
          <a:p>
            <a:r>
              <a:t>甲：谢谢。无论你刚才选了哪个，今天都会解释这些选择背后的差别。选择B，是先获取决定所需的信息；这并不等于自己诊断所有疾病。我们先把答案放在心里，结束时再看看能否把这个动作做得更完整。</a:t>
            </a:r>
          </a:p>
          <a:p/>
          <a:p>
            <a:r>
              <a:t>视觉说明：三张等宽选择卡；不突出正确选项。</a:t>
            </a:r>
          </a:p>
          <a:p/>
          <a:p>
            <a:r>
              <a:t>参考：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第3页｜甲主讲｜建议60秒</a:t>
            </a:r>
          </a:p>
          <a:p/>
          <a:p/>
          <a:p>
            <a:r>
              <a:t>甲：合理用药可以用四个词记住：安全、有效、经济、适宜。安全不是承诺任何药都没有风险，而是识别禁忌和可能的不良反应。有效，是药物针对的问题与实际需要相符。经济，是在满足治疗需要的前提下，避免不必要的药物和花费。适宜，则提醒我们，同一个药对室友合适，对自己不一定合适，年龄、过敏史、正在使用的其他药物，都可能影响选择。所以开场选B，是先把这些信息补齐，而不是看到一个症状就直接往药箱里伸手。</a:t>
            </a:r>
          </a:p>
          <a:p/>
          <a:p>
            <a:r>
              <a:t>视觉说明：四象限原则卡；每格一个关键词和一个简短解释。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第4页｜甲主讲｜建议60秒</a:t>
            </a:r>
          </a:p>
          <a:p/>
          <a:p/>
          <a:p>
            <a:r>
              <a:t>甲：回忆高中生物，我们学过蛋白质的结构与功能，也学过酶和细胞间的信息传递。理解药物，可以先用一个简化模型：有些药物与受体结合，改变信号；有些药物影响酶的作用，改变某个反应过程。图中用形状匹配表示识别，它只是一种示意，并不是所有药物都像一把钥匙只开一把锁。相同或相关的靶点可能存在于多个部位，所以治疗作用和其他作用可能同时出现。稍后讲抗过敏药为什么让人困，就会用到这个思路。</a:t>
            </a:r>
          </a:p>
          <a:p/>
          <a:p>
            <a:r>
              <a:t>视觉说明：可编辑“药物—受体—信号”示意，标注简化模型、非比例。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第5页｜甲主讲｜建议45秒</a:t>
            </a:r>
          </a:p>
          <a:p/>
          <a:p/>
          <a:p>
            <a:r>
              <a:t>甲：今天分四部分。我们已经用五分钟建立基本原则，接着用十七分钟看宿舍里容易遇到的五类误区：重复成分、抗生素、备考提神、抗过敏药，以及药物与饮酒。然后用八分钟把知识变成一套操作方法，最后五分钟做一道简单综合题。甲负责前半段，乙负责后半段；投票时另一位同学帮忙观察。大家只需要做选择，不必临时组织一段观点，也不需要公开自己的疾病或用药经历。</a:t>
            </a:r>
          </a:p>
          <a:p/>
          <a:p>
            <a:r>
              <a:t>视觉说明：四段路线图，时间比例示意。</a:t>
            </a:r>
          </a:p>
          <a:p/>
          <a:p>
            <a:r>
              <a:t>参考：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第6页｜甲主讲｜建议75秒</a:t>
            </a:r>
          </a:p>
          <a:p/>
          <a:p/>
          <a:p>
            <a:r>
              <a:t>甲：第一幕还是小苏。他拿到两盒药，一盒包装强调缓解头痛，一盒写着缓解感冒症状，于是直觉上觉得，一个管头，一个管感冒，应该互不冲突。但宣传的症状不同，不代表里面的有效成分不同。比如，对乙酰氨基酚既可以作为单一成分用于解热镇痛，也可能出现在复方感冒药里。两盒一起吃时，身体接收到的是所有来源的总量。我们在这里不推荐具体品牌，也不演示个人用药剂量，先练最重要的动作：把两份说明书的成分栏摆在一起比较。包装上的大字可以吸引注意，成分栏才是判断重复的依据。</a:t>
            </a:r>
          </a:p>
          <a:p/>
          <a:p>
            <a:r>
              <a:t>视觉说明：人物气泡＋两个匿名药盒；均为教学道具。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第7页｜甲主讲｜建议60秒</a:t>
            </a:r>
          </a:p>
          <a:p/>
          <a:p/>
          <a:p>
            <a:r>
              <a:t>甲：这两个标签是教学示意，不对应具体产品。请看红色框出的同一个名字：对乙酰氨基酚。即使两盒药的商品名、用途描述和包装颜色不同，这个成分仍然会重复进入体内。判断时，不能把药盒当作两个互不相关的单位。特别是复方药，一盒里就可能有多种有效成分，所以更需要逐项核对。看到重复后，先不要自行叠加；拿着具体药名、规格和已经服用的时间，向药师确认。如果怀疑已经超量，也不能因为暂时没有不舒服就继续等，应及时获得医疗帮助。</a:t>
            </a:r>
          </a:p>
          <a:p/>
          <a:p>
            <a:r>
              <a:t>视觉说明：两张可编辑药盒成分标签，红框突出同名成分，箭头汇合。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第8页｜甲主讲｜建议60秒</a:t>
            </a:r>
          </a:p>
          <a:p/>
          <a:p/>
          <a:p>
            <a:r>
              <a:t>甲：我们用一项研究说明，读懂药品标签并没有想象中简单。研究发表于2012年，纳入美国门诊的500名成人，让他们完成非处方对乙酰氨基酚产品的模拟用药任务。23.8%的参与者在单一产品任务中安排出了超过研究判定阈值的用量，45.6%在联用任务中出现重复成分造成的潜在超量。请注意，这是模拟任务，不代表这些人实际中毒，更不能推算我们班或中国大学生的发生率。两项指标也可能来自同一名参与者，所以不能相加。我们从图中带走的结论是：核对成分需要一个具体动作，不能只靠“我应该记得”。</a:t>
            </a:r>
          </a:p>
          <a:p/>
          <a:p>
            <a:r>
              <a:t>视觉说明：PowerPoint原生可编辑水平条形图，0—100%；标出美国、n=500、2012。</a:t>
            </a:r>
          </a:p>
          <a:p/>
          <a:p>
            <a:r>
              <a:t>参考：</a:t>
            </a:r>
          </a:p>
          <a:p>
            <a:r>
              <a:t>[S3] Wolf MS, et al. Risk of Unintentional Overdose with Non-Prescription Acetaminophen Products. J Gen Intern Med. 2012;27:1587–1593. DOI: 10.1007/s11606-012-2096-3.</a:t>
            </a:r>
          </a:p>
          <a:p>
            <a:r>
              <a:t>https://pmc.ncbi.nlm.nih.gov/articles/PMC3509295/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第9页｜甲主讲｜建议75秒</a:t>
            </a:r>
          </a:p>
          <a:p>
            <a:r>
              <a:t>阅读10秒；举手约25秒；其余时间复述问题并转场。</a:t>
            </a:r>
          </a:p>
          <a:p/>
          <a:p>
            <a:r>
              <a:t>甲：现在把刚才学到的动作再练一次。已知两盒药都含有对乙酰氨基酚，我们仍然不知道具体规格、适用人群，也不知道小苏还吃过什么。三个选项中，哪一个最稳妥？请先安静想十秒。</a:t>
            </a:r>
          </a:p>
          <a:p>
            <a:r>
              <a:t>【静默10秒】甲依次读A、B、C，乙观察举手，各留5秒。</a:t>
            </a:r>
          </a:p>
          <a:p>
            <a:r>
              <a:t>甲：这题不需要计算药量。特别留意B，它看起来很谨慎，因为把量减了，但它仍然是在缺少信息时自行拼接方案。我们今天练的是先识别风险，再补齐信息，而不是凭感觉把两盒药重新配方。下一页揭晓。</a:t>
            </a:r>
          </a:p>
          <a:p/>
          <a:p>
            <a:r>
              <a:t>视觉说明：三个等权选项，保持与第一题相同的布局。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第10页｜甲主讲｜建议30秒</a:t>
            </a:r>
          </a:p>
          <a:p/>
          <a:p/>
          <a:p>
            <a:r>
              <a:t>甲：答案是C。A忽略了成分，B在不知道规格和总量时自行改方案，二者都不可靠。C把操作顺序摆正：先不叠加，再核对，必要时请药师判断。询问时最好带上包装或清晰照片，同时说清已经吃过什么、吃了多少和什么时候吃的，这样对方才能给出有依据的建议。</a:t>
            </a:r>
          </a:p>
          <a:p/>
          <a:p>
            <a:r>
              <a:t>视觉说明：大号C与三步行动箭头。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第11页｜甲主讲｜建议75秒</a:t>
            </a:r>
          </a:p>
          <a:p/>
          <a:p/>
          <a:p>
            <a:r>
              <a:t>甲：第二个误区是把抗生素当成感冒时的保险药。回到高中生物，细菌具有细胞结构，病毒没有完整的细胞结构，需要利用宿主细胞复制。不同类别的抗生素，可以作用于细菌的细胞壁合成、蛋白质合成等过程；对引起普通感冒的病毒，它们没有相应的治疗作用。所以流鼻涕、嗓子痛，并不能自动推出“应该吃抗生素”。当然，出现这些症状也可能有其他原因，少数病毒感染之后还可能发生细菌感染，是否需要抗生素需要评估。我们能做的是描述症状、接受判断，而不是自己拿剩药试试看。</a:t>
            </a:r>
          </a:p>
          <a:p/>
          <a:p>
            <a:r>
              <a:t>视觉说明：原创细菌与病毒矢量插画；清楚标注细胞壁为部分抗生素靶点。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第12页｜甲主讲｜建议80秒</a:t>
            </a:r>
          </a:p>
          <a:p/>
          <a:p/>
          <a:p>
            <a:r>
              <a:t>甲：为什么不必要地用抗生素还会带来后续问题？可以借助高中生物的自然选择来理解。图中蓝色代表敏感细菌，红色代表具有耐药性的细菌。这些差异可以来自遗传变异，也可以来自耐药基因的获得。面对某种抗生素，敏感细菌更容易被抑制，具有相应耐药性的细菌可能存活并繁殖，于是群体中耐药菌的比例上升。图中的数量是教学示意，不是实验数据。这里最容易说错的一句话是“我的身体耐药了”。更准确地说，是病原菌对药物产生了抵抗能力。这个过程还涉及基因传播等因素，今天先记住选择压力这一条主线。</a:t>
            </a:r>
          </a:p>
          <a:p/>
          <a:p>
            <a:r>
              <a:t>视觉说明：三阶段细菌群落示意；红色耐药菌数量标注为概念模型，不作真实比例。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[S5] Antimicrobial Resistance Collaborators. Global burden of bacterial antimicrobial resistance in 2019: a systematic analysis. Lancet. 2022;399:629–655. DOI: 10.1016/S0140-6736(21)02724-0.</a:t>
            </a:r>
          </a:p>
          <a:p>
            <a:r>
              <a:t>https://pmc.ncbi.nlm.nih.gov/articles/PMC8841637/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第13页｜甲主讲｜建议70秒</a:t>
            </a:r>
          </a:p>
          <a:p/>
          <a:p/>
          <a:p>
            <a:r>
              <a:t>甲：这里用的是2022年发表于《柳叶刀》的研究，对2019年全球细菌耐药负担进行估计。较宽的“相关”口径约为495万例死亡，而“归因”口径约为127万例。两者的比较假设不同：前者比较没有这类耐药感染的情况，后者比较感染仍然发生、但细菌对药物敏感的情况。它们不能相加，也不能理解为所有死亡都由个人乱吃抗生素造成。图上的细线是不确定性区间，提醒我们这些数字是模型估计，不是精确清点。我们引用这组历史数据说明耐药问题的重要性，并不把它称为今年的最新统计。</a:t>
            </a:r>
          </a:p>
          <a:p/>
          <a:p>
            <a:r>
              <a:t>视觉说明：带95%不确定性区间的水平条形图；单位万人，轴从0起；注明数据年2019、发表年2022。</a:t>
            </a:r>
          </a:p>
          <a:p/>
          <a:p>
            <a:r>
              <a:t>参考：</a:t>
            </a:r>
          </a:p>
          <a:p>
            <a:r>
              <a:t>[S5] Antimicrobial Resistance Collaborators. Global burden of bacterial antimicrobial resistance in 2019: a systematic analysis. Lancet. 2022;399:629–655. DOI: 10.1016/S0140-6736(21)02724-0.</a:t>
            </a:r>
          </a:p>
          <a:p>
            <a:r>
              <a:t>https://pmc.ncbi.nlm.nih.gov/articles/PMC8841637/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第14页｜甲主讲｜建议55秒</a:t>
            </a:r>
          </a:p>
          <a:p/>
          <a:p/>
          <a:p>
            <a:r>
              <a:t>甲：回到我们自己能做的事，记住三条。第一，不因为感冒或嗓子痛就自行启用抗生素。第二，不把自己剩下的药分给室友，也不拿室友的处方照着用。第三，确实需要时按医生给出的剂量、间隔和疗程使用，不因为感觉好一点就自行停药，也不为了“彻底一点”擅自延长。这里不是让大家出现严重反应也硬撑着吃完，而是出现异常、疗效不理想，或不知道该如何继续时，及时联系医生或药师，由专业人员调整方案。</a:t>
            </a:r>
          </a:p>
          <a:p/>
          <a:p>
            <a:r>
              <a:t>视觉说明：三张行动卡配药盒、分享禁止、时钟图标。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第15页｜甲主讲｜建议60秒</a:t>
            </a:r>
          </a:p>
          <a:p/>
          <a:p/>
          <a:p>
            <a:r>
              <a:t>甲：第三个情境发生在考试周。小苏看到“提升专注、快速提分”的宣传，又听说有人借用治疗注意缺陷多动障碍的处方药来熬夜。这里要分开看：保健食品与药品不是一回事，不能用保健食品替代疾病治疗，也不能把某种功能声称直接等同于提高考试成绩。而处方兴奋剂有明确适应证，非医疗使用存在失眠、焦虑、成瘾及过量等风险，不能因为别人说有效就借来试。对需要这些药物的患者，规范治疗有价值；我们反对的是把别人的处方当作通用学习工具。</a:t>
            </a:r>
          </a:p>
          <a:p/>
          <a:p>
            <a:r>
              <a:t>视觉说明：宿舍书桌与广告气泡插画；红色警示围绕“提分保证”，不展示品牌。</a:t>
            </a:r>
          </a:p>
          <a:p/>
          <a:p>
            <a:r>
              <a:t>参考：</a:t>
            </a:r>
          </a:p>
          <a:p>
            <a:r>
              <a:t>[S6] FDA（2023）Updating warnings to improve safe use of prescription stimulants used to treat ADHD and other conditions.</a:t>
            </a:r>
          </a:p>
          <a:p>
            <a:r>
              <a:t>https://www.fda.gov/drugs/drug-safety-communications/fda-updating-warnings-improve-safe-use-prescription-stimulants-used-treat-adhd-and-other-conditions</a:t>
            </a:r>
          </a:p>
          <a:p>
            <a:r>
              <a:t>[S7] 市场监管总局《关于防范保健食品功能声称虚假宣传的消费提示》</a:t>
            </a:r>
          </a:p>
          <a:p>
            <a:r>
              <a:t>https://www.samr.gov.cn/xw/zj/art/2023/art_d03ccbcf0c7e482198c4adfa23f9e59a.html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第16页｜甲主讲｜建议75秒</a:t>
            </a:r>
          </a:p>
          <a:p>
            <a:r>
              <a:t>此页末交接。甲累计16分55秒；乙从第17页开始。</a:t>
            </a:r>
          </a:p>
          <a:p/>
          <a:p>
            <a:r>
              <a:t>甲：第四幕，小苏为了缓解过敏症状服了药，鼻子舒服了，坐进教室却特别想睡觉。这并不一定是药物没有起效，而可能是某些抗组胺药带来的嗜睡作用。有些药更容易让人困，有些相对较少，但个人反应也有差异。因此，选择时要说清自己的需求，例如白天有课、需要通勤，并向药师询问是否容易嗜睡。第一次使用时尤其应留意反应，困倦或反应变慢时，不要驾驶、骑车或做其他需要高度警觉的活动。也不要自己用酒精或其他药物去“抵消”这种感觉。</a:t>
            </a:r>
          </a:p>
          <a:p>
            <a:r>
              <a:t>甲：为什么一种药既影响鼻子，也影响清醒程度？下面交给乙，接着用生物知识解释。</a:t>
            </a:r>
          </a:p>
          <a:p/>
          <a:p>
            <a:r>
              <a:t>视觉说明：清醒与困倦的同一人物对照；月牙眼和书本均为矢量元素。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第17页｜乙主讲｜建议65秒</a:t>
            </a:r>
          </a:p>
          <a:p/>
          <a:p/>
          <a:p>
            <a:r>
              <a:t>乙：接着刚才的问题。组胺是一种参与信号传递的物质，在外周组织中，它参与部分过敏症状；在脑内，相关信号也参与维持清醒状态。部分抗组胺药能够进入脑内，影响相应的受体作用，因此在缓解过敏症状的同时，也可能让人困倦。这里可以连接高中生物中的信息传递和内环境：同一种信号分子，在不同位置可能参与不同功能。我们把复杂机制压缩成这张示意图，是为了说明作用为什么可能同时发生，而不是让大家按这张图自行选择药物或调整剂量。</a:t>
            </a:r>
          </a:p>
          <a:p/>
          <a:p>
            <a:r>
              <a:t>视觉说明：外周与脑内双路径示意；受体、箭头及说明可编辑。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第18页｜乙主讲｜建议120秒</a:t>
            </a:r>
          </a:p>
          <a:p/>
          <a:p/>
          <a:p>
            <a:r>
              <a:t>乙：第五个情境是聚餐。小苏白天吃了药，晚上被劝“就喝一点”。判断能不能一起用，不能只凭酒量，也不能只靠“上次没事”。酒精可能与多种药物相互作用，特别是与具有镇静作用的药物一起使用时，可能进一步影响警觉性和协调能力。对某些药物，风险还可能涉及肝脏、胃肠道等，但不同药物的机制和影响并不一样。</a:t>
            </a:r>
          </a:p>
          <a:p>
            <a:r>
              <a:t>还有一个常见想法：把喝酒和吃药错开两小时就安全。这个时间不能通用，因为不同药物在体内停留的时间不同，饮酒情况和个体差异也会影响结果。拿不准时，最直接的行动是先不喝，带着具体药名去确认。</a:t>
            </a:r>
          </a:p>
          <a:p>
            <a:r>
              <a:t>顺便说说送服药物。普通口服片剂和胶囊通常选择白水，并按说明书要求服用；不要默认咖啡、果汁、牛奶都能替代。但剂型有差别，例如含服或咀嚼的药物有自己的要求，所以最终仍然要看这盒药的具体说明。</a:t>
            </a:r>
          </a:p>
          <a:p/>
          <a:p>
            <a:r>
              <a:t>视觉说明：水杯、酒杯和药盒原创插画，搭配“先确认”的暂停标记。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第19页｜乙主讲｜建议120秒</a:t>
            </a:r>
          </a:p>
          <a:p>
            <a:r>
              <a:t>同桌讨论20秒＋举手约25秒；答案口头公布，不追问开放观点。</a:t>
            </a:r>
          </a:p>
          <a:p/>
          <a:p>
            <a:r>
              <a:t>乙：这一题仍然只选下一步。今天已经服过抗过敏药，但没有确认具体药品的饮酒要求，晚上聚餐时怎样做更合适？请大家看完三个选项，可以和旁边同学小声商量二十秒，只需要最后选一个字母。</a:t>
            </a:r>
          </a:p>
          <a:p>
            <a:r>
              <a:t>【同桌讨论20秒】甲负责依次示意A、B、C，乙主持，给每个选项约5秒举手。</a:t>
            </a:r>
          </a:p>
          <a:p>
            <a:r>
              <a:t>乙：这里有两个很容易误导人的线索，一个是时间，一个是醉不醉。药物相互作用不能靠统一间隔来排除，也不是只有喝醉才可能发生。正确答案是B：看这一个具体药品的要求；如果暂时不能确认，先不喝。即使全班都选对，也值得保留这个动作，因为聚餐时的社交压力容易让人把已经知道的原则放到一边。现在五个情境都看过了，我们把它们整理成一个可以重复使用的方法。</a:t>
            </a:r>
          </a:p>
          <a:p/>
          <a:p>
            <a:r>
              <a:t>视觉说明：同一三选一模板；正确答案仅在讲者备注中，下一页给出行动结论。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第20页｜乙主讲｜建议60秒</a:t>
            </a:r>
          </a:p>
          <a:p/>
          <a:p/>
          <a:p>
            <a:r>
              <a:t>乙：第三部分，我们把前面的例子浓缩成四个动作：看、核、问、记。看，是观察症状，也看说明书和需要就医的信号。核，是核对成分有没有重复，剂量与时间是否符合要求，自己有没有相关禁忌。问，是把不确定的地方交给医生或药师确认，不用猜测填空。记，是记录已经用过的药、时间、用量以及出现的反应。上一题选B，就把“这盒药能不能配酒”的不确定性变成了一个清楚的咨询问题。这四步是课堂助记法，不是替代诊疗的专业流程。</a:t>
            </a:r>
          </a:p>
          <a:p/>
          <a:p>
            <a:r>
              <a:t>视觉说明：原创四步流程，标注“课堂助记法”。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第21页｜乙主讲｜建议90秒</a:t>
            </a:r>
          </a:p>
          <a:p/>
          <a:p/>
          <a:p>
            <a:r>
              <a:t>乙：看到密密麻麻的说明书，不少人的反应是只找“一次几片”。更有效的办法，是先定位六类信息。第一，成分和通用名，解决“我究竟在吃什么”。第二，适应证，确认它用于什么情况。第三，用法用量，包含每次多少、间隔多久以及如何服用。第四，禁忌和注意事项，查看过敏史、既往疾病和特殊人群等相关要求。第五，相互作用与不良反应，看看与其他药物、食物饮料是否存在需要注意的地方。第六，贮藏条件和有效期，确认药品是否仍适合使用。</a:t>
            </a:r>
          </a:p>
          <a:p>
            <a:r>
              <a:t>这张是重新设计的阅读示意，不是实际产品的说明书，也不能替代完整说明书。如果处方要求与自己的理解不一致，应向开方医生或药师核实，而不是自己随意选一种理解执行。</a:t>
            </a:r>
          </a:p>
          <a:p/>
          <a:p>
            <a:r>
              <a:t>视觉说明：一张放大的原创示意说明书，六个编号定位区。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第22页｜乙主讲｜建议70秒</a:t>
            </a:r>
          </a:p>
          <a:p/>
          <a:p/>
          <a:p>
            <a:r>
              <a:t>乙：用药过程中的很多问题，不是药选错了，而是自己改变了使用方式。比如漏了一次，不要自动理解成下次吃双倍。不同药物的处理方法不同，先查说明书，拿不准就问药师。再比如疗程，按处方使用，同时留意症状与反应；出现疑问要及时沟通，不能自行加量或延长。还有剂型，一些缓释或肠溶制剂依赖特定结构控制释放位置和速度，随意掰碎、咀嚼或打开胶囊，可能改变原先设计。也不是说所有带刻痕的药都不能分，而是能不能分、怎样分，应以具体产品说明为准。</a:t>
            </a:r>
          </a:p>
          <a:p/>
          <a:p>
            <a:r>
              <a:t>视觉说明：时钟、剂量格、完整片剂三幅矢量图。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第23页｜乙主讲｜建议60秒</a:t>
            </a:r>
          </a:p>
          <a:p/>
          <a:p/>
          <a:p>
            <a:r>
              <a:t>乙：咨询是否有效，很大程度取决于我们提供的信息。可以按三句话组织。第一，我有什么症状，持续多久，正在变好还是加重。第二，我正在使用哪些药物或保健食品，具体药名和规格是什么，已经什么时候用了多少。第三，我有哪些已知药物过敏史、既往疾病或特殊情况。最好把药盒和说明书带上，或者拍清楚成分、规格和用法用量。只说“那种白色药片”，专业人员也难以准确判断。如果需要描述私密情况，可以单独咨询，不必在课堂或宿舍群里公开。</a:t>
            </a:r>
          </a:p>
          <a:p/>
          <a:p>
            <a:r>
              <a:t>视觉说明：人物对话气泡与药盒照片框；三项信息清单。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第24页｜乙主讲｜建议75秒</a:t>
            </a:r>
          </a:p>
          <a:p/>
          <a:p/>
          <a:p>
            <a:r>
              <a:t>乙：合理用药还包括知道什么时候停止自己试错。用药后出现呼吸困难、喉部或舌头肿胀、明显意识异常等情况，可能是严重反应，应立即寻求急救，在国内拨打120。不要靠继续加药来压住症状。怀疑超量或误服，也要及时获得医疗帮助，有些问题并不一定马上表现出来。就诊时带上药盒和已经服用的时间、用量记录。如果不是急症，但症状持续、反复或越来越重，也应该按药品说明书的就医提示及时就诊。我们列的是几个重要信号，不是完整清单，更不是要大家在宿舍自行鉴别各种严重疾病。</a:t>
            </a:r>
          </a:p>
          <a:p/>
          <a:p>
            <a:r>
              <a:t>视觉说明：红色警示区＋120大字，三级行动卡；只列主要信号。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第25页｜乙主讲｜建议65秒</a:t>
            </a:r>
          </a:p>
          <a:p/>
          <a:p/>
          <a:p>
            <a:r>
              <a:t>乙：说到药箱，最重要的不是囤得多，而是需要时能认清。药品尽量保留原包装和说明书，避免把不同药片混在一个没有标签的小盒子里。检查有效期，也检查包装上的贮藏要求，不能把“放冰箱”当作所有药物的统一保存方法。自己的处方药不要分享给室友，过期或不再需要的药品按当地药品回收或分类要求处理。再保留一个简单的用药记录，例如手机备忘录，写药名、时间、用量和反应。这样复诊或咨询时，信息会比凭印象回忆更准确。</a:t>
            </a:r>
          </a:p>
          <a:p/>
          <a:p>
            <a:r>
              <a:t>视觉说明：可编辑药箱插画、原包装、说明书、手机记录卡。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第26页｜乙主讲｜建议60秒</a:t>
            </a:r>
          </a:p>
          <a:p/>
          <a:p/>
          <a:p>
            <a:r>
              <a:t>乙：在进入挑战前，我们把五个案例各换成一个动作。两盒感冒药放在面前，先核对成分。感冒后想到抗生素，先确认是否真正需要。备考时有人推荐所谓外挂，不借用别人的处方药，也不相信保证提分的宣传。吃抗过敏药后感到困倦，查看注意事项并避开风险活动。聚餐想喝酒，先确认具体药物的要求。我们没有要求大家记住几十个药名，而是练习在几个关键位置停一下。下面的小测只组合这些已经出现的动作，没有新知识，也不需要计算。</a:t>
            </a:r>
          </a:p>
          <a:p/>
          <a:p>
            <a:r>
              <a:t>视觉说明：五行“场景→动作”映射；每行配一个小图标。</a:t>
            </a:r>
          </a:p>
          <a:p/>
          <a:p>
            <a:r>
              <a:t>参考：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第27页｜乙主讲｜建议60秒</a:t>
            </a:r>
          </a:p>
          <a:p/>
          <a:p/>
          <a:p>
            <a:r>
              <a:t>乙：最后进入综合挑战，小苏再次登场。这次信息更完整：他今天已经服用一种复方感冒药，晚上觉得还没完全舒服，想再加另一盒，同时准备去聚餐。现在两盒药的成分没有核对，饮酒要求也不清楚，症状目前较轻，没有我们刚才提到的严重急症表现。这里不要求大家诊断他得了什么病，也不要求给他开药，只选一个更稳妥的下一步方案。请记住三个线索：已经服过药、还没核对成分、聚餐可能喝酒。下一页有三个方案，答案不会藏在复杂医学知识里。</a:t>
            </a:r>
          </a:p>
          <a:p/>
          <a:p>
            <a:r>
              <a:t>视觉说明：三张线索卡：已服、待核、聚餐；小苏人物复用。</a:t>
            </a:r>
          </a:p>
          <a:p/>
          <a:p>
            <a:r>
              <a:t>参考：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第28页｜乙主讲｜建议90秒</a:t>
            </a:r>
          </a:p>
          <a:p>
            <a:r>
              <a:t>阅读10秒＋举手约25秒；甲负责观察，乙主讲。</a:t>
            </a:r>
          </a:p>
          <a:p/>
          <a:p>
            <a:r>
              <a:t>乙：请看三个方案。A，两盒一起吃，聚餐少喝一点。B，先核对成分，拿不准问药师，在没有确认之前先不喝酒。C，加抗生素预防一下，明天再看。大家先自己想十秒。</a:t>
            </a:r>
          </a:p>
          <a:p>
            <a:r>
              <a:t>【静默10秒】甲依次邀请选A、B、C的同学举手，每个选项约5秒；乙观察，不要求任何人解释。</a:t>
            </a:r>
          </a:p>
          <a:p>
            <a:r>
              <a:t>乙：这一题里，B包含的都是我们已经练过的动作；A和C则各自跳过了关键信息。请保留自己的选择，下一页我们按三条线索逐项核对。即使刚才已经猜到答案，也可以再看一遍：你是凭“这个选项最长”选的，还是确实找到了成分、酒精和抗生素三个判断点？</a:t>
            </a:r>
          </a:p>
          <a:p/>
          <a:p>
            <a:r>
              <a:t>视觉说明：三张等权选择卡，B不过度加粗，避免提前暗示答案。</a:t>
            </a:r>
          </a:p>
          <a:p/>
          <a:p>
            <a:r>
              <a:t>参考：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第29页｜乙主讲｜建议90秒</a:t>
            </a:r>
          </a:p>
          <a:p>
            <a:r>
              <a:t>乙揭晓；甲补充就医边界约15秒，再交回乙。</a:t>
            </a:r>
          </a:p>
          <a:p/>
          <a:p>
            <a:r>
              <a:t>乙：答案是B。我们把题目拆成三步。第一，另一盒药成分不清楚，不能因为症状还在就直接叠加。第二，具体药物的饮酒要求没有确认，先不喝比凭酒量判断更稳妥。第三，题目没有提供使用抗生素的依据，“预防一下”不能替代医生评估。这三条一起组成了更有依据的下一步。</a:t>
            </a:r>
          </a:p>
          <a:p>
            <a:r>
              <a:t>甲：也补充一句，B不是要求小苏一直待在宿舍查说明书。如果症状持续、加重，或者出现呼吸困难、明显意识异常等情况，行动就应该转为及时就医或急救。</a:t>
            </a:r>
          </a:p>
          <a:p>
            <a:r>
              <a:t>乙：所以合理用药不是背出一个永远适用的药方，而是根据已经掌握的信息，选对接下来的动作。今天这道题不难，目的是让大家能把这个顺序带回真实生活。</a:t>
            </a:r>
          </a:p>
          <a:p/>
          <a:p>
            <a:r>
              <a:t>视觉说明：大号B＋三个“线索→行动”映射。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第30页｜乙主讲｜建议60秒</a:t>
            </a:r>
          </a:p>
          <a:p>
            <a:r>
              <a:t>甲乙共同收尾；参考文献附页不逐页讲解。</a:t>
            </a:r>
          </a:p>
          <a:p/>
          <a:p>
            <a:r>
              <a:t>乙：最后，我们把今天的内容收在三句话里。第一，先看说明书，再做用药决定，不让包装和熟悉感替我们判断。第二，核对重复成分，并记录已经服用的药物、时间和用量。第三，遇到不确定的信息，向医生或药师询问；该就医的时候，不继续靠自己试药。</a:t>
            </a:r>
          </a:p>
          <a:p>
            <a:r>
              <a:t>甲：希望下一次室友拿出药盒时，大家能多做一个核对动作，多问一个具体问题。</a:t>
            </a:r>
          </a:p>
          <a:p>
            <a:r>
              <a:t>乙：药可以常备，判断不能省略。谢谢大家。我们的数据出处和参考资料放在后面的附页，方便课后查阅。</a:t>
            </a:r>
          </a:p>
          <a:p>
            <a:r>
              <a:t>【留出约10秒结束停顿；不在35分钟内另加开放讨论。】</a:t>
            </a:r>
          </a:p>
          <a:p/>
          <a:p>
            <a:r>
              <a:t>视觉说明：蓝底白字收尾，红色胶囊图形；复现开场视觉。</a:t>
            </a:r>
          </a:p>
          <a:p/>
          <a:p>
            <a:r>
              <a:t>参考：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[S3] Wolf MS, et al. Risk of Unintentional Overdose with Non-Prescription Acetaminophen Products. J Gen Intern Med. 2012;27:1587–1593. DOI: 10.1007/s11606-012-2096-3.</a:t>
            </a:r>
          </a:p>
          <a:p>
            <a:r>
              <a:t>https://pmc.ncbi.nlm.nih.gov/articles/PMC3509295/</a:t>
            </a:r>
          </a:p>
          <a:p/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[S5] Antimicrobial Resistance Collaborators. Global burden of bacterial antimicrobial resistance in 2019: a systematic analysis. Lancet. 2022;399:629–655. DOI: 10.1016/S0140-6736(21)02724-0.</a:t>
            </a:r>
          </a:p>
          <a:p>
            <a:r>
              <a:t>https://pmc.ncbi.nlm.nih.gov/articles/PMC8841637/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[S6] FDA（2023）Updating warnings to improve safe use of prescription stimulants used to treat ADHD and other conditions.</a:t>
            </a:r>
          </a:p>
          <a:p>
            <a:r>
              <a:t>https://www.fda.gov/drugs/drug-safety-communications/fda-updating-warnings-improve-safe-use-prescription-stimulants-used-treat-adhd-and-other-conditions</a:t>
            </a:r>
          </a:p>
          <a:p/>
          <a:p>
            <a:r>
              <a:t>[S7] 市场监管总局《关于防范保健食品功能声称虚假宣传的消费提示》</a:t>
            </a:r>
          </a:p>
          <a:p>
            <a:r>
              <a:t>https://www.samr.gov.cn/xw/zj/art/2023/art_d03ccbcf0c7e482198c4adfa23f9e59a.html</a:t>
            </a:r>
          </a:p>
          <a:p/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hc.gov.cn/yzygj/c100068/202002/fdb7240014db4d49827ca25bbb41b177.shtml" TargetMode="External"/><Relationship Id="rId3" Type="http://schemas.openxmlformats.org/officeDocument/2006/relationships/hyperlink" Target="https://www.fda.gov/consumers/consumer-updates/dont-overuse-acetaminophen" TargetMode="External"/><Relationship Id="rId4" Type="http://schemas.openxmlformats.org/officeDocument/2006/relationships/hyperlink" Target="https://pmc.ncbi.nlm.nih.gov/articles/PMC3509295/" TargetMode="External"/><Relationship Id="rId5" Type="http://schemas.openxmlformats.org/officeDocument/2006/relationships/hyperlink" Target="https://www.cdc.gov/antibiotic-use/about/" TargetMode="External"/><Relationship Id="rId6" Type="http://schemas.openxmlformats.org/officeDocument/2006/relationships/hyperlink" Target="https://pmc.ncbi.nlm.nih.gov/articles/PMC8841637/" TargetMode="External"/><Relationship Id="rId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da.gov/drugs/drug-safety-communications/fda-updating-warnings-improve-safe-use-prescription-stimulants-used-treat-adhd-and-other-conditions" TargetMode="External"/><Relationship Id="rId3" Type="http://schemas.openxmlformats.org/officeDocument/2006/relationships/hyperlink" Target="https://www.samr.gov.cn/xw/zj/art/2023/art_d03ccbcf0c7e482198c4adfa23f9e59a.html" TargetMode="External"/><Relationship Id="rId4" Type="http://schemas.openxmlformats.org/officeDocument/2006/relationships/hyperlink" Target="https://www.nhs.uk/medicines/antihistamines/" TargetMode="External"/><Relationship Id="rId5" Type="http://schemas.openxmlformats.org/officeDocument/2006/relationships/hyperlink" Target="https://www.niaaa.nih.gov/health-professionals-communities/core-resource-on-alcohol/alcohol-medication-interactions-potentially-dangerous-mixes" TargetMode="External"/><Relationship Id="rId6" Type="http://schemas.openxmlformats.org/officeDocument/2006/relationships/hyperlink" Target="https://sps.nhs.uk/articles/advising-on-missed-or-delayed-doses-of-medicines/" TargetMode="External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dc.gov/common-cold/treatment/index.html" TargetMode="External"/><Relationship Id="rId3" Type="http://schemas.openxmlformats.org/officeDocument/2006/relationships/hyperlink" Target="https://www.nhs.uk/conditions/anaphylaxis/" TargetMode="External"/><Relationship Id="rId4" Type="http://schemas.openxmlformats.org/officeDocument/2006/relationships/hyperlink" Target="https://www.nhs.uk/medicines/omeprazole/" TargetMode="External"/><Relationship Id="rId5" Type="http://schemas.openxmlformats.org/officeDocument/2006/relationships/hyperlink" Target="https://pmc.ncbi.nlm.nih.gov/articles/PMC3650962/" TargetMode="External"/><Relationship Id="rId6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94360"/>
            <a:ext cx="201168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1" y="612648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校园用药生存课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640080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100" b="1">
                <a:solidFill>
                  <a:srgbClr val="FFFFFF"/>
                </a:solidFill>
                <a:latin typeface="Noto Sans CJK SC"/>
                <a:ea typeface="Noto Sans CJK SC"/>
              </a:rPr>
              <a:t>合理用药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15184"/>
            <a:ext cx="6126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给宿舍药箱上堂课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75887"/>
            <a:ext cx="61264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FFFFFF"/>
                </a:solidFill>
                <a:latin typeface="Noto Sans CJK SC"/>
                <a:ea typeface="Noto Sans CJK SC"/>
              </a:rPr>
              <a:t>会选药 · 看成分 · 避误区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6309360" cy="8869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苏州大学｜选修课课堂展示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主讲：同学甲 / 同学乙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060704"/>
            <a:ext cx="41605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2688" y="1572768"/>
            <a:ext cx="895380" cy="8953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8044708" y="1535460"/>
            <a:ext cx="951341" cy="708842"/>
          </a:xfrm>
          <a:prstGeom prst="arc">
            <a:avLst/>
          </a:prstGeom>
          <a:solidFill>
            <a:srgbClr val="153E75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33841" y="1973823"/>
            <a:ext cx="69951" cy="69951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8263" y="1973823"/>
            <a:ext cx="69951" cy="69951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455091" y="2234976"/>
            <a:ext cx="167883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820863" y="2533436"/>
            <a:ext cx="1399032" cy="1399032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324514" y="2561417"/>
            <a:ext cx="195865" cy="233172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520379" y="2561417"/>
            <a:ext cx="195864" cy="233172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93938" y="3260933"/>
            <a:ext cx="624900" cy="289133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5208" y="3227832"/>
            <a:ext cx="1069848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665208" y="3227832"/>
            <a:ext cx="1069848" cy="256032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123432" y="3696004"/>
            <a:ext cx="119384" cy="351129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07559" y="3811877"/>
            <a:ext cx="351129" cy="119384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20072" y="4310481"/>
            <a:ext cx="960119" cy="2779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先核对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4846320"/>
            <a:ext cx="1389888" cy="256032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4919472"/>
            <a:ext cx="1280160" cy="1097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56448" y="4553712"/>
            <a:ext cx="1389888" cy="256032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02168" y="4626864"/>
            <a:ext cx="1280160" cy="1097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32720" y="4645152"/>
            <a:ext cx="570585" cy="7132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0404043" y="4916180"/>
            <a:ext cx="427939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28"/>
          <p:cNvSpPr/>
          <p:nvPr/>
        </p:nvSpPr>
        <p:spPr>
          <a:xfrm>
            <a:off x="10767791" y="4787798"/>
            <a:ext cx="356616" cy="356616"/>
          </a:xfrm>
          <a:prstGeom prst="arc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680960" y="5513832"/>
            <a:ext cx="3520440" cy="0"/>
          </a:xfrm>
          <a:prstGeom prst="line">
            <a:avLst/>
          </a:prstGeom>
          <a:ln w="381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 rot="20100000">
            <a:off x="10177272" y="1920240"/>
            <a:ext cx="914400" cy="393192"/>
          </a:xfrm>
          <a:prstGeom prst="roundRect">
            <a:avLst/>
          </a:prstGeom>
          <a:solidFill>
            <a:srgbClr val="E3464F"/>
          </a:solidFill>
          <a:ln w="1905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20100000">
            <a:off x="10268712" y="2002536"/>
            <a:ext cx="235915" cy="23591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282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Noto Sans CJK SC"/>
                <a:ea typeface="Noto Sans CJK SC"/>
              </a:rPr>
              <a:t>35分钟 · 2位讲者 · 4部分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室友感冒了，你先做哪一步？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举手选择 A / B / C｜暂不揭晓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02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020824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48256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947672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先吃室友推荐的两种感冒药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08376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182112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209544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108960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先看症状、成分和注意事项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69664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4343400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370832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270248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先加一粒抗生素，求个安心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合理用药，要同时过四关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刚才选 B：先了解，再决定。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03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安全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关注禁忌与不良反应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有效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针对真正需要解决的问题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经济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避免不必要的花费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适宜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适合这个人、这个时机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高中生物连接：药物也要找“靶点”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结构与功能有关｜靶点也可能分布在多个部位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6192" y="2633472"/>
            <a:ext cx="1280160" cy="548640"/>
          </a:xfrm>
          <a:prstGeom prst="roundRect">
            <a:avLst/>
          </a:prstGeom>
          <a:solidFill>
            <a:srgbClr val="E3464F"/>
          </a:solidFill>
          <a:ln w="1905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27632" y="271576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3822191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  <a:ea typeface="Noto Sans CJK SC"/>
              </a:rPr>
              <a:t>药物</a:t>
            </a:r>
          </a:p>
        </p:txBody>
      </p:sp>
      <p:sp>
        <p:nvSpPr>
          <p:cNvPr id="12" name="Chevron 11"/>
          <p:cNvSpPr/>
          <p:nvPr/>
        </p:nvSpPr>
        <p:spPr>
          <a:xfrm>
            <a:off x="3246120" y="2834640"/>
            <a:ext cx="603504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4663440" y="2459736"/>
            <a:ext cx="1316736" cy="1115568"/>
          </a:xfrm>
          <a:prstGeom prst="hexagon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822191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  <a:ea typeface="Noto Sans CJK SC"/>
              </a:rPr>
              <a:t>受体 / 酶</a:t>
            </a:r>
          </a:p>
        </p:txBody>
      </p:sp>
      <p:sp>
        <p:nvSpPr>
          <p:cNvPr id="15" name="Chevron 14"/>
          <p:cNvSpPr/>
          <p:nvPr/>
        </p:nvSpPr>
        <p:spPr>
          <a:xfrm>
            <a:off x="6858000" y="2834640"/>
            <a:ext cx="603504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03336" y="2532888"/>
            <a:ext cx="1024128" cy="10241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788920"/>
            <a:ext cx="950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822191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  <a:ea typeface="Noto Sans CJK SC"/>
              </a:rPr>
              <a:t>反应发生变化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28032"/>
            <a:ext cx="1014984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53E75"/>
                </a:solidFill>
                <a:latin typeface="Noto Sans CJK SC"/>
                <a:ea typeface="Noto Sans CJK SC"/>
              </a:rPr>
              <a:t>蛋白质的结构，与功能有关。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今天的路线：从会判断，到会行动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全程约35分钟，已包含举手互动。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3591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5204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53E75"/>
                </a:solidFill>
                <a:latin typeface="Noto Sans CJK SC"/>
                <a:ea typeface="Noto Sans CJK SC"/>
              </a:rPr>
              <a:t>基本原则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34340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5分钟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23591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5204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53E75"/>
                </a:solidFill>
                <a:latin typeface="Noto Sans CJK SC"/>
                <a:ea typeface="Noto Sans CJK SC"/>
              </a:rPr>
              <a:t>宿舍误区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34340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17分钟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0528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39128" y="23591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35204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53E75"/>
                </a:solidFill>
                <a:latin typeface="Noto Sans CJK SC"/>
                <a:ea typeface="Noto Sans CJK SC"/>
              </a:rPr>
              <a:t>安全用药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34340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8分钟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9176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37776" y="23591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35204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53E75"/>
                </a:solidFill>
                <a:latin typeface="Noto Sans CJK SC"/>
                <a:ea typeface="Noto Sans CJK SC"/>
              </a:rPr>
              <a:t>选择挑战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7776" y="434340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5分钟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案例①：两盒感冒药，真是“双保险”？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虚构情境｜包装不同，成分可能重复。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06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1856231"/>
            <a:ext cx="3712463" cy="359359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32091" y="2450592"/>
            <a:ext cx="948049" cy="948049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802465" y="2411089"/>
            <a:ext cx="1007303" cy="750539"/>
          </a:xfrm>
          <a:prstGeom prst="arc">
            <a:avLst/>
          </a:prstGeom>
          <a:solidFill>
            <a:srgbClr val="153E75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08606" y="2875239"/>
            <a:ext cx="74066" cy="74066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83876" y="2875239"/>
            <a:ext cx="74066" cy="74066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236988" y="3151753"/>
            <a:ext cx="177759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65452" y="3467770"/>
            <a:ext cx="1481328" cy="1481328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098730" y="3497397"/>
            <a:ext cx="207386" cy="246888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2306116" y="3497397"/>
            <a:ext cx="207386" cy="246888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960473" y="4238061"/>
            <a:ext cx="661659" cy="306141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3712463"/>
            <a:ext cx="68580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0" y="3712463"/>
            <a:ext cx="685800" cy="210311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99065" y="4048963"/>
            <a:ext cx="81610" cy="240029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19856" y="4128173"/>
            <a:ext cx="240029" cy="81610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55264" y="4490618"/>
            <a:ext cx="576072" cy="1997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35" b="1">
                <a:solidFill>
                  <a:srgbClr val="153E75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5456" y="3886200"/>
            <a:ext cx="566928" cy="89611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05456" y="3886200"/>
            <a:ext cx="566928" cy="179222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52353" y="4172955"/>
            <a:ext cx="67464" cy="198424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86872" y="4238436"/>
            <a:ext cx="198424" cy="67464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0" y="4549322"/>
            <a:ext cx="457200" cy="170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53E75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186537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小苏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2312" y="231343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一盒治头痛，一盒治感冒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2312" y="305409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室友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2312" y="350215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名字不同，应该能一起吃？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82312" y="424281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先暂停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82312" y="469087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翻到“成分”一栏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看成分，才能发现“隐形重复”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通用名 / 成分优先于商品名｜示意标签，不是实际说明书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5074920" cy="2340864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121408"/>
            <a:ext cx="15544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139696"/>
            <a:ext cx="14081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教学标签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272491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有效成分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3246120"/>
            <a:ext cx="4663440" cy="6217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42976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3464F"/>
                </a:solidFill>
                <a:latin typeface="Noto Sans CJK SC"/>
                <a:ea typeface="Noto Sans CJK SC"/>
              </a:rPr>
              <a:t>对乙酰氨基酚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920240"/>
            <a:ext cx="5074920" cy="2340864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02552" y="2121408"/>
            <a:ext cx="15544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75704" y="2139696"/>
            <a:ext cx="14081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教学标签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9983" y="272491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有效成分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93407" y="3246120"/>
            <a:ext cx="4663440" cy="6217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328416"/>
            <a:ext cx="42976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3464F"/>
                </a:solidFill>
                <a:latin typeface="Noto Sans CJK SC"/>
                <a:ea typeface="Noto Sans CJK SC"/>
              </a:rPr>
              <a:t>对乙酰氨基酚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7416" y="3931920"/>
            <a:ext cx="43891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＋其他成分</a:t>
            </a:r>
          </a:p>
        </p:txBody>
      </p:sp>
      <p:sp>
        <p:nvSpPr>
          <p:cNvPr id="22" name="Chevron 21"/>
          <p:cNvSpPr/>
          <p:nvPr/>
        </p:nvSpPr>
        <p:spPr>
          <a:xfrm>
            <a:off x="3383280" y="4581144"/>
            <a:ext cx="45720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8641080" y="4581144"/>
            <a:ext cx="45720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3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成分会汇合，风险不能按药盒“分开算”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真实研究：模拟用药，也容易出错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两项指标可能重叠，不能相加；不是实际中毒率。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来源：S3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764792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美国成人模拟任务｜n = 500｜2012年｜单位：%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22960" y="2395728"/>
          <a:ext cx="10515600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184648"/>
            <a:ext cx="106070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53E75"/>
                </a:solidFill>
                <a:latin typeface="Noto Sans CJK SC"/>
                <a:ea typeface="Noto Sans CJK SC"/>
              </a:rPr>
              <a:t>研究判断的是潜在超量风险，不是实际中毒事件。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选择题②：两盒都含相同成分，怎么办？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请选最稳妥的下一步｜答案在下一页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09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020824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48256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947672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商品名不同，可以照常同服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08376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182112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209544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108960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两种各减一半，自己调一调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69664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4343400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370832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270248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暂不叠加，核对说明书并问药师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C：先核对，再决定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少猜一步，就少一个出错机会。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57400"/>
            <a:ext cx="210312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E3464F"/>
                </a:solidFill>
                <a:latin typeface="Noto Sans CJK SC"/>
                <a:ea typeface="Noto Sans CJK SC"/>
              </a:rPr>
              <a:t>C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同成分：先不自行叠加</a:t>
            </a:r>
          </a:p>
        </p:txBody>
      </p:sp>
      <p:sp>
        <p:nvSpPr>
          <p:cNvPr id="12" name="Oval 11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规格、时间、已服药物：一起核对</a:t>
            </a:r>
          </a:p>
        </p:txBody>
      </p:sp>
      <p:sp>
        <p:nvSpPr>
          <p:cNvPr id="14" name="Oval 13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拿不准：带包装或照片问药师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案例②：抗生素，不是感冒的通用答案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普通感冒通常由病毒引起；是否需要抗生素，由医生判断。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来源：S4; S11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11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865376"/>
            <a:ext cx="5285232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91656" y="1865376"/>
            <a:ext cx="5285232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07592" y="2542032"/>
            <a:ext cx="1856231" cy="978408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36192" y="2816352"/>
            <a:ext cx="109728" cy="1097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01368" y="2816352"/>
            <a:ext cx="109728" cy="1097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66543" y="2816352"/>
            <a:ext cx="109728" cy="1097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31720" y="2816352"/>
            <a:ext cx="109728" cy="1097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96896" y="2816352"/>
            <a:ext cx="109728" cy="1097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1344168" y="2240280"/>
            <a:ext cx="27432" cy="237744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1719072" y="2240280"/>
            <a:ext cx="27432" cy="237744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2093976" y="2240280"/>
            <a:ext cx="27432" cy="237744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2468880" y="2240280"/>
            <a:ext cx="27432" cy="237744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2843784" y="2240280"/>
            <a:ext cx="27431" cy="237744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456432" y="2624328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细菌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3922776"/>
            <a:ext cx="470916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具有细胞结构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细胞壁合成等可成为靶点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01583" y="2880360"/>
            <a:ext cx="274321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30183" y="2834640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039105" y="3113532"/>
            <a:ext cx="237568" cy="137159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230953" y="3204972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7868412" y="3284225"/>
            <a:ext cx="137159" cy="237568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959851" y="3476073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635240" y="3346704"/>
            <a:ext cx="0" cy="27432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589519" y="3575304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7264907" y="3284225"/>
            <a:ext cx="137160" cy="237568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219188" y="3476073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6993806" y="3113532"/>
            <a:ext cx="237568" cy="137159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948086" y="3204972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6894575" y="2880360"/>
            <a:ext cx="274321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848855" y="2834640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H="1" flipV="1">
            <a:off x="6993806" y="2510028"/>
            <a:ext cx="237568" cy="13716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6948086" y="2464308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7264907" y="2238926"/>
            <a:ext cx="137160" cy="237568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7219188" y="2193206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7635240" y="2139696"/>
            <a:ext cx="0" cy="274319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7589519" y="2093976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7868412" y="2238926"/>
            <a:ext cx="137159" cy="237568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959851" y="2193206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8039105" y="2510027"/>
            <a:ext cx="237568" cy="13716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8230953" y="2464308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168896" y="2414015"/>
            <a:ext cx="932688" cy="9326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 rot="20100000">
            <a:off x="7415783" y="2788920"/>
            <a:ext cx="438912" cy="173736"/>
          </a:xfrm>
          <a:prstGeom prst="roundRect">
            <a:avLst/>
          </a:prstGeom>
          <a:solidFill>
            <a:srgbClr val="E3464F"/>
          </a:solidFill>
          <a:ln w="1905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 rot="20100000">
            <a:off x="7507223" y="2871215"/>
            <a:ext cx="104241" cy="10424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33104" y="2624328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病毒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84264" y="3922776"/>
            <a:ext cx="4645152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没有细胞结构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抗生素不治疗普通感冒病毒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耐药：被筛选出来的是细菌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连接高中生物：变异＋选择｜不是“人吃出了耐药体质”。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来源：S4; S5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12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3246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121408"/>
            <a:ext cx="288036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原有差异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4712" y="2926080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 rot="1200000">
            <a:off x="1764792" y="2926080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04872" y="2926080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200000">
            <a:off x="3044951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24712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 rot="1200000">
            <a:off x="1764792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04872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 rot="1200000">
            <a:off x="3044951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4712" y="3968496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 rot="1200000">
            <a:off x="1764792" y="3968496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04872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 rot="1200000">
            <a:off x="3044951" y="3968496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4142232" y="3401568"/>
            <a:ext cx="32004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26864" y="1920240"/>
            <a:ext cx="3246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121408"/>
            <a:ext cx="288036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药物选择压力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4336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54496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4663440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153E75"/>
                </a:solidFill>
                <a:latin typeface="Noto Sans CJK SC"/>
                <a:ea typeface="Noto Sans CJK SC"/>
              </a:rPr>
              <a:t>敏感菌更易被抑制</a:t>
            </a:r>
          </a:p>
        </p:txBody>
      </p:sp>
      <p:sp>
        <p:nvSpPr>
          <p:cNvPr id="29" name="Chevron 28"/>
          <p:cNvSpPr/>
          <p:nvPr/>
        </p:nvSpPr>
        <p:spPr>
          <a:xfrm>
            <a:off x="7991856" y="3401568"/>
            <a:ext cx="32004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76488" y="1920240"/>
            <a:ext cx="3246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9367" y="2121408"/>
            <a:ext cx="288036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存活并繁殖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2396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 rot="1200000">
            <a:off x="946404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0412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 rot="1200000">
            <a:off x="1074420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396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 rot="1200000">
            <a:off x="946404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412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 rot="1200000">
            <a:off x="1074420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82396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 rot="1200000">
            <a:off x="946404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10412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 rot="1200000">
            <a:off x="1074420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" y="5431536"/>
            <a:ext cx="105156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蓝：敏感菌　红：耐药菌　｜　数量仅为示意，不代表实验比例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耐药风险，有多大？看清数据口径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2019年全球估计｜两种口径，不可相加。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来源：S5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13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2019年全球细菌耐药负担｜单位：万人｜2022年发表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560320"/>
            <a:ext cx="1947672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相关死亡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587752"/>
            <a:ext cx="5625519" cy="457200"/>
          </a:xfrm>
          <a:prstGeom prst="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040096" y="3227832"/>
            <a:ext cx="3352582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040096" y="3136392"/>
            <a:ext cx="0" cy="18288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92678" y="3136392"/>
            <a:ext cx="0" cy="18288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79615" y="2560320"/>
            <a:ext cx="1097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495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099816"/>
            <a:ext cx="20482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3E75"/>
                </a:solidFill>
                <a:latin typeface="Noto Sans CJK SC"/>
                <a:ea typeface="Noto Sans CJK SC"/>
              </a:rPr>
              <a:t>区间：362—657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85615"/>
            <a:ext cx="1947672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归因死亡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813048"/>
            <a:ext cx="1443315" cy="457200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961402" y="4453128"/>
            <a:ext cx="908039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61402" y="4361688"/>
            <a:ext cx="0" cy="18288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869441" y="4361688"/>
            <a:ext cx="0" cy="18288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97411" y="3785615"/>
            <a:ext cx="1097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127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325112"/>
            <a:ext cx="20482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3E75"/>
                </a:solidFill>
                <a:latin typeface="Noto Sans CJK SC"/>
                <a:ea typeface="Noto Sans CJK SC"/>
              </a:rPr>
              <a:t>区间：91.1—171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5138928"/>
            <a:ext cx="7955279" cy="0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926080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670048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62548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06516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100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199017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942985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200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335485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79453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300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71954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215922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400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608422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52390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500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744891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488859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600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881359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625328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700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4126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3E75"/>
                </a:solidFill>
                <a:latin typeface="Noto Sans CJK SC"/>
                <a:ea typeface="Noto Sans CJK SC"/>
              </a:rPr>
              <a:t>细线表示95%不确定性区间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抗生素的三条行动规则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出现不良反应或疗效疑问，及时联系医生 / 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50976" y="219456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21284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60904"/>
            <a:ext cx="293522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不自行启用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60"/>
            <a:ext cx="2935224" cy="183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先明确是否需要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91456" y="219456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221284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660904"/>
            <a:ext cx="293522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不分享剩药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337560"/>
            <a:ext cx="2935224" cy="183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相似症状不等于相同病因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31936" y="219456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221284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660904"/>
            <a:ext cx="293522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按处方使用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337560"/>
            <a:ext cx="2935224" cy="183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不擅自停、加或延长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案例③：“备考外挂”，真的值得试？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清醒感，不等于学习效果的保证。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来源：S6; S7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1856231"/>
            <a:ext cx="3712463" cy="359359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32091" y="2450592"/>
            <a:ext cx="948049" cy="948049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802465" y="2411089"/>
            <a:ext cx="1007303" cy="750539"/>
          </a:xfrm>
          <a:prstGeom prst="arc">
            <a:avLst/>
          </a:prstGeom>
          <a:solidFill>
            <a:srgbClr val="153E75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08606" y="2875239"/>
            <a:ext cx="74066" cy="74066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83876" y="2875239"/>
            <a:ext cx="74066" cy="74066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236988" y="3151753"/>
            <a:ext cx="177759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65452" y="3467770"/>
            <a:ext cx="1481328" cy="1481328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098730" y="3497397"/>
            <a:ext cx="207386" cy="246888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2306116" y="3497397"/>
            <a:ext cx="207386" cy="246888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960473" y="4238061"/>
            <a:ext cx="661659" cy="306141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87168" y="4974336"/>
            <a:ext cx="1280160" cy="256032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32888" y="5047488"/>
            <a:ext cx="1170431" cy="1097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96896" y="4681728"/>
            <a:ext cx="1280160" cy="256032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42616" y="4754880"/>
            <a:ext cx="1170431" cy="1097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0120" y="1984248"/>
            <a:ext cx="246888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2002536"/>
            <a:ext cx="23225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“提分保证”？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2312" y="186537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保健食品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312" y="231343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不能代替药物治疗疾病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2312" y="305409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“提高考试成绩”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350215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警惕夸大宣传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424281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处方兴奋剂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2312" y="469087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不借药、不自行购买服用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案例④：鼻子舒服了，上课却困了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不能仅凭“抗过敏药”四个字判断影响。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16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1856231"/>
            <a:ext cx="3712463" cy="359359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32091" y="2450592"/>
            <a:ext cx="948049" cy="948049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802465" y="2411089"/>
            <a:ext cx="1007303" cy="750539"/>
          </a:xfrm>
          <a:prstGeom prst="arc">
            <a:avLst/>
          </a:prstGeom>
          <a:solidFill>
            <a:srgbClr val="153E75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108606" y="2924616"/>
            <a:ext cx="138257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483876" y="2924616"/>
            <a:ext cx="138257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236988" y="3151753"/>
            <a:ext cx="177759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65452" y="3467770"/>
            <a:ext cx="1481328" cy="1481328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098730" y="3497397"/>
            <a:ext cx="207386" cy="246888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2306116" y="3497397"/>
            <a:ext cx="207386" cy="246888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960473" y="4238061"/>
            <a:ext cx="661659" cy="306141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8896" y="2430840"/>
            <a:ext cx="888796" cy="3950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Z 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4919472"/>
            <a:ext cx="1371600" cy="256032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06039" y="4992624"/>
            <a:ext cx="1261872" cy="1097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70048" y="4626864"/>
            <a:ext cx="1371600" cy="256032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15768" y="4700016"/>
            <a:ext cx="1261872" cy="1097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82312" y="186537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部分抗组胺药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2312" y="231343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可能引起嗜睡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312" y="305409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“较少嗜睡”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2312" y="350215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不代表人人都不困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424281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困倦时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469087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避免驾驶、骑车等高风险活动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同一条信号，在不同部位有不同作用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这是简化机制图；不能据此自行换药。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S14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9384"/>
            <a:ext cx="523951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6695" y="2185416"/>
            <a:ext cx="1399032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2203704"/>
            <a:ext cx="12527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外周组织</a:t>
            </a:r>
          </a:p>
        </p:txBody>
      </p:sp>
      <p:sp>
        <p:nvSpPr>
          <p:cNvPr id="12" name="Oval 11"/>
          <p:cNvSpPr/>
          <p:nvPr/>
        </p:nvSpPr>
        <p:spPr>
          <a:xfrm>
            <a:off x="1243584" y="3054096"/>
            <a:ext cx="594360" cy="59436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12848" y="3154680"/>
            <a:ext cx="484632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3236976" y="2980944"/>
            <a:ext cx="832104" cy="777240"/>
          </a:xfrm>
          <a:prstGeom prst="hexagon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4123944"/>
            <a:ext cx="474573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组胺信号 → 参与过敏症状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9088" y="1929384"/>
            <a:ext cx="523951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38544" y="2185416"/>
            <a:ext cx="1399032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1696" y="2203704"/>
            <a:ext cx="12527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脑内</a:t>
            </a:r>
          </a:p>
        </p:txBody>
      </p:sp>
      <p:sp>
        <p:nvSpPr>
          <p:cNvPr id="19" name="Oval 18"/>
          <p:cNvSpPr/>
          <p:nvPr/>
        </p:nvSpPr>
        <p:spPr>
          <a:xfrm>
            <a:off x="6885431" y="3054096"/>
            <a:ext cx="594360" cy="59436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/>
          <p:cNvSpPr/>
          <p:nvPr/>
        </p:nvSpPr>
        <p:spPr>
          <a:xfrm>
            <a:off x="7854696" y="3154680"/>
            <a:ext cx="484632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8878824" y="2980944"/>
            <a:ext cx="832104" cy="777240"/>
          </a:xfrm>
          <a:prstGeom prst="hexagon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1" y="4123944"/>
            <a:ext cx="474573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组胺信号 → 参与清醒状态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589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3464F"/>
                </a:solidFill>
                <a:latin typeface="Noto Sans CJK SC"/>
                <a:ea typeface="Noto Sans CJK SC"/>
              </a:rPr>
              <a:t>部分抗组胺药进入脑内后，可能引起嗜睡。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案例⑤：聚餐的酒，先缓一缓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拿不准能否饮酒：先不喝，再查说明书或问药师。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S9; S13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18 / 30</a:t>
            </a:r>
          </a:p>
        </p:txBody>
      </p:sp>
      <p:sp>
        <p:nvSpPr>
          <p:cNvPr id="9" name="Trapezoid 8"/>
          <p:cNvSpPr/>
          <p:nvPr/>
        </p:nvSpPr>
        <p:spPr>
          <a:xfrm>
            <a:off x="950976" y="2112264"/>
            <a:ext cx="863193" cy="755294"/>
          </a:xfrm>
          <a:prstGeom prst="trapezoid">
            <a:avLst/>
          </a:prstGeom>
          <a:solidFill>
            <a:srgbClr val="FFFFFF"/>
          </a:solidFill>
          <a:ln w="2540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382572" y="2867558"/>
            <a:ext cx="0" cy="539496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2824" y="3407054"/>
            <a:ext cx="539496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50592" y="2075688"/>
            <a:ext cx="987552" cy="15727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50592" y="2075688"/>
            <a:ext cx="987552" cy="256032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80670" y="2578973"/>
            <a:ext cx="117518" cy="345643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66608" y="2693036"/>
            <a:ext cx="345643" cy="11751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05456" y="3239536"/>
            <a:ext cx="877824" cy="298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需确认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5384" y="2551176"/>
            <a:ext cx="746150" cy="9326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308652" y="2905597"/>
            <a:ext cx="559613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c 18"/>
          <p:cNvSpPr/>
          <p:nvPr/>
        </p:nvSpPr>
        <p:spPr>
          <a:xfrm>
            <a:off x="4784323" y="2737713"/>
            <a:ext cx="466344" cy="466344"/>
          </a:xfrm>
          <a:prstGeom prst="arc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4169663"/>
            <a:ext cx="443484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E3464F"/>
                </a:solidFill>
                <a:latin typeface="Noto Sans CJK SC"/>
                <a:ea typeface="Noto Sans CJK SC"/>
              </a:rPr>
              <a:t>先不喝酒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E3464F"/>
                </a:solidFill>
                <a:latin typeface="Noto Sans CJK SC"/>
                <a:ea typeface="Noto Sans CJK SC"/>
              </a:rPr>
              <a:t>再核对要求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1264" y="1901952"/>
            <a:ext cx="579729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酒精＋部分抗过敏药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1264" y="2423160"/>
            <a:ext cx="5797296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嗜睡与反应受损风险增加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3108960"/>
            <a:ext cx="579729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酒精＋某些药物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1264" y="3630168"/>
            <a:ext cx="5797296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可能增加其他不良反应风险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1264" y="4315968"/>
            <a:ext cx="579729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普通口服片剂 / 胶囊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41264" y="4837176"/>
            <a:ext cx="5797296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通常用白水，具体看说明书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选择题③：聚餐前，选哪条路线？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背景：今天服了抗过敏药，具体饮酒要求尚未确认。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S9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19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020824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48256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947672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已经吃过药，统一等两小时再喝酒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08376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182112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209544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108960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看具体药品要求；拿不准就先不喝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69664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4343400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370832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270248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只要不醉，就不会与药物相互作用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安全用药四步：看、核、问、记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上一题选 B｜把“不确定”变成一个咨询动作。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来源：S1; S2; S8; S9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20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症状、说明书、就医信号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成分、剂量、间隔、禁忌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医生 / 药师，确认不确定处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药名、时间、用量与反应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说明书很长？先定位这六处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六处是阅读起点，不代表其余内容可以跳过。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来源：S1; S2; 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21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1801368"/>
            <a:ext cx="10305288" cy="37673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07008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029968"/>
            <a:ext cx="404164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成分 / 通用名</a:t>
            </a:r>
          </a:p>
        </p:txBody>
      </p:sp>
      <p:sp>
        <p:nvSpPr>
          <p:cNvPr id="13" name="Oval 12"/>
          <p:cNvSpPr/>
          <p:nvPr/>
        </p:nvSpPr>
        <p:spPr>
          <a:xfrm>
            <a:off x="6208776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8" y="2029968"/>
            <a:ext cx="404164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适应证或功能主治</a:t>
            </a:r>
          </a:p>
        </p:txBody>
      </p:sp>
      <p:sp>
        <p:nvSpPr>
          <p:cNvPr id="16" name="Oval 15"/>
          <p:cNvSpPr/>
          <p:nvPr/>
        </p:nvSpPr>
        <p:spPr>
          <a:xfrm>
            <a:off x="1207008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7008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118104"/>
            <a:ext cx="404164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用法用量</a:t>
            </a:r>
          </a:p>
        </p:txBody>
      </p:sp>
      <p:sp>
        <p:nvSpPr>
          <p:cNvPr id="19" name="Oval 18"/>
          <p:cNvSpPr/>
          <p:nvPr/>
        </p:nvSpPr>
        <p:spPr>
          <a:xfrm>
            <a:off x="6208776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8776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3118104"/>
            <a:ext cx="404164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禁忌与注意事项</a:t>
            </a:r>
          </a:p>
        </p:txBody>
      </p:sp>
      <p:sp>
        <p:nvSpPr>
          <p:cNvPr id="22" name="Oval 21"/>
          <p:cNvSpPr/>
          <p:nvPr/>
        </p:nvSpPr>
        <p:spPr>
          <a:xfrm>
            <a:off x="1207008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07008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206240"/>
            <a:ext cx="404164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相互作用 / 不良反应</a:t>
            </a:r>
          </a:p>
        </p:txBody>
      </p:sp>
      <p:sp>
        <p:nvSpPr>
          <p:cNvPr id="25" name="Oval 24"/>
          <p:cNvSpPr/>
          <p:nvPr/>
        </p:nvSpPr>
        <p:spPr>
          <a:xfrm>
            <a:off x="6208776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08776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4206240"/>
            <a:ext cx="404164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贮藏条件 / 有效期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30952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教学阅读示意，不是实际药品说明书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时间、剂量、剂型，都别凭感觉改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不同药物要求不同；不要套用同一条补药规则。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来源：S10; S13; 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22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50976" y="219456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21284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60904"/>
            <a:ext cx="293522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漏服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60"/>
            <a:ext cx="2935224" cy="183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先查具体处理要求，不自行加倍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91456" y="219456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221284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660904"/>
            <a:ext cx="293522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疗程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337560"/>
            <a:ext cx="2935224" cy="183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按处方执行，有问题及时咨询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31936" y="219456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221284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660904"/>
            <a:ext cx="293522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剂型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337560"/>
            <a:ext cx="2935224" cy="183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缓释、肠溶等，不随意掰碎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问药师时，把信息一次说清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带药盒 / 说明书照片，比“那种白色药片”更有用。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23 / 30</a:t>
            </a:r>
          </a:p>
        </p:txBody>
      </p:sp>
      <p:sp>
        <p:nvSpPr>
          <p:cNvPr id="9" name="Oval 8"/>
          <p:cNvSpPr/>
          <p:nvPr/>
        </p:nvSpPr>
        <p:spPr>
          <a:xfrm>
            <a:off x="1456273" y="2496312"/>
            <a:ext cx="904158" cy="90415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428018" y="2458638"/>
            <a:ext cx="960668" cy="715792"/>
          </a:xfrm>
          <a:prstGeom prst="arc">
            <a:avLst/>
          </a:prstGeom>
          <a:solidFill>
            <a:srgbClr val="153E75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19986" y="2901299"/>
            <a:ext cx="70637" cy="70637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77882" y="2901299"/>
            <a:ext cx="70637" cy="70637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842424" y="3165012"/>
            <a:ext cx="169530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201978" y="3466398"/>
            <a:ext cx="1412748" cy="1412748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710568" y="3494653"/>
            <a:ext cx="197784" cy="235458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908352" y="3494653"/>
            <a:ext cx="197785" cy="235458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578711" y="4201027"/>
            <a:ext cx="631027" cy="291967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02736" y="1975104"/>
            <a:ext cx="7726679" cy="34015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86200" y="2240279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15384" y="2103120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我有什么症状，持续多久？</a:t>
            </a:r>
          </a:p>
        </p:txBody>
      </p:sp>
      <p:sp>
        <p:nvSpPr>
          <p:cNvPr id="21" name="Oval 20"/>
          <p:cNvSpPr/>
          <p:nvPr/>
        </p:nvSpPr>
        <p:spPr>
          <a:xfrm>
            <a:off x="3886200" y="322783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15384" y="3090672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我正在吃什么，何时吃了多少？</a:t>
            </a:r>
          </a:p>
        </p:txBody>
      </p:sp>
      <p:sp>
        <p:nvSpPr>
          <p:cNvPr id="23" name="Oval 22"/>
          <p:cNvSpPr/>
          <p:nvPr/>
        </p:nvSpPr>
        <p:spPr>
          <a:xfrm>
            <a:off x="3886200" y="4215384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15384" y="4078224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我有哪些过敏史、疾病或特殊情况？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什么时候，不该继续自己试药？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严重急症拨打120；带上药品信息，别等“自己好”。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S11; S12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2852928" cy="3465576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237744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986784"/>
            <a:ext cx="222199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严重急症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立即求助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14215" y="1984248"/>
            <a:ext cx="743407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呼吸困难 / 喉舌肿胀 / 意识异常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14215" y="2514600"/>
            <a:ext cx="74340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E3464F"/>
                </a:solidFill>
                <a:latin typeface="Noto Sans CJK SC"/>
                <a:ea typeface="Noto Sans CJK SC"/>
              </a:rPr>
              <a:t>立即急救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4215" y="3127248"/>
            <a:ext cx="743407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疑似超量或误服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14215" y="3657600"/>
            <a:ext cx="74340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E3464F"/>
                </a:solidFill>
                <a:latin typeface="Noto Sans CJK SC"/>
                <a:ea typeface="Noto Sans CJK SC"/>
              </a:rPr>
              <a:t>及时寻求医疗帮助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4270248"/>
            <a:ext cx="743407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症状持续、加重或反复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4215" y="4800600"/>
            <a:ext cx="74340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E3464F"/>
                </a:solidFill>
                <a:latin typeface="Noto Sans CJK SC"/>
                <a:ea typeface="Noto Sans CJK SC"/>
              </a:rPr>
              <a:t>及时就诊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宿舍药箱：留信息，也留秩序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数量不求多；需要时能认清、查到、说清。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3291840" cy="25603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83080" y="2048256"/>
            <a:ext cx="1517904" cy="457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83200" y="3191256"/>
            <a:ext cx="345094" cy="1014984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8256" y="3526200"/>
            <a:ext cx="1014984" cy="345094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99432" y="2231136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28616" y="2093976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原包装＋说明书｜一起保留</a:t>
            </a:r>
          </a:p>
        </p:txBody>
      </p:sp>
      <p:sp>
        <p:nvSpPr>
          <p:cNvPr id="15" name="Oval 14"/>
          <p:cNvSpPr/>
          <p:nvPr/>
        </p:nvSpPr>
        <p:spPr>
          <a:xfrm>
            <a:off x="4599432" y="3346703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28616" y="3209544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有效期＋贮藏条件｜定期检查</a:t>
            </a:r>
          </a:p>
        </p:txBody>
      </p:sp>
      <p:sp>
        <p:nvSpPr>
          <p:cNvPr id="17" name="Oval 16"/>
          <p:cNvSpPr/>
          <p:nvPr/>
        </p:nvSpPr>
        <p:spPr>
          <a:xfrm>
            <a:off x="4599432" y="446227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325112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个人用药记录｜不混装、不分享处方药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把五个误区，换成五个动作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看、核、问、记：现在进入简单挑战。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26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828800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1828800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感冒药叠加</a:t>
            </a:r>
          </a:p>
        </p:txBody>
      </p:sp>
      <p:sp>
        <p:nvSpPr>
          <p:cNvPr id="11" name="Chevron 10"/>
          <p:cNvSpPr/>
          <p:nvPr/>
        </p:nvSpPr>
        <p:spPr>
          <a:xfrm>
            <a:off x="5907024" y="1883664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4264" y="1828800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核对成分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69464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569464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感冒吃抗生素</a:t>
            </a:r>
          </a:p>
        </p:txBody>
      </p:sp>
      <p:sp>
        <p:nvSpPr>
          <p:cNvPr id="15" name="Chevron 14"/>
          <p:cNvSpPr/>
          <p:nvPr/>
        </p:nvSpPr>
        <p:spPr>
          <a:xfrm>
            <a:off x="5907024" y="2624328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2569464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先明确是否需要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310128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310128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备考“外挂”</a:t>
            </a:r>
          </a:p>
        </p:txBody>
      </p:sp>
      <p:sp>
        <p:nvSpPr>
          <p:cNvPr id="19" name="Chevron 18"/>
          <p:cNvSpPr/>
          <p:nvPr/>
        </p:nvSpPr>
        <p:spPr>
          <a:xfrm>
            <a:off x="5907024" y="3364992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84264" y="3310128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不借用处方药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050791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4050791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抗过敏后困倦</a:t>
            </a:r>
          </a:p>
        </p:txBody>
      </p:sp>
      <p:sp>
        <p:nvSpPr>
          <p:cNvPr id="23" name="Chevron 22"/>
          <p:cNvSpPr/>
          <p:nvPr/>
        </p:nvSpPr>
        <p:spPr>
          <a:xfrm>
            <a:off x="5907024" y="4105655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4050791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查提示、避风险活动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791456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9344" y="4791456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吃药后聚餐</a:t>
            </a:r>
          </a:p>
        </p:txBody>
      </p:sp>
      <p:sp>
        <p:nvSpPr>
          <p:cNvPr id="27" name="Chevron 26"/>
          <p:cNvSpPr/>
          <p:nvPr/>
        </p:nvSpPr>
        <p:spPr>
          <a:xfrm>
            <a:off x="5907024" y="4846320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84264" y="4791456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先确认饮酒要求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综合挑战：小苏今晚怎么安排？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虚构情境｜无呼吸困难、意识异常等急症表现。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27 / 30</a:t>
            </a:r>
          </a:p>
        </p:txBody>
      </p:sp>
      <p:sp>
        <p:nvSpPr>
          <p:cNvPr id="9" name="Oval 8"/>
          <p:cNvSpPr/>
          <p:nvPr/>
        </p:nvSpPr>
        <p:spPr>
          <a:xfrm>
            <a:off x="1359529" y="2633472"/>
            <a:ext cx="912936" cy="9129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331000" y="2595432"/>
            <a:ext cx="969995" cy="722741"/>
          </a:xfrm>
          <a:prstGeom prst="arc">
            <a:avLst/>
          </a:prstGeom>
          <a:solidFill>
            <a:srgbClr val="153E75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25803" y="3042391"/>
            <a:ext cx="71323" cy="71323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87174" y="3042391"/>
            <a:ext cx="71323" cy="71323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749430" y="3308664"/>
            <a:ext cx="171175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102766" y="3612977"/>
            <a:ext cx="1426464" cy="1426464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616293" y="3641506"/>
            <a:ext cx="199705" cy="237744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815998" y="3641506"/>
            <a:ext cx="199705" cy="237744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483156" y="4354738"/>
            <a:ext cx="637153" cy="294802"/>
          </a:xfrm>
          <a:prstGeom prst="roundRect">
            <a:avLst/>
          </a:prstGeom>
          <a:solidFill>
            <a:srgbClr val="153E7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0" y="1901952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13632" y="2011680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已服：一种复方感冒药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0" y="3072384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13632" y="3182112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准备：再加一盒药＋参加聚餐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4242816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13632" y="4352544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当前：成分没核对，症状尚轻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你会替小苏选哪个方案？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单选 A / B / C｜想10秒，然后举手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28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020824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48256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947672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两盒一起吃，聚餐少喝一点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08376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182112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209544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108960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先核对成分，拿不准问药师；先不喝酒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69664"/>
            <a:ext cx="10725912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4343400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370832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270248"/>
            <a:ext cx="918972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加抗生素预防一下，明天再看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B：三个判断点，全都用上了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若症状加重或出现急症信号，应及时就医。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S4; S9; S11; S12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57400"/>
            <a:ext cx="210312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E3464F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成分未核对 → 先不自行叠加</a:t>
            </a:r>
          </a:p>
        </p:txBody>
      </p:sp>
      <p:sp>
        <p:nvSpPr>
          <p:cNvPr id="12" name="Oval 11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饮酒要求不明 → 先不喝，查询确认</a:t>
            </a:r>
          </a:p>
        </p:txBody>
      </p:sp>
      <p:sp>
        <p:nvSpPr>
          <p:cNvPr id="14" name="Oval 13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没有用药依据 → 不自行加抗生素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58368"/>
            <a:ext cx="210312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676656"/>
            <a:ext cx="19568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把判断带回生活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500" b="1">
                <a:solidFill>
                  <a:srgbClr val="FFFFFF"/>
                </a:solidFill>
                <a:latin typeface="Noto Sans CJK SC"/>
                <a:ea typeface="Noto Sans CJK SC"/>
              </a:rPr>
              <a:t>药可以常备，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500" b="1">
                <a:solidFill>
                  <a:srgbClr val="FFFFFF"/>
                </a:solidFill>
                <a:latin typeface="Noto Sans CJK SC"/>
                <a:ea typeface="Noto Sans CJK SC"/>
              </a:rPr>
              <a:t>判断不能省略。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9601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FFFFFF"/>
                </a:solidFill>
                <a:latin typeface="Noto Sans CJK SC"/>
                <a:ea typeface="Noto Sans CJK SC"/>
              </a:rPr>
              <a:t>先看说明书，再做用药决定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9601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FFFFFF"/>
                </a:solidFill>
                <a:latin typeface="Noto Sans CJK SC"/>
                <a:ea typeface="Noto Sans CJK SC"/>
              </a:rPr>
              <a:t>核对重复成分，记录已服药物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9601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FFFFFF"/>
                </a:solidFill>
                <a:latin typeface="Noto Sans CJK SC"/>
                <a:ea typeface="Noto Sans CJK SC"/>
              </a:rPr>
              <a:t>拿不准，问医生 / 药师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50992"/>
            <a:ext cx="8229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会看 · 会核 · 会问 · 会记</a:t>
            </a:r>
          </a:p>
        </p:txBody>
      </p:sp>
      <p:sp>
        <p:nvSpPr>
          <p:cNvPr id="9" name="Rounded Rectangle 8"/>
          <p:cNvSpPr/>
          <p:nvPr/>
        </p:nvSpPr>
        <p:spPr>
          <a:xfrm rot="20100000">
            <a:off x="10058400" y="5212080"/>
            <a:ext cx="1280160" cy="530352"/>
          </a:xfrm>
          <a:prstGeom prst="roundRect">
            <a:avLst/>
          </a:prstGeom>
          <a:solidFill>
            <a:srgbClr val="E3464F"/>
          </a:solidFill>
          <a:ln w="1905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20100000">
            <a:off x="10149840" y="5294376"/>
            <a:ext cx="318211" cy="31821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38360" y="610819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谢谢大家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附页，不计入35分钟｜点击条目标题可访问原文｜检索日期：2026-10-09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国家卫生健康委等（2020）《关于加强医疗机构药事管理促进合理用药的意见》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FDA. Don’t Overuse Acetaminophen.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Wolf MS, et al. Risk of Unintentional Overdose with Non-Prescription Acetaminophen Products. J Gen Intern Med. 2012;27:1587–1593. DOI: 10.1007/s11606-012-2096-3.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CDC. Healthy Habits: Antibiotic Do’s and Don’ts.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Antimicrobial Resistance Collaborators. Global burden of bacterial antimicrobial resistance in 2019: a systematic analysis. Lancet. 2022;399:629–655. DOI: 10.1016/S0140-6736(21)02724-0.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图表按原始数据重绘；人物、药盒与机制示意为原创。完整来源与数据表见配套材料。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附页，不计入35分钟｜点击条目标题可访问原文｜检索日期：2026-10-09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FDA（2023）Updating warnings to improve safe use of prescription stimulants used to treat ADHD and other conditions.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市场监管总局《关于防范保健食品功能声称虚假宣传的消费提示》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NHS. Antihistamines.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NIAAA. Alcohol-Medication Interactions: Potentially Dangerous Mixes.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 Specialist Pharmacy Service. Advising on missed or delayed doses of medicines.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图表按原始数据重绘；人物、药盒与机制示意为原创。完整来源与数据表见配套材料。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附页，不计入35分钟｜点击条目标题可访问原文｜检索日期：2026-10-09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CDC. Manage Common Cold.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NHS. Anaphylaxis.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NHS. Omeprazole.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Simons FER, Simons KJ. H1 Antihistamines: Current Status and Future Directions. World Allergy Organ J. 2008;1:145–155.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图表按原始数据重绘；人物、药盒与机制示意为原创。完整来源与数据表见配套材料。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合理用药：给宿舍药箱上堂课</dc:title>
  <dc:subject>苏州大学选修课｜双人35分钟课堂展示</dc:subject>
  <dc:creator>课堂展示制作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