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第1页｜甲主讲｜建议45秒</a:t>
            </a:r>
          </a:p>
          <a:p>
            <a:r>
              <a:t>甲主讲；乙操作翻页。</a:t>
            </a:r>
          </a:p>
          <a:p/>
          <a:p>
            <a:r>
              <a:t>甲：大家好。今天我们聊一个进入大学后越来越需要自己做决定的问题：身体不舒服时，药到底该怎么用？离开父母的提醒，宿舍药箱、室友推荐和手机搜索，可能成了我们的第一反应。但名字熟悉，不代表适合自己；药吃得多，也不代表好得快。接下来我们用四类校园情境和几轮举手选择，练习几个能直接用上的判断。我们不考药名，也不背剂量表，目标是学会看什么、问什么，以及什么时候应该就医。</a:t>
            </a:r>
          </a:p>
          <a:p/>
          <a:p>
            <a:r>
              <a:t>视觉说明：白底深蓝大标题合理用药，珊瑚红强调与浅蓝信息块；右侧为全新动漫核药场景，人物、药盒和说明书清楚可见，与全稿画风一致。</a:t>
            </a:r>
          </a:p>
          <a:p/>
          <a:p>
            <a:r>
              <a:t>参考：</a:t>
            </a:r>
          </a:p>
          <a:p/>
          <a:p/>
          <a:p>
            <a:r>
              <a:t>情境画面为原创动漫，人物与事件为虚构；医学插图按参考资料核对组织关系，受体为功能标记。</a:t>
            </a:r>
          </a:p>
          <a:p>
            <a:r>
              <a:t>本页素材：</a:t>
            </a:r>
          </a:p>
          <a:p>
            <a:r>
              <a:t>cover_rational.png｜FULL｜封面核药场景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第2页｜甲主讲｜建议45秒</a:t>
            </a:r>
          </a:p>
          <a:p>
            <a:r>
              <a:t>移至封面后的第2页；先交代路线，再进入原第2页的开场选择题，不提前揭晓答案。</a:t>
            </a:r>
          </a:p>
          <a:p/>
          <a:p>
            <a:r>
              <a:t>甲：先看路线图。前五分钟建立判断原则；接着用十七分钟看四类校园误区：重复成分、抗生素、抗过敏药以及药物与饮酒。然后八分钟练习安全用药，最后五分钟替小苏做综合选择。甲负责前半段，乙接着讲机制与行动，举手互动已计入时间。大家不用背药名或算剂量，只选更有依据的下一步。现在进入第一个情境：室友感冒了，你会先做哪一步？</a:t>
            </a:r>
          </a:p>
          <a:p/>
          <a:p>
            <a:r>
              <a:t>视觉说明：四段浅底色路线卡，分别用判断、宿舍药箱、安全步骤、选择挑战的可编辑图标呈现，不嵌入重复照片。</a:t>
            </a:r>
          </a:p>
          <a:p/>
          <a:p>
            <a:r>
              <a:t>参考：</a:t>
            </a:r>
          </a:p>
          <a:p/>
          <a:p/>
          <a:p>
            <a:r>
              <a:t>情境画面为原创动漫，人物与事件为虚构；医学插图按参考资料核对组织关系，受体为功能标记。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第3页｜甲主讲｜建议90秒</a:t>
            </a:r>
          </a:p>
          <a:p>
            <a:r>
              <a:t>10秒阅读＋三轮举手约25秒；不追问个人用药史。</a:t>
            </a:r>
          </a:p>
          <a:p/>
          <a:p>
            <a:r>
              <a:t>甲：小苏流鼻涕、喉咙不舒服，明天还有课。药箱里有上次剩下的药，室友也递来一盒。沿用经验、先核信息、按症状挑药，三个方案都像是在解决问题。信息还不完整时，你选哪一个第一步？</a:t>
            </a:r>
          </a:p>
          <a:p>
            <a:r>
              <a:t>【静默10秒；A、B、C依次举手，各约5秒】</a:t>
            </a:r>
          </a:p>
          <a:p>
            <a:r>
              <a:t>甲：先保留选择。上次有效不代表这次适用，包装上的症状描述也不能代替核对；下一页看判断需要哪些信息。</a:t>
            </a:r>
          </a:p>
          <a:p/>
          <a:p>
            <a:r>
              <a:t>视觉说明：等权选择卡与小苏动漫肖像；仅保留单选或多选标记，不重复添加提示小标题；不按答案区别格式。</a:t>
            </a:r>
          </a:p>
          <a:p/>
          <a:p>
            <a:r>
              <a:t>参考：</a:t>
            </a:r>
          </a:p>
          <a:p/>
          <a:p/>
          <a:p>
            <a:r>
              <a:t>情境画面为原创动漫，人物与事件为虚构；医学插图按参考资料核对组织关系，受体为功能标记。</a:t>
            </a:r>
          </a:p>
          <a:p>
            <a:r>
              <a:t>本页素材：</a:t>
            </a:r>
          </a:p>
          <a:p>
            <a:r>
              <a:t>unique_scenes.png｜R2C1｜开场题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第4页｜甲主讲｜建议120秒</a:t>
            </a:r>
          </a:p>
          <a:p/>
          <a:p/>
          <a:p>
            <a:r>
              <a:t>甲：合理用药可以用四个词记住：安全、有效、经济、适宜。安全不是承诺任何药都没有风险，而是识别禁忌和可能的不良反应。有效，是药物针对的问题与实际需要相符。经济，是在满足治疗需要的前提下，避免不必要的药物和花费。适宜，则提醒我们，同一个药对室友合适，对自己不一定合适，年龄、过敏史、正在使用的其他药物，都可能影响选择。所以开场选B，是先把这些信息补齐，而不是看到一个症状就直接往药箱里伸手。</a:t>
            </a:r>
          </a:p>
          <a:p>
            <a:r>
              <a:t>【增加一分钟情境比较：同桌讨论30秒——室友剩药便宜、广告药很热门，各会卡在哪一道关？再用30秒邀请举手并串联四关。经济不只是便宜，适宜也不等于别人有效。】</a:t>
            </a:r>
          </a:p>
          <a:p/>
          <a:p>
            <a:r>
              <a:t>视觉说明：四象限原则卡；每格一个关键词和一个简短解释。</a:t>
            </a:r>
          </a:p>
          <a:p/>
          <a:p>
            <a:r>
              <a:t>参考：</a:t>
            </a:r>
          </a:p>
          <a:p>
            <a:r>
              <a:t>[S1] 国家卫生健康委等（2020）《关于加强医疗机构药事管理促进合理用药的意见》</a:t>
            </a:r>
          </a:p>
          <a:p>
            <a:r>
              <a:t>https://www.nhc.gov.cn/yzygj/c100068/202002/fdb7240014db4d49827ca25bbb41b177.shtml</a:t>
            </a:r>
          </a:p>
          <a:p/>
          <a:p>
            <a:r>
              <a:t>情境画面为原创动漫，人物与事件为虚构；医学插图按参考资料核对组织关系，受体为功能标记。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第5页｜甲主讲｜建议75秒</a:t>
            </a:r>
          </a:p>
          <a:p/>
          <a:p/>
          <a:p>
            <a:r>
              <a:t>甲：小苏觉得头痛还没缓解，拿起另一盒感冒药。室友说，名字不同，一盒管头痛、一盒管感冒，听起来像双保险。三格漫画从不舒服，到听起来合理的建议，再把判断停在药盒背面。症状宣传不同，不代表有效成分不同。下一页不算剂量，只把成分摆在一起，看双保险有没有变成重复。</a:t>
            </a:r>
          </a:p>
          <a:p/>
          <a:p>
            <a:r>
              <a:t>视觉说明：宿舍核药动漫三格：头痛、室友递来第二盒药、两盒成分核对。删除情境、对话、悬念以及重复总结标题；独立对白可编辑。</a:t>
            </a:r>
          </a:p>
          <a:p/>
          <a:p>
            <a:r>
              <a:t>参考：</a:t>
            </a:r>
          </a:p>
          <a:p>
            <a:r>
              <a:t>[S2] FDA. Don’t Overuse Acetaminophen.</a:t>
            </a:r>
          </a:p>
          <a:p>
            <a:r>
              <a:t>https://www.fda.gov/consumers/consumer-updates/dont-overuse-acetaminophen</a:t>
            </a:r>
          </a:p>
          <a:p/>
          <a:p>
            <a:r>
              <a:t>情境画面为原创动漫，人物与事件为虚构；医学插图按参考资料核对组织关系，受体为功能标记。</a:t>
            </a:r>
          </a:p>
          <a:p>
            <a:r>
              <a:t>本页素材：</a:t>
            </a:r>
          </a:p>
          <a:p>
            <a:r>
              <a:t>storyboard.png｜R1C1｜头痛</a:t>
            </a:r>
          </a:p>
          <a:p>
            <a:r>
              <a:t>storyboard.png｜R1C2｜室友递药</a:t>
            </a:r>
          </a:p>
          <a:p>
            <a:r>
              <a:t>storyboard.png｜R1C3｜核对两盒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第6页｜甲主讲｜建议60秒</a:t>
            </a:r>
          </a:p>
          <a:p/>
          <a:p/>
          <a:p>
            <a:r>
              <a:t>甲：左边是单方退热止痛药的教学标签，只有对乙酰氨基酚；右边的复方感冒药示例另有马来酸氯苯那敏和盐酸伪麻黄碱。组成不完全相同，但同一个红色成分块出现了两次，其他成分的不同不能抵消重复。先把真实说明书的成分逐项对照，再核规格、已经服用的时间和用量，拿不准就带药盒问药师。这两张教学标签不对应具体产品，不给出剂量；不同产品的组成和要求可能不同。</a:t>
            </a:r>
          </a:p>
          <a:p/>
          <a:p>
            <a:r>
              <a:t>视觉说明：两盒不同配色的教学药盒。重复成分都用红色且完整命名；另两种成分用青绿和紫色，汇合箭头突出同一成分来自两盒，再给出圈重复、核信息、再决定的动作。</a:t>
            </a:r>
          </a:p>
          <a:p/>
          <a:p>
            <a:r>
              <a:t>参考：</a:t>
            </a:r>
          </a:p>
          <a:p>
            <a:r>
              <a:t>[S2] FDA. Don’t Overuse Acetaminophen.</a:t>
            </a:r>
          </a:p>
          <a:p>
            <a:r>
              <a:t>https://www.fda.gov/consumers/consumer-updates/dont-overuse-acetaminophen</a:t>
            </a:r>
          </a:p>
          <a:p/>
          <a:p>
            <a:r>
              <a:t>情境画面为原创动漫，人物与事件为虚构；医学插图按参考资料核对组织关系，受体为功能标记。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第7页｜甲主讲｜建议60秒</a:t>
            </a:r>
          </a:p>
          <a:p/>
          <a:p/>
          <a:p>
            <a:r>
              <a:t>甲：18点，小苏服过一种复方感冒药；20点仍然头痛，想加另一盒退热药。这两个时间只是故事线索，不表示隔两小时就能加药。现在要补齐两盒药的具体药名、成分、规格，以及今天何时用了多少。核对重复和累计使用，不能靠症状还在就自行加量，也不能套统一间隔。怀疑超量或误服应及时寻求医疗帮助；症状持续、加重也应按说明书就医提示处理。下一页只选获取这些信息的下一步。</a:t>
            </a:r>
          </a:p>
          <a:p/>
          <a:p>
            <a:r>
              <a:t>视觉说明：三幅全新动漫分镜：傍晚查看用药记录、夜间症状仍在、俯视核对两盒药和说明书；每幅仅在本页使用。</a:t>
            </a:r>
          </a:p>
          <a:p/>
          <a:p>
            <a:r>
              <a:t>参考：</a:t>
            </a:r>
          </a:p>
          <a:p>
            <a:r>
              <a:t>[S2] FDA. Don’t Overuse Acetaminophen.</a:t>
            </a:r>
          </a:p>
          <a:p>
            <a:r>
              <a:t>https://www.fda.gov/consumers/consumer-updates/dont-overuse-acetaminophen</a:t>
            </a:r>
          </a:p>
          <a:p/>
          <a:p>
            <a:r>
              <a:t>情境画面为原创动漫，人物与事件为虚构；医学插图按参考资料核对组织关系，受体为功能标记。</a:t>
            </a:r>
          </a:p>
          <a:p>
            <a:r>
              <a:t>本页素材：</a:t>
            </a:r>
          </a:p>
          <a:p>
            <a:r>
              <a:t>unique_scenes.png｜R1C1｜查看记录</a:t>
            </a:r>
          </a:p>
          <a:p>
            <a:r>
              <a:t>unique_scenes.png｜R1C2｜症状仍在</a:t>
            </a:r>
          </a:p>
          <a:p>
            <a:r>
              <a:t>unique_scenes.png｜R1C3｜核对包装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第8页｜甲主讲｜建议75秒</a:t>
            </a:r>
          </a:p>
          <a:p>
            <a:r>
              <a:t>阅读10秒；举手约25秒；其余时间复述问题并转场。</a:t>
            </a:r>
          </a:p>
          <a:p/>
          <a:p>
            <a:r>
              <a:t>甲：室友群里弹出三条消息。A让我们找重复成分，B建议错开服药时间，C让我们补齐今天的药名、规格和时间。可以给多条消息点赞，选择的是现在有助于判断的建议，不是替小苏开药。</a:t>
            </a:r>
          </a:p>
          <a:p>
            <a:r>
              <a:t>【静默10秒；逐条举手各约5秒，可多次举手】</a:t>
            </a:r>
          </a:p>
          <a:p>
            <a:r>
              <a:t>甲：请保留选择，下一页看哪些建议补齐了信息，哪些只是让安排听起来谨慎。</a:t>
            </a:r>
          </a:p>
          <a:p/>
          <a:p>
            <a:r>
              <a:t>视觉说明：等权选择卡与小苏动漫肖像；仅保留单选或多选标记，不重复添加提示小标题；不按答案区别格式。</a:t>
            </a:r>
          </a:p>
          <a:p/>
          <a:p>
            <a:r>
              <a:t>参考：</a:t>
            </a:r>
          </a:p>
          <a:p>
            <a:r>
              <a:t>[S2] FDA. Don’t Overuse Acetaminophen.</a:t>
            </a:r>
          </a:p>
          <a:p>
            <a:r>
              <a:t>https://www.fda.gov/consumers/consumer-updates/dont-overuse-acetaminophen</a:t>
            </a:r>
          </a:p>
          <a:p/>
          <a:p>
            <a:r>
              <a:t>情境画面为原创动漫，人物与事件为虚构；医学插图按参考资料核对组织关系，受体为功能标记。</a:t>
            </a:r>
          </a:p>
          <a:p>
            <a:r>
              <a:t>本页素材：</a:t>
            </a:r>
          </a:p>
          <a:p>
            <a:r>
              <a:t>unique_scenes.png｜R2C2｜成分题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第9页｜甲主讲｜建议30秒</a:t>
            </a:r>
          </a:p>
          <a:p/>
          <a:p/>
          <a:p>
            <a:r>
              <a:t>甲：可以同时给A和C点赞。A找到共有成分，C补齐具体规格与已服记录，两条合起来才更有助于判断。B听起来考虑了时间，但并没有核清成分、规格和累计使用；不能靠错开就推定合用安全。先不自行叠加，带齐这些信息问药师。</a:t>
            </a:r>
          </a:p>
          <a:p/>
          <a:p>
            <a:r>
              <a:t>视觉说明：大号C与三步行动箭头。</a:t>
            </a:r>
          </a:p>
          <a:p/>
          <a:p>
            <a:r>
              <a:t>参考：</a:t>
            </a:r>
          </a:p>
          <a:p>
            <a:r>
              <a:t>[S2] FDA. Don’t Overuse Acetaminophen.</a:t>
            </a:r>
          </a:p>
          <a:p>
            <a:r>
              <a:t>https://www.fda.gov/consumers/consumer-updates/dont-overuse-acetaminophen</a:t>
            </a:r>
          </a:p>
          <a:p/>
          <a:p>
            <a:r>
              <a:t>情境画面为原创动漫，人物与事件为虚构；医学插图按参考资料核对组织关系，受体为功能标记。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第10页｜甲主讲｜建议75秒</a:t>
            </a:r>
          </a:p>
          <a:p/>
          <a:p/>
          <a:p>
            <a:r>
              <a:t>甲：第二个误区是把抗生素当成感冒时的保险药。回到高中生物，细菌具有细胞结构，病毒没有完整的细胞结构，需要利用宿主细胞复制。不同类别的抗生素，可以作用于细菌的细胞壁合成、蛋白质合成等过程；对引起普通感冒的病毒，它们没有相应的治疗作用。所以流鼻涕、嗓子痛，并不能自动推出“应该吃抗生素”。当然，出现这些症状也可能有其他原因，少数病毒感染之后还可能发生细菌感染，是否需要抗生素需要评估。我们能做的是描述症状、接受判断，而不是自己拿剩药试试看。</a:t>
            </a:r>
          </a:p>
          <a:p/>
          <a:p>
            <a:r>
              <a:t>视觉说明：彩色显微世界插画：青绿细菌有细胞结构与遗传物质；紫色病毒有外壳与遗传物质，连接宿主细胞。用文字说明抗生素针对某些细菌结构或过程；示意不按比例。</a:t>
            </a:r>
          </a:p>
          <a:p/>
          <a:p>
            <a:r>
              <a:t>参考：</a:t>
            </a:r>
          </a:p>
          <a:p>
            <a:r>
              <a:t>[S4] CDC. Healthy Habits: Antibiotic Do’s and Don’ts.</a:t>
            </a:r>
          </a:p>
          <a:p>
            <a:r>
              <a:t>https://www.cdc.gov/antibiotic-use/about/</a:t>
            </a:r>
          </a:p>
          <a:p>
            <a:r>
              <a:t>[S11] CDC. Manage Common Cold.</a:t>
            </a:r>
          </a:p>
          <a:p>
            <a:r>
              <a:t>https://www.cdc.gov/common-cold/treatment/index.html</a:t>
            </a:r>
          </a:p>
          <a:p/>
          <a:p>
            <a:r>
              <a:t>情境画面为原创动漫，人物与事件为虚构；医学插图按参考资料核对组织关系，受体为功能标记。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第11页｜甲主讲｜建议110秒</a:t>
            </a:r>
          </a:p>
          <a:p/>
          <a:p/>
          <a:p>
            <a:r>
              <a:t>甲：上一页说普通感冒通常由病毒引起，抗生素没有相应治疗作用。为什么不能想着吃一点总没坏处？左边一百格中，高亮28格：CDC汇总至少28%的美国门诊抗生素处方被估计为不必要，所引研究该估计来自2014—2015年。这是美国门诊处方比例，不是中国大学生的发生率，其余格子也不代表全部合理。</a:t>
            </a:r>
          </a:p>
          <a:p>
            <a:r>
              <a:t>右边换成五个急诊图标：CDC介绍，药物相关急诊中，约五次就有一次来自抗生素反应。常见副作用包括皮疹、恶心、腹泻，严重时可出现严重过敏等。这里数的是药物反应相关急诊，不是所有急诊，不是说五个吃抗生素的人就有一个进急诊，也不能把所有这些事件都归为滥用。</a:t>
            </a:r>
          </a:p>
          <a:p>
            <a:r>
              <a:t>【留15秒读五个图标；问：若治疗不需要，额外承担这样的风险值不值？停10秒】</a:t>
            </a:r>
          </a:p>
          <a:p>
            <a:r>
              <a:t>甲：两幅图分别展示不必要的处方与药物反应造成的急诊负担，不能相乘推算个人概率。我们要带走的是：没有需要时吃抗生素，未必得到预期获益，却仍可能遇到副作用；确实需要时，规范使用的获益可以超过风险，不自行停药。下一页把结论换成三个实际动作。</a:t>
            </a:r>
          </a:p>
          <a:p/>
          <a:p>
            <a:r>
              <a:t>视觉说明：双图并排：左侧100格中28格珊瑚红高亮，右侧五个急诊图标中一个红色突出抗生素反应。正文写清药物副作用导致的急诊这一分母；数据年份、范围和来源保留在备注和附页。</a:t>
            </a:r>
          </a:p>
          <a:p/>
          <a:p>
            <a:r>
              <a:t>参考：</a:t>
            </a:r>
          </a:p>
          <a:p>
            <a:r>
              <a:t>[S5] CDC. Antibiotic Use in the United States（2025更新；门诊至少28%不必要处方）</a:t>
            </a:r>
          </a:p>
          <a:p>
            <a:r>
              <a:t>https://www.cdc.gov/antibiotic-use/hcp/data-research/antibiotic-prescribing.html</a:t>
            </a:r>
          </a:p>
          <a:p>
            <a:r>
              <a:t>[S15] CDC. Do antibiotics have side effects?（药物相关急诊约1/5来自抗生素反应）</a:t>
            </a:r>
          </a:p>
          <a:p>
            <a:r>
              <a:t>https://www.cdc.gov/antibiotic-use/media/pdfs/Do-Antibiotics-Have-Side-Effects-508.pdf</a:t>
            </a:r>
          </a:p>
          <a:p>
            <a:r>
              <a:t>[S16] Hersh AL et al. Unnecessary Antibiotic Prescribing in US Ambulatory Care Settings, 2010–2015. Clin Infect Dis. 2021;72:133–137.</a:t>
            </a:r>
          </a:p>
          <a:p>
            <a:r>
              <a:t>https://stacks.cdc.gov/view/cdc/120299/cdc_120299_DS1.pdf</a:t>
            </a:r>
          </a:p>
          <a:p/>
          <a:p>
            <a:r>
              <a:t>情境画面为原创动漫，人物与事件为虚构；医学插图按参考资料核对组织关系，受体为功能标记。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第12页｜甲主讲｜建议80秒</a:t>
            </a:r>
          </a:p>
          <a:p/>
          <a:p/>
          <a:p>
            <a:r>
              <a:t>甲：数据看完，回到小苏的药箱。第一，看见感冒症状，不自动把抗生素当作备用保险，先明确是否需要。第二，室友说这盒我吃着有效，不代表适合自己；相似症状可能来自不同原因，不接室友剩药，也不分享自己的处方。第三，确实需要时按具体处方的剂量、间隔与疗程执行，疗效或不良反应有疑问就咨询，不自己缩短、延长或加量。</a:t>
            </a:r>
          </a:p>
          <a:p>
            <a:r>
              <a:t>【停顿10秒，让大家看三张动作卡，选一个最容易忘记的动作】</a:t>
            </a:r>
          </a:p>
          <a:p>
            <a:r>
              <a:t>甲：真正减少可避免风险的，是把这三个动作做出来。</a:t>
            </a:r>
          </a:p>
          <a:p/>
          <a:p>
            <a:r>
              <a:t>视觉说明：浅蓝底的三张动作卡，统一蓝与珊瑚红；放大镜核对、室友药盒暂停、处方清单咨询三幅原创图标，短标题与一行解释分层。</a:t>
            </a:r>
          </a:p>
          <a:p/>
          <a:p>
            <a:r>
              <a:t>参考：</a:t>
            </a:r>
          </a:p>
          <a:p>
            <a:r>
              <a:t>[S4] CDC. Healthy Habits: Antibiotic Do’s and Don’ts.</a:t>
            </a:r>
          </a:p>
          <a:p>
            <a:r>
              <a:t>https://www.cdc.gov/antibiotic-use/about/</a:t>
            </a:r>
          </a:p>
          <a:p/>
          <a:p>
            <a:r>
              <a:t>情境画面为原创动漫，人物与事件为虚构；医学插图按参考资料核对组织关系，受体为功能标记。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第13页｜甲主讲｜建议90秒</a:t>
            </a:r>
          </a:p>
          <a:p>
            <a:r>
              <a:t>甲主讲至此页末；预计累计15分55秒，交给乙接着讲组胺机制。</a:t>
            </a:r>
          </a:p>
          <a:p/>
          <a:p>
            <a:r>
              <a:t>甲：第三个案例换到课堂。小苏用了抗过敏药，终于不用一直擦鼻涕，却开始听不清老师在讲什么。先看两幅画，同一种用药经历带来了两个结果：鼻部舒服了，精神却不如平时。药物的治疗作用和其他影响可能同时出现。不是所有抗过敏药都一样，也不是人人都会困。</a:t>
            </a:r>
          </a:p>
          <a:p>
            <a:r>
              <a:t>【留15秒看两幅图；请大家用一句话描述前后变化，再给10秒思考：下午有课、晚上要骑车，会向药师补充什么信息？】</a:t>
            </a:r>
          </a:p>
          <a:p>
            <a:r>
              <a:t>甲：先查具体药品的嗜睡提示，把上课、通勤和其他用药告诉药师；已经困倦或反应变慢时，避开驾驶、骑车等高风险活动。别靠咖啡或酒精自行抵消这种感觉。为什么鼻子与清醒程度会同时受影响？下面交给乙，从组胺信号的两个位置来解释。</a:t>
            </a:r>
          </a:p>
          <a:p/>
          <a:p>
            <a:r>
              <a:t>视觉说明：两幅独立动漫分镜：鼻部症状缓解、课堂犯困；各用一句对白呈现现象，后页自然引出组胺机制。</a:t>
            </a:r>
          </a:p>
          <a:p/>
          <a:p>
            <a:r>
              <a:t>参考：</a:t>
            </a:r>
          </a:p>
          <a:p>
            <a:r>
              <a:t>[S8] NHS. Antihistamines.</a:t>
            </a:r>
          </a:p>
          <a:p>
            <a:r>
              <a:t>https://www.nhs.uk/medicines/antihistamines/</a:t>
            </a:r>
          </a:p>
          <a:p/>
          <a:p>
            <a:r>
              <a:t>情境画面为原创动漫，人物与事件为虚构；医学插图按参考资料核对组织关系，受体为功能标记。</a:t>
            </a:r>
          </a:p>
          <a:p>
            <a:r>
              <a:t>本页素材：</a:t>
            </a:r>
          </a:p>
          <a:p>
            <a:r>
              <a:t>storyboard.png｜R2C1｜鼻部舒服</a:t>
            </a:r>
          </a:p>
          <a:p>
            <a:r>
              <a:t>storyboard.png｜R2C2｜课堂犯困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第14页｜乙主讲｜建议65秒</a:t>
            </a:r>
          </a:p>
          <a:p/>
          <a:p/>
          <a:p>
            <a:r>
              <a:t>乙：左侧是鼻黏膜。过敏反应中释放的组胺，可通过H1相关作用引起鼻痒、喷嚏和流涕；抗组胺药降低这些作用，缓解部分症状。右侧是脑微血管与神经元。血脑屏障主要由紧密连接的微血管内皮等结构形成，并不对所有药物完全封闭。部分抗组胺药可进入脑内，影响参与清醒的H1信号，因此可能嗜睡。不是鼻部的组胺一路跑到脑内，也不是所有药都会一样。困倦时避开驾驶、骑车等活动，具体选择看说明书或问药师。</a:t>
            </a:r>
          </a:p>
          <a:p>
            <a:r>
              <a:t>【图形核验说明，不逐字朗读】鼻部图的上方为纤毛上皮，下方为固有层、肥大细胞及感觉神经；金色点代表组胺。脑部图的红色细胞位于血管腔内，内皮、基底膜及外侧支持结构将血液与脑组织分开；蓝色点代表药物分子。紫色膜上位置为H1受体的功能标记，并非原子结构或真实配体对接模型。H1抗组胺药按资料为反向激动剂，可稳定受体非活化状态，不画成清除组胺或阻止组胺释放。两图为教学层次示意，不表达组织或分子尺度比例，不表示所有抗组胺药同样入脑。</a:t>
            </a:r>
          </a:p>
          <a:p/>
          <a:p>
            <a:r>
              <a:t>视觉说明：两幅独立渲染的精细医学科普插图：鼻黏膜组织与感觉神经、脑微血管血脑屏障与神经元。去掉动漫头像和几何器官，保留可编辑组胺、H1受体、药物分子、血脑屏障标注；不呈现猜测的原子结构或整颗药片穿越屏障。</a:t>
            </a:r>
          </a:p>
          <a:p/>
          <a:p>
            <a:r>
              <a:t>参考：</a:t>
            </a:r>
          </a:p>
          <a:p>
            <a:r>
              <a:t>[S8] NHS. Antihistamines.</a:t>
            </a:r>
          </a:p>
          <a:p>
            <a:r>
              <a:t>https://www.nhs.uk/medicines/antihistamines/</a:t>
            </a:r>
          </a:p>
          <a:p>
            <a:r>
              <a:t>[S14] Simons FER, Simons KJ. H1 Antihistamines: Current Status and Future Directions. World Allergy Organ J. 2008;1:145–155.</a:t>
            </a:r>
          </a:p>
          <a:p>
            <a:r>
              <a:t>https://pmc.ncbi.nlm.nih.gov/articles/PMC3650962/</a:t>
            </a:r>
          </a:p>
          <a:p>
            <a:r>
              <a:t>[S17] Anatomy and Physiology of the Blood-Brain Barrier（脑微血管内皮、紧密连接与支持结构）</a:t>
            </a:r>
          </a:p>
          <a:p>
            <a:r>
              <a:t>https://pmc.ncbi.nlm.nih.gov/articles/PMC4397166/</a:t>
            </a:r>
          </a:p>
          <a:p/>
          <a:p>
            <a:r>
              <a:t>情境画面为原创动漫，人物与事件为虚构；医学插图按参考资料核对组织关系，受体为功能标记。</a:t>
            </a:r>
          </a:p>
          <a:p>
            <a:r>
              <a:t>本页素材：</a:t>
            </a:r>
          </a:p>
          <a:p>
            <a:r>
              <a:t>nasal_histamine.png｜FULL｜鼻部症状缓解路径</a:t>
            </a:r>
          </a:p>
          <a:p>
            <a:r>
              <a:t>brain_bbb_h1.png｜FULL｜可能嗜睡的脑内路径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第15页｜乙主讲｜建议150秒</a:t>
            </a:r>
          </a:p>
          <a:p>
            <a:r>
              <a:t>同桌讨论20秒＋举手约25秒；答案口头公布，不追问开放观点。</a:t>
            </a:r>
          </a:p>
          <a:p/>
          <a:p>
            <a:r>
              <a:t>乙：先来一条聚餐邀请。小苏今天服过抗过敏药，但具体饮酒要求没确认。A建议垫肚子并错开时间，B建议按经验少喝，C建议先换白水再核药名。哪条消息先处理了现在的未知？</a:t>
            </a:r>
          </a:p>
          <a:p>
            <a:r>
              <a:t>【同桌讨论20秒，随后静默10秒；A、B、C依次举手，各约5秒】</a:t>
            </a:r>
          </a:p>
          <a:p>
            <a:r>
              <a:t>乙：可以再想十秒：你选的是让自己感觉更放心的安排，还是获取这盒药实际要求的动作？甲只观察，不现场宣布答案，也不问个人用药史。把选择留住，下一页我们让小苏真的走进聚餐，看看这条消息怎样变成行动。</a:t>
            </a:r>
          </a:p>
          <a:p/>
          <a:p>
            <a:r>
              <a:t>视觉说明：等权选择卡与小苏动漫肖像；仅保留单选或多选标记，不重复添加提示小标题；不按答案区别格式。</a:t>
            </a:r>
          </a:p>
          <a:p/>
          <a:p>
            <a:r>
              <a:t>参考：</a:t>
            </a:r>
          </a:p>
          <a:p>
            <a:r>
              <a:t>[S8] NHS. Antihistamines.</a:t>
            </a:r>
          </a:p>
          <a:p>
            <a:r>
              <a:t>https://www.nhs.uk/medicines/antihistamines/</a:t>
            </a:r>
          </a:p>
          <a:p>
            <a:r>
              <a:t>[S9] NIAAA. Alcohol-Medication Interactions: Potentially Dangerous Mixes.</a:t>
            </a:r>
          </a:p>
          <a:p>
            <a:r>
              <a:t>https://www.niaaa.nih.gov/health-professionals-communities/core-resource-on-alcohol/alcohol-medication-interactions-potentially-dangerous-mixes</a:t>
            </a:r>
          </a:p>
          <a:p/>
          <a:p>
            <a:r>
              <a:t>情境画面为原创动漫，人物与事件为虚构；医学插图按参考资料核对组织关系，受体为功能标记。</a:t>
            </a:r>
          </a:p>
          <a:p>
            <a:r>
              <a:t>本页素材：</a:t>
            </a:r>
          </a:p>
          <a:p>
            <a:r>
              <a:t>unique_scenes.png｜R2C3｜聚餐题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第16页｜乙主讲｜建议150秒</a:t>
            </a:r>
          </a:p>
          <a:p/>
          <a:p/>
          <a:p>
            <a:r>
              <a:t>乙：现在把刚才群聊题的答案放回实际聚餐。第一格，小苏白天服过抗过敏药；第二格，室友端来酒杯说就一点；第三格，小苏先换成白水，把具体药名和饮酒要求核实。答案C不是一个显得规矩的口号，而是给信息缺口留出一个核实动作。</a:t>
            </a:r>
          </a:p>
          <a:p>
            <a:r>
              <a:t>【甲演室友：先吃点东西再喝，行不行？乙：这不能证明这个药与酒精合用安全。甲：那等两小时呢？乙：也没有适用于所有药物的统一等待时间。留约20秒表演及停顿】</a:t>
            </a:r>
          </a:p>
          <a:p>
            <a:r>
              <a:t>乙：酒精与部分具有镇静作用的药物合用，可能增加嗜睡及反应受损风险；不同药物还可能有其他相互作用，具体看说明书或问药师。普通口服片剂或胶囊通常用白水，含服、咀嚼等剂型另有要求，仍以具体说明为准。下一步把这些判断整理成看、核、问、记。</a:t>
            </a:r>
          </a:p>
          <a:p/>
          <a:p>
            <a:r>
              <a:t>视觉说明：原创动漫聚餐三格：记起已服药、室友劝酒、选白水并核实信息。取消白天、晚上、行动的独立标题和复述性短语，时间与行为直接写入对白。</a:t>
            </a:r>
          </a:p>
          <a:p/>
          <a:p>
            <a:r>
              <a:t>参考：</a:t>
            </a:r>
          </a:p>
          <a:p>
            <a:r>
              <a:t>[S8] NHS. Antihistamines.</a:t>
            </a:r>
          </a:p>
          <a:p>
            <a:r>
              <a:t>https://www.nhs.uk/medicines/antihistamines/</a:t>
            </a:r>
          </a:p>
          <a:p>
            <a:r>
              <a:t>[S9] NIAAA. Alcohol-Medication Interactions: Potentially Dangerous Mixes.</a:t>
            </a:r>
          </a:p>
          <a:p>
            <a:r>
              <a:t>https://www.niaaa.nih.gov/health-professionals-communities/core-resource-on-alcohol/alcohol-medication-interactions-potentially-dangerous-mixes</a:t>
            </a:r>
          </a:p>
          <a:p>
            <a:r>
              <a:t>[S13] NHS. Omeprazole.</a:t>
            </a:r>
          </a:p>
          <a:p>
            <a:r>
              <a:t>https://www.nhs.uk/medicines/omeprazole/</a:t>
            </a:r>
          </a:p>
          <a:p/>
          <a:p>
            <a:r>
              <a:t>情境画面为原创动漫，人物与事件为虚构；医学插图按参考资料核对组织关系，受体为功能标记。</a:t>
            </a:r>
          </a:p>
          <a:p>
            <a:r>
              <a:t>本页素材：</a:t>
            </a:r>
          </a:p>
          <a:p>
            <a:r>
              <a:t>storyboard.png｜R3C1｜想起已服药</a:t>
            </a:r>
          </a:p>
          <a:p>
            <a:r>
              <a:t>storyboard.png｜R3C2｜室友劝酒</a:t>
            </a:r>
          </a:p>
          <a:p>
            <a:r>
              <a:t>storyboard.png｜R3C3｜核实要求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第17页｜乙主讲｜建议60秒</a:t>
            </a:r>
          </a:p>
          <a:p/>
          <a:p/>
          <a:p>
            <a:r>
              <a:t>乙：第三部分，我们把前面的例子浓缩成四个动作：看、核、问、记。看，是观察症状，也看说明书和需要就医的信号。核，是核对成分有没有重复，剂量与时间是否符合要求，自己有没有相关禁忌。问，是把不确定的地方交给医生或药师确认，不用猜测填空。记，是记录已经用过的药、时间、用量以及出现的反应。上一题选C，就把“这盒药能不能配酒”的不确定性变成了一个清楚的咨询问题。这四步是课堂助记法，不是替代诊疗的专业流程。</a:t>
            </a:r>
          </a:p>
          <a:p>
            <a:r>
              <a:t>乙：下一页从“看”开始，把说明书里会影响判断的信息找出来。</a:t>
            </a:r>
          </a:p>
          <a:p/>
          <a:p>
            <a:r>
              <a:t>视觉说明：左侧全新动漫核药场景，右侧四张浅底色动作卡；看核问记用统一字级与两种强调色呈现。</a:t>
            </a:r>
          </a:p>
          <a:p/>
          <a:p>
            <a:r>
              <a:t>参考：</a:t>
            </a:r>
          </a:p>
          <a:p>
            <a:r>
              <a:t>[S1] 国家卫生健康委等（2020）《关于加强医疗机构药事管理促进合理用药的意见》</a:t>
            </a:r>
          </a:p>
          <a:p>
            <a:r>
              <a:t>https://www.nhc.gov.cn/yzygj/c100068/202002/fdb7240014db4d49827ca25bbb41b177.shtml</a:t>
            </a:r>
          </a:p>
          <a:p>
            <a:r>
              <a:t>[S2] FDA. Don’t Overuse Acetaminophen.</a:t>
            </a:r>
          </a:p>
          <a:p>
            <a:r>
              <a:t>https://www.fda.gov/consumers/consumer-updates/dont-overuse-acetaminophen</a:t>
            </a:r>
          </a:p>
          <a:p>
            <a:r>
              <a:t>[S8] NHS. Antihistamines.</a:t>
            </a:r>
          </a:p>
          <a:p>
            <a:r>
              <a:t>https://www.nhs.uk/medicines/antihistamines/</a:t>
            </a:r>
          </a:p>
          <a:p>
            <a:r>
              <a:t>[S9] NIAAA. Alcohol-Medication Interactions: Potentially Dangerous Mixes.</a:t>
            </a:r>
          </a:p>
          <a:p>
            <a:r>
              <a:t>https://www.niaaa.nih.gov/health-professionals-communities/core-resource-on-alcohol/alcohol-medication-interactions-potentially-dangerous-mixes</a:t>
            </a:r>
          </a:p>
          <a:p/>
          <a:p>
            <a:r>
              <a:t>情境画面为原创动漫，人物与事件为虚构；医学插图按参考资料核对组织关系，受体为功能标记。</a:t>
            </a:r>
          </a:p>
          <a:p>
            <a:r>
              <a:t>本页素材：</a:t>
            </a:r>
          </a:p>
          <a:p>
            <a:r>
              <a:t>actions_storyboard.png｜R1C1｜看核问记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第18页｜乙主讲｜建议90秒</a:t>
            </a:r>
          </a:p>
          <a:p/>
          <a:p/>
          <a:p>
            <a:r>
              <a:t>乙：看到密密麻麻的说明书，不少人的反应是只找“一次几片”。更有效的办法，是先定位六类信息。第一，成分和通用名，解决“我究竟在吃什么”。第二，适应证，确认它用于什么情况。第三，用法用量，包含每次多少、间隔多久以及如何服用。第四，禁忌和注意事项，查看过敏史、既往疾病和特殊人群等相关要求。第五，相互作用与不良反应，看看与其他药物、食物饮料是否存在需要注意的地方。第六，贮藏条件和有效期，确认药品是否仍适合使用。</a:t>
            </a:r>
          </a:p>
          <a:p>
            <a:r>
              <a:t>这张是重新设计的阅读示意，不是实际产品的说明书，也不能替代完整说明书。如果处方要求与自己的理解不一致，应向开方医生或药师核实，而不是自己随意选一种理解执行。</a:t>
            </a:r>
          </a:p>
          <a:p>
            <a:r>
              <a:t>乙：找到用法以后，还要避免自己随意改变它，下一页看三个常见做法。</a:t>
            </a:r>
          </a:p>
          <a:p/>
          <a:p>
            <a:r>
              <a:t>视觉说明：左侧六张有浅底色的说明书阅读卡，每张对应一个具体问题；右侧为全新动漫阅读分镜，避免药瓶图库照片。</a:t>
            </a:r>
          </a:p>
          <a:p/>
          <a:p>
            <a:r>
              <a:t>参考：</a:t>
            </a:r>
          </a:p>
          <a:p>
            <a:r>
              <a:t>[S1] 国家卫生健康委等（2020）《关于加强医疗机构药事管理促进合理用药的意见》</a:t>
            </a:r>
          </a:p>
          <a:p>
            <a:r>
              <a:t>https://www.nhc.gov.cn/yzygj/c100068/202002/fdb7240014db4d49827ca25bbb41b177.shtml</a:t>
            </a:r>
          </a:p>
          <a:p>
            <a:r>
              <a:t>[S2] FDA. Don’t Overuse Acetaminophen.</a:t>
            </a:r>
          </a:p>
          <a:p>
            <a:r>
              <a:t>https://www.fda.gov/consumers/consumer-updates/dont-overuse-acetaminophen</a:t>
            </a:r>
          </a:p>
          <a:p>
            <a:r>
              <a:t>[S8] NHS. Antihistamines.</a:t>
            </a:r>
          </a:p>
          <a:p>
            <a:r>
              <a:t>https://www.nhs.uk/medicines/antihistamines/</a:t>
            </a:r>
          </a:p>
          <a:p/>
          <a:p>
            <a:r>
              <a:t>情境画面为原创动漫，人物与事件为虚构；医学插图按参考资料核对组织关系，受体为功能标记。</a:t>
            </a:r>
          </a:p>
          <a:p>
            <a:r>
              <a:t>本页素材：</a:t>
            </a:r>
          </a:p>
          <a:p>
            <a:r>
              <a:t>actions_storyboard.png｜R1C2｜读说明书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第19页｜乙主讲｜建议70秒</a:t>
            </a:r>
          </a:p>
          <a:p/>
          <a:p/>
          <a:p>
            <a:r>
              <a:t>乙：用药过程中的很多问题，不是药选错了，而是自己改变了使用方式。比如漏了一次，不要自动理解成下次吃双倍。不同药物的处理方法不同，先查说明书，拿不准就问药师。再比如疗程，按处方使用，同时留意症状与反应；出现疑问要及时沟通，不能自行加量或延长。还有剂型，一些缓释或肠溶制剂依赖特定结构控制释放位置和速度，随意掰碎、咀嚼或打开胶囊，可能改变原先设计。也不是说所有带刻痕的药都不能分，而是能不能分、怎样分，应以具体产品说明为准。</a:t>
            </a:r>
          </a:p>
          <a:p>
            <a:r>
              <a:t>乙：核对后仍拿不准，就带着具体信息去问。下一页把咨询整理成三句话。</a:t>
            </a:r>
          </a:p>
          <a:p/>
          <a:p>
            <a:r>
              <a:t>视觉说明：全新动漫核对时钟、药板和说明书；三条使用要求以浅底色横向卡片分层呈现，删除泛化装饰。</a:t>
            </a:r>
          </a:p>
          <a:p/>
          <a:p>
            <a:r>
              <a:t>参考：</a:t>
            </a:r>
          </a:p>
          <a:p>
            <a:r>
              <a:t>[S4] CDC. Healthy Habits: Antibiotic Do’s and Don’ts.</a:t>
            </a:r>
          </a:p>
          <a:p>
            <a:r>
              <a:t>https://www.cdc.gov/antibiotic-use/about/</a:t>
            </a:r>
          </a:p>
          <a:p>
            <a:r>
              <a:t>[S10] NHS Specialist Pharmacy Service. Advising on missed or delayed doses of medicines.</a:t>
            </a:r>
          </a:p>
          <a:p>
            <a:r>
              <a:t>https://sps.nhs.uk/articles/advising-on-missed-or-delayed-doses-of-medicines/</a:t>
            </a:r>
          </a:p>
          <a:p>
            <a:r>
              <a:t>[S13] NHS. Omeprazole.</a:t>
            </a:r>
          </a:p>
          <a:p>
            <a:r>
              <a:t>https://www.nhs.uk/medicines/omeprazole/</a:t>
            </a:r>
          </a:p>
          <a:p/>
          <a:p>
            <a:r>
              <a:t>情境画面为原创动漫，人物与事件为虚构；医学插图按参考资料核对组织关系，受体为功能标记。</a:t>
            </a:r>
          </a:p>
          <a:p>
            <a:r>
              <a:t>本页素材：</a:t>
            </a:r>
          </a:p>
          <a:p>
            <a:r>
              <a:t>actions_storyboard.png｜R1C3｜核使用要求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第20页｜乙主讲｜建议60秒</a:t>
            </a:r>
          </a:p>
          <a:p/>
          <a:p/>
          <a:p>
            <a:r>
              <a:t>乙：咨询是否有效，很大程度取决于我们提供的信息。可以按三句话组织。第一，我有什么症状，持续多久，正在变好还是加重。第二，我正在使用哪些药物或保健食品，具体药名和规格是什么，已经什么时候用了多少。第三，我有哪些已知药物过敏史、既往疾病或特殊情况。最好把药盒和说明书带上，或者拍清楚成分、规格和用法用量。只说“那种白色药片”，专业人员也难以准确判断。如果需要描述私密情况，可以单独咨询，不必在课堂或宿舍群里公开。</a:t>
            </a:r>
          </a:p>
          <a:p>
            <a:r>
              <a:t>乙：但出现严重信号时，优先求助，不把常规咨询当作等待的理由。下一页区分几种行动。</a:t>
            </a:r>
          </a:p>
          <a:p/>
          <a:p>
            <a:r>
              <a:t>视觉说明：全新药师咨询动漫画面与一句可编辑对白；右侧三条等宽浅底色气泡，分别呈现症状、已服信息和个人情况。</a:t>
            </a:r>
          </a:p>
          <a:p/>
          <a:p>
            <a:r>
              <a:t>参考：</a:t>
            </a:r>
          </a:p>
          <a:p>
            <a:r>
              <a:t>[S1] 国家卫生健康委等（2020）《关于加强医疗机构药事管理促进合理用药的意见》</a:t>
            </a:r>
          </a:p>
          <a:p>
            <a:r>
              <a:t>https://www.nhc.gov.cn/yzygj/c100068/202002/fdb7240014db4d49827ca25bbb41b177.shtml</a:t>
            </a:r>
          </a:p>
          <a:p>
            <a:r>
              <a:t>[S2] FDA. Don’t Overuse Acetaminophen.</a:t>
            </a:r>
          </a:p>
          <a:p>
            <a:r>
              <a:t>https://www.fda.gov/consumers/consumer-updates/dont-overuse-acetaminophen</a:t>
            </a:r>
          </a:p>
          <a:p/>
          <a:p>
            <a:r>
              <a:t>情境画面为原创动漫，人物与事件为虚构；医学插图按参考资料核对组织关系，受体为功能标记。</a:t>
            </a:r>
          </a:p>
          <a:p>
            <a:r>
              <a:t>本页素材：</a:t>
            </a:r>
          </a:p>
          <a:p>
            <a:r>
              <a:t>actions_storyboard.png｜R2C1｜咨询药师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第21页｜乙主讲｜建议75秒</a:t>
            </a:r>
          </a:p>
          <a:p/>
          <a:p/>
          <a:p>
            <a:r>
              <a:t>乙：合理用药还包括知道什么时候停止自己试错。用药后出现呼吸困难、喉部或舌头肿胀、明显意识异常等情况，可能是严重反应，应立即寻求急救，在国内拨打120。不要靠继续加药来压住症状。怀疑超量或误服，也要及时获得医疗帮助，有些问题并不一定马上表现出来。就诊时带上药盒和已经服用的时间、用量记录。如果不是急症，但症状持续、反复或越来越重，也应该按药品说明书的就医提示及时就诊。我们列的是几个重要信号，不是完整清单，更不是要大家在宿舍自行鉴别各种严重疾病。</a:t>
            </a:r>
          </a:p>
          <a:p>
            <a:r>
              <a:t>乙：无论咨询还是就医，都需要说清用过什么。下一页把这份信息留在药箱和记录里。</a:t>
            </a:r>
          </a:p>
          <a:p/>
          <a:p>
            <a:r>
              <a:t>视觉说明：珊瑚红120急救卡突出严重信号；另两张浅底色行动卡区分误服与持续症状；右侧全新室友求助动漫，不用医院走廊照片。</a:t>
            </a:r>
          </a:p>
          <a:p/>
          <a:p>
            <a:r>
              <a:t>参考：</a:t>
            </a:r>
          </a:p>
          <a:p>
            <a:r>
              <a:t>[S2] FDA. Don’t Overuse Acetaminophen.</a:t>
            </a:r>
          </a:p>
          <a:p>
            <a:r>
              <a:t>https://www.fda.gov/consumers/consumer-updates/dont-overuse-acetaminophen</a:t>
            </a:r>
          </a:p>
          <a:p>
            <a:r>
              <a:t>[S11] CDC. Manage Common Cold.</a:t>
            </a:r>
          </a:p>
          <a:p>
            <a:r>
              <a:t>https://www.cdc.gov/common-cold/treatment/index.html</a:t>
            </a:r>
          </a:p>
          <a:p>
            <a:r>
              <a:t>[S12] NHS. Anaphylaxis.</a:t>
            </a:r>
          </a:p>
          <a:p>
            <a:r>
              <a:t>https://www.nhs.uk/conditions/anaphylaxis/</a:t>
            </a:r>
          </a:p>
          <a:p/>
          <a:p>
            <a:r>
              <a:t>情境画面为原创动漫，人物与事件为虚构；医学插图按参考资料核对组织关系，受体为功能标记。</a:t>
            </a:r>
          </a:p>
          <a:p>
            <a:r>
              <a:t>本页素材：</a:t>
            </a:r>
          </a:p>
          <a:p>
            <a:r>
              <a:t>actions_storyboard.png｜R2C2｜及时求助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第22页｜乙主讲｜建议65秒</a:t>
            </a:r>
          </a:p>
          <a:p/>
          <a:p/>
          <a:p>
            <a:r>
              <a:t>乙：说到药箱，最重要的不是囤得多，而是需要时能认清。药品尽量保留原包装和说明书，避免把不同药片混在一个没有标签的小盒子里。检查有效期，也检查包装上的贮藏要求，不能把“放冰箱”当作所有药物的统一保存方法。自己的处方药不要分享给室友，过期或不再需要的药品按当地药品回收或分类要求处理。再保留一个简单的用药记录，例如手机备忘录，写药名、时间、用量和反应。这样复诊或咨询时，信息会比凭印象回忆更准确。</a:t>
            </a:r>
          </a:p>
          <a:p>
            <a:r>
              <a:t>乙：包装、说明书和记录留齐后，前面四个案例就能对应到具体动作。</a:t>
            </a:r>
          </a:p>
          <a:p/>
          <a:p>
            <a:r>
              <a:t>视觉说明：全新动漫整理药箱，包装、说明书和手机记录一同入画；右侧三张浅底色便签，突出信息保留。</a:t>
            </a:r>
          </a:p>
          <a:p/>
          <a:p>
            <a:r>
              <a:t>参考：</a:t>
            </a:r>
          </a:p>
          <a:p>
            <a:r>
              <a:t>[S2] FDA. Don’t Overuse Acetaminophen.</a:t>
            </a:r>
          </a:p>
          <a:p>
            <a:r>
              <a:t>https://www.fda.gov/consumers/consumer-updates/dont-overuse-acetaminophen</a:t>
            </a:r>
          </a:p>
          <a:p>
            <a:r>
              <a:t>[S4] CDC. Healthy Habits: Antibiotic Do’s and Don’ts.</a:t>
            </a:r>
          </a:p>
          <a:p>
            <a:r>
              <a:t>https://www.cdc.gov/antibiotic-use/about/</a:t>
            </a:r>
          </a:p>
          <a:p/>
          <a:p>
            <a:r>
              <a:t>情境画面为原创动漫，人物与事件为虚构；医学插图按参考资料核对组织关系，受体为功能标记。</a:t>
            </a:r>
          </a:p>
          <a:p>
            <a:r>
              <a:t>本页素材：</a:t>
            </a:r>
          </a:p>
          <a:p>
            <a:r>
              <a:t>actions_storyboard.png｜R2C3｜留信息和记录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第23页｜乙主讲｜建议60秒</a:t>
            </a:r>
          </a:p>
          <a:p/>
          <a:p/>
          <a:p>
            <a:r>
              <a:t>乙：挑战前，把四个情境换成四个动作：感冒药想叠加，先核成分；感冒想到抗生素，先确认是否需要；抗过敏后困倦，查提示并避开高风险活动；服药后聚餐，先核实饮酒要求。这些动作都在刚才的案例里出现过，不用背一串药名。最后的小测把它们组合起来，练习在信息缺口前停一下。</a:t>
            </a:r>
          </a:p>
          <a:p/>
          <a:p>
            <a:r>
              <a:t>视觉说明：四条浅底色情境到行动的配对带，以明确箭头连接，不堆砌裸文字；作为方法部分与综合挑战的桥梁。</a:t>
            </a:r>
          </a:p>
          <a:p/>
          <a:p>
            <a:r>
              <a:t>参考：</a:t>
            </a:r>
          </a:p>
          <a:p/>
          <a:p/>
          <a:p>
            <a:r>
              <a:t>情境画面为原创动漫，人物与事件为虚构；医学插图按参考资料核对组织关系，受体为功能标记。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第24页｜乙主讲｜建议60秒</a:t>
            </a:r>
          </a:p>
          <a:p/>
          <a:p/>
          <a:p>
            <a:r>
              <a:t>乙：最后进入综合挑战，小苏再次登场。看三幅分镜：他今天已经服用一种复方感冒药，晚上觉得还没完全舒服，想再加另一盒，同时准备去聚餐。现在两盒药的成分没有核对，饮酒要求也不清楚，症状目前较轻，没有我们刚才提到的严重急症表现。这里不要求大家诊断他得了什么病，也不要求给他开药，只选一个更稳妥的下一步方案。图片里请记住三个线索：已经服过药、还没核对成分、聚餐可能喝酒。下一页有三个方案，答案不会藏在复杂医学知识里。</a:t>
            </a:r>
          </a:p>
          <a:p/>
          <a:p>
            <a:r>
              <a:t>视觉说明：三幅全新动漫分镜：已服药、想加第二盒、准备聚餐；短对白独立可编辑，信息缺口留给下一页选择，不提前给答案。</a:t>
            </a:r>
          </a:p>
          <a:p/>
          <a:p>
            <a:r>
              <a:t>参考：</a:t>
            </a:r>
          </a:p>
          <a:p/>
          <a:p/>
          <a:p>
            <a:r>
              <a:t>情境画面为原创动漫，人物与事件为虚构；医学插图按参考资料核对组织关系，受体为功能标记。</a:t>
            </a:r>
          </a:p>
          <a:p>
            <a:r>
              <a:t>本页素材：</a:t>
            </a:r>
          </a:p>
          <a:p>
            <a:r>
              <a:t>actions_storyboard.png｜R3C1｜已经服药</a:t>
            </a:r>
          </a:p>
          <a:p>
            <a:r>
              <a:t>actions_storyboard.png｜R3C2｜想加第二盒</a:t>
            </a:r>
          </a:p>
          <a:p>
            <a:r>
              <a:t>actions_storyboard.png｜R3C3｜准备聚餐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第25页｜乙主讲｜建议90秒</a:t>
            </a:r>
          </a:p>
          <a:p>
            <a:r>
              <a:t>阅读10秒＋举手约25秒；甲负责观察，乙主讲。</a:t>
            </a:r>
          </a:p>
          <a:p/>
          <a:p>
            <a:r>
              <a:t>乙：这次可以采纳多条建议。A处理聚餐饮酒的不确定性，B准备药盒和已服记录，C沿用上次经验调整第二盒的时间。请判断哪些能补齐题目里的未知信息，再把采纳的建议拼成小苏今晚的计划。</a:t>
            </a:r>
          </a:p>
          <a:p>
            <a:r>
              <a:t>【静默10秒；依次举手各约5秒，可以多次举手】</a:t>
            </a:r>
          </a:p>
          <a:p>
            <a:r>
              <a:t>乙：先保留选择。下一页分别核对饮酒、成分与已服情况，不用靠哪个选项最长来猜。</a:t>
            </a:r>
          </a:p>
          <a:p/>
          <a:p>
            <a:r>
              <a:t>视觉说明：等权选择卡与小苏动漫肖像；仅保留单选或多选标记，不重复添加提示小标题；不按答案区别格式。</a:t>
            </a:r>
          </a:p>
          <a:p/>
          <a:p>
            <a:r>
              <a:t>参考：</a:t>
            </a:r>
          </a:p>
          <a:p/>
          <a:p/>
          <a:p>
            <a:r>
              <a:t>情境画面为原创动漫，人物与事件为虚构；医学插图按参考资料核对组织关系，受体为功能标记。</a:t>
            </a:r>
          </a:p>
          <a:p>
            <a:r>
              <a:t>本页素材：</a:t>
            </a:r>
          </a:p>
          <a:p>
            <a:r>
              <a:t>unique_scenes.png｜R3C1｜综合题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第26页｜乙主讲｜建议90秒</a:t>
            </a:r>
          </a:p>
          <a:p>
            <a:r>
              <a:t>乙揭晓；甲补充就医边界约15秒，再交回乙。</a:t>
            </a:r>
          </a:p>
          <a:p/>
          <a:p>
            <a:r>
              <a:t>乙：A与B可以一起采纳。A在饮酒要求明确之前先不喝，B把具体药名、规格、成分、何时用了多少一起交给药师核对。C沿用上次经验把药改到睡前，没有解决现在的重复成分和累计使用问题。</a:t>
            </a:r>
          </a:p>
          <a:p>
            <a:r>
              <a:t>甲：症状持续、加重或出现呼吸困难、意识异常等急症表现，要转为就医或急救。</a:t>
            </a:r>
          </a:p>
          <a:p>
            <a:r>
              <a:t>乙：两条建议拼成完整行动，才比一个听起来谨慎的安排更有依据。</a:t>
            </a:r>
          </a:p>
          <a:p/>
          <a:p>
            <a:r>
              <a:t>视觉说明：左侧大号A＋B结论块，右侧两张行动卡与一张辨析卡；浅底色、清楚层次，解释为何错开时间仍未解决问题。</a:t>
            </a:r>
          </a:p>
          <a:p/>
          <a:p>
            <a:r>
              <a:t>参考：</a:t>
            </a:r>
          </a:p>
          <a:p>
            <a:r>
              <a:t>[S2] FDA. Don’t Overuse Acetaminophen.</a:t>
            </a:r>
          </a:p>
          <a:p>
            <a:r>
              <a:t>https://www.fda.gov/consumers/consumer-updates/dont-overuse-acetaminophen</a:t>
            </a:r>
          </a:p>
          <a:p>
            <a:r>
              <a:t>[S4] CDC. Healthy Habits: Antibiotic Do’s and Don’ts.</a:t>
            </a:r>
          </a:p>
          <a:p>
            <a:r>
              <a:t>https://www.cdc.gov/antibiotic-use/about/</a:t>
            </a:r>
          </a:p>
          <a:p>
            <a:r>
              <a:t>[S9] NIAAA. Alcohol-Medication Interactions: Potentially Dangerous Mixes.</a:t>
            </a:r>
          </a:p>
          <a:p>
            <a:r>
              <a:t>https://www.niaaa.nih.gov/health-professionals-communities/core-resource-on-alcohol/alcohol-medication-interactions-potentially-dangerous-mixes</a:t>
            </a:r>
          </a:p>
          <a:p>
            <a:r>
              <a:t>[S11] CDC. Manage Common Cold.</a:t>
            </a:r>
          </a:p>
          <a:p>
            <a:r>
              <a:t>https://www.cdc.gov/common-cold/treatment/index.html</a:t>
            </a:r>
          </a:p>
          <a:p>
            <a:r>
              <a:t>[S12] NHS. Anaphylaxis.</a:t>
            </a:r>
          </a:p>
          <a:p>
            <a:r>
              <a:t>https://www.nhs.uk/conditions/anaphylaxis/</a:t>
            </a:r>
          </a:p>
          <a:p/>
          <a:p>
            <a:r>
              <a:t>情境画面为原创动漫，人物与事件为虚构；医学插图按参考资料核对组织关系，受体为功能标记。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第27页｜乙主讲｜建议60秒</a:t>
            </a:r>
          </a:p>
          <a:p>
            <a:r>
              <a:t>甲乙共同收尾；参考文献附页不逐页讲解。</a:t>
            </a:r>
          </a:p>
          <a:p/>
          <a:p>
            <a:r>
              <a:t>乙：最后，我们把今天的内容收在三句话里。第一，先看说明书，再做用药决定，不让包装和熟悉感替我们判断。第二，核对重复成分，并记录已经服用的药物、时间、用量与反应。第三，遇到不确定的信息，向医生或药师询问；该就医的时候，不继续靠自己试药。</a:t>
            </a:r>
          </a:p>
          <a:p>
            <a:r>
              <a:t>甲：希望下一次室友拿出药盒时，大家能多做一个核对动作，多问一个具体问题。</a:t>
            </a:r>
          </a:p>
          <a:p>
            <a:r>
              <a:t>乙：药可以常备，判断不能省略。谢谢大家。我们的数据出处和参考资料放在后面的附页，方便课后查阅。</a:t>
            </a:r>
          </a:p>
          <a:p>
            <a:r>
              <a:t>【留出约10秒结束停顿；不在35分钟内另加开放讨论。】</a:t>
            </a:r>
          </a:p>
          <a:p/>
          <a:p>
            <a:r>
              <a:t>视觉说明：白底深蓝大标题与珊瑚红点缀呼应封面；三张有底色的行动条与原创可编辑药箱、说明书、记录图示，无复用照片。</a:t>
            </a:r>
          </a:p>
          <a:p/>
          <a:p>
            <a:r>
              <a:t>参考：</a:t>
            </a:r>
          </a:p>
          <a:p/>
          <a:p/>
          <a:p>
            <a:r>
              <a:t>情境画面为原创动漫，人物与事件为虚构；医学插图按参考资料核对组织关系，受体为功能标记。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参考文献附页，不逐页讲解。</a:t>
            </a:r>
          </a:p>
          <a:p/>
          <a:p>
            <a:r>
              <a:t>[S1] 国家卫生健康委等（2020）《关于加强医疗机构药事管理促进合理用药的意见》</a:t>
            </a:r>
          </a:p>
          <a:p>
            <a:r>
              <a:t>https://www.nhc.gov.cn/yzygj/c100068/202002/fdb7240014db4d49827ca25bbb41b177.shtml</a:t>
            </a:r>
          </a:p>
          <a:p/>
          <a:p>
            <a:r>
              <a:t>[S2] FDA. Don’t Overuse Acetaminophen.</a:t>
            </a:r>
          </a:p>
          <a:p>
            <a:r>
              <a:t>https://www.fda.gov/consumers/consumer-updates/dont-overuse-acetaminophen</a:t>
            </a:r>
          </a:p>
          <a:p/>
          <a:p>
            <a:r>
              <a:t>[S4] CDC. Healthy Habits: Antibiotic Do’s and Don’ts.</a:t>
            </a:r>
          </a:p>
          <a:p>
            <a:r>
              <a:t>https://www.cdc.gov/antibiotic-use/about/</a:t>
            </a:r>
          </a:p>
          <a:p/>
          <a:p>
            <a:r>
              <a:t>[S5] CDC. Antibiotic Use in the United States（2025更新；门诊至少28%不必要处方）</a:t>
            </a:r>
          </a:p>
          <a:p>
            <a:r>
              <a:t>https://www.cdc.gov/antibiotic-use/hcp/data-research/antibiotic-prescribing.html</a:t>
            </a:r>
          </a:p>
          <a:p/>
          <a:p>
            <a:r>
              <a:t>[S8] NHS. Antihistamines.</a:t>
            </a:r>
          </a:p>
          <a:p>
            <a:r>
              <a:t>https://www.nhs.uk/medicines/antihistamines/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参考文献附页，不逐页讲解。</a:t>
            </a:r>
          </a:p>
          <a:p/>
          <a:p>
            <a:r>
              <a:t>[S9] NIAAA. Alcohol-Medication Interactions: Potentially Dangerous Mixes.</a:t>
            </a:r>
          </a:p>
          <a:p>
            <a:r>
              <a:t>https://www.niaaa.nih.gov/health-professionals-communities/core-resource-on-alcohol/alcohol-medication-interactions-potentially-dangerous-mixes</a:t>
            </a:r>
          </a:p>
          <a:p/>
          <a:p>
            <a:r>
              <a:t>[S10] NHS Specialist Pharmacy Service. Advising on missed or delayed doses of medicines.</a:t>
            </a:r>
          </a:p>
          <a:p>
            <a:r>
              <a:t>https://sps.nhs.uk/articles/advising-on-missed-or-delayed-doses-of-medicines/</a:t>
            </a:r>
          </a:p>
          <a:p/>
          <a:p>
            <a:r>
              <a:t>[S11] CDC. Manage Common Cold.</a:t>
            </a:r>
          </a:p>
          <a:p>
            <a:r>
              <a:t>https://www.cdc.gov/common-cold/treatment/index.html</a:t>
            </a:r>
          </a:p>
          <a:p/>
          <a:p>
            <a:r>
              <a:t>[S12] NHS. Anaphylaxis.</a:t>
            </a:r>
          </a:p>
          <a:p>
            <a:r>
              <a:t>https://www.nhs.uk/conditions/anaphylaxis/</a:t>
            </a:r>
          </a:p>
          <a:p/>
          <a:p>
            <a:r>
              <a:t>[S13] NHS. Omeprazole.</a:t>
            </a:r>
          </a:p>
          <a:p>
            <a:r>
              <a:t>https://www.nhs.uk/medicines/omeprazole/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参考文献附页，不逐页讲解。</a:t>
            </a:r>
          </a:p>
          <a:p/>
          <a:p>
            <a:r>
              <a:t>[S14] Simons FER, Simons KJ. H1 Antihistamines: Current Status and Future Directions. World Allergy Organ J. 2008;1:145–155.</a:t>
            </a:r>
          </a:p>
          <a:p>
            <a:r>
              <a:t>https://pmc.ncbi.nlm.nih.gov/articles/PMC3650962/</a:t>
            </a:r>
          </a:p>
          <a:p/>
          <a:p>
            <a:r>
              <a:t>[S15] CDC. Do antibiotics have side effects?（药物相关急诊约1/5来自抗生素反应）</a:t>
            </a:r>
          </a:p>
          <a:p>
            <a:r>
              <a:t>https://www.cdc.gov/antibiotic-use/media/pdfs/Do-Antibiotics-Have-Side-Effects-508.pdf</a:t>
            </a:r>
          </a:p>
          <a:p/>
          <a:p>
            <a:r>
              <a:t>[S16] Hersh AL et al. Unnecessary Antibiotic Prescribing in US Ambulatory Care Settings, 2010–2015. Clin Infect Dis. 2021;72:133–137.</a:t>
            </a:r>
          </a:p>
          <a:p>
            <a:r>
              <a:t>https://stacks.cdc.gov/view/cdc/120299/cdc_120299_DS1.pdf</a:t>
            </a:r>
          </a:p>
          <a:p/>
          <a:p>
            <a:r>
              <a:t>[S17] Anatomy and Physiology of the Blood-Brain Barrier（脑微血管内皮、紧密连接与支持结构）</a:t>
            </a:r>
          </a:p>
          <a:p>
            <a:r>
              <a:t>https://pmc.ncbi.nlm.nih.gov/articles/PMC4397166/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插图素材附页，不逐页讲解。</a:t>
            </a:r>
          </a:p>
          <a:p/>
          <a:p>
            <a:r>
              <a:t>cover_rational.png｜封面：一起核对药盒与说明书｜2026-10-13</a:t>
            </a:r>
          </a:p>
          <a:p>
            <a:r>
              <a:t>storyboard.png｜宿舍、课堂与聚餐分镜｜2026-10-12</a:t>
            </a:r>
          </a:p>
          <a:p>
            <a:r>
              <a:t>unique_scenes.png｜核药时间线与四道题｜2026-10-12</a:t>
            </a:r>
          </a:p>
          <a:p>
            <a:r>
              <a:t>actions_storyboard.png｜查、核、问、求助、记录与综合案例｜2026-10-13</a:t>
            </a:r>
          </a:p>
          <a:p>
            <a:r>
              <a:t>nasal_histamine.png｜鼻黏膜、组胺与感觉神经作用对象｜2026-10-13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插图素材附页，不逐页讲解。</a:t>
            </a:r>
          </a:p>
          <a:p/>
          <a:p>
            <a:r>
              <a:t>brain_bbb_h1.png｜脑微血管、血脑屏障与脑内H1作用对象｜2026-10-13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hc.gov.cn/yzygj/c100068/202002/fdb7240014db4d49827ca25bbb41b177.shtml" TargetMode="External"/><Relationship Id="rId3" Type="http://schemas.openxmlformats.org/officeDocument/2006/relationships/hyperlink" Target="https://www.fda.gov/consumers/consumer-updates/dont-overuse-acetaminophen" TargetMode="External"/><Relationship Id="rId4" Type="http://schemas.openxmlformats.org/officeDocument/2006/relationships/hyperlink" Target="https://www.cdc.gov/antibiotic-use/about/" TargetMode="External"/><Relationship Id="rId5" Type="http://schemas.openxmlformats.org/officeDocument/2006/relationships/hyperlink" Target="https://www.cdc.gov/antibiotic-use/hcp/data-research/antibiotic-prescribing.html" TargetMode="External"/><Relationship Id="rId6" Type="http://schemas.openxmlformats.org/officeDocument/2006/relationships/hyperlink" Target="https://www.nhs.uk/medicines/antihistamines/" TargetMode="External"/><Relationship Id="rId7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iaaa.nih.gov/health-professionals-communities/core-resource-on-alcohol/alcohol-medication-interactions-potentially-dangerous-mixes" TargetMode="External"/><Relationship Id="rId3" Type="http://schemas.openxmlformats.org/officeDocument/2006/relationships/hyperlink" Target="https://sps.nhs.uk/articles/advising-on-missed-or-delayed-doses-of-medicines/" TargetMode="External"/><Relationship Id="rId4" Type="http://schemas.openxmlformats.org/officeDocument/2006/relationships/hyperlink" Target="https://www.cdc.gov/common-cold/treatment/index.html" TargetMode="External"/><Relationship Id="rId5" Type="http://schemas.openxmlformats.org/officeDocument/2006/relationships/hyperlink" Target="https://www.nhs.uk/conditions/anaphylaxis/" TargetMode="External"/><Relationship Id="rId6" Type="http://schemas.openxmlformats.org/officeDocument/2006/relationships/hyperlink" Target="https://www.nhs.uk/medicines/omeprazole/" TargetMode="External"/><Relationship Id="rId7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mc.ncbi.nlm.nih.gov/articles/PMC3650962/" TargetMode="External"/><Relationship Id="rId3" Type="http://schemas.openxmlformats.org/officeDocument/2006/relationships/hyperlink" Target="https://www.cdc.gov/antibiotic-use/media/pdfs/Do-Antibiotics-Have-Side-Effects-508.pdf" TargetMode="External"/><Relationship Id="rId4" Type="http://schemas.openxmlformats.org/officeDocument/2006/relationships/hyperlink" Target="https://stacks.cdc.gov/view/cdc/120299/cdc_120299_DS1.pdf" TargetMode="External"/><Relationship Id="rId5" Type="http://schemas.openxmlformats.org/officeDocument/2006/relationships/hyperlink" Target="https://pmc.ncbi.nlm.nih.gov/articles/PMC4397166/" TargetMode="External"/><Relationship Id="rId6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20624"/>
            <a:ext cx="73152" cy="25603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65760"/>
            <a:ext cx="491947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153E75"/>
                </a:solidFill>
                <a:latin typeface="Noto Sans CJK SC"/>
              </a:rPr>
              <a:t>苏州大学 · 校园用药课堂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0" y="1124712"/>
            <a:ext cx="5925312" cy="4197096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ANIME_COVER" descr="原创动漫情境，生成日期与分镜用途见素材附页；对白独立可编辑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779008" y="1280160"/>
            <a:ext cx="5705856" cy="38039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" y="1545336"/>
            <a:ext cx="4928616" cy="11338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400" b="1">
                <a:solidFill>
                  <a:srgbClr val="153E75"/>
                </a:solidFill>
                <a:latin typeface="Noto Sans CJK SC"/>
              </a:rPr>
              <a:t>合理用药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2779776"/>
            <a:ext cx="749808" cy="7315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3017520"/>
            <a:ext cx="4727448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1">
                <a:solidFill>
                  <a:srgbClr val="153E75"/>
                </a:solidFill>
                <a:latin typeface="Noto Sans CJK SC"/>
              </a:rPr>
              <a:t>给宿舍药箱上堂课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3867912"/>
            <a:ext cx="4562856" cy="1170432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4014215"/>
            <a:ext cx="416052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>
                <a:solidFill>
                  <a:srgbClr val="153E75"/>
                </a:solidFill>
                <a:latin typeface="Noto Sans CJK SC"/>
              </a:rPr>
              <a:t>药名熟悉，就能放心吃？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>
                <a:solidFill>
                  <a:srgbClr val="153E75"/>
                </a:solidFill>
                <a:latin typeface="Noto Sans CJK SC"/>
              </a:rPr>
              <a:t>先学会看、核、问、记。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5550408"/>
            <a:ext cx="2596896" cy="576072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5632704"/>
            <a:ext cx="22677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153E75"/>
                </a:solidFill>
                <a:latin typeface="Noto Sans CJK SC"/>
              </a:rPr>
              <a:t>看说明书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38727" y="5550408"/>
            <a:ext cx="2596896" cy="576072"/>
          </a:xfrm>
          <a:prstGeom prst="roundRect">
            <a:avLst>
              <a:gd name="adj" fmla="val 10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5632704"/>
            <a:ext cx="22677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153E75"/>
                </a:solidFill>
                <a:latin typeface="Noto Sans CJK SC"/>
              </a:rPr>
              <a:t>核对成分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5550408"/>
            <a:ext cx="2596896" cy="576072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1" y="5632704"/>
            <a:ext cx="22677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153E75"/>
                </a:solidFill>
                <a:latin typeface="Noto Sans CJK SC"/>
              </a:rPr>
              <a:t>问清疑点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79992" y="5550408"/>
            <a:ext cx="2596896" cy="576072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44584" y="5632704"/>
            <a:ext cx="22677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153E75"/>
                </a:solidFill>
                <a:latin typeface="Noto Sans CJK SC"/>
              </a:rPr>
              <a:t>留好记录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6400800"/>
            <a:ext cx="613562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153E75"/>
                </a:solidFill>
                <a:latin typeface="Noto Sans CJK SC"/>
              </a:rPr>
              <a:t>主讲：同学甲 / 同学乙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6400800"/>
            <a:ext cx="279806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153E75"/>
                </a:solidFill>
                <a:latin typeface="Noto Sans CJK SC"/>
              </a:rPr>
              <a:t>35分钟 · 双人展示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64008" cy="246888"/>
          </a:xfrm>
          <a:prstGeom prst="rect">
            <a:avLst/>
          </a:prstGeom>
          <a:solidFill>
            <a:srgbClr val="E3464F"/>
          </a:solidFill>
          <a:ln>
            <a:solidFill>
              <a:srgbClr val="E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3E75"/>
                </a:solidFill>
                <a:latin typeface="Noto Sans CJK SC"/>
                <a:ea typeface="Noto Sans CJK SC"/>
              </a:rPr>
              <a:t>01 / 基本原则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53E75"/>
                </a:solidFill>
                <a:latin typeface="Noto Sans CJK SC"/>
                <a:ea typeface="Noto Sans CJK SC"/>
              </a:rPr>
              <a:t>今天的路线：从会判断，到会行动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5843016"/>
            <a:ext cx="11000232" cy="0"/>
          </a:xfrm>
          <a:prstGeom prst="line">
            <a:avLst/>
          </a:prstGeom>
          <a:ln w="889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5943600"/>
            <a:ext cx="107442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53E75"/>
                </a:solidFill>
                <a:latin typeface="Noto Sans CJK SC"/>
                <a:ea typeface="Noto Sans CJK SC"/>
              </a:rPr>
              <a:t>全程约35分钟，已包含举手互动。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5566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3E75"/>
                </a:solidFill>
                <a:latin typeface="Noto Sans CJK SC"/>
                <a:ea typeface="Noto Sans CJK SC"/>
              </a:rPr>
              <a:t>02 / 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75104"/>
            <a:ext cx="2587752" cy="3593592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96695" y="2176272"/>
            <a:ext cx="576072" cy="329184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2194560"/>
            <a:ext cx="4480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11" name="Oval 10"/>
          <p:cNvSpPr/>
          <p:nvPr/>
        </p:nvSpPr>
        <p:spPr>
          <a:xfrm>
            <a:off x="1316736" y="2935224"/>
            <a:ext cx="1069848" cy="10698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0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2212848" y="3822191"/>
            <a:ext cx="493776" cy="466345"/>
          </a:xfrm>
          <a:prstGeom prst="line">
            <a:avLst/>
          </a:prstGeom>
          <a:ln w="63500">
            <a:solidFill>
              <a:srgbClr val="EB59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527048" y="3108960"/>
            <a:ext cx="64922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500" b="1">
                <a:solidFill>
                  <a:srgbClr val="EB5969"/>
                </a:solidFill>
                <a:latin typeface="Noto Sans CJK SC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636008"/>
            <a:ext cx="22219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203354"/>
                </a:solidFill>
                <a:latin typeface="Noto Sans CJK SC"/>
              </a:rPr>
              <a:t>基本原则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148072"/>
            <a:ext cx="22219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0">
                <a:solidFill>
                  <a:srgbClr val="203354"/>
                </a:solidFill>
                <a:latin typeface="Noto Sans CJK SC"/>
              </a:rPr>
              <a:t>5分钟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47872" y="1975104"/>
            <a:ext cx="2587752" cy="3593592"/>
          </a:xfrm>
          <a:prstGeom prst="roundRect">
            <a:avLst>
              <a:gd name="adj" fmla="val 10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767328" y="2176272"/>
            <a:ext cx="576072" cy="329184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31336" y="2194560"/>
            <a:ext cx="4480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33672" y="2880360"/>
            <a:ext cx="1216152" cy="1399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0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79392" y="2926079"/>
            <a:ext cx="1124712" cy="201168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4841748" y="3246120"/>
            <a:ext cx="0" cy="274319"/>
          </a:xfrm>
          <a:prstGeom prst="line">
            <a:avLst/>
          </a:prstGeom>
          <a:ln w="38100">
            <a:solidFill>
              <a:srgbClr val="2033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59325" y="3383280"/>
            <a:ext cx="364845" cy="0"/>
          </a:xfrm>
          <a:prstGeom prst="line">
            <a:avLst/>
          </a:prstGeom>
          <a:ln w="38100">
            <a:solidFill>
              <a:srgbClr val="2033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279392" y="3968496"/>
            <a:ext cx="11247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03354"/>
                </a:solidFill>
                <a:latin typeface="Noto Sans CJK SC"/>
              </a:rPr>
              <a:t>宿舍药箱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0752" y="4636008"/>
            <a:ext cx="22219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203354"/>
                </a:solidFill>
                <a:latin typeface="Noto Sans CJK SC"/>
              </a:rPr>
              <a:t>宿舍误区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30752" y="5148072"/>
            <a:ext cx="22219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0">
                <a:solidFill>
                  <a:srgbClr val="203354"/>
                </a:solidFill>
                <a:latin typeface="Noto Sans CJK SC"/>
              </a:rPr>
              <a:t>17分钟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18503" y="1975104"/>
            <a:ext cx="2587752" cy="3593592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37959" y="2176272"/>
            <a:ext cx="576072" cy="329184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2194560"/>
            <a:ext cx="4480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7999" y="2862072"/>
            <a:ext cx="1508760" cy="14538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0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7022592" y="3118104"/>
            <a:ext cx="128015" cy="118872"/>
          </a:xfrm>
          <a:prstGeom prst="line">
            <a:avLst/>
          </a:prstGeom>
          <a:ln w="25400">
            <a:solidFill>
              <a:srgbClr val="EB59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150607" y="3044952"/>
            <a:ext cx="201168" cy="192024"/>
          </a:xfrm>
          <a:prstGeom prst="line">
            <a:avLst/>
          </a:prstGeom>
          <a:ln w="25400">
            <a:solidFill>
              <a:srgbClr val="EB59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534655" y="3118104"/>
            <a:ext cx="649224" cy="0"/>
          </a:xfrm>
          <a:prstGeom prst="line">
            <a:avLst/>
          </a:prstGeom>
          <a:ln w="25400">
            <a:solidFill>
              <a:srgbClr val="2033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022592" y="3483864"/>
            <a:ext cx="128015" cy="118872"/>
          </a:xfrm>
          <a:prstGeom prst="line">
            <a:avLst/>
          </a:prstGeom>
          <a:ln w="25400">
            <a:solidFill>
              <a:srgbClr val="EB59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150607" y="3410712"/>
            <a:ext cx="201168" cy="192024"/>
          </a:xfrm>
          <a:prstGeom prst="line">
            <a:avLst/>
          </a:prstGeom>
          <a:ln w="25400">
            <a:solidFill>
              <a:srgbClr val="EB59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534655" y="3483864"/>
            <a:ext cx="649224" cy="0"/>
          </a:xfrm>
          <a:prstGeom prst="line">
            <a:avLst/>
          </a:prstGeom>
          <a:ln w="25400">
            <a:solidFill>
              <a:srgbClr val="2033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022592" y="3849624"/>
            <a:ext cx="128015" cy="118872"/>
          </a:xfrm>
          <a:prstGeom prst="line">
            <a:avLst/>
          </a:prstGeom>
          <a:ln w="25400">
            <a:solidFill>
              <a:srgbClr val="EB59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150607" y="3776472"/>
            <a:ext cx="201168" cy="192024"/>
          </a:xfrm>
          <a:prstGeom prst="line">
            <a:avLst/>
          </a:prstGeom>
          <a:ln w="25400">
            <a:solidFill>
              <a:srgbClr val="EB59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534655" y="3849624"/>
            <a:ext cx="649224" cy="0"/>
          </a:xfrm>
          <a:prstGeom prst="line">
            <a:avLst/>
          </a:prstGeom>
          <a:ln w="25400">
            <a:solidFill>
              <a:srgbClr val="2033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501383" y="4636008"/>
            <a:ext cx="22219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203354"/>
                </a:solidFill>
                <a:latin typeface="Noto Sans CJK SC"/>
              </a:rPr>
              <a:t>安全用药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01383" y="5148072"/>
            <a:ext cx="22219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0">
                <a:solidFill>
                  <a:srgbClr val="203354"/>
                </a:solidFill>
                <a:latin typeface="Noto Sans CJK SC"/>
              </a:rPr>
              <a:t>8分钟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89136" y="1975104"/>
            <a:ext cx="2587752" cy="3593592"/>
          </a:xfrm>
          <a:prstGeom prst="roundRect">
            <a:avLst>
              <a:gd name="adj" fmla="val 10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308592" y="2176272"/>
            <a:ext cx="576072" cy="329184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72600" y="2194560"/>
            <a:ext cx="4480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04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82328" y="3346704"/>
            <a:ext cx="512064" cy="329184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46336" y="336499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85832" y="3346704"/>
            <a:ext cx="512064" cy="329184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49840" y="336499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B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689336" y="3346704"/>
            <a:ext cx="512064" cy="329184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53344" y="336499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72015" y="4636008"/>
            <a:ext cx="22219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203354"/>
                </a:solidFill>
                <a:latin typeface="Noto Sans CJK SC"/>
              </a:rPr>
              <a:t>选择挑战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72015" y="5148072"/>
            <a:ext cx="22219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0">
                <a:solidFill>
                  <a:srgbClr val="203354"/>
                </a:solidFill>
                <a:latin typeface="Noto Sans CJK SC"/>
              </a:rPr>
              <a:t>5分钟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64008" cy="246888"/>
          </a:xfrm>
          <a:prstGeom prst="rect">
            <a:avLst/>
          </a:prstGeom>
          <a:solidFill>
            <a:srgbClr val="E3464F"/>
          </a:solidFill>
          <a:ln>
            <a:solidFill>
              <a:srgbClr val="E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3E75"/>
                </a:solidFill>
                <a:latin typeface="Noto Sans CJK SC"/>
                <a:ea typeface="Noto Sans CJK SC"/>
              </a:rPr>
              <a:t>01 / 基本原则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53E75"/>
                </a:solidFill>
                <a:latin typeface="Noto Sans CJK SC"/>
                <a:ea typeface="Noto Sans CJK SC"/>
              </a:rPr>
              <a:t>室友感冒了，你先做哪一步？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5843016"/>
            <a:ext cx="11000232" cy="0"/>
          </a:xfrm>
          <a:prstGeom prst="line">
            <a:avLst/>
          </a:prstGeom>
          <a:ln w="889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5943600"/>
            <a:ext cx="107442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53E75"/>
                </a:solidFill>
                <a:latin typeface="Noto Sans CJK SC"/>
                <a:ea typeface="Noto Sans CJK SC"/>
              </a:rPr>
              <a:t>举手选择 A / B / C｜暂不揭晓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5566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3E75"/>
                </a:solidFill>
                <a:latin typeface="Noto Sans CJK SC"/>
                <a:ea typeface="Noto Sans CJK SC"/>
              </a:rPr>
              <a:t>03 / 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1938528"/>
            <a:ext cx="8257031" cy="941832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7552" y="2240280"/>
            <a:ext cx="539496" cy="329184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58568"/>
            <a:ext cx="41147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2224" y="2093976"/>
            <a:ext cx="692200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0">
                <a:solidFill>
                  <a:srgbClr val="203354"/>
                </a:solidFill>
                <a:latin typeface="Noto Sans CJK SC"/>
              </a:rPr>
              <a:t>用上次的剩药，沿用当时吃法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" y="3081528"/>
            <a:ext cx="8257031" cy="941832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7552" y="3383280"/>
            <a:ext cx="539496" cy="329184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401568"/>
            <a:ext cx="41147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2224" y="3236976"/>
            <a:ext cx="692200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0">
                <a:solidFill>
                  <a:srgbClr val="203354"/>
                </a:solidFill>
                <a:latin typeface="Noto Sans CJK SC"/>
              </a:rPr>
              <a:t>拍清楚药盒，先核对再作决定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" y="4224528"/>
            <a:ext cx="8257031" cy="941832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7552" y="4526280"/>
            <a:ext cx="539496" cy="329184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544568"/>
            <a:ext cx="41147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4" y="4379976"/>
            <a:ext cx="692200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0">
                <a:solidFill>
                  <a:srgbClr val="203354"/>
                </a:solidFill>
                <a:latin typeface="Noto Sans CJK SC"/>
              </a:rPr>
              <a:t>按最主要症状，先挑一盒试试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72016" y="1938528"/>
            <a:ext cx="2121408" cy="324612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ANIME_EXTRA_R2_C1" descr="原创AI生成动漫情境；人物和事件为虚构教学示意"/>
          <p:cNvPicPr>
            <a:picLocks noChangeAspect="1"/>
          </p:cNvPicPr>
          <p:nvPr/>
        </p:nvPicPr>
        <p:blipFill>
          <a:blip r:embed="rId3"/>
          <a:srcRect l="8733" r="75725" t="30566" b="39844"/>
          <a:stretch>
            <a:fillRect/>
          </a:stretch>
        </p:blipFill>
        <p:spPr>
          <a:xfrm>
            <a:off x="9509760" y="2715768"/>
            <a:ext cx="1664208" cy="2112264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9774936" y="2148840"/>
            <a:ext cx="1106424" cy="329184"/>
          </a:xfrm>
          <a:prstGeom prst="roundRect">
            <a:avLst>
              <a:gd name="adj" fmla="val 10000"/>
            </a:avLst>
          </a:prstGeom>
          <a:solidFill>
            <a:srgbClr val="795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38944" y="2167128"/>
            <a:ext cx="97840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单选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64008" cy="246888"/>
          </a:xfrm>
          <a:prstGeom prst="rect">
            <a:avLst/>
          </a:prstGeom>
          <a:solidFill>
            <a:srgbClr val="E3464F"/>
          </a:solidFill>
          <a:ln>
            <a:solidFill>
              <a:srgbClr val="E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3E75"/>
                </a:solidFill>
                <a:latin typeface="Noto Sans CJK SC"/>
                <a:ea typeface="Noto Sans CJK SC"/>
              </a:rPr>
              <a:t>01 / 基本原则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53E75"/>
                </a:solidFill>
                <a:latin typeface="Noto Sans CJK SC"/>
                <a:ea typeface="Noto Sans CJK SC"/>
              </a:rPr>
              <a:t>合理用药，要同时过四关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5843016"/>
            <a:ext cx="11000232" cy="0"/>
          </a:xfrm>
          <a:prstGeom prst="line">
            <a:avLst/>
          </a:prstGeom>
          <a:ln w="889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5943600"/>
            <a:ext cx="107442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53E75"/>
                </a:solidFill>
                <a:latin typeface="Noto Sans CJK SC"/>
                <a:ea typeface="Noto Sans CJK SC"/>
              </a:rPr>
              <a:t>刚才选 B：先了解，再决定。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5566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3E75"/>
                </a:solidFill>
                <a:latin typeface="Noto Sans CJK SC"/>
                <a:ea typeface="Noto Sans CJK SC"/>
              </a:rPr>
              <a:t>04 / 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38528"/>
            <a:ext cx="5138928" cy="1618488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2139696"/>
            <a:ext cx="512064" cy="329184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157984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0784" y="2093976"/>
            <a:ext cx="38587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1">
                <a:solidFill>
                  <a:srgbClr val="203354"/>
                </a:solidFill>
                <a:latin typeface="Noto Sans CJK SC"/>
              </a:rPr>
              <a:t>安全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5" y="2852928"/>
            <a:ext cx="456285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0">
                <a:solidFill>
                  <a:srgbClr val="203354"/>
                </a:solidFill>
                <a:latin typeface="Noto Sans CJK SC"/>
              </a:rPr>
              <a:t>关注禁忌与不良反应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38528"/>
            <a:ext cx="5138928" cy="1618488"/>
          </a:xfrm>
          <a:prstGeom prst="roundRect">
            <a:avLst>
              <a:gd name="adj" fmla="val 10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92240" y="2139696"/>
            <a:ext cx="512064" cy="329184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2157984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87183" y="2093976"/>
            <a:ext cx="38587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1">
                <a:solidFill>
                  <a:srgbClr val="203354"/>
                </a:solidFill>
                <a:latin typeface="Noto Sans CJK SC"/>
              </a:rPr>
              <a:t>有效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2852928"/>
            <a:ext cx="456285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0">
                <a:solidFill>
                  <a:srgbClr val="203354"/>
                </a:solidFill>
                <a:latin typeface="Noto Sans CJK SC"/>
              </a:rPr>
              <a:t>针对真正需要解决的问题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822191"/>
            <a:ext cx="5138928" cy="1618488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5840" y="4023359"/>
            <a:ext cx="512064" cy="329184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4041647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0784" y="3977639"/>
            <a:ext cx="38587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1">
                <a:solidFill>
                  <a:srgbClr val="203354"/>
                </a:solidFill>
                <a:latin typeface="Noto Sans CJK SC"/>
              </a:rPr>
              <a:t>经济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5" y="4736592"/>
            <a:ext cx="456285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0">
                <a:solidFill>
                  <a:srgbClr val="203354"/>
                </a:solidFill>
                <a:latin typeface="Noto Sans CJK SC"/>
              </a:rPr>
              <a:t>避免不必要的花费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822191"/>
            <a:ext cx="5138928" cy="1618488"/>
          </a:xfrm>
          <a:prstGeom prst="roundRect">
            <a:avLst>
              <a:gd name="adj" fmla="val 10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92240" y="4023359"/>
            <a:ext cx="512064" cy="329184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6248" y="4041647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87183" y="3977639"/>
            <a:ext cx="38587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1">
                <a:solidFill>
                  <a:srgbClr val="203354"/>
                </a:solidFill>
                <a:latin typeface="Noto Sans CJK SC"/>
              </a:rPr>
              <a:t>适宜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8816" y="4736592"/>
            <a:ext cx="456285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0">
                <a:solidFill>
                  <a:srgbClr val="203354"/>
                </a:solidFill>
                <a:latin typeface="Noto Sans CJK SC"/>
              </a:rPr>
              <a:t>适合这个人、这个时机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64008" cy="246888"/>
          </a:xfrm>
          <a:prstGeom prst="rect">
            <a:avLst/>
          </a:prstGeom>
          <a:solidFill>
            <a:srgbClr val="E3464F"/>
          </a:solidFill>
          <a:ln>
            <a:solidFill>
              <a:srgbClr val="E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3E75"/>
                </a:solidFill>
                <a:latin typeface="Noto Sans CJK SC"/>
                <a:ea typeface="Noto Sans CJK SC"/>
              </a:rPr>
              <a:t>02 / 宿舍误区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53E75"/>
                </a:solidFill>
                <a:latin typeface="Noto Sans CJK SC"/>
                <a:ea typeface="Noto Sans CJK SC"/>
              </a:rPr>
              <a:t>两盒药，是“双保险”还是撞车？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5843016"/>
            <a:ext cx="11000232" cy="0"/>
          </a:xfrm>
          <a:prstGeom prst="line">
            <a:avLst/>
          </a:prstGeom>
          <a:ln w="889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5943600"/>
            <a:ext cx="107442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53E75"/>
                </a:solidFill>
                <a:latin typeface="Noto Sans CJK SC"/>
                <a:ea typeface="Noto Sans CJK SC"/>
              </a:rPr>
              <a:t>包装不同，也可能含有同一成分。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5566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3E75"/>
                </a:solidFill>
                <a:latin typeface="Noto Sans CJK SC"/>
                <a:ea typeface="Noto Sans CJK SC"/>
              </a:rPr>
              <a:t>05 / 27</a:t>
            </a:r>
          </a:p>
        </p:txBody>
      </p:sp>
      <p:pic>
        <p:nvPicPr>
          <p:cNvPr id="8" name="ANIME_BASE_R1_C1" descr="原创AI生成动漫情境；人物和事件为虚构教学示意"/>
          <p:cNvPicPr>
            <a:picLocks noChangeAspect="1"/>
          </p:cNvPicPr>
          <p:nvPr/>
        </p:nvPicPr>
        <p:blipFill>
          <a:blip r:embed="rId3"/>
          <a:srcRect l="1621" r="68613" b="70312"/>
          <a:stretch>
            <a:fillRect/>
          </a:stretch>
        </p:blipFill>
        <p:spPr>
          <a:xfrm>
            <a:off x="749808" y="1956816"/>
            <a:ext cx="3465576" cy="230428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8" y="4416552"/>
            <a:ext cx="3465576" cy="1024128"/>
          </a:xfrm>
          <a:prstGeom prst="roundRect">
            <a:avLst>
              <a:gd name="adj" fmla="val 10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98848"/>
            <a:ext cx="3136392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203354"/>
                </a:solidFill>
                <a:latin typeface="Noto Sans CJK SC"/>
              </a:rPr>
              <a:t>头痛还在，要不再加一盒？</a:t>
            </a:r>
          </a:p>
        </p:txBody>
      </p:sp>
      <p:pic>
        <p:nvPicPr>
          <p:cNvPr id="11" name="ANIME_BASE_R1_C2" descr="原创AI生成动漫情境；人物和事件为虚构教学示意"/>
          <p:cNvPicPr>
            <a:picLocks noChangeAspect="1"/>
          </p:cNvPicPr>
          <p:nvPr/>
        </p:nvPicPr>
        <p:blipFill>
          <a:blip r:embed="rId3"/>
          <a:srcRect l="35084" r="35150" b="70312"/>
          <a:stretch>
            <a:fillRect/>
          </a:stretch>
        </p:blipFill>
        <p:spPr>
          <a:xfrm>
            <a:off x="4434840" y="1956816"/>
            <a:ext cx="3465576" cy="230428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434840" y="4416552"/>
            <a:ext cx="3465576" cy="1024128"/>
          </a:xfrm>
          <a:prstGeom prst="roundRect">
            <a:avLst>
              <a:gd name="adj" fmla="val 10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4498848"/>
            <a:ext cx="3136392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203354"/>
                </a:solidFill>
                <a:latin typeface="Noto Sans CJK SC"/>
              </a:rPr>
              <a:t>名字不同，应该不重复吧？</a:t>
            </a:r>
          </a:p>
        </p:txBody>
      </p:sp>
      <p:pic>
        <p:nvPicPr>
          <p:cNvPr id="14" name="ANIME_BASE_R1_C3" descr="原创AI生成动漫情境；人物和事件为虚构教学示意"/>
          <p:cNvPicPr>
            <a:picLocks noChangeAspect="1"/>
          </p:cNvPicPr>
          <p:nvPr/>
        </p:nvPicPr>
        <p:blipFill>
          <a:blip r:embed="rId3"/>
          <a:srcRect l="68613" r="1621" b="70312"/>
          <a:stretch>
            <a:fillRect/>
          </a:stretch>
        </p:blipFill>
        <p:spPr>
          <a:xfrm>
            <a:off x="8119872" y="1956816"/>
            <a:ext cx="3465576" cy="230428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119872" y="4416552"/>
            <a:ext cx="3465576" cy="1024128"/>
          </a:xfrm>
          <a:prstGeom prst="roundRect">
            <a:avLst>
              <a:gd name="adj" fmla="val 10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4498848"/>
            <a:ext cx="3136392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203354"/>
                </a:solidFill>
                <a:latin typeface="Noto Sans CJK SC"/>
              </a:rPr>
              <a:t>药盒不同，里面的成分呢？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64008" cy="246888"/>
          </a:xfrm>
          <a:prstGeom prst="rect">
            <a:avLst/>
          </a:prstGeom>
          <a:solidFill>
            <a:srgbClr val="E3464F"/>
          </a:solidFill>
          <a:ln>
            <a:solidFill>
              <a:srgbClr val="E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3E75"/>
                </a:solidFill>
                <a:latin typeface="Noto Sans CJK SC"/>
                <a:ea typeface="Noto Sans CJK SC"/>
              </a:rPr>
              <a:t>02 / 宿舍误区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53E75"/>
                </a:solidFill>
                <a:latin typeface="Noto Sans CJK SC"/>
                <a:ea typeface="Noto Sans CJK SC"/>
              </a:rPr>
              <a:t>药盒不同，成分可能“撞车”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5843016"/>
            <a:ext cx="11000232" cy="0"/>
          </a:xfrm>
          <a:prstGeom prst="line">
            <a:avLst/>
          </a:prstGeom>
          <a:ln w="889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5943600"/>
            <a:ext cx="107442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53E75"/>
                </a:solidFill>
                <a:latin typeface="Noto Sans CJK SC"/>
                <a:ea typeface="Noto Sans CJK SC"/>
              </a:rPr>
              <a:t>同名成分出现两次，是暂停核对的信号｜未确认前不自行叠加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5566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3E75"/>
                </a:solidFill>
                <a:latin typeface="Noto Sans CJK SC"/>
                <a:ea typeface="Noto Sans CJK SC"/>
              </a:rPr>
              <a:t>06 / 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1938528"/>
            <a:ext cx="4754880" cy="2916936"/>
          </a:xfrm>
          <a:prstGeom prst="roundRect">
            <a:avLst>
              <a:gd name="adj" fmla="val 10000"/>
            </a:avLst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2112264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203354"/>
                </a:solidFill>
                <a:latin typeface="Noto Sans CJK SC"/>
              </a:rPr>
              <a:t>药盒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2560320"/>
            <a:ext cx="42062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>
                <a:solidFill>
                  <a:srgbClr val="203354"/>
                </a:solidFill>
                <a:latin typeface="Noto Sans CJK SC"/>
              </a:rPr>
              <a:t>单方退热止痛药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52144" y="3026664"/>
            <a:ext cx="4315968" cy="53035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3584" y="3090672"/>
            <a:ext cx="41330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</a:rPr>
              <a:t>对乙酰氨基酚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9672" y="1938528"/>
            <a:ext cx="4754880" cy="2916936"/>
          </a:xfrm>
          <a:prstGeom prst="roundRect">
            <a:avLst>
              <a:gd name="adj" fmla="val 10000"/>
            </a:avLst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112264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203354"/>
                </a:solidFill>
                <a:latin typeface="Noto Sans CJK SC"/>
              </a:rPr>
              <a:t>药盒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560320"/>
            <a:ext cx="42062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>
                <a:solidFill>
                  <a:srgbClr val="203354"/>
                </a:solidFill>
                <a:latin typeface="Noto Sans CJK SC"/>
              </a:rPr>
              <a:t>复方感冒药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39128" y="3026664"/>
            <a:ext cx="4315968" cy="53035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0568" y="3090672"/>
            <a:ext cx="41330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</a:rPr>
              <a:t>对乙酰氨基酚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968496"/>
            <a:ext cx="420624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203354"/>
                </a:solidFill>
                <a:latin typeface="Noto Sans CJK SC"/>
              </a:rPr>
              <a:t>只有这一种有效成分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39128" y="3694176"/>
            <a:ext cx="4315968" cy="411480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9712" y="373075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</a:rPr>
              <a:t>马来酸氯苯那敏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39128" y="4215384"/>
            <a:ext cx="4315968" cy="411480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42519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</a:rPr>
              <a:t>盐酸伪麻黄碱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68112" y="3291840"/>
            <a:ext cx="411480" cy="0"/>
          </a:xfrm>
          <a:prstGeom prst="line">
            <a:avLst/>
          </a:prstGeom>
          <a:ln w="31750">
            <a:solidFill>
              <a:srgbClr val="EB59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879592" y="3291840"/>
            <a:ext cx="0" cy="1481328"/>
          </a:xfrm>
          <a:prstGeom prst="line">
            <a:avLst/>
          </a:prstGeom>
          <a:ln w="31750">
            <a:solidFill>
              <a:srgbClr val="EB59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309360" y="3291840"/>
            <a:ext cx="429768" cy="0"/>
          </a:xfrm>
          <a:prstGeom prst="line">
            <a:avLst/>
          </a:prstGeom>
          <a:ln w="31750">
            <a:solidFill>
              <a:srgbClr val="EB59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309360" y="3291840"/>
            <a:ext cx="0" cy="1481328"/>
          </a:xfrm>
          <a:prstGeom prst="line">
            <a:avLst/>
          </a:prstGeom>
          <a:ln w="31750">
            <a:solidFill>
              <a:srgbClr val="EB59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879592" y="4773168"/>
            <a:ext cx="219456" cy="164592"/>
          </a:xfrm>
          <a:prstGeom prst="line">
            <a:avLst/>
          </a:prstGeom>
          <a:ln w="31750">
            <a:solidFill>
              <a:srgbClr val="EB59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6099048" y="4773168"/>
            <a:ext cx="210312" cy="164592"/>
          </a:xfrm>
          <a:prstGeom prst="line">
            <a:avLst/>
          </a:prstGeom>
          <a:ln w="31750">
            <a:solidFill>
              <a:srgbClr val="EB59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931920" y="4937760"/>
            <a:ext cx="4343400" cy="402336"/>
          </a:xfrm>
          <a:prstGeom prst="roundRect">
            <a:avLst>
              <a:gd name="adj" fmla="val 10000"/>
            </a:avLst>
          </a:prstGeom>
          <a:solidFill>
            <a:srgbClr val="FF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23360" y="4965192"/>
            <a:ext cx="4160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EB5969"/>
                </a:solidFill>
                <a:latin typeface="Noto Sans CJK SC"/>
              </a:rPr>
              <a:t>同一成分，来自两盒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458968"/>
            <a:ext cx="10149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203354"/>
                </a:solidFill>
                <a:latin typeface="Noto Sans CJK SC"/>
              </a:rPr>
              <a:t>① 圈出重复　→　② 核规格与已服情况　→　③ 未确认，不自行叠加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64008" cy="246888"/>
          </a:xfrm>
          <a:prstGeom prst="rect">
            <a:avLst/>
          </a:prstGeom>
          <a:solidFill>
            <a:srgbClr val="E3464F"/>
          </a:solidFill>
          <a:ln>
            <a:solidFill>
              <a:srgbClr val="E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3E75"/>
                </a:solidFill>
                <a:latin typeface="Noto Sans CJK SC"/>
                <a:ea typeface="Noto Sans CJK SC"/>
              </a:rPr>
              <a:t>02 / 宿舍误区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53E75"/>
                </a:solidFill>
                <a:latin typeface="Noto Sans CJK SC"/>
                <a:ea typeface="Noto Sans CJK SC"/>
              </a:rPr>
              <a:t>18点吃过药，20点还痛：先补哪条信息？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5843016"/>
            <a:ext cx="11000232" cy="0"/>
          </a:xfrm>
          <a:prstGeom prst="line">
            <a:avLst/>
          </a:prstGeom>
          <a:ln w="889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5943600"/>
            <a:ext cx="107442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53E75"/>
                </a:solidFill>
                <a:latin typeface="Noto Sans CJK SC"/>
                <a:ea typeface="Noto Sans CJK SC"/>
              </a:rPr>
              <a:t>成分、规格、今天吃过什么：先核清，再决定。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5566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3E75"/>
                </a:solidFill>
                <a:latin typeface="Noto Sans CJK SC"/>
                <a:ea typeface="Noto Sans CJK SC"/>
              </a:rPr>
              <a:t>07 / 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938528"/>
            <a:ext cx="3465576" cy="3621024"/>
          </a:xfrm>
          <a:prstGeom prst="roundRect">
            <a:avLst>
              <a:gd name="adj" fmla="val 10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50976" y="2093976"/>
            <a:ext cx="1234440" cy="329184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12264"/>
            <a:ext cx="110642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18:00</a:t>
            </a:r>
          </a:p>
        </p:txBody>
      </p:sp>
      <p:pic>
        <p:nvPicPr>
          <p:cNvPr id="11" name="ANIME_EXTRA_R1_C1" descr="原创AI生成动漫情境；人物和事件为虚构教学示意"/>
          <p:cNvPicPr>
            <a:picLocks noChangeAspect="1"/>
          </p:cNvPicPr>
          <p:nvPr/>
        </p:nvPicPr>
        <p:blipFill>
          <a:blip r:embed="rId3"/>
          <a:srcRect l="680" r="67672" b="70312"/>
          <a:stretch>
            <a:fillRect/>
          </a:stretch>
        </p:blipFill>
        <p:spPr>
          <a:xfrm>
            <a:off x="932688" y="2596896"/>
            <a:ext cx="3099816" cy="19385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0976" y="4709160"/>
            <a:ext cx="30632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203354"/>
                </a:solidFill>
                <a:latin typeface="Noto Sans CJK SC"/>
              </a:rPr>
              <a:t>已经服过一种复方感冒药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938528"/>
            <a:ext cx="3465576" cy="3621024"/>
          </a:xfrm>
          <a:prstGeom prst="roundRect">
            <a:avLst>
              <a:gd name="adj" fmla="val 10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2093976"/>
            <a:ext cx="1234440" cy="329184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0016" y="2112264"/>
            <a:ext cx="110642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20:00</a:t>
            </a:r>
          </a:p>
        </p:txBody>
      </p:sp>
      <p:pic>
        <p:nvPicPr>
          <p:cNvPr id="16" name="ANIME_EXTRA_R1_C2" descr="原创AI生成动漫情境；人物和事件为虚构教学示意"/>
          <p:cNvPicPr>
            <a:picLocks noChangeAspect="1"/>
          </p:cNvPicPr>
          <p:nvPr/>
        </p:nvPicPr>
        <p:blipFill>
          <a:blip r:embed="rId3"/>
          <a:srcRect l="34143" r="34209" b="70312"/>
          <a:stretch>
            <a:fillRect/>
          </a:stretch>
        </p:blipFill>
        <p:spPr>
          <a:xfrm>
            <a:off x="4617720" y="2596896"/>
            <a:ext cx="3099816" cy="19385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36008" y="4709160"/>
            <a:ext cx="30632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203354"/>
                </a:solidFill>
                <a:latin typeface="Noto Sans CJK SC"/>
              </a:rPr>
              <a:t>症状还在，准备加一盒退热药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938528"/>
            <a:ext cx="3465576" cy="3621024"/>
          </a:xfrm>
          <a:prstGeom prst="roundRect">
            <a:avLst>
              <a:gd name="adj" fmla="val 10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ANIME_EXTRA_R1_C3" descr="原创AI生成动漫情境；人物和事件为虚构教学示意"/>
          <p:cNvPicPr>
            <a:picLocks noChangeAspect="1"/>
          </p:cNvPicPr>
          <p:nvPr/>
        </p:nvPicPr>
        <p:blipFill>
          <a:blip r:embed="rId3"/>
          <a:srcRect l="67672" r="680" b="70312"/>
          <a:stretch>
            <a:fillRect/>
          </a:stretch>
        </p:blipFill>
        <p:spPr>
          <a:xfrm>
            <a:off x="8302752" y="2596896"/>
            <a:ext cx="3099816" cy="19385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21040" y="4709160"/>
            <a:ext cx="30632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203354"/>
                </a:solidFill>
                <a:latin typeface="Noto Sans CJK SC"/>
              </a:rPr>
              <a:t>成分、规格、已服用量还没核对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64008" cy="246888"/>
          </a:xfrm>
          <a:prstGeom prst="rect">
            <a:avLst/>
          </a:prstGeom>
          <a:solidFill>
            <a:srgbClr val="E3464F"/>
          </a:solidFill>
          <a:ln>
            <a:solidFill>
              <a:srgbClr val="E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3E75"/>
                </a:solidFill>
                <a:latin typeface="Noto Sans CJK SC"/>
                <a:ea typeface="Noto Sans CJK SC"/>
              </a:rPr>
              <a:t>02 / 宿舍误区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53E75"/>
                </a:solidFill>
                <a:latin typeface="Noto Sans CJK SC"/>
                <a:ea typeface="Noto Sans CJK SC"/>
              </a:rPr>
              <a:t>室友群的三条消息，你给哪条点赞？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5843016"/>
            <a:ext cx="11000232" cy="0"/>
          </a:xfrm>
          <a:prstGeom prst="line">
            <a:avLst/>
          </a:prstGeom>
          <a:ln w="889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5943600"/>
            <a:ext cx="107442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53E75"/>
                </a:solidFill>
                <a:latin typeface="Noto Sans CJK SC"/>
                <a:ea typeface="Noto Sans CJK SC"/>
              </a:rPr>
              <a:t>可多选 A / B / C｜哪些建议先帮我们补齐判断所需的信息？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5566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3E75"/>
                </a:solidFill>
                <a:latin typeface="Noto Sans CJK SC"/>
                <a:ea typeface="Noto Sans CJK SC"/>
              </a:rPr>
              <a:t>08 / 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1938528"/>
            <a:ext cx="8257031" cy="941832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7552" y="2240280"/>
            <a:ext cx="539496" cy="329184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58568"/>
            <a:ext cx="41147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2224" y="2093976"/>
            <a:ext cx="692200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0">
                <a:solidFill>
                  <a:srgbClr val="203354"/>
                </a:solidFill>
                <a:latin typeface="Noto Sans CJK SC"/>
              </a:rPr>
              <a:t>拍下两盒成分，圈出相同的名字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" y="3081528"/>
            <a:ext cx="8257031" cy="941832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7552" y="3383280"/>
            <a:ext cx="539496" cy="329184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401568"/>
            <a:ext cx="41147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2224" y="3236976"/>
            <a:ext cx="692200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0">
                <a:solidFill>
                  <a:srgbClr val="203354"/>
                </a:solidFill>
                <a:latin typeface="Noto Sans CJK SC"/>
              </a:rPr>
              <a:t>按症状拆开安排，把服药时间错开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" y="4224528"/>
            <a:ext cx="8257031" cy="941832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7552" y="4526280"/>
            <a:ext cx="539496" cy="329184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544568"/>
            <a:ext cx="41147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4" y="4379976"/>
            <a:ext cx="692200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0">
                <a:solidFill>
                  <a:srgbClr val="203354"/>
                </a:solidFill>
                <a:latin typeface="Noto Sans CJK SC"/>
              </a:rPr>
              <a:t>补上今天已服药名、规格与时间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72016" y="1938528"/>
            <a:ext cx="2121408" cy="324612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ANIME_EXTRA_R2_C2" descr="原创AI生成动漫情境；人物和事件为虚构教学示意"/>
          <p:cNvPicPr>
            <a:picLocks noChangeAspect="1"/>
          </p:cNvPicPr>
          <p:nvPr/>
        </p:nvPicPr>
        <p:blipFill>
          <a:blip r:embed="rId3"/>
          <a:srcRect l="42196" r="42261" t="30566" b="39844"/>
          <a:stretch>
            <a:fillRect/>
          </a:stretch>
        </p:blipFill>
        <p:spPr>
          <a:xfrm>
            <a:off x="9509760" y="2715768"/>
            <a:ext cx="1664208" cy="2112264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9774936" y="2148840"/>
            <a:ext cx="1106424" cy="329184"/>
          </a:xfrm>
          <a:prstGeom prst="roundRect">
            <a:avLst>
              <a:gd name="adj" fmla="val 10000"/>
            </a:avLst>
          </a:prstGeom>
          <a:solidFill>
            <a:srgbClr val="795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38944" y="2167128"/>
            <a:ext cx="97840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可多选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64008" cy="246888"/>
          </a:xfrm>
          <a:prstGeom prst="rect">
            <a:avLst/>
          </a:prstGeom>
          <a:solidFill>
            <a:srgbClr val="E3464F"/>
          </a:solidFill>
          <a:ln>
            <a:solidFill>
              <a:srgbClr val="E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3E75"/>
                </a:solidFill>
                <a:latin typeface="Noto Sans CJK SC"/>
                <a:ea typeface="Noto Sans CJK SC"/>
              </a:rPr>
              <a:t>02 / 宿舍误区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53E75"/>
                </a:solidFill>
                <a:latin typeface="Noto Sans CJK SC"/>
                <a:ea typeface="Noto Sans CJK SC"/>
              </a:rPr>
              <a:t>答案 A＋C：先把两类信息凑齐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5843016"/>
            <a:ext cx="11000232" cy="0"/>
          </a:xfrm>
          <a:prstGeom prst="line">
            <a:avLst/>
          </a:prstGeom>
          <a:ln w="889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5943600"/>
            <a:ext cx="107442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53E75"/>
                </a:solidFill>
                <a:latin typeface="Noto Sans CJK SC"/>
                <a:ea typeface="Noto Sans CJK SC"/>
              </a:rPr>
              <a:t>同成分先不自行叠加；拿着完整信息，再核实下一步。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5566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3E75"/>
                </a:solidFill>
                <a:latin typeface="Noto Sans CJK SC"/>
                <a:ea typeface="Noto Sans CJK SC"/>
              </a:rPr>
              <a:t>09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423160"/>
            <a:ext cx="210312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E3464F"/>
                </a:solidFill>
                <a:latin typeface="Noto Sans CJK SC"/>
                <a:ea typeface="Noto Sans CJK SC"/>
              </a:rPr>
              <a:t>A＋C</a:t>
            </a:r>
          </a:p>
        </p:txBody>
      </p:sp>
      <p:sp>
        <p:nvSpPr>
          <p:cNvPr id="9" name="Oval 8"/>
          <p:cNvSpPr/>
          <p:nvPr/>
        </p:nvSpPr>
        <p:spPr>
          <a:xfrm>
            <a:off x="3154680" y="2075688"/>
            <a:ext cx="128016" cy="128016"/>
          </a:xfrm>
          <a:prstGeom prst="ellipse">
            <a:avLst/>
          </a:prstGeom>
          <a:solidFill>
            <a:srgbClr val="E3464F"/>
          </a:solidFill>
          <a:ln>
            <a:solidFill>
              <a:srgbClr val="E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3864" y="1938528"/>
            <a:ext cx="7927848" cy="7955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0">
                <a:solidFill>
                  <a:srgbClr val="153E75"/>
                </a:solidFill>
                <a:latin typeface="Noto Sans CJK SC"/>
                <a:ea typeface="Noto Sans CJK SC"/>
              </a:rPr>
              <a:t>A 圈出同名成分，发现可能重复</a:t>
            </a:r>
          </a:p>
        </p:txBody>
      </p:sp>
      <p:sp>
        <p:nvSpPr>
          <p:cNvPr id="11" name="Oval 10"/>
          <p:cNvSpPr/>
          <p:nvPr/>
        </p:nvSpPr>
        <p:spPr>
          <a:xfrm>
            <a:off x="3154680" y="3200400"/>
            <a:ext cx="128016" cy="128016"/>
          </a:xfrm>
          <a:prstGeom prst="ellipse">
            <a:avLst/>
          </a:prstGeom>
          <a:solidFill>
            <a:srgbClr val="E3464F"/>
          </a:solidFill>
          <a:ln>
            <a:solidFill>
              <a:srgbClr val="E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3864" y="3063240"/>
            <a:ext cx="7927848" cy="7955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0">
                <a:solidFill>
                  <a:srgbClr val="153E75"/>
                </a:solidFill>
                <a:latin typeface="Noto Sans CJK SC"/>
                <a:ea typeface="Noto Sans CJK SC"/>
              </a:rPr>
              <a:t>C 补规格和已服记录，核对累计使用</a:t>
            </a:r>
          </a:p>
        </p:txBody>
      </p:sp>
      <p:sp>
        <p:nvSpPr>
          <p:cNvPr id="13" name="Oval 12"/>
          <p:cNvSpPr/>
          <p:nvPr/>
        </p:nvSpPr>
        <p:spPr>
          <a:xfrm>
            <a:off x="3154680" y="4325112"/>
            <a:ext cx="128016" cy="128016"/>
          </a:xfrm>
          <a:prstGeom prst="ellipse">
            <a:avLst/>
          </a:prstGeom>
          <a:solidFill>
            <a:srgbClr val="E3464F"/>
          </a:solidFill>
          <a:ln>
            <a:solidFill>
              <a:srgbClr val="E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3864" y="4187952"/>
            <a:ext cx="7927848" cy="7955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0">
                <a:solidFill>
                  <a:srgbClr val="153E75"/>
                </a:solidFill>
                <a:latin typeface="Noto Sans CJK SC"/>
                <a:ea typeface="Noto Sans CJK SC"/>
              </a:rPr>
              <a:t>B 错开时间，仍不能代替完整核对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64008" cy="246888"/>
          </a:xfrm>
          <a:prstGeom prst="rect">
            <a:avLst/>
          </a:prstGeom>
          <a:solidFill>
            <a:srgbClr val="E3464F"/>
          </a:solidFill>
          <a:ln>
            <a:solidFill>
              <a:srgbClr val="E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3E75"/>
                </a:solidFill>
                <a:latin typeface="Noto Sans CJK SC"/>
                <a:ea typeface="Noto Sans CJK SC"/>
              </a:rPr>
              <a:t>02 / 宿舍误区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53E75"/>
                </a:solidFill>
                <a:latin typeface="Noto Sans CJK SC"/>
                <a:ea typeface="Noto Sans CJK SC"/>
              </a:rPr>
              <a:t>案例②：抗生素，不是感冒的通用答案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5843016"/>
            <a:ext cx="11000232" cy="0"/>
          </a:xfrm>
          <a:prstGeom prst="line">
            <a:avLst/>
          </a:prstGeom>
          <a:ln w="889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5943600"/>
            <a:ext cx="107442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53E75"/>
                </a:solidFill>
                <a:latin typeface="Noto Sans CJK SC"/>
                <a:ea typeface="Noto Sans CJK SC"/>
              </a:rPr>
              <a:t>普通感冒通常由病毒引起；是否需要抗生素，由医生判断。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5566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3E75"/>
                </a:solidFill>
                <a:latin typeface="Noto Sans CJK SC"/>
                <a:ea typeface="Noto Sans CJK SC"/>
              </a:rPr>
              <a:t>10 / 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01952"/>
            <a:ext cx="5148072" cy="3675887"/>
          </a:xfrm>
          <a:prstGeom prst="roundRect">
            <a:avLst>
              <a:gd name="adj" fmla="val 10000"/>
            </a:avLst>
          </a:prstGeom>
          <a:solidFill>
            <a:srgbClr val="E4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45352" y="1901952"/>
            <a:ext cx="5148072" cy="3675887"/>
          </a:xfrm>
          <a:prstGeom prst="roundRect">
            <a:avLst>
              <a:gd name="adj" fmla="val 10000"/>
            </a:avLst>
          </a:prstGeom>
          <a:solidFill>
            <a:srgbClr val="F1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24128" y="2112264"/>
            <a:ext cx="941832" cy="329184"/>
          </a:xfrm>
          <a:prstGeom prst="roundRect">
            <a:avLst>
              <a:gd name="adj" fmla="val 10000"/>
            </a:avLst>
          </a:prstGeom>
          <a:solidFill>
            <a:srgbClr val="00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2130552"/>
            <a:ext cx="8138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细菌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112264"/>
            <a:ext cx="941832" cy="329184"/>
          </a:xfrm>
          <a:prstGeom prst="roundRect">
            <a:avLst>
              <a:gd name="adj" fmla="val 10000"/>
            </a:avLst>
          </a:prstGeom>
          <a:solidFill>
            <a:srgbClr val="795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2130552"/>
            <a:ext cx="8138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病毒</a:t>
            </a:r>
          </a:p>
        </p:txBody>
      </p:sp>
      <p:sp>
        <p:nvSpPr>
          <p:cNvPr id="14" name="Oval 13"/>
          <p:cNvSpPr/>
          <p:nvPr/>
        </p:nvSpPr>
        <p:spPr>
          <a:xfrm>
            <a:off x="1225296" y="2935224"/>
            <a:ext cx="2066543" cy="1243584"/>
          </a:xfrm>
          <a:prstGeom prst="ellipse">
            <a:avLst/>
          </a:prstGeom>
          <a:solidFill>
            <a:srgbClr val="00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25880" y="3035808"/>
            <a:ext cx="1865376" cy="1042415"/>
          </a:xfrm>
          <a:prstGeom prst="ellipse">
            <a:avLst/>
          </a:prstGeom>
          <a:solidFill>
            <a:srgbClr val="B5E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3300984" y="3557016"/>
            <a:ext cx="201168" cy="0"/>
          </a:xfrm>
          <a:prstGeom prst="line">
            <a:avLst/>
          </a:prstGeom>
          <a:ln w="25400">
            <a:solidFill>
              <a:srgbClr val="008C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161326" y="3877056"/>
            <a:ext cx="174217" cy="100584"/>
          </a:xfrm>
          <a:prstGeom prst="line">
            <a:avLst/>
          </a:prstGeom>
          <a:ln w="25400">
            <a:solidFill>
              <a:srgbClr val="008C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779776" y="4111341"/>
            <a:ext cx="100584" cy="174217"/>
          </a:xfrm>
          <a:prstGeom prst="line">
            <a:avLst/>
          </a:prstGeom>
          <a:ln w="25400">
            <a:solidFill>
              <a:srgbClr val="008C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258568" y="4197096"/>
            <a:ext cx="0" cy="201168"/>
          </a:xfrm>
          <a:prstGeom prst="line">
            <a:avLst/>
          </a:prstGeom>
          <a:ln w="25400">
            <a:solidFill>
              <a:srgbClr val="008C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636776" y="4111341"/>
            <a:ext cx="100584" cy="174217"/>
          </a:xfrm>
          <a:prstGeom prst="line">
            <a:avLst/>
          </a:prstGeom>
          <a:ln w="25400">
            <a:solidFill>
              <a:srgbClr val="008C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181592" y="3877056"/>
            <a:ext cx="174217" cy="100584"/>
          </a:xfrm>
          <a:prstGeom prst="line">
            <a:avLst/>
          </a:prstGeom>
          <a:ln w="25400">
            <a:solidFill>
              <a:srgbClr val="008C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014984" y="3557016"/>
            <a:ext cx="201168" cy="0"/>
          </a:xfrm>
          <a:prstGeom prst="line">
            <a:avLst/>
          </a:prstGeom>
          <a:ln w="25400">
            <a:solidFill>
              <a:srgbClr val="008C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1181592" y="3136392"/>
            <a:ext cx="174217" cy="100584"/>
          </a:xfrm>
          <a:prstGeom prst="line">
            <a:avLst/>
          </a:prstGeom>
          <a:ln w="25400">
            <a:solidFill>
              <a:srgbClr val="008C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1636775" y="2828473"/>
            <a:ext cx="100584" cy="174217"/>
          </a:xfrm>
          <a:prstGeom prst="line">
            <a:avLst/>
          </a:prstGeom>
          <a:ln w="25400">
            <a:solidFill>
              <a:srgbClr val="008C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258568" y="2715768"/>
            <a:ext cx="0" cy="201168"/>
          </a:xfrm>
          <a:prstGeom prst="line">
            <a:avLst/>
          </a:prstGeom>
          <a:ln w="25400">
            <a:solidFill>
              <a:srgbClr val="008C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779776" y="2828473"/>
            <a:ext cx="100584" cy="174217"/>
          </a:xfrm>
          <a:prstGeom prst="line">
            <a:avLst/>
          </a:prstGeom>
          <a:ln w="25400">
            <a:solidFill>
              <a:srgbClr val="008C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161326" y="3136391"/>
            <a:ext cx="174217" cy="100585"/>
          </a:xfrm>
          <a:prstGeom prst="line">
            <a:avLst/>
          </a:prstGeom>
          <a:ln w="25400">
            <a:solidFill>
              <a:srgbClr val="008C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91640" y="3520440"/>
            <a:ext cx="201167" cy="137160"/>
          </a:xfrm>
          <a:prstGeom prst="line">
            <a:avLst/>
          </a:prstGeom>
          <a:ln w="38100">
            <a:solidFill>
              <a:srgbClr val="7952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892808" y="3520440"/>
            <a:ext cx="201168" cy="137160"/>
          </a:xfrm>
          <a:prstGeom prst="line">
            <a:avLst/>
          </a:prstGeom>
          <a:ln w="38100">
            <a:solidFill>
              <a:srgbClr val="7952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093976" y="3520440"/>
            <a:ext cx="201168" cy="137160"/>
          </a:xfrm>
          <a:prstGeom prst="line">
            <a:avLst/>
          </a:prstGeom>
          <a:ln w="38100">
            <a:solidFill>
              <a:srgbClr val="7952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295144" y="3520440"/>
            <a:ext cx="201168" cy="137160"/>
          </a:xfrm>
          <a:prstGeom prst="line">
            <a:avLst/>
          </a:prstGeom>
          <a:ln w="38100">
            <a:solidFill>
              <a:srgbClr val="7952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496312" y="3520440"/>
            <a:ext cx="201167" cy="137160"/>
          </a:xfrm>
          <a:prstGeom prst="line">
            <a:avLst/>
          </a:prstGeom>
          <a:ln w="38100">
            <a:solidFill>
              <a:srgbClr val="7952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572768" y="3273552"/>
            <a:ext cx="100584" cy="100584"/>
          </a:xfrm>
          <a:prstGeom prst="ellipse">
            <a:avLst/>
          </a:prstGeom>
          <a:solidFill>
            <a:srgbClr val="FFB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057400" y="3236976"/>
            <a:ext cx="100584" cy="100584"/>
          </a:xfrm>
          <a:prstGeom prst="ellipse">
            <a:avLst/>
          </a:prstGeom>
          <a:solidFill>
            <a:srgbClr val="FFB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15768" y="3346704"/>
            <a:ext cx="100584" cy="100584"/>
          </a:xfrm>
          <a:prstGeom prst="ellipse">
            <a:avLst/>
          </a:prstGeom>
          <a:solidFill>
            <a:srgbClr val="FFB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627632" y="3813048"/>
            <a:ext cx="100584" cy="100584"/>
          </a:xfrm>
          <a:prstGeom prst="ellipse">
            <a:avLst/>
          </a:prstGeom>
          <a:solidFill>
            <a:srgbClr val="FFB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386584" y="3867912"/>
            <a:ext cx="100584" cy="100584"/>
          </a:xfrm>
          <a:prstGeom prst="ellipse">
            <a:avLst/>
          </a:prstGeom>
          <a:solidFill>
            <a:srgbClr val="FFB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83864" y="3182112"/>
            <a:ext cx="2075688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>
                <a:solidFill>
                  <a:srgbClr val="008C82"/>
                </a:solidFill>
                <a:latin typeface="Noto Sans CJK SC"/>
              </a:rPr>
              <a:t>有细胞结构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83864" y="3648456"/>
            <a:ext cx="2075688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>
                <a:solidFill>
                  <a:srgbClr val="203354"/>
                </a:solidFill>
                <a:latin typeface="Noto Sans CJK SC"/>
              </a:rPr>
              <a:t>在适宜条件下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>
                <a:solidFill>
                  <a:srgbClr val="203354"/>
                </a:solidFill>
                <a:latin typeface="Noto Sans CJK SC"/>
              </a:rPr>
              <a:t>可自行繁殖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4672584"/>
            <a:ext cx="4562856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203354"/>
                </a:solidFill>
                <a:latin typeface="Noto Sans CJK SC"/>
              </a:rPr>
              <a:t>某些细菌结构或过程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203354"/>
                </a:solidFill>
                <a:latin typeface="Noto Sans CJK SC"/>
              </a:rPr>
              <a:t>可成为抗生素的靶点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744967" y="3566160"/>
            <a:ext cx="201169" cy="0"/>
          </a:xfrm>
          <a:prstGeom prst="line">
            <a:avLst/>
          </a:prstGeom>
          <a:ln w="25400">
            <a:solidFill>
              <a:srgbClr val="7952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891271" y="3511296"/>
            <a:ext cx="109728" cy="109728"/>
          </a:xfrm>
          <a:prstGeom prst="ellipse">
            <a:avLst/>
          </a:prstGeom>
          <a:solidFill>
            <a:srgbClr val="FFB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7669875" y="3797272"/>
            <a:ext cx="162748" cy="118244"/>
          </a:xfrm>
          <a:prstGeom prst="line">
            <a:avLst/>
          </a:prstGeom>
          <a:ln w="25400">
            <a:solidFill>
              <a:srgbClr val="7952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7777759" y="3860652"/>
            <a:ext cx="109728" cy="109728"/>
          </a:xfrm>
          <a:prstGeom prst="ellipse">
            <a:avLst/>
          </a:prstGeom>
          <a:solidFill>
            <a:srgbClr val="FFB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7473279" y="3940107"/>
            <a:ext cx="62164" cy="191322"/>
          </a:xfrm>
          <a:prstGeom prst="line">
            <a:avLst/>
          </a:prstGeom>
          <a:ln w="25400">
            <a:solidFill>
              <a:srgbClr val="7952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7480579" y="4076565"/>
            <a:ext cx="109728" cy="109728"/>
          </a:xfrm>
          <a:prstGeom prst="ellipse">
            <a:avLst/>
          </a:prstGeom>
          <a:solidFill>
            <a:srgbClr val="FFB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H="1">
            <a:off x="7168108" y="3940107"/>
            <a:ext cx="62164" cy="191322"/>
          </a:xfrm>
          <a:prstGeom prst="line">
            <a:avLst/>
          </a:prstGeom>
          <a:ln w="25400">
            <a:solidFill>
              <a:srgbClr val="7952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7113244" y="4076565"/>
            <a:ext cx="109728" cy="109728"/>
          </a:xfrm>
          <a:prstGeom prst="ellipse">
            <a:avLst/>
          </a:prstGeom>
          <a:solidFill>
            <a:srgbClr val="FFB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 flipH="1">
            <a:off x="6870928" y="3797272"/>
            <a:ext cx="162748" cy="118244"/>
          </a:xfrm>
          <a:prstGeom prst="line">
            <a:avLst/>
          </a:prstGeom>
          <a:ln w="25400">
            <a:solidFill>
              <a:srgbClr val="7952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6816064" y="3860652"/>
            <a:ext cx="109728" cy="109728"/>
          </a:xfrm>
          <a:prstGeom prst="ellipse">
            <a:avLst/>
          </a:prstGeom>
          <a:solidFill>
            <a:srgbClr val="FFB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 flipH="1">
            <a:off x="6757415" y="3566160"/>
            <a:ext cx="201168" cy="0"/>
          </a:xfrm>
          <a:prstGeom prst="line">
            <a:avLst/>
          </a:prstGeom>
          <a:ln w="25400">
            <a:solidFill>
              <a:srgbClr val="7952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6702551" y="3511296"/>
            <a:ext cx="109728" cy="109728"/>
          </a:xfrm>
          <a:prstGeom prst="ellipse">
            <a:avLst/>
          </a:prstGeom>
          <a:solidFill>
            <a:srgbClr val="FFB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 flipH="1" flipV="1">
            <a:off x="6870928" y="3216803"/>
            <a:ext cx="162748" cy="118244"/>
          </a:xfrm>
          <a:prstGeom prst="line">
            <a:avLst/>
          </a:prstGeom>
          <a:ln w="25400">
            <a:solidFill>
              <a:srgbClr val="7952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6816064" y="3161939"/>
            <a:ext cx="109728" cy="109728"/>
          </a:xfrm>
          <a:prstGeom prst="ellipse">
            <a:avLst/>
          </a:prstGeom>
          <a:solidFill>
            <a:srgbClr val="FFB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 flipH="1" flipV="1">
            <a:off x="7168108" y="3000890"/>
            <a:ext cx="62164" cy="191322"/>
          </a:xfrm>
          <a:prstGeom prst="line">
            <a:avLst/>
          </a:prstGeom>
          <a:ln w="25400">
            <a:solidFill>
              <a:srgbClr val="7952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7113244" y="2946026"/>
            <a:ext cx="109728" cy="109728"/>
          </a:xfrm>
          <a:prstGeom prst="ellipse">
            <a:avLst/>
          </a:prstGeom>
          <a:solidFill>
            <a:srgbClr val="FFB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 flipV="1">
            <a:off x="7473279" y="3000890"/>
            <a:ext cx="62164" cy="191322"/>
          </a:xfrm>
          <a:prstGeom prst="line">
            <a:avLst/>
          </a:prstGeom>
          <a:ln w="25400">
            <a:solidFill>
              <a:srgbClr val="7952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7480579" y="2946026"/>
            <a:ext cx="109728" cy="109728"/>
          </a:xfrm>
          <a:prstGeom prst="ellipse">
            <a:avLst/>
          </a:prstGeom>
          <a:solidFill>
            <a:srgbClr val="FFB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 flipV="1">
            <a:off x="7669875" y="3216803"/>
            <a:ext cx="162748" cy="118244"/>
          </a:xfrm>
          <a:prstGeom prst="line">
            <a:avLst/>
          </a:prstGeom>
          <a:ln w="25400">
            <a:solidFill>
              <a:srgbClr val="7952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7777759" y="3161939"/>
            <a:ext cx="109728" cy="109728"/>
          </a:xfrm>
          <a:prstGeom prst="ellipse">
            <a:avLst/>
          </a:prstGeom>
          <a:solidFill>
            <a:srgbClr val="FFB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912863" y="3127248"/>
            <a:ext cx="877824" cy="877824"/>
          </a:xfrm>
          <a:prstGeom prst="ellipse">
            <a:avLst/>
          </a:prstGeom>
          <a:solidFill>
            <a:srgbClr val="795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040879" y="3255264"/>
            <a:ext cx="621792" cy="621792"/>
          </a:xfrm>
          <a:prstGeom prst="ellipse">
            <a:avLst/>
          </a:prstGeom>
          <a:solidFill>
            <a:srgbClr val="D8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7187183" y="3419856"/>
            <a:ext cx="118872" cy="283464"/>
          </a:xfrm>
          <a:prstGeom prst="line">
            <a:avLst/>
          </a:prstGeom>
          <a:ln w="25400">
            <a:solidFill>
              <a:srgbClr val="EB59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306055" y="3419856"/>
            <a:ext cx="118872" cy="283464"/>
          </a:xfrm>
          <a:prstGeom prst="line">
            <a:avLst/>
          </a:prstGeom>
          <a:ln w="25400">
            <a:solidFill>
              <a:srgbClr val="EB59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424927" y="3419856"/>
            <a:ext cx="118873" cy="283464"/>
          </a:xfrm>
          <a:prstGeom prst="line">
            <a:avLst/>
          </a:prstGeom>
          <a:ln w="25400">
            <a:solidFill>
              <a:srgbClr val="EB59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hevron 65"/>
          <p:cNvSpPr/>
          <p:nvPr/>
        </p:nvSpPr>
        <p:spPr>
          <a:xfrm>
            <a:off x="8247888" y="3465576"/>
            <a:ext cx="365760" cy="274320"/>
          </a:xfrm>
          <a:prstGeom prst="chevron">
            <a:avLst/>
          </a:prstGeom>
          <a:solidFill>
            <a:srgbClr val="795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823960" y="2962656"/>
            <a:ext cx="1965960" cy="1280160"/>
          </a:xfrm>
          <a:prstGeom prst="ellipse">
            <a:avLst/>
          </a:prstGeom>
          <a:solidFill>
            <a:srgbClr val="DBF4ED"/>
          </a:solidFill>
          <a:ln w="19050">
            <a:solidFill>
              <a:srgbClr val="008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400032" y="3346704"/>
            <a:ext cx="557784" cy="493776"/>
          </a:xfrm>
          <a:prstGeom prst="ellipse">
            <a:avLst/>
          </a:prstGeom>
          <a:solidFill>
            <a:srgbClr val="00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33688" y="4361688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008C82"/>
                </a:solidFill>
                <a:latin typeface="Noto Sans CJK SC"/>
              </a:rPr>
              <a:t>宿主细胞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37960" y="4681728"/>
            <a:ext cx="456285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203354"/>
                </a:solidFill>
                <a:latin typeface="Noto Sans CJK SC"/>
              </a:rPr>
              <a:t>无细胞结构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203354"/>
                </a:solidFill>
                <a:latin typeface="Noto Sans CJK SC"/>
              </a:rPr>
              <a:t>依赖宿主细胞复制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64008" cy="246888"/>
          </a:xfrm>
          <a:prstGeom prst="rect">
            <a:avLst/>
          </a:prstGeom>
          <a:solidFill>
            <a:srgbClr val="E3464F"/>
          </a:solidFill>
          <a:ln>
            <a:solidFill>
              <a:srgbClr val="E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3E75"/>
                </a:solidFill>
                <a:latin typeface="Noto Sans CJK SC"/>
                <a:ea typeface="Noto Sans CJK SC"/>
              </a:rPr>
              <a:t>02 / 宿舍误区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53E75"/>
                </a:solidFill>
                <a:latin typeface="Noto Sans CJK SC"/>
                <a:ea typeface="Noto Sans CJK SC"/>
              </a:rPr>
              <a:t>不需要的抗生素，也可能带来真实伤害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5843016"/>
            <a:ext cx="11000232" cy="0"/>
          </a:xfrm>
          <a:prstGeom prst="line">
            <a:avLst/>
          </a:prstGeom>
          <a:ln w="889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5943600"/>
            <a:ext cx="107442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53E75"/>
                </a:solidFill>
                <a:latin typeface="Noto Sans CJK SC"/>
                <a:ea typeface="Noto Sans CJK SC"/>
              </a:rPr>
              <a:t>没有治疗需要，也要承担用药风险。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5566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3E75"/>
                </a:solidFill>
                <a:latin typeface="Noto Sans CJK SC"/>
                <a:ea typeface="Noto Sans CJK SC"/>
              </a:rPr>
              <a:t>11 / 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20240"/>
            <a:ext cx="5148072" cy="3749039"/>
          </a:xfrm>
          <a:prstGeom prst="roundRect">
            <a:avLst>
              <a:gd name="adj" fmla="val 10000"/>
            </a:avLst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45352" y="1920240"/>
            <a:ext cx="5148072" cy="3749039"/>
          </a:xfrm>
          <a:prstGeom prst="roundRect">
            <a:avLst>
              <a:gd name="adj" fmla="val 10000"/>
            </a:avLst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2112264"/>
            <a:ext cx="45720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203354"/>
                </a:solidFill>
                <a:latin typeface="Noto Sans CJK SC"/>
              </a:rPr>
              <a:t>美国门诊抗生素处方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090672"/>
            <a:ext cx="21671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EB5969"/>
                </a:solidFill>
                <a:latin typeface="Noto Sans CJK SC"/>
              </a:rPr>
              <a:t>至少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3557016"/>
            <a:ext cx="2167128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800" b="1">
                <a:solidFill>
                  <a:srgbClr val="EB5969"/>
                </a:solidFill>
                <a:latin typeface="Noto Sans CJK SC"/>
              </a:rPr>
              <a:t>28%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9352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80459" y="29352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86200" y="29352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091939" y="29352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97680" y="29352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03420" y="29352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09160" y="29352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14900" y="29352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20640" y="29352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26379" y="29352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74720" y="31409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80459" y="31409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886200" y="31409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091939" y="31409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97680" y="31409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03420" y="31409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709160" y="31409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914900" y="31409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120640" y="31409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326379" y="31409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474720" y="33467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680459" y="33467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886200" y="33467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091939" y="33467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297680" y="33467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503420" y="33467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709160" y="33467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914900" y="33467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120640" y="33467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326379" y="33467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474720" y="35524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680459" y="35524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886200" y="35524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091939" y="35524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297680" y="35524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503420" y="35524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709160" y="35524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914900" y="35524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120640" y="35524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326379" y="35524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3474720" y="37581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680459" y="37581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3886200" y="37581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091939" y="37581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297680" y="37581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503420" y="37581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709160" y="37581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914900" y="37581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120640" y="37581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326379" y="37581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474720" y="39639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3680459" y="39639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3886200" y="39639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4091939" y="39639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297680" y="39639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4503420" y="39639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4709160" y="39639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4914900" y="39639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5120640" y="39639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5326379" y="39639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3474720" y="41696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680459" y="41696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886200" y="41696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4091939" y="41696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4297680" y="41696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4503420" y="41696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4709160" y="41696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4914900" y="41696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5120640" y="41696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5326379" y="41696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3474720" y="43754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3680459" y="43754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3886200" y="43754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4091939" y="43754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4297680" y="43754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4503420" y="43754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4709160" y="43754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4914900" y="43754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5120640" y="43754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5326379" y="43754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3474720" y="45811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3680459" y="45811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3886200" y="45811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4091939" y="45811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4297680" y="45811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4503420" y="45811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4709160" y="45811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4914900" y="45811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5120640" y="45811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5326379" y="45811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3474720" y="4786883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3680459" y="4786883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3886200" y="4786883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4091939" y="4786883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4297680" y="4786883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4503420" y="4786883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4709160" y="4786883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4914900" y="4786883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5120640" y="4786883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5326379" y="4786883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33271" y="5074920"/>
            <a:ext cx="457200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EB5969"/>
                </a:solidFill>
                <a:latin typeface="Noto Sans CJK SC"/>
              </a:rPr>
              <a:t>被估计为不必要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501384" y="2112264"/>
            <a:ext cx="45720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203354"/>
                </a:solidFill>
                <a:latin typeface="Noto Sans CJK SC"/>
              </a:rPr>
              <a:t>药物副作用导致的急诊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501384" y="2770632"/>
            <a:ext cx="457200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EB5969"/>
                </a:solidFill>
                <a:latin typeface="Noto Sans CJK SC"/>
              </a:rPr>
              <a:t>5次中，约1次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501384" y="3355848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>
                <a:solidFill>
                  <a:srgbClr val="203354"/>
                </a:solidFill>
                <a:latin typeface="Noto Sans CJK SC"/>
              </a:rPr>
              <a:t>涉及抗生素反应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528816" y="4023360"/>
            <a:ext cx="694944" cy="923544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6748272" y="4160520"/>
            <a:ext cx="256032" cy="731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6839712" y="4069080"/>
            <a:ext cx="73152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6803136" y="4645152"/>
            <a:ext cx="146304" cy="3017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6638544" y="4434840"/>
            <a:ext cx="109728" cy="109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6967728" y="4434840"/>
            <a:ext cx="109728" cy="109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7406640" y="4023360"/>
            <a:ext cx="694944" cy="923544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7626096" y="4160520"/>
            <a:ext cx="256032" cy="731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7717536" y="4069080"/>
            <a:ext cx="73152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7680960" y="4645152"/>
            <a:ext cx="146304" cy="3017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7516367" y="4434840"/>
            <a:ext cx="109728" cy="109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7845551" y="4434840"/>
            <a:ext cx="109728" cy="109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8284463" y="4023360"/>
            <a:ext cx="694944" cy="923544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8503919" y="4160520"/>
            <a:ext cx="256032" cy="731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8595359" y="4069080"/>
            <a:ext cx="73152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8558784" y="4645152"/>
            <a:ext cx="146304" cy="3017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8394191" y="4434840"/>
            <a:ext cx="109728" cy="109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8723375" y="4434840"/>
            <a:ext cx="109728" cy="109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9162288" y="4023360"/>
            <a:ext cx="694944" cy="923544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9381744" y="4160520"/>
            <a:ext cx="256032" cy="731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9473184" y="4069080"/>
            <a:ext cx="73152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9436608" y="4645152"/>
            <a:ext cx="146304" cy="3017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9272015" y="4434840"/>
            <a:ext cx="109728" cy="109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9601199" y="4434840"/>
            <a:ext cx="109728" cy="109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ounded Rectangle 140"/>
          <p:cNvSpPr/>
          <p:nvPr/>
        </p:nvSpPr>
        <p:spPr>
          <a:xfrm>
            <a:off x="10040112" y="4023360"/>
            <a:ext cx="694944" cy="923544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10259568" y="4160520"/>
            <a:ext cx="256032" cy="731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10351008" y="4069080"/>
            <a:ext cx="73152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10314432" y="4645152"/>
            <a:ext cx="146304" cy="3017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10149840" y="4434840"/>
            <a:ext cx="109728" cy="109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10479024" y="4434840"/>
            <a:ext cx="109728" cy="109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501384" y="5175504"/>
            <a:ext cx="45720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203354"/>
                </a:solidFill>
                <a:latin typeface="Noto Sans CJK SC"/>
              </a:rPr>
              <a:t>皮疹、腹泻，也可能严重过敏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64008" cy="246888"/>
          </a:xfrm>
          <a:prstGeom prst="rect">
            <a:avLst/>
          </a:prstGeom>
          <a:solidFill>
            <a:srgbClr val="E3464F"/>
          </a:solidFill>
          <a:ln>
            <a:solidFill>
              <a:srgbClr val="E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3E75"/>
                </a:solidFill>
                <a:latin typeface="Noto Sans CJK SC"/>
                <a:ea typeface="Noto Sans CJK SC"/>
              </a:rPr>
              <a:t>02 / 宿舍误区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53E75"/>
                </a:solidFill>
                <a:latin typeface="Noto Sans CJK SC"/>
                <a:ea typeface="Noto Sans CJK SC"/>
              </a:rPr>
              <a:t>把“别乱吃抗生素”，换成三个动作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5843016"/>
            <a:ext cx="11000232" cy="0"/>
          </a:xfrm>
          <a:prstGeom prst="line">
            <a:avLst/>
          </a:prstGeom>
          <a:ln w="889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5943600"/>
            <a:ext cx="107442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53E75"/>
                </a:solidFill>
                <a:latin typeface="Noto Sans CJK SC"/>
                <a:ea typeface="Noto Sans CJK SC"/>
              </a:rPr>
              <a:t>先确认需要，再按具体处方使用；有疑问及时联系医生或药师。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5566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3E75"/>
                </a:solidFill>
                <a:latin typeface="Noto Sans CJK SC"/>
                <a:ea typeface="Noto Sans CJK SC"/>
              </a:rPr>
              <a:t>12 / 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3474720" cy="3593592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14983" y="2139696"/>
            <a:ext cx="548640" cy="329184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157984"/>
            <a:ext cx="42062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98448" y="2770632"/>
            <a:ext cx="9144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0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816351"/>
            <a:ext cx="822960" cy="201168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1755648" y="3136391"/>
            <a:ext cx="0" cy="274320"/>
          </a:xfrm>
          <a:prstGeom prst="line">
            <a:avLst/>
          </a:prstGeom>
          <a:ln w="38100">
            <a:solidFill>
              <a:srgbClr val="2033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618488" y="3273552"/>
            <a:ext cx="274319" cy="0"/>
          </a:xfrm>
          <a:prstGeom prst="line">
            <a:avLst/>
          </a:prstGeom>
          <a:ln w="38100">
            <a:solidFill>
              <a:srgbClr val="2033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344168" y="3602735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03354"/>
                </a:solidFill>
                <a:latin typeface="Noto Sans CJK SC"/>
              </a:rPr>
              <a:t>抗生素</a:t>
            </a:r>
          </a:p>
        </p:txBody>
      </p:sp>
      <p:sp>
        <p:nvSpPr>
          <p:cNvPr id="16" name="Oval 15"/>
          <p:cNvSpPr/>
          <p:nvPr/>
        </p:nvSpPr>
        <p:spPr>
          <a:xfrm>
            <a:off x="2468880" y="2834640"/>
            <a:ext cx="941832" cy="941832"/>
          </a:xfrm>
          <a:prstGeom prst="ellipse">
            <a:avLst/>
          </a:prstGeom>
          <a:solidFill>
            <a:srgbClr val="FFEEF0"/>
          </a:solidFill>
          <a:ln w="19050">
            <a:solidFill>
              <a:srgbClr val="EB59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0" y="3154680"/>
            <a:ext cx="74980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B5969"/>
                </a:solidFill>
                <a:latin typeface="Noto Sans CJK SC"/>
              </a:rPr>
              <a:t>需要？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09544" y="3593592"/>
            <a:ext cx="420624" cy="374904"/>
          </a:xfrm>
          <a:prstGeom prst="line">
            <a:avLst/>
          </a:prstGeom>
          <a:ln w="76200">
            <a:solidFill>
              <a:srgbClr val="EB59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4983" y="4443984"/>
            <a:ext cx="299923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203354"/>
                </a:solidFill>
                <a:latin typeface="Noto Sans CJK SC"/>
              </a:rPr>
              <a:t>先确认需要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4901184"/>
            <a:ext cx="299923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>
                <a:solidFill>
                  <a:srgbClr val="203354"/>
                </a:solidFill>
                <a:latin typeface="Noto Sans CJK SC"/>
              </a:rPr>
              <a:t>感冒症状，不自动等于要用抗生素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71416" y="1947672"/>
            <a:ext cx="3474720" cy="3593592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709159" y="2139696"/>
            <a:ext cx="548640" cy="329184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2157984"/>
            <a:ext cx="42062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01183" y="2807208"/>
            <a:ext cx="923544" cy="11795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0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946903" y="2852927"/>
            <a:ext cx="832104" cy="201168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5362955" y="3172968"/>
            <a:ext cx="0" cy="274319"/>
          </a:xfrm>
          <a:prstGeom prst="line">
            <a:avLst/>
          </a:prstGeom>
          <a:ln w="38100">
            <a:solidFill>
              <a:srgbClr val="2033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224424" y="3310128"/>
            <a:ext cx="277063" cy="0"/>
          </a:xfrm>
          <a:prstGeom prst="line">
            <a:avLst/>
          </a:prstGeom>
          <a:ln w="38100">
            <a:solidFill>
              <a:srgbClr val="2033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946903" y="3675887"/>
            <a:ext cx="83210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03354"/>
                </a:solidFill>
                <a:latin typeface="Noto Sans CJK SC"/>
              </a:rPr>
              <a:t>室友剩药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73952" y="2807208"/>
            <a:ext cx="923544" cy="11795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0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519672" y="2852927"/>
            <a:ext cx="832104" cy="201168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6935724" y="3172968"/>
            <a:ext cx="0" cy="274319"/>
          </a:xfrm>
          <a:prstGeom prst="line">
            <a:avLst/>
          </a:prstGeom>
          <a:ln w="38100">
            <a:solidFill>
              <a:srgbClr val="2033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797192" y="3310128"/>
            <a:ext cx="277063" cy="0"/>
          </a:xfrm>
          <a:prstGeom prst="line">
            <a:avLst/>
          </a:prstGeom>
          <a:ln w="38100">
            <a:solidFill>
              <a:srgbClr val="2033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519672" y="3675887"/>
            <a:ext cx="83210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03354"/>
                </a:solidFill>
                <a:latin typeface="Noto Sans CJK SC"/>
              </a:rPr>
              <a:t>我的用药</a:t>
            </a:r>
          </a:p>
        </p:txBody>
      </p:sp>
      <p:sp>
        <p:nvSpPr>
          <p:cNvPr id="34" name="Oval 33"/>
          <p:cNvSpPr/>
          <p:nvPr/>
        </p:nvSpPr>
        <p:spPr>
          <a:xfrm>
            <a:off x="5843016" y="3136392"/>
            <a:ext cx="548640" cy="548640"/>
          </a:xfrm>
          <a:prstGeom prst="ellipse">
            <a:avLst/>
          </a:prstGeom>
          <a:solidFill>
            <a:srgbClr val="FFEEF0"/>
          </a:solidFill>
          <a:ln w="19050">
            <a:solidFill>
              <a:srgbClr val="EB59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5943600" y="3246120"/>
            <a:ext cx="347472" cy="347472"/>
          </a:xfrm>
          <a:prstGeom prst="line">
            <a:avLst/>
          </a:prstGeom>
          <a:ln w="38100">
            <a:solidFill>
              <a:srgbClr val="EB59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709159" y="4443984"/>
            <a:ext cx="299923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203354"/>
                </a:solidFill>
                <a:latin typeface="Noto Sans CJK SC"/>
              </a:rPr>
              <a:t>不接室友剩药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59" y="4901184"/>
            <a:ext cx="299923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>
                <a:solidFill>
                  <a:srgbClr val="203354"/>
                </a:solidFill>
                <a:latin typeface="Noto Sans CJK SC"/>
              </a:rPr>
              <a:t>相似症状，不代表同一病因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65592" y="1947672"/>
            <a:ext cx="3474720" cy="3593592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403336" y="2139696"/>
            <a:ext cx="548640" cy="329184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67344" y="2157984"/>
            <a:ext cx="42062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78240" y="2761488"/>
            <a:ext cx="2103120" cy="14081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0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36024" y="2898648"/>
            <a:ext cx="12435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203354"/>
                </a:solidFill>
                <a:latin typeface="Noto Sans CJK SC"/>
              </a:rPr>
              <a:t>剂量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924544" y="3017520"/>
            <a:ext cx="118872" cy="100584"/>
          </a:xfrm>
          <a:prstGeom prst="line">
            <a:avLst/>
          </a:prstGeom>
          <a:ln w="25400">
            <a:solidFill>
              <a:srgbClr val="EB59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9043416" y="2907791"/>
            <a:ext cx="182880" cy="210313"/>
          </a:xfrm>
          <a:prstGeom prst="line">
            <a:avLst/>
          </a:prstGeom>
          <a:ln w="25400">
            <a:solidFill>
              <a:srgbClr val="EB59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336024" y="3291840"/>
            <a:ext cx="12435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203354"/>
                </a:solidFill>
                <a:latin typeface="Noto Sans CJK SC"/>
              </a:rPr>
              <a:t>间隔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924544" y="3410712"/>
            <a:ext cx="118872" cy="100584"/>
          </a:xfrm>
          <a:prstGeom prst="line">
            <a:avLst/>
          </a:prstGeom>
          <a:ln w="25400">
            <a:solidFill>
              <a:srgbClr val="EB59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9043416" y="3300984"/>
            <a:ext cx="182880" cy="210312"/>
          </a:xfrm>
          <a:prstGeom prst="line">
            <a:avLst/>
          </a:prstGeom>
          <a:ln w="25400">
            <a:solidFill>
              <a:srgbClr val="EB59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336024" y="3685032"/>
            <a:ext cx="12435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203354"/>
                </a:solidFill>
                <a:latin typeface="Noto Sans CJK SC"/>
              </a:rPr>
              <a:t>疗程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924544" y="3803904"/>
            <a:ext cx="118872" cy="100584"/>
          </a:xfrm>
          <a:prstGeom prst="line">
            <a:avLst/>
          </a:prstGeom>
          <a:ln w="25400">
            <a:solidFill>
              <a:srgbClr val="EB59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043416" y="3694176"/>
            <a:ext cx="182880" cy="210312"/>
          </a:xfrm>
          <a:prstGeom prst="line">
            <a:avLst/>
          </a:prstGeom>
          <a:ln w="25400">
            <a:solidFill>
              <a:srgbClr val="EB59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403336" y="4443984"/>
            <a:ext cx="299923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203354"/>
                </a:solidFill>
                <a:latin typeface="Noto Sans CJK SC"/>
              </a:rPr>
              <a:t>按处方执行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03336" y="4901184"/>
            <a:ext cx="299923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>
                <a:solidFill>
                  <a:srgbClr val="203354"/>
                </a:solidFill>
                <a:latin typeface="Noto Sans CJK SC"/>
              </a:rPr>
              <a:t>疗效或反应有疑问，及时咨询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64008" cy="246888"/>
          </a:xfrm>
          <a:prstGeom prst="rect">
            <a:avLst/>
          </a:prstGeom>
          <a:solidFill>
            <a:srgbClr val="E3464F"/>
          </a:solidFill>
          <a:ln>
            <a:solidFill>
              <a:srgbClr val="E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3E75"/>
                </a:solidFill>
                <a:latin typeface="Noto Sans CJK SC"/>
                <a:ea typeface="Noto Sans CJK SC"/>
              </a:rPr>
              <a:t>02 / 宿舍误区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53E75"/>
                </a:solidFill>
                <a:latin typeface="Noto Sans CJK SC"/>
                <a:ea typeface="Noto Sans CJK SC"/>
              </a:rPr>
              <a:t>案例③：鼻子舒服了，上课却犯困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5843016"/>
            <a:ext cx="11000232" cy="0"/>
          </a:xfrm>
          <a:prstGeom prst="line">
            <a:avLst/>
          </a:prstGeom>
          <a:ln w="889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5943600"/>
            <a:ext cx="107442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53E75"/>
                </a:solidFill>
                <a:latin typeface="Noto Sans CJK SC"/>
                <a:ea typeface="Noto Sans CJK SC"/>
              </a:rPr>
              <a:t>症状缓解，也要留意精神状态与日常活动。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5566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3E75"/>
                </a:solidFill>
                <a:latin typeface="Noto Sans CJK SC"/>
                <a:ea typeface="Noto Sans CJK SC"/>
              </a:rPr>
              <a:t>13 / 27</a:t>
            </a:r>
          </a:p>
        </p:txBody>
      </p:sp>
      <p:pic>
        <p:nvPicPr>
          <p:cNvPr id="8" name="ANIME_BASE_R2_C1" descr="原创AI生成动漫情境；人物和事件为虚构教学示意"/>
          <p:cNvPicPr>
            <a:picLocks noChangeAspect="1"/>
          </p:cNvPicPr>
          <p:nvPr/>
        </p:nvPicPr>
        <p:blipFill>
          <a:blip r:embed="rId3"/>
          <a:srcRect r="66992" t="30905" b="42888"/>
          <a:stretch>
            <a:fillRect/>
          </a:stretch>
        </p:blipFill>
        <p:spPr>
          <a:xfrm>
            <a:off x="777240" y="1938528"/>
            <a:ext cx="5148072" cy="272491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7240" y="4800600"/>
            <a:ext cx="5148072" cy="548640"/>
          </a:xfrm>
          <a:prstGeom prst="roundRect">
            <a:avLst>
              <a:gd name="adj" fmla="val 10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882896"/>
            <a:ext cx="48188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203354"/>
                </a:solidFill>
                <a:latin typeface="Noto Sans CJK SC"/>
              </a:rPr>
              <a:t>终于不用一直擦鼻涕！</a:t>
            </a:r>
          </a:p>
        </p:txBody>
      </p:sp>
      <p:pic>
        <p:nvPicPr>
          <p:cNvPr id="11" name="ANIME_BASE_R2_C2" descr="原创AI生成动漫情境；人物和事件为虚构教学示意"/>
          <p:cNvPicPr>
            <a:picLocks noChangeAspect="1"/>
          </p:cNvPicPr>
          <p:nvPr/>
        </p:nvPicPr>
        <p:blipFill>
          <a:blip r:embed="rId3"/>
          <a:srcRect l="33464" r="33529" t="30905" b="42888"/>
          <a:stretch>
            <a:fillRect/>
          </a:stretch>
        </p:blipFill>
        <p:spPr>
          <a:xfrm>
            <a:off x="6245352" y="1938528"/>
            <a:ext cx="5148072" cy="272491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45352" y="4800600"/>
            <a:ext cx="5148072" cy="548640"/>
          </a:xfrm>
          <a:prstGeom prst="roundRect">
            <a:avLst>
              <a:gd name="adj" fmla="val 10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4882896"/>
            <a:ext cx="48188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203354"/>
                </a:solidFill>
                <a:latin typeface="Noto Sans CJK SC"/>
              </a:rPr>
              <a:t>鼻子好了，脑子想“下课”……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64008" cy="246888"/>
          </a:xfrm>
          <a:prstGeom prst="rect">
            <a:avLst/>
          </a:prstGeom>
          <a:solidFill>
            <a:srgbClr val="E3464F"/>
          </a:solidFill>
          <a:ln>
            <a:solidFill>
              <a:srgbClr val="E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3E75"/>
                </a:solidFill>
                <a:latin typeface="Noto Sans CJK SC"/>
                <a:ea typeface="Noto Sans CJK SC"/>
              </a:rPr>
              <a:t>02 / 宿舍误区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53E75"/>
                </a:solidFill>
                <a:latin typeface="Noto Sans CJK SC"/>
                <a:ea typeface="Noto Sans CJK SC"/>
              </a:rPr>
              <a:t>抗组胺药：为什么鼻子舒服了，人却可能困？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5843016"/>
            <a:ext cx="11000232" cy="0"/>
          </a:xfrm>
          <a:prstGeom prst="line">
            <a:avLst/>
          </a:prstGeom>
          <a:ln w="889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5943600"/>
            <a:ext cx="107442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53E75"/>
                </a:solidFill>
                <a:latin typeface="Noto Sans CJK SC"/>
                <a:ea typeface="Noto Sans CJK SC"/>
              </a:rPr>
              <a:t>缓解症状，也要留意嗜睡提示与个人反应。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5566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3E75"/>
                </a:solidFill>
                <a:latin typeface="Noto Sans CJK SC"/>
                <a:ea typeface="Noto Sans CJK SC"/>
              </a:rPr>
              <a:t>14 / 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5148072" cy="3703320"/>
          </a:xfrm>
          <a:prstGeom prst="roundRect">
            <a:avLst>
              <a:gd name="adj" fmla="val 10000"/>
            </a:avLst>
          </a:prstGeom>
          <a:solidFill>
            <a:srgbClr val="F0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45352" y="1947672"/>
            <a:ext cx="5148072" cy="3703320"/>
          </a:xfrm>
          <a:prstGeom prst="roundRect">
            <a:avLst>
              <a:gd name="adj" fmla="val 10000"/>
            </a:avLst>
          </a:prstGeom>
          <a:solidFill>
            <a:srgbClr val="F5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03120"/>
            <a:ext cx="467258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008C82"/>
                </a:solidFill>
                <a:latin typeface="Noto Sans CJK SC"/>
              </a:rPr>
              <a:t>鼻部：缓解部分过敏症状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2103120"/>
            <a:ext cx="467258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7952D5"/>
                </a:solidFill>
                <a:latin typeface="Noto Sans CJK SC"/>
              </a:rPr>
              <a:t>脑内：可能影响清醒状态</a:t>
            </a:r>
          </a:p>
        </p:txBody>
      </p:sp>
      <p:pic>
        <p:nvPicPr>
          <p:cNvPr id="12" name="MEDICAL_NASAL" descr="独立渲染的组织层次医学科普插图，结构与解释按参考资料核对；受体标记为功能位置，不是原子结构模型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532888"/>
            <a:ext cx="4663440" cy="3108960"/>
          </a:xfrm>
          <a:prstGeom prst="rect">
            <a:avLst/>
          </a:prstGeom>
        </p:spPr>
      </p:pic>
      <p:pic>
        <p:nvPicPr>
          <p:cNvPr id="13" name="MEDICAL_BBB" descr="独立渲染的组织层次医学科普插图，结构与解释按参考资料核对；受体标记为功能位置，不是原子结构模型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2532888"/>
            <a:ext cx="4663440" cy="3108960"/>
          </a:xfrm>
          <a:prstGeom prst="rect">
            <a:avLst/>
          </a:prstGeom>
        </p:spPr>
      </p:pic>
      <p:cxnSp>
        <p:nvCxnSpPr>
          <p:cNvPr id="14" name="Connector 13"/>
          <p:cNvCxnSpPr/>
          <p:nvPr/>
        </p:nvCxnSpPr>
        <p:spPr>
          <a:xfrm flipH="1">
            <a:off x="3044952" y="2871216"/>
            <a:ext cx="192024" cy="1307592"/>
          </a:xfrm>
          <a:prstGeom prst="line">
            <a:avLst/>
          </a:prstGeom>
          <a:ln w="15240">
            <a:solidFill>
              <a:srgbClr val="008C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98064" y="2702052"/>
            <a:ext cx="877824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2715768"/>
            <a:ext cx="8046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008C82"/>
                </a:solidFill>
                <a:latin typeface="Noto Sans CJK SC"/>
              </a:rPr>
              <a:t>组胺</a:t>
            </a:r>
          </a:p>
        </p:txBody>
      </p:sp>
      <p:cxnSp>
        <p:nvCxnSpPr>
          <p:cNvPr id="17" name="Connector 16"/>
          <p:cNvCxnSpPr/>
          <p:nvPr/>
        </p:nvCxnSpPr>
        <p:spPr>
          <a:xfrm flipH="1" flipV="1">
            <a:off x="3474720" y="4379976"/>
            <a:ext cx="1225296" cy="329184"/>
          </a:xfrm>
          <a:prstGeom prst="line">
            <a:avLst/>
          </a:prstGeom>
          <a:ln w="15240">
            <a:solidFill>
              <a:srgbClr val="7952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105656" y="4539996"/>
            <a:ext cx="1188720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42232" y="4553712"/>
            <a:ext cx="111556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7952D5"/>
                </a:solidFill>
                <a:latin typeface="Noto Sans CJK SC"/>
              </a:rPr>
              <a:t>H1受体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50608" y="2871216"/>
            <a:ext cx="914400" cy="429768"/>
          </a:xfrm>
          <a:prstGeom prst="line">
            <a:avLst/>
          </a:prstGeom>
          <a:ln w="15240">
            <a:solidFill>
              <a:srgbClr val="2033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73952" y="2702052"/>
            <a:ext cx="135331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2715768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203354"/>
                </a:solidFill>
                <a:latin typeface="Noto Sans CJK SC"/>
              </a:rPr>
              <a:t>药物分子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9253728" y="3730752"/>
            <a:ext cx="1110996" cy="237744"/>
          </a:xfrm>
          <a:prstGeom prst="line">
            <a:avLst/>
          </a:prstGeom>
          <a:ln w="15240">
            <a:solidFill>
              <a:srgbClr val="7952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674352" y="3561588"/>
            <a:ext cx="1380744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10928" y="3575304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7952D5"/>
                </a:solidFill>
                <a:latin typeface="Noto Sans CJK SC"/>
              </a:rPr>
              <a:t>血脑屏障</a:t>
            </a:r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9409176" y="4709160"/>
            <a:ext cx="941832" cy="64008"/>
          </a:xfrm>
          <a:prstGeom prst="line">
            <a:avLst/>
          </a:prstGeom>
          <a:ln w="15240">
            <a:solidFill>
              <a:srgbClr val="7952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555480" y="4604004"/>
            <a:ext cx="1591056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92056" y="4617720"/>
            <a:ext cx="15179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7952D5"/>
                </a:solidFill>
                <a:latin typeface="Noto Sans CJK SC"/>
              </a:rPr>
              <a:t>脑内H1受体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2" y="5010912"/>
            <a:ext cx="4818888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065776"/>
            <a:ext cx="4507992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008C82"/>
                </a:solidFill>
                <a:latin typeface="Noto Sans CJK SC"/>
              </a:rPr>
              <a:t>抗组胺药降低H1相关信号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008C82"/>
                </a:solidFill>
                <a:latin typeface="Noto Sans CJK SC"/>
              </a:rPr>
              <a:t>可减轻鼻痒、喷嚏和流涕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9944" y="5010912"/>
            <a:ext cx="4818888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65392" y="5065776"/>
            <a:ext cx="4507992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7952D5"/>
                </a:solidFill>
                <a:latin typeface="Noto Sans CJK SC"/>
              </a:rPr>
              <a:t>部分药物可进入脑内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7952D5"/>
                </a:solidFill>
                <a:latin typeface="Noto Sans CJK SC"/>
              </a:rPr>
              <a:t>影响H1相关信号，可能嗜睡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64008" cy="246888"/>
          </a:xfrm>
          <a:prstGeom prst="rect">
            <a:avLst/>
          </a:prstGeom>
          <a:solidFill>
            <a:srgbClr val="E3464F"/>
          </a:solidFill>
          <a:ln>
            <a:solidFill>
              <a:srgbClr val="E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3E75"/>
                </a:solidFill>
                <a:latin typeface="Noto Sans CJK SC"/>
                <a:ea typeface="Noto Sans CJK SC"/>
              </a:rPr>
              <a:t>02 / 宿舍误区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53E75"/>
                </a:solidFill>
                <a:latin typeface="Noto Sans CJK SC"/>
                <a:ea typeface="Noto Sans CJK SC"/>
              </a:rPr>
              <a:t>聚餐邀请到了，你先回哪条消息？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5843016"/>
            <a:ext cx="11000232" cy="0"/>
          </a:xfrm>
          <a:prstGeom prst="line">
            <a:avLst/>
          </a:prstGeom>
          <a:ln w="889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5943600"/>
            <a:ext cx="107442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53E75"/>
                </a:solidFill>
                <a:latin typeface="Noto Sans CJK SC"/>
                <a:ea typeface="Noto Sans CJK SC"/>
              </a:rPr>
              <a:t>单选｜今天服过抗过敏药，具体饮酒要求未确认；下一页再揭晓。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5566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3E75"/>
                </a:solidFill>
                <a:latin typeface="Noto Sans CJK SC"/>
                <a:ea typeface="Noto Sans CJK SC"/>
              </a:rPr>
              <a:t>15 / 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1938528"/>
            <a:ext cx="8257031" cy="941832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7552" y="2240280"/>
            <a:ext cx="539496" cy="329184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58568"/>
            <a:ext cx="41147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2224" y="2093976"/>
            <a:ext cx="692200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0">
                <a:solidFill>
                  <a:srgbClr val="203354"/>
                </a:solidFill>
                <a:latin typeface="Noto Sans CJK SC"/>
              </a:rPr>
              <a:t>先吃点东西，把两者错开两小时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" y="3081528"/>
            <a:ext cx="8257031" cy="941832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7552" y="3383280"/>
            <a:ext cx="539496" cy="329184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401568"/>
            <a:ext cx="41147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2224" y="3236976"/>
            <a:ext cx="692200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0">
                <a:solidFill>
                  <a:srgbClr val="203354"/>
                </a:solidFill>
                <a:latin typeface="Noto Sans CJK SC"/>
              </a:rPr>
              <a:t>照以前的经验，只小酌不碰烈酒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" y="4224528"/>
            <a:ext cx="8257031" cy="941832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7552" y="4526280"/>
            <a:ext cx="539496" cy="329184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544568"/>
            <a:ext cx="41147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4" y="4379976"/>
            <a:ext cx="692200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0">
                <a:solidFill>
                  <a:srgbClr val="203354"/>
                </a:solidFill>
                <a:latin typeface="Noto Sans CJK SC"/>
              </a:rPr>
              <a:t>今晚先换白水，按具体药名查要求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72016" y="1938528"/>
            <a:ext cx="2121408" cy="324612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ANIME_EXTRA_R2_C3" descr="原创AI生成动漫情境；人物和事件为虚构教学示意"/>
          <p:cNvPicPr>
            <a:picLocks noChangeAspect="1"/>
          </p:cNvPicPr>
          <p:nvPr/>
        </p:nvPicPr>
        <p:blipFill>
          <a:blip r:embed="rId3"/>
          <a:srcRect l="75725" r="8733" t="30566" b="39844"/>
          <a:stretch>
            <a:fillRect/>
          </a:stretch>
        </p:blipFill>
        <p:spPr>
          <a:xfrm>
            <a:off x="9509760" y="2715768"/>
            <a:ext cx="1664208" cy="2112264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9774936" y="2148840"/>
            <a:ext cx="1106424" cy="329184"/>
          </a:xfrm>
          <a:prstGeom prst="roundRect">
            <a:avLst>
              <a:gd name="adj" fmla="val 10000"/>
            </a:avLst>
          </a:prstGeom>
          <a:solidFill>
            <a:srgbClr val="795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38944" y="2167128"/>
            <a:ext cx="97840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单选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64008" cy="246888"/>
          </a:xfrm>
          <a:prstGeom prst="rect">
            <a:avLst/>
          </a:prstGeom>
          <a:solidFill>
            <a:srgbClr val="E3464F"/>
          </a:solidFill>
          <a:ln>
            <a:solidFill>
              <a:srgbClr val="E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3E75"/>
                </a:solidFill>
                <a:latin typeface="Noto Sans CJK SC"/>
                <a:ea typeface="Noto Sans CJK SC"/>
              </a:rPr>
              <a:t>02 / 宿舍误区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53E75"/>
                </a:solidFill>
                <a:latin typeface="Noto Sans CJK SC"/>
                <a:ea typeface="Noto Sans CJK SC"/>
              </a:rPr>
              <a:t>案例④：聚餐这杯酒，先停一下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5843016"/>
            <a:ext cx="11000232" cy="0"/>
          </a:xfrm>
          <a:prstGeom prst="line">
            <a:avLst/>
          </a:prstGeom>
          <a:ln w="889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5943600"/>
            <a:ext cx="107442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53E75"/>
                </a:solidFill>
                <a:latin typeface="Noto Sans CJK SC"/>
                <a:ea typeface="Noto Sans CJK SC"/>
              </a:rPr>
              <a:t>刚才选 C：拿不准就先不喝；错开两小时、酒量好都不能代替核实。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5566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3E75"/>
                </a:solidFill>
                <a:latin typeface="Noto Sans CJK SC"/>
                <a:ea typeface="Noto Sans CJK SC"/>
              </a:rPr>
              <a:t>16 / 27</a:t>
            </a:r>
          </a:p>
        </p:txBody>
      </p:sp>
      <p:pic>
        <p:nvPicPr>
          <p:cNvPr id="8" name="ANIME_BASE_R3_C1" descr="原创AI生成动漫情境；人物和事件为虚构教学示意"/>
          <p:cNvPicPr>
            <a:picLocks noChangeAspect="1"/>
          </p:cNvPicPr>
          <p:nvPr/>
        </p:nvPicPr>
        <p:blipFill>
          <a:blip r:embed="rId3"/>
          <a:srcRect r="66992" t="61640" b="5440"/>
          <a:stretch>
            <a:fillRect/>
          </a:stretch>
        </p:blipFill>
        <p:spPr>
          <a:xfrm>
            <a:off x="749808" y="1956816"/>
            <a:ext cx="3465576" cy="230428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8" y="4416552"/>
            <a:ext cx="3465576" cy="1024128"/>
          </a:xfrm>
          <a:prstGeom prst="roundRect">
            <a:avLst>
              <a:gd name="adj" fmla="val 10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98848"/>
            <a:ext cx="3136392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203354"/>
                </a:solidFill>
                <a:latin typeface="Noto Sans CJK SC"/>
              </a:rPr>
              <a:t>白天服过药，今晚聚餐怎么办？</a:t>
            </a:r>
          </a:p>
        </p:txBody>
      </p:sp>
      <p:pic>
        <p:nvPicPr>
          <p:cNvPr id="11" name="ANIME_BASE_R3_C2" descr="原创AI生成动漫情境；人物和事件为虚构教学示意"/>
          <p:cNvPicPr>
            <a:picLocks noChangeAspect="1"/>
          </p:cNvPicPr>
          <p:nvPr/>
        </p:nvPicPr>
        <p:blipFill>
          <a:blip r:embed="rId3"/>
          <a:srcRect l="33464" r="33529" t="61640" b="5440"/>
          <a:stretch>
            <a:fillRect/>
          </a:stretch>
        </p:blipFill>
        <p:spPr>
          <a:xfrm>
            <a:off x="4434840" y="1956816"/>
            <a:ext cx="3465576" cy="230428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434840" y="4416552"/>
            <a:ext cx="3465576" cy="1024128"/>
          </a:xfrm>
          <a:prstGeom prst="roundRect">
            <a:avLst>
              <a:gd name="adj" fmla="val 10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4498848"/>
            <a:ext cx="3136392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203354"/>
                </a:solidFill>
                <a:latin typeface="Noto Sans CJK SC"/>
              </a:rPr>
              <a:t>室友：就喝一点，没事吧？</a:t>
            </a:r>
          </a:p>
        </p:txBody>
      </p:sp>
      <p:pic>
        <p:nvPicPr>
          <p:cNvPr id="14" name="ANIME_BASE_R3_C3" descr="原创AI生成动漫情境；人物和事件为虚构教学示意"/>
          <p:cNvPicPr>
            <a:picLocks noChangeAspect="1"/>
          </p:cNvPicPr>
          <p:nvPr/>
        </p:nvPicPr>
        <p:blipFill>
          <a:blip r:embed="rId3"/>
          <a:srcRect l="66992" t="61640" b="5440"/>
          <a:stretch>
            <a:fillRect/>
          </a:stretch>
        </p:blipFill>
        <p:spPr>
          <a:xfrm>
            <a:off x="8119872" y="1956816"/>
            <a:ext cx="3465576" cy="230428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119872" y="4416552"/>
            <a:ext cx="3465576" cy="1024128"/>
          </a:xfrm>
          <a:prstGeom prst="roundRect">
            <a:avLst>
              <a:gd name="adj" fmla="val 10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4498848"/>
            <a:ext cx="3136392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203354"/>
                </a:solidFill>
                <a:latin typeface="Noto Sans CJK SC"/>
              </a:rPr>
              <a:t>我先换白水，再核实这盒药的要求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64008" cy="246888"/>
          </a:xfrm>
          <a:prstGeom prst="rect">
            <a:avLst/>
          </a:prstGeom>
          <a:solidFill>
            <a:srgbClr val="E3464F"/>
          </a:solidFill>
          <a:ln>
            <a:solidFill>
              <a:srgbClr val="E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3E75"/>
                </a:solidFill>
                <a:latin typeface="Noto Sans CJK SC"/>
                <a:ea typeface="Noto Sans CJK SC"/>
              </a:rPr>
              <a:t>03 / 安全用药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53E75"/>
                </a:solidFill>
                <a:latin typeface="Noto Sans CJK SC"/>
                <a:ea typeface="Noto Sans CJK SC"/>
              </a:rPr>
              <a:t>从四个案例，走到四个用药动作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5843016"/>
            <a:ext cx="11000232" cy="0"/>
          </a:xfrm>
          <a:prstGeom prst="line">
            <a:avLst/>
          </a:prstGeom>
          <a:ln w="889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5943600"/>
            <a:ext cx="107442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53E75"/>
                </a:solidFill>
                <a:latin typeface="Noto Sans CJK SC"/>
                <a:ea typeface="Noto Sans CJK SC"/>
              </a:rPr>
              <a:t>先把信息看清，再把不确定问清。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5566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3E75"/>
                </a:solidFill>
                <a:latin typeface="Noto Sans CJK SC"/>
                <a:ea typeface="Noto Sans CJK SC"/>
              </a:rPr>
              <a:t>17 / 27</a:t>
            </a:r>
          </a:p>
        </p:txBody>
      </p:sp>
      <p:pic>
        <p:nvPicPr>
          <p:cNvPr id="8" name="ANIME_ACTIONS_R1_C1" descr="原创动漫情境，生成日期与分镜用途见素材附页；对白独立可编辑"/>
          <p:cNvPicPr>
            <a:picLocks noChangeAspect="1"/>
          </p:cNvPicPr>
          <p:nvPr/>
        </p:nvPicPr>
        <p:blipFill>
          <a:blip r:embed="rId3"/>
          <a:srcRect l="1628" r="68620" b="70215"/>
          <a:stretch>
            <a:fillRect/>
          </a:stretch>
        </p:blipFill>
        <p:spPr>
          <a:xfrm>
            <a:off x="777240" y="1956816"/>
            <a:ext cx="4096512" cy="27340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7240" y="4910328"/>
            <a:ext cx="4096512" cy="594360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10800000">
            <a:off x="1051560" y="5486400"/>
            <a:ext cx="228600" cy="164592"/>
          </a:xfrm>
          <a:prstGeom prst="triangle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5020056"/>
            <a:ext cx="3694176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>
                <a:solidFill>
                  <a:srgbClr val="203354"/>
                </a:solidFill>
                <a:latin typeface="Noto Sans CJK SC"/>
              </a:rPr>
              <a:t>拿不准，先别靠感觉。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8072" y="1956816"/>
            <a:ext cx="3044952" cy="1746504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85816" y="2130552"/>
            <a:ext cx="256946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53E75"/>
                </a:solidFill>
                <a:latin typeface="Noto Sans CJK SC"/>
              </a:rPr>
              <a:t>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85816" y="2862072"/>
            <a:ext cx="2569464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0">
                <a:solidFill>
                  <a:srgbClr val="203354"/>
                </a:solidFill>
                <a:latin typeface="Noto Sans CJK SC"/>
              </a:rPr>
              <a:t>症状、说明书、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0">
                <a:solidFill>
                  <a:srgbClr val="203354"/>
                </a:solidFill>
                <a:latin typeface="Noto Sans CJK SC"/>
              </a:rPr>
              <a:t>就医信号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9328" y="1956816"/>
            <a:ext cx="3044952" cy="1746504"/>
          </a:xfrm>
          <a:prstGeom prst="roundRect">
            <a:avLst>
              <a:gd name="adj" fmla="val 10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2130552"/>
            <a:ext cx="256946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53E75"/>
                </a:solidFill>
                <a:latin typeface="Noto Sans CJK SC"/>
              </a:rPr>
              <a:t>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2862072"/>
            <a:ext cx="2569464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0">
                <a:solidFill>
                  <a:srgbClr val="203354"/>
                </a:solidFill>
                <a:latin typeface="Noto Sans CJK SC"/>
              </a:rPr>
              <a:t>成分、用法、禁忌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0">
                <a:solidFill>
                  <a:srgbClr val="203354"/>
                </a:solidFill>
                <a:latin typeface="Noto Sans CJK SC"/>
              </a:rPr>
              <a:t>与相互作用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48072" y="3840480"/>
            <a:ext cx="3044952" cy="1746504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85816" y="4014216"/>
            <a:ext cx="256946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53E75"/>
                </a:solidFill>
                <a:latin typeface="Noto Sans CJK SC"/>
              </a:rPr>
              <a:t>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85816" y="4745736"/>
            <a:ext cx="2569464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0">
                <a:solidFill>
                  <a:srgbClr val="203354"/>
                </a:solidFill>
                <a:latin typeface="Noto Sans CJK SC"/>
              </a:rPr>
              <a:t>带齐信息，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0">
                <a:solidFill>
                  <a:srgbClr val="203354"/>
                </a:solidFill>
                <a:latin typeface="Noto Sans CJK SC"/>
              </a:rPr>
              <a:t>问医生或药师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39328" y="3840480"/>
            <a:ext cx="3044952" cy="1746504"/>
          </a:xfrm>
          <a:prstGeom prst="roundRect">
            <a:avLst>
              <a:gd name="adj" fmla="val 10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014216"/>
            <a:ext cx="256946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53E75"/>
                </a:solidFill>
                <a:latin typeface="Noto Sans CJK SC"/>
              </a:rPr>
              <a:t>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7072" y="4745736"/>
            <a:ext cx="2569464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0">
                <a:solidFill>
                  <a:srgbClr val="203354"/>
                </a:solidFill>
                <a:latin typeface="Noto Sans CJK SC"/>
              </a:rPr>
              <a:t>药名、时间、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0">
                <a:solidFill>
                  <a:srgbClr val="203354"/>
                </a:solidFill>
                <a:latin typeface="Noto Sans CJK SC"/>
              </a:rPr>
              <a:t>用量与反应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64008" cy="246888"/>
          </a:xfrm>
          <a:prstGeom prst="rect">
            <a:avLst/>
          </a:prstGeom>
          <a:solidFill>
            <a:srgbClr val="E3464F"/>
          </a:solidFill>
          <a:ln>
            <a:solidFill>
              <a:srgbClr val="E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3E75"/>
                </a:solidFill>
                <a:latin typeface="Noto Sans CJK SC"/>
                <a:ea typeface="Noto Sans CJK SC"/>
              </a:rPr>
              <a:t>03 / 安全用药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53E75"/>
                </a:solidFill>
                <a:latin typeface="Noto Sans CJK SC"/>
                <a:ea typeface="Noto Sans CJK SC"/>
              </a:rPr>
              <a:t>说明书：先找能改变判断的信息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5843016"/>
            <a:ext cx="11000232" cy="0"/>
          </a:xfrm>
          <a:prstGeom prst="line">
            <a:avLst/>
          </a:prstGeom>
          <a:ln w="889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5943600"/>
            <a:ext cx="107442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53E75"/>
                </a:solidFill>
                <a:latin typeface="Noto Sans CJK SC"/>
                <a:ea typeface="Noto Sans CJK SC"/>
              </a:rPr>
              <a:t>看清成分与用途，再核用法和禁忌。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5566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3E75"/>
                </a:solidFill>
                <a:latin typeface="Noto Sans CJK SC"/>
                <a:ea typeface="Noto Sans CJK SC"/>
              </a:rPr>
              <a:t>18 / 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3566160" cy="1106424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32004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153E75"/>
                </a:solidFill>
                <a:latin typeface="Noto Sans CJK SC"/>
              </a:rPr>
              <a:t>成分 / 通用名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96312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>
                <a:solidFill>
                  <a:srgbClr val="203354"/>
                </a:solidFill>
                <a:latin typeface="Noto Sans CJK SC"/>
              </a:rPr>
              <a:t>有没有重复成分？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79" y="1947672"/>
            <a:ext cx="3566160" cy="1106424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2103120"/>
            <a:ext cx="32004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153E75"/>
                </a:solidFill>
                <a:latin typeface="Noto Sans CJK SC"/>
              </a:rPr>
              <a:t>适应证 / 功能主治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496312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>
                <a:solidFill>
                  <a:srgbClr val="203354"/>
                </a:solidFill>
                <a:latin typeface="Noto Sans CJK SC"/>
              </a:rPr>
              <a:t>是否适合这次情况？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191256"/>
            <a:ext cx="3566160" cy="1106424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346704"/>
            <a:ext cx="32004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153E75"/>
                </a:solidFill>
                <a:latin typeface="Noto Sans CJK SC"/>
              </a:rPr>
              <a:t>用法用量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739896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>
                <a:solidFill>
                  <a:srgbClr val="203354"/>
                </a:solidFill>
                <a:latin typeface="Noto Sans CJK SC"/>
              </a:rPr>
              <a:t>一次多少、间隔多久？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79" y="3191256"/>
            <a:ext cx="3566160" cy="1106424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59" y="3346704"/>
            <a:ext cx="32004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153E75"/>
                </a:solidFill>
                <a:latin typeface="Noto Sans CJK SC"/>
              </a:rPr>
              <a:t>禁忌 / 注意事项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3739896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>
                <a:solidFill>
                  <a:srgbClr val="203354"/>
                </a:solidFill>
                <a:latin typeface="Noto Sans CJK SC"/>
              </a:rPr>
              <a:t>哪些情况需要避开？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434840"/>
            <a:ext cx="3566160" cy="1106424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90288"/>
            <a:ext cx="32004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153E75"/>
                </a:solidFill>
                <a:latin typeface="Noto Sans CJK SC"/>
              </a:rPr>
              <a:t>相互作用 / 不良反应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983479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>
                <a:solidFill>
                  <a:srgbClr val="203354"/>
                </a:solidFill>
                <a:latin typeface="Noto Sans CJK SC"/>
              </a:rPr>
              <a:t>其他药或酒会影响吗？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79" y="4434840"/>
            <a:ext cx="3566160" cy="1106424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59" y="4590288"/>
            <a:ext cx="32004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153E75"/>
                </a:solidFill>
                <a:latin typeface="Noto Sans CJK SC"/>
              </a:rPr>
              <a:t>贮藏 / 有效期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59" y="4983479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>
                <a:solidFill>
                  <a:srgbClr val="203354"/>
                </a:solidFill>
                <a:latin typeface="Noto Sans CJK SC"/>
              </a:rPr>
              <a:t>现在还能否使用？</a:t>
            </a:r>
          </a:p>
        </p:txBody>
      </p:sp>
      <p:pic>
        <p:nvPicPr>
          <p:cNvPr id="26" name="ANIME_ACTIONS_R1_C2" descr="原创动漫情境，生成日期与分镜用途见素材附页；对白独立可编辑"/>
          <p:cNvPicPr>
            <a:picLocks noChangeAspect="1"/>
          </p:cNvPicPr>
          <p:nvPr/>
        </p:nvPicPr>
        <p:blipFill>
          <a:blip r:embed="rId3"/>
          <a:srcRect l="47363" r="36450" b="70215"/>
          <a:stretch>
            <a:fillRect/>
          </a:stretch>
        </p:blipFill>
        <p:spPr>
          <a:xfrm>
            <a:off x="8439912" y="1947672"/>
            <a:ext cx="2944368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64008" cy="246888"/>
          </a:xfrm>
          <a:prstGeom prst="rect">
            <a:avLst/>
          </a:prstGeom>
          <a:solidFill>
            <a:srgbClr val="E3464F"/>
          </a:solidFill>
          <a:ln>
            <a:solidFill>
              <a:srgbClr val="E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3E75"/>
                </a:solidFill>
                <a:latin typeface="Noto Sans CJK SC"/>
                <a:ea typeface="Noto Sans CJK SC"/>
              </a:rPr>
              <a:t>03 / 安全用药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53E75"/>
                </a:solidFill>
                <a:latin typeface="Noto Sans CJK SC"/>
                <a:ea typeface="Noto Sans CJK SC"/>
              </a:rPr>
              <a:t>核完说明书，使用方式也别随意改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5843016"/>
            <a:ext cx="11000232" cy="0"/>
          </a:xfrm>
          <a:prstGeom prst="line">
            <a:avLst/>
          </a:prstGeom>
          <a:ln w="889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5943600"/>
            <a:ext cx="107442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53E75"/>
                </a:solidFill>
                <a:latin typeface="Noto Sans CJK SC"/>
                <a:ea typeface="Noto Sans CJK SC"/>
              </a:rPr>
              <a:t>不同药物要求不同，先核具体说明再行动。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5566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3E75"/>
                </a:solidFill>
                <a:latin typeface="Noto Sans CJK SC"/>
                <a:ea typeface="Noto Sans CJK SC"/>
              </a:rPr>
              <a:t>19 / 27</a:t>
            </a:r>
          </a:p>
        </p:txBody>
      </p:sp>
      <p:pic>
        <p:nvPicPr>
          <p:cNvPr id="8" name="ANIME_ACTIONS_R1_C3" descr="原创动漫情境，生成日期与分镜用途见素材附页；对白独立可编辑"/>
          <p:cNvPicPr>
            <a:picLocks noChangeAspect="1"/>
          </p:cNvPicPr>
          <p:nvPr/>
        </p:nvPicPr>
        <p:blipFill>
          <a:blip r:embed="rId3"/>
          <a:srcRect l="67122" t="9" b="70296"/>
          <a:stretch>
            <a:fillRect/>
          </a:stretch>
        </p:blipFill>
        <p:spPr>
          <a:xfrm>
            <a:off x="777240" y="1947672"/>
            <a:ext cx="5148072" cy="309981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7240" y="5175504"/>
            <a:ext cx="5148072" cy="493776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10800000">
            <a:off x="1051560" y="5650992"/>
            <a:ext cx="228600" cy="164592"/>
          </a:xfrm>
          <a:prstGeom prst="triangle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5285232"/>
            <a:ext cx="47457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203354"/>
                </a:solidFill>
                <a:latin typeface="Noto Sans CJK SC"/>
              </a:rPr>
              <a:t>用法找到了，别凭感觉改。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947672"/>
            <a:ext cx="5148072" cy="1115568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093976"/>
            <a:ext cx="468172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53E75"/>
                </a:solidFill>
                <a:latin typeface="Noto Sans CJK SC"/>
              </a:rPr>
              <a:t>漏服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532888"/>
            <a:ext cx="468172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0">
                <a:solidFill>
                  <a:srgbClr val="203354"/>
                </a:solidFill>
                <a:latin typeface="Noto Sans CJK SC"/>
              </a:rPr>
              <a:t>先查处理要求，不自行加倍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3209544"/>
            <a:ext cx="5148072" cy="1115568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355848"/>
            <a:ext cx="468172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53E75"/>
                </a:solidFill>
                <a:latin typeface="Noto Sans CJK SC"/>
              </a:rPr>
              <a:t>疗程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794759"/>
            <a:ext cx="468172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0">
                <a:solidFill>
                  <a:srgbClr val="203354"/>
                </a:solidFill>
                <a:latin typeface="Noto Sans CJK SC"/>
              </a:rPr>
              <a:t>按处方执行，有问题及时咨询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4471416"/>
            <a:ext cx="5148072" cy="1115568"/>
          </a:xfrm>
          <a:prstGeom prst="roundRect">
            <a:avLst>
              <a:gd name="adj" fmla="val 10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4617720"/>
            <a:ext cx="468172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53E75"/>
                </a:solidFill>
                <a:latin typeface="Noto Sans CJK SC"/>
              </a:rPr>
              <a:t>剂型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5056631"/>
            <a:ext cx="468172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0">
                <a:solidFill>
                  <a:srgbClr val="203354"/>
                </a:solidFill>
                <a:latin typeface="Noto Sans CJK SC"/>
              </a:rPr>
              <a:t>缓释、肠溶等，不随意掰碎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64008" cy="246888"/>
          </a:xfrm>
          <a:prstGeom prst="rect">
            <a:avLst/>
          </a:prstGeom>
          <a:solidFill>
            <a:srgbClr val="E3464F"/>
          </a:solidFill>
          <a:ln>
            <a:solidFill>
              <a:srgbClr val="E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3E75"/>
                </a:solidFill>
                <a:latin typeface="Noto Sans CJK SC"/>
                <a:ea typeface="Noto Sans CJK SC"/>
              </a:rPr>
              <a:t>03 / 安全用药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53E75"/>
                </a:solidFill>
                <a:latin typeface="Noto Sans CJK SC"/>
                <a:ea typeface="Noto Sans CJK SC"/>
              </a:rPr>
              <a:t>拿不准时，把三件事告诉药师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5843016"/>
            <a:ext cx="11000232" cy="0"/>
          </a:xfrm>
          <a:prstGeom prst="line">
            <a:avLst/>
          </a:prstGeom>
          <a:ln w="889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5943600"/>
            <a:ext cx="107442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53E75"/>
                </a:solidFill>
                <a:latin typeface="Noto Sans CJK SC"/>
                <a:ea typeface="Noto Sans CJK SC"/>
              </a:rPr>
              <a:t>带上药盒、说明书与已服记录，让咨询更准确。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5566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3E75"/>
                </a:solidFill>
                <a:latin typeface="Noto Sans CJK SC"/>
                <a:ea typeface="Noto Sans CJK SC"/>
              </a:rPr>
              <a:t>20 / 27</a:t>
            </a:r>
          </a:p>
        </p:txBody>
      </p:sp>
      <p:pic>
        <p:nvPicPr>
          <p:cNvPr id="8" name="ANIME_ACTIONS_R2_C1" descr="原创动漫情境，生成日期与分镜用途见素材附页；对白独立可编辑"/>
          <p:cNvPicPr>
            <a:picLocks noChangeAspect="1"/>
          </p:cNvPicPr>
          <p:nvPr/>
        </p:nvPicPr>
        <p:blipFill>
          <a:blip r:embed="rId3"/>
          <a:srcRect r="66992" t="30378" b="39809"/>
          <a:stretch>
            <a:fillRect/>
          </a:stretch>
        </p:blipFill>
        <p:spPr>
          <a:xfrm>
            <a:off x="777240" y="1947672"/>
            <a:ext cx="5148072" cy="309981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7240" y="5175504"/>
            <a:ext cx="5148072" cy="493776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10800000">
            <a:off x="1051560" y="5650992"/>
            <a:ext cx="228600" cy="164592"/>
          </a:xfrm>
          <a:prstGeom prst="triangle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5285232"/>
            <a:ext cx="47457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203354"/>
                </a:solidFill>
                <a:latin typeface="Noto Sans CJK SC"/>
              </a:rPr>
              <a:t>药盒和记录，我都带来了。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947672"/>
            <a:ext cx="5148072" cy="1042415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6519672" y="2971799"/>
            <a:ext cx="228600" cy="164592"/>
          </a:xfrm>
          <a:prstGeom prst="triangle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57400"/>
            <a:ext cx="4745736" cy="8229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>
                <a:solidFill>
                  <a:srgbClr val="203354"/>
                </a:solidFill>
                <a:latin typeface="Noto Sans CJK SC"/>
              </a:rPr>
              <a:t>哪里不舒服，已经持续多久？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3209544"/>
            <a:ext cx="5148072" cy="1042415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10800000">
            <a:off x="6519672" y="4233672"/>
            <a:ext cx="228600" cy="164592"/>
          </a:xfrm>
          <a:prstGeom prst="triangle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319272"/>
            <a:ext cx="4745736" cy="8229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>
                <a:solidFill>
                  <a:srgbClr val="203354"/>
                </a:solidFill>
                <a:latin typeface="Noto Sans CJK SC"/>
              </a:rPr>
              <a:t>用了哪些药，何时吃了多少？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4471416"/>
            <a:ext cx="5148072" cy="1042415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10800000">
            <a:off x="6519672" y="5495544"/>
            <a:ext cx="228600" cy="164592"/>
          </a:xfrm>
          <a:prstGeom prst="triangle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581144"/>
            <a:ext cx="4745736" cy="8229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>
                <a:solidFill>
                  <a:srgbClr val="203354"/>
                </a:solidFill>
                <a:latin typeface="Noto Sans CJK SC"/>
              </a:rPr>
              <a:t>有哪些过敏史、疾病或特殊情况？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64008" cy="246888"/>
          </a:xfrm>
          <a:prstGeom prst="rect">
            <a:avLst/>
          </a:prstGeom>
          <a:solidFill>
            <a:srgbClr val="E3464F"/>
          </a:solidFill>
          <a:ln>
            <a:solidFill>
              <a:srgbClr val="E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3E75"/>
                </a:solidFill>
                <a:latin typeface="Noto Sans CJK SC"/>
                <a:ea typeface="Noto Sans CJK SC"/>
              </a:rPr>
              <a:t>03 / 安全用药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53E75"/>
                </a:solidFill>
                <a:latin typeface="Noto Sans CJK SC"/>
                <a:ea typeface="Noto Sans CJK SC"/>
              </a:rPr>
              <a:t>出现这些信号，别继续自己试药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5843016"/>
            <a:ext cx="11000232" cy="0"/>
          </a:xfrm>
          <a:prstGeom prst="line">
            <a:avLst/>
          </a:prstGeom>
          <a:ln w="889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5943600"/>
            <a:ext cx="107442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E3464F"/>
                </a:solidFill>
                <a:latin typeface="Noto Sans CJK SC"/>
                <a:ea typeface="Noto Sans CJK SC"/>
              </a:rPr>
              <a:t>严重信号优先求助，别等症状“自己好”。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5566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3E75"/>
                </a:solidFill>
                <a:latin typeface="Noto Sans CJK SC"/>
                <a:ea typeface="Noto Sans CJK SC"/>
              </a:rPr>
              <a:t>21 / 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5468112" cy="1234440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9968"/>
            <a:ext cx="170992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Noto Sans CJK SC"/>
              </a:rPr>
              <a:t>120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25496"/>
            <a:ext cx="16184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</a:rPr>
              <a:t>立即急救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194560"/>
            <a:ext cx="30723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Noto Sans CJK SC"/>
              </a:rPr>
              <a:t>呼吸困难、喉舌肿胀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Noto Sans CJK SC"/>
              </a:rPr>
              <a:t>或意识异常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401568"/>
            <a:ext cx="5468112" cy="1005840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" y="3547872"/>
            <a:ext cx="499262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153E75"/>
                </a:solidFill>
                <a:latin typeface="Noto Sans CJK SC"/>
              </a:rPr>
              <a:t>疑似超量 / 误服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" y="3977640"/>
            <a:ext cx="499262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0">
                <a:solidFill>
                  <a:srgbClr val="203354"/>
                </a:solidFill>
                <a:latin typeface="Noto Sans CJK SC"/>
              </a:rPr>
              <a:t>及时寻求医疗帮助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553712"/>
            <a:ext cx="5468112" cy="1005840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4" y="4700016"/>
            <a:ext cx="499262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153E75"/>
                </a:solidFill>
                <a:latin typeface="Noto Sans CJK SC"/>
              </a:rPr>
              <a:t>症状持续、加重或反复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" y="5129784"/>
            <a:ext cx="499262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0">
                <a:solidFill>
                  <a:srgbClr val="203354"/>
                </a:solidFill>
                <a:latin typeface="Noto Sans CJK SC"/>
              </a:rPr>
              <a:t>及时就诊</a:t>
            </a:r>
          </a:p>
        </p:txBody>
      </p:sp>
      <p:pic>
        <p:nvPicPr>
          <p:cNvPr id="18" name="ANIME_ACTIONS_R2_C2" descr="原创动漫情境，生成日期与分镜用途见素材附页；对白独立可编辑"/>
          <p:cNvPicPr>
            <a:picLocks noChangeAspect="1"/>
          </p:cNvPicPr>
          <p:nvPr/>
        </p:nvPicPr>
        <p:blipFill>
          <a:blip r:embed="rId3"/>
          <a:srcRect l="34459" r="34394" t="30371" b="39746"/>
          <a:stretch>
            <a:fillRect/>
          </a:stretch>
        </p:blipFill>
        <p:spPr>
          <a:xfrm>
            <a:off x="6537960" y="1947672"/>
            <a:ext cx="4846320" cy="309981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537960" y="5175504"/>
            <a:ext cx="4846320" cy="493776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10800000">
            <a:off x="6812280" y="5650992"/>
            <a:ext cx="228600" cy="164592"/>
          </a:xfrm>
          <a:prstGeom prst="triangle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39128" y="5285232"/>
            <a:ext cx="444398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203354"/>
                </a:solidFill>
                <a:latin typeface="Noto Sans CJK SC"/>
              </a:rPr>
              <a:t>带上药盒与已服记录。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64008" cy="246888"/>
          </a:xfrm>
          <a:prstGeom prst="rect">
            <a:avLst/>
          </a:prstGeom>
          <a:solidFill>
            <a:srgbClr val="E3464F"/>
          </a:solidFill>
          <a:ln>
            <a:solidFill>
              <a:srgbClr val="E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3E75"/>
                </a:solidFill>
                <a:latin typeface="Noto Sans CJK SC"/>
                <a:ea typeface="Noto Sans CJK SC"/>
              </a:rPr>
              <a:t>03 / 安全用药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53E75"/>
                </a:solidFill>
                <a:latin typeface="Noto Sans CJK SC"/>
                <a:ea typeface="Noto Sans CJK SC"/>
              </a:rPr>
              <a:t>药箱不求满，信息要留全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5843016"/>
            <a:ext cx="11000232" cy="0"/>
          </a:xfrm>
          <a:prstGeom prst="line">
            <a:avLst/>
          </a:prstGeom>
          <a:ln w="889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5943600"/>
            <a:ext cx="107442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53E75"/>
                </a:solidFill>
                <a:latin typeface="Noto Sans CJK SC"/>
                <a:ea typeface="Noto Sans CJK SC"/>
              </a:rPr>
              <a:t>不混装，不分享处方药；记录让下次咨询更准确。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5566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3E75"/>
                </a:solidFill>
                <a:latin typeface="Noto Sans CJK SC"/>
                <a:ea typeface="Noto Sans CJK SC"/>
              </a:rPr>
              <a:t>22 / 27</a:t>
            </a:r>
          </a:p>
        </p:txBody>
      </p:sp>
      <p:pic>
        <p:nvPicPr>
          <p:cNvPr id="8" name="ANIME_ACTIONS_R2_C3" descr="原创动漫情境，生成日期与分镜用途见素材附页；对白独立可编辑"/>
          <p:cNvPicPr>
            <a:picLocks noChangeAspect="1"/>
          </p:cNvPicPr>
          <p:nvPr/>
        </p:nvPicPr>
        <p:blipFill>
          <a:blip r:embed="rId3"/>
          <a:srcRect l="67122" t="30390" b="39915"/>
          <a:stretch>
            <a:fillRect/>
          </a:stretch>
        </p:blipFill>
        <p:spPr>
          <a:xfrm>
            <a:off x="777240" y="1947672"/>
            <a:ext cx="5148072" cy="309981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7240" y="5175504"/>
            <a:ext cx="5148072" cy="493776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10800000">
            <a:off x="1051560" y="5650992"/>
            <a:ext cx="228600" cy="164592"/>
          </a:xfrm>
          <a:prstGeom prst="triangle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5285232"/>
            <a:ext cx="47457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203354"/>
                </a:solidFill>
                <a:latin typeface="Noto Sans CJK SC"/>
              </a:rPr>
              <a:t>需要时，能认清、查到、说清。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947672"/>
            <a:ext cx="5148072" cy="1115568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093976"/>
            <a:ext cx="468172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53E75"/>
                </a:solidFill>
                <a:latin typeface="Noto Sans CJK SC"/>
              </a:rPr>
              <a:t>保留原包装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532888"/>
            <a:ext cx="468172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0">
                <a:solidFill>
                  <a:srgbClr val="203354"/>
                </a:solidFill>
                <a:latin typeface="Noto Sans CJK SC"/>
              </a:rPr>
              <a:t>药盒和说明书一起留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3209544"/>
            <a:ext cx="5148072" cy="1115568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355848"/>
            <a:ext cx="468172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53E75"/>
                </a:solidFill>
                <a:latin typeface="Noto Sans CJK SC"/>
              </a:rPr>
              <a:t>检查有效期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794759"/>
            <a:ext cx="468172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0">
                <a:solidFill>
                  <a:srgbClr val="203354"/>
                </a:solidFill>
                <a:latin typeface="Noto Sans CJK SC"/>
              </a:rPr>
              <a:t>同时核对贮藏要求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4471416"/>
            <a:ext cx="5148072" cy="1115568"/>
          </a:xfrm>
          <a:prstGeom prst="roundRect">
            <a:avLst>
              <a:gd name="adj" fmla="val 10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4617720"/>
            <a:ext cx="468172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53E75"/>
                </a:solidFill>
                <a:latin typeface="Noto Sans CJK SC"/>
              </a:rPr>
              <a:t>留好用药记录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5056631"/>
            <a:ext cx="468172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0">
                <a:solidFill>
                  <a:srgbClr val="203354"/>
                </a:solidFill>
                <a:latin typeface="Noto Sans CJK SC"/>
              </a:rPr>
              <a:t>药名、时间、用量与反应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64008" cy="246888"/>
          </a:xfrm>
          <a:prstGeom prst="rect">
            <a:avLst/>
          </a:prstGeom>
          <a:solidFill>
            <a:srgbClr val="E3464F"/>
          </a:solidFill>
          <a:ln>
            <a:solidFill>
              <a:srgbClr val="E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3E75"/>
                </a:solidFill>
                <a:latin typeface="Noto Sans CJK SC"/>
                <a:ea typeface="Noto Sans CJK SC"/>
              </a:rPr>
              <a:t>03 / 安全用药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53E75"/>
                </a:solidFill>
                <a:latin typeface="Noto Sans CJK SC"/>
                <a:ea typeface="Noto Sans CJK SC"/>
              </a:rPr>
              <a:t>把四个案例，变成四个下一步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5843016"/>
            <a:ext cx="11000232" cy="0"/>
          </a:xfrm>
          <a:prstGeom prst="line">
            <a:avLst/>
          </a:prstGeom>
          <a:ln w="889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5943600"/>
            <a:ext cx="107442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53E75"/>
                </a:solidFill>
                <a:latin typeface="Noto Sans CJK SC"/>
                <a:ea typeface="Noto Sans CJK SC"/>
              </a:rPr>
              <a:t>方法已经齐了：接下来替小苏做一次选择。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5566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3E75"/>
                </a:solidFill>
                <a:latin typeface="Noto Sans CJK SC"/>
                <a:ea typeface="Noto Sans CJK SC"/>
              </a:rPr>
              <a:t>23 / 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07040" cy="832104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148840"/>
            <a:ext cx="2935224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>
                <a:solidFill>
                  <a:srgbClr val="153E75"/>
                </a:solidFill>
                <a:latin typeface="Noto Sans CJK SC"/>
              </a:rPr>
              <a:t>叠加感冒药</a:t>
            </a:r>
          </a:p>
        </p:txBody>
      </p:sp>
      <p:sp>
        <p:nvSpPr>
          <p:cNvPr id="10" name="Chevron 9"/>
          <p:cNvSpPr/>
          <p:nvPr/>
        </p:nvSpPr>
        <p:spPr>
          <a:xfrm>
            <a:off x="4352544" y="2240279"/>
            <a:ext cx="411480" cy="274320"/>
          </a:xfrm>
          <a:prstGeom prst="chevron">
            <a:avLst/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02352" y="2148840"/>
            <a:ext cx="600760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>
                <a:solidFill>
                  <a:srgbClr val="153E75"/>
                </a:solidFill>
                <a:latin typeface="Noto Sans CJK SC"/>
              </a:rPr>
              <a:t>核对重复成分与已服记录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880360"/>
            <a:ext cx="10607040" cy="832104"/>
          </a:xfrm>
          <a:prstGeom prst="roundRect">
            <a:avLst>
              <a:gd name="adj" fmla="val 10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3081528"/>
            <a:ext cx="2935224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>
                <a:solidFill>
                  <a:srgbClr val="153E75"/>
                </a:solidFill>
                <a:latin typeface="Noto Sans CJK SC"/>
              </a:rPr>
              <a:t>感冒想到抗生素</a:t>
            </a:r>
          </a:p>
        </p:txBody>
      </p:sp>
      <p:sp>
        <p:nvSpPr>
          <p:cNvPr id="14" name="Chevron 13"/>
          <p:cNvSpPr/>
          <p:nvPr/>
        </p:nvSpPr>
        <p:spPr>
          <a:xfrm>
            <a:off x="4352544" y="3172968"/>
            <a:ext cx="411480" cy="274320"/>
          </a:xfrm>
          <a:prstGeom prst="chevron">
            <a:avLst/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02352" y="3081528"/>
            <a:ext cx="600760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>
                <a:solidFill>
                  <a:srgbClr val="153E75"/>
                </a:solidFill>
                <a:latin typeface="Noto Sans CJK SC"/>
              </a:rPr>
              <a:t>先确认是否需要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813048"/>
            <a:ext cx="10607040" cy="832104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014215"/>
            <a:ext cx="2935224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>
                <a:solidFill>
                  <a:srgbClr val="153E75"/>
                </a:solidFill>
                <a:latin typeface="Noto Sans CJK SC"/>
              </a:rPr>
              <a:t>用药后困倦</a:t>
            </a:r>
          </a:p>
        </p:txBody>
      </p:sp>
      <p:sp>
        <p:nvSpPr>
          <p:cNvPr id="18" name="Chevron 17"/>
          <p:cNvSpPr/>
          <p:nvPr/>
        </p:nvSpPr>
        <p:spPr>
          <a:xfrm>
            <a:off x="4352544" y="4105656"/>
            <a:ext cx="411480" cy="274320"/>
          </a:xfrm>
          <a:prstGeom prst="chevron">
            <a:avLst/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02352" y="4014215"/>
            <a:ext cx="600760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>
                <a:solidFill>
                  <a:srgbClr val="153E75"/>
                </a:solidFill>
                <a:latin typeface="Noto Sans CJK SC"/>
              </a:rPr>
              <a:t>查提示，避开高风险活动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45736"/>
            <a:ext cx="10607040" cy="832104"/>
          </a:xfrm>
          <a:prstGeom prst="roundRect">
            <a:avLst>
              <a:gd name="adj" fmla="val 10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1" y="4946903"/>
            <a:ext cx="2935224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>
                <a:solidFill>
                  <a:srgbClr val="153E75"/>
                </a:solidFill>
                <a:latin typeface="Noto Sans CJK SC"/>
              </a:rPr>
              <a:t>服药后聚餐</a:t>
            </a:r>
          </a:p>
        </p:txBody>
      </p:sp>
      <p:sp>
        <p:nvSpPr>
          <p:cNvPr id="22" name="Chevron 21"/>
          <p:cNvSpPr/>
          <p:nvPr/>
        </p:nvSpPr>
        <p:spPr>
          <a:xfrm>
            <a:off x="4352544" y="5038344"/>
            <a:ext cx="411480" cy="274320"/>
          </a:xfrm>
          <a:prstGeom prst="chevron">
            <a:avLst/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02352" y="4946903"/>
            <a:ext cx="600760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>
                <a:solidFill>
                  <a:srgbClr val="153E75"/>
                </a:solidFill>
                <a:latin typeface="Noto Sans CJK SC"/>
              </a:rPr>
              <a:t>先核实饮酒要求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64008" cy="246888"/>
          </a:xfrm>
          <a:prstGeom prst="rect">
            <a:avLst/>
          </a:prstGeom>
          <a:solidFill>
            <a:srgbClr val="E3464F"/>
          </a:solidFill>
          <a:ln>
            <a:solidFill>
              <a:srgbClr val="E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3E75"/>
                </a:solidFill>
                <a:latin typeface="Noto Sans CJK SC"/>
                <a:ea typeface="Noto Sans CJK SC"/>
              </a:rPr>
              <a:t>04 / 选择挑战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53E75"/>
                </a:solidFill>
                <a:latin typeface="Noto Sans CJK SC"/>
                <a:ea typeface="Noto Sans CJK SC"/>
              </a:rPr>
              <a:t>综合挑战：两盒药，一场聚餐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5843016"/>
            <a:ext cx="11000232" cy="0"/>
          </a:xfrm>
          <a:prstGeom prst="line">
            <a:avLst/>
          </a:prstGeom>
          <a:ln w="889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5943600"/>
            <a:ext cx="107442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53E75"/>
                </a:solidFill>
                <a:latin typeface="Noto Sans CJK SC"/>
                <a:ea typeface="Noto Sans CJK SC"/>
              </a:rPr>
              <a:t>症状较轻；两盒成分与饮酒要求都未核实。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5566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3E75"/>
                </a:solidFill>
                <a:latin typeface="Noto Sans CJK SC"/>
                <a:ea typeface="Noto Sans CJK SC"/>
              </a:rPr>
              <a:t>24 / 27</a:t>
            </a:r>
          </a:p>
        </p:txBody>
      </p:sp>
      <p:pic>
        <p:nvPicPr>
          <p:cNvPr id="8" name="ANIME_ACTIONS_R3_C1" descr="原创动漫情境，生成日期与分镜用途见素材附页；对白独立可编辑"/>
          <p:cNvPicPr>
            <a:picLocks noChangeAspect="1"/>
          </p:cNvPicPr>
          <p:nvPr/>
        </p:nvPicPr>
        <p:blipFill>
          <a:blip r:embed="rId3"/>
          <a:srcRect r="66992" t="61552" b="5528"/>
          <a:stretch>
            <a:fillRect/>
          </a:stretch>
        </p:blipFill>
        <p:spPr>
          <a:xfrm>
            <a:off x="749808" y="1956816"/>
            <a:ext cx="3465576" cy="230428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8" y="4416552"/>
            <a:ext cx="3465576" cy="1024128"/>
          </a:xfrm>
          <a:prstGeom prst="roundRect">
            <a:avLst>
              <a:gd name="adj" fmla="val 10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98848"/>
            <a:ext cx="3136392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203354"/>
                </a:solidFill>
                <a:latin typeface="Noto Sans CJK SC"/>
              </a:rPr>
              <a:t>白天吃过一种复方感冒药。</a:t>
            </a:r>
          </a:p>
        </p:txBody>
      </p:sp>
      <p:pic>
        <p:nvPicPr>
          <p:cNvPr id="11" name="ANIME_ACTIONS_R3_C2" descr="原创动漫情境，生成日期与分镜用途见素材附页；对白独立可编辑"/>
          <p:cNvPicPr>
            <a:picLocks noChangeAspect="1"/>
          </p:cNvPicPr>
          <p:nvPr/>
        </p:nvPicPr>
        <p:blipFill>
          <a:blip r:embed="rId3"/>
          <a:srcRect l="33464" r="33398" t="61539" b="5411"/>
          <a:stretch>
            <a:fillRect/>
          </a:stretch>
        </p:blipFill>
        <p:spPr>
          <a:xfrm>
            <a:off x="4434840" y="1956816"/>
            <a:ext cx="3465576" cy="230428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434840" y="4416552"/>
            <a:ext cx="3465576" cy="1024128"/>
          </a:xfrm>
          <a:prstGeom prst="roundRect">
            <a:avLst>
              <a:gd name="adj" fmla="val 10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4498848"/>
            <a:ext cx="3136392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203354"/>
                </a:solidFill>
                <a:latin typeface="Noto Sans CJK SC"/>
              </a:rPr>
              <a:t>还不舒服，要加第二盒吗？</a:t>
            </a:r>
          </a:p>
        </p:txBody>
      </p:sp>
      <p:pic>
        <p:nvPicPr>
          <p:cNvPr id="14" name="ANIME_ACTIONS_R3_C3" descr="原创动漫情境，生成日期与分镜用途见素材附页；对白独立可编辑"/>
          <p:cNvPicPr>
            <a:picLocks noChangeAspect="1"/>
          </p:cNvPicPr>
          <p:nvPr/>
        </p:nvPicPr>
        <p:blipFill>
          <a:blip r:embed="rId3"/>
          <a:srcRect l="67122" t="61565" b="5644"/>
          <a:stretch>
            <a:fillRect/>
          </a:stretch>
        </p:blipFill>
        <p:spPr>
          <a:xfrm>
            <a:off x="8119872" y="1956816"/>
            <a:ext cx="3465576" cy="230428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119872" y="4416552"/>
            <a:ext cx="3465576" cy="1024128"/>
          </a:xfrm>
          <a:prstGeom prst="roundRect">
            <a:avLst>
              <a:gd name="adj" fmla="val 10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4498848"/>
            <a:ext cx="3136392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203354"/>
                </a:solidFill>
                <a:latin typeface="Noto Sans CJK SC"/>
              </a:rPr>
              <a:t>今晚聚餐，药和酒能搭吗？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64008" cy="246888"/>
          </a:xfrm>
          <a:prstGeom prst="rect">
            <a:avLst/>
          </a:prstGeom>
          <a:solidFill>
            <a:srgbClr val="E3464F"/>
          </a:solidFill>
          <a:ln>
            <a:solidFill>
              <a:srgbClr val="E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3E75"/>
                </a:solidFill>
                <a:latin typeface="Noto Sans CJK SC"/>
                <a:ea typeface="Noto Sans CJK SC"/>
              </a:rPr>
              <a:t>04 / 选择挑战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53E75"/>
                </a:solidFill>
                <a:latin typeface="Noto Sans CJK SC"/>
                <a:ea typeface="Noto Sans CJK SC"/>
              </a:rPr>
              <a:t>小苏的晚间计划，你采纳哪几条？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5843016"/>
            <a:ext cx="11000232" cy="0"/>
          </a:xfrm>
          <a:prstGeom prst="line">
            <a:avLst/>
          </a:prstGeom>
          <a:ln w="889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5943600"/>
            <a:ext cx="107442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53E75"/>
                </a:solidFill>
                <a:latin typeface="Noto Sans CJK SC"/>
                <a:ea typeface="Noto Sans CJK SC"/>
              </a:rPr>
              <a:t>可多选：哪些安排能补齐判断所需的信息？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5566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3E75"/>
                </a:solidFill>
                <a:latin typeface="Noto Sans CJK SC"/>
                <a:ea typeface="Noto Sans CJK SC"/>
              </a:rPr>
              <a:t>25 / 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84248"/>
            <a:ext cx="7836408" cy="941832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10800000">
            <a:off x="1051560" y="2907792"/>
            <a:ext cx="228600" cy="164592"/>
          </a:xfrm>
          <a:prstGeom prst="triangle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093976"/>
            <a:ext cx="7434072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</a:p>
        </p:txBody>
      </p:sp>
      <p:sp>
        <p:nvSpPr>
          <p:cNvPr id="11" name="Oval 10"/>
          <p:cNvSpPr/>
          <p:nvPr/>
        </p:nvSpPr>
        <p:spPr>
          <a:xfrm>
            <a:off x="987552" y="2212848"/>
            <a:ext cx="502920" cy="502920"/>
          </a:xfrm>
          <a:prstGeom prst="ellipse">
            <a:avLst/>
          </a:prstGeom>
          <a:solidFill>
            <a:srgbClr val="153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249424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4" y="2130552"/>
            <a:ext cx="6556248" cy="6492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0">
                <a:solidFill>
                  <a:srgbClr val="203354"/>
                </a:solidFill>
                <a:latin typeface="Noto Sans CJK SC"/>
              </a:rPr>
              <a:t>聚餐先点白水，具体饮酒要求再查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09544"/>
            <a:ext cx="7836408" cy="941832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10800000">
            <a:off x="1051560" y="4133088"/>
            <a:ext cx="228600" cy="164592"/>
          </a:xfrm>
          <a:prstGeom prst="triangle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3319272"/>
            <a:ext cx="7434072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</a:p>
        </p:txBody>
      </p:sp>
      <p:sp>
        <p:nvSpPr>
          <p:cNvPr id="17" name="Oval 16"/>
          <p:cNvSpPr/>
          <p:nvPr/>
        </p:nvSpPr>
        <p:spPr>
          <a:xfrm>
            <a:off x="987552" y="3438144"/>
            <a:ext cx="502920" cy="502920"/>
          </a:xfrm>
          <a:prstGeom prst="ellipse">
            <a:avLst/>
          </a:prstGeom>
          <a:solidFill>
            <a:srgbClr val="153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474720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4" y="3355848"/>
            <a:ext cx="6556248" cy="6492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0">
                <a:solidFill>
                  <a:srgbClr val="203354"/>
                </a:solidFill>
                <a:latin typeface="Noto Sans CJK SC"/>
              </a:rPr>
              <a:t>药盒和已服记录，一起交给药师核对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434840"/>
            <a:ext cx="7836408" cy="941832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10800000">
            <a:off x="1051560" y="5358384"/>
            <a:ext cx="228600" cy="164592"/>
          </a:xfrm>
          <a:prstGeom prst="triangle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4544568"/>
            <a:ext cx="7434072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</a:p>
        </p:txBody>
      </p:sp>
      <p:sp>
        <p:nvSpPr>
          <p:cNvPr id="23" name="Oval 22"/>
          <p:cNvSpPr/>
          <p:nvPr/>
        </p:nvSpPr>
        <p:spPr>
          <a:xfrm>
            <a:off x="987552" y="4663440"/>
            <a:ext cx="502920" cy="502920"/>
          </a:xfrm>
          <a:prstGeom prst="ellipse">
            <a:avLst/>
          </a:prstGeom>
          <a:solidFill>
            <a:srgbClr val="153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4700016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92224" y="4581144"/>
            <a:ext cx="6556248" cy="6492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0">
                <a:solidFill>
                  <a:srgbClr val="203354"/>
                </a:solidFill>
                <a:latin typeface="Noto Sans CJK SC"/>
              </a:rPr>
              <a:t>照上次的经验，把第二盒改到睡前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60536" y="1947672"/>
            <a:ext cx="2523744" cy="3703320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80576" y="2139696"/>
            <a:ext cx="1883664" cy="384048"/>
          </a:xfrm>
          <a:prstGeom prst="roundRect">
            <a:avLst>
              <a:gd name="adj" fmla="val 10000"/>
            </a:avLst>
          </a:prstGeom>
          <a:solidFill>
            <a:srgbClr val="153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53728" y="2176272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</a:rPr>
              <a:t>可多选</a:t>
            </a:r>
          </a:p>
        </p:txBody>
      </p:sp>
      <p:pic>
        <p:nvPicPr>
          <p:cNvPr id="29" name="ANIME_EXTRA_R3_C1" descr="原创AI生成动漫情境；人物和事件为虚构教学示意"/>
          <p:cNvPicPr>
            <a:picLocks noChangeAspect="1"/>
          </p:cNvPicPr>
          <p:nvPr/>
        </p:nvPicPr>
        <p:blipFill>
          <a:blip r:embed="rId3"/>
          <a:srcRect l="6061" r="73053" t="61035"/>
          <a:stretch>
            <a:fillRect/>
          </a:stretch>
        </p:blipFill>
        <p:spPr>
          <a:xfrm>
            <a:off x="9034272" y="2724912"/>
            <a:ext cx="2176272" cy="270662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64008" cy="246888"/>
          </a:xfrm>
          <a:prstGeom prst="rect">
            <a:avLst/>
          </a:prstGeom>
          <a:solidFill>
            <a:srgbClr val="E3464F"/>
          </a:solidFill>
          <a:ln>
            <a:solidFill>
              <a:srgbClr val="E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3E75"/>
                </a:solidFill>
                <a:latin typeface="Noto Sans CJK SC"/>
                <a:ea typeface="Noto Sans CJK SC"/>
              </a:rPr>
              <a:t>04 / 选择挑战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53E75"/>
                </a:solidFill>
                <a:latin typeface="Noto Sans CJK SC"/>
                <a:ea typeface="Noto Sans CJK SC"/>
              </a:rPr>
              <a:t>答案 A＋B：把两条建议一起做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5843016"/>
            <a:ext cx="11000232" cy="0"/>
          </a:xfrm>
          <a:prstGeom prst="line">
            <a:avLst/>
          </a:prstGeom>
          <a:ln w="889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5943600"/>
            <a:ext cx="107442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53E75"/>
                </a:solidFill>
                <a:latin typeface="Noto Sans CJK SC"/>
                <a:ea typeface="Noto Sans CJK SC"/>
              </a:rPr>
              <a:t>若症状加重或出现急症信号，应及时就医。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5566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3E75"/>
                </a:solidFill>
                <a:latin typeface="Noto Sans CJK SC"/>
                <a:ea typeface="Noto Sans CJK SC"/>
              </a:rPr>
              <a:t>26 / 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3127248" cy="3703320"/>
          </a:xfrm>
          <a:prstGeom prst="roundRect">
            <a:avLst>
              <a:gd name="adj" fmla="val 10000"/>
            </a:avLst>
          </a:prstGeom>
          <a:solidFill>
            <a:srgbClr val="153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40864"/>
            <a:ext cx="2670048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Noto Sans CJK SC"/>
              </a:rPr>
              <a:t>A＋B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47872"/>
            <a:ext cx="26700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Noto Sans CJK SC"/>
              </a:rPr>
              <a:t>两步一起做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71016" y="4361688"/>
            <a:ext cx="630936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25880" y="4727448"/>
            <a:ext cx="521207" cy="384048"/>
          </a:xfrm>
          <a:prstGeom prst="roundRect">
            <a:avLst>
              <a:gd name="adj" fmla="val 10000"/>
            </a:avLst>
          </a:prstGeom>
          <a:solidFill>
            <a:srgbClr val="B9D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22576" y="4315968"/>
            <a:ext cx="1024128" cy="92354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2459736" y="4517136"/>
            <a:ext cx="722376" cy="0"/>
          </a:xfrm>
          <a:prstGeom prst="line">
            <a:avLst/>
          </a:prstGeom>
          <a:ln w="2540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459736" y="4745736"/>
            <a:ext cx="722376" cy="0"/>
          </a:xfrm>
          <a:prstGeom prst="line">
            <a:avLst/>
          </a:prstGeom>
          <a:ln w="2540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459736" y="4974336"/>
            <a:ext cx="722376" cy="0"/>
          </a:xfrm>
          <a:prstGeom prst="line">
            <a:avLst/>
          </a:prstGeom>
          <a:ln w="2540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215384" y="1947672"/>
            <a:ext cx="7168896" cy="1115568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71416" y="2084831"/>
            <a:ext cx="665683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53E75"/>
                </a:solidFill>
                <a:latin typeface="Noto Sans CJK SC"/>
              </a:rPr>
              <a:t>A 先用白水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1416" y="2542032"/>
            <a:ext cx="665683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0">
                <a:solidFill>
                  <a:srgbClr val="203354"/>
                </a:solidFill>
                <a:latin typeface="Noto Sans CJK SC"/>
              </a:rPr>
              <a:t>饮酒要求未明，先不喝酒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15384" y="3209544"/>
            <a:ext cx="7168896" cy="1115568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71416" y="3346703"/>
            <a:ext cx="665683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53E75"/>
                </a:solidFill>
                <a:latin typeface="Noto Sans CJK SC"/>
              </a:rPr>
              <a:t>B 带齐信息核对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1416" y="3803904"/>
            <a:ext cx="665683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0">
                <a:solidFill>
                  <a:srgbClr val="203354"/>
                </a:solidFill>
                <a:latin typeface="Noto Sans CJK SC"/>
              </a:rPr>
              <a:t>两盒药和已服记录，一起问药师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15384" y="4471416"/>
            <a:ext cx="7168896" cy="1115568"/>
          </a:xfrm>
          <a:prstGeom prst="roundRect">
            <a:avLst>
              <a:gd name="adj" fmla="val 10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71416" y="4608576"/>
            <a:ext cx="665683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53E75"/>
                </a:solidFill>
                <a:latin typeface="Noto Sans CJK SC"/>
              </a:rPr>
              <a:t>C 改到睡前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1416" y="5065776"/>
            <a:ext cx="665683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0">
                <a:solidFill>
                  <a:srgbClr val="203354"/>
                </a:solidFill>
                <a:latin typeface="Noto Sans CJK SC"/>
              </a:rPr>
              <a:t>仍没补齐成分与已服信息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20624"/>
            <a:ext cx="73152" cy="25603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65760"/>
            <a:ext cx="491947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153E75"/>
                </a:solidFill>
                <a:latin typeface="Noto Sans CJK SC"/>
              </a:rPr>
              <a:t>合理用药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069848"/>
            <a:ext cx="6483096" cy="1472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300" b="1">
                <a:solidFill>
                  <a:srgbClr val="153E75"/>
                </a:solidFill>
                <a:latin typeface="Noto Sans CJK SC"/>
              </a:rPr>
              <a:t>药可以常备，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300" b="1">
                <a:solidFill>
                  <a:srgbClr val="153E75"/>
                </a:solidFill>
                <a:latin typeface="Noto Sans CJK SC"/>
              </a:rPr>
              <a:t>判断不能省略。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980944"/>
            <a:ext cx="6199632" cy="758952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3163824"/>
            <a:ext cx="108813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EB5969"/>
                </a:solidFill>
                <a:latin typeface="Noto Sans CJK SC"/>
              </a:rPr>
              <a:t>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85416" y="3172968"/>
            <a:ext cx="45171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>
                <a:solidFill>
                  <a:srgbClr val="153E75"/>
                </a:solidFill>
                <a:latin typeface="Noto Sans CJK SC"/>
              </a:rPr>
              <a:t>看清说明书与实际需要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913631"/>
            <a:ext cx="6199632" cy="758952"/>
          </a:xfrm>
          <a:prstGeom prst="roundRect">
            <a:avLst>
              <a:gd name="adj" fmla="val 10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4096511"/>
            <a:ext cx="108813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EB5969"/>
                </a:solidFill>
                <a:latin typeface="Noto Sans CJK SC"/>
              </a:rPr>
              <a:t>核·记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85416" y="4105655"/>
            <a:ext cx="45171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>
                <a:solidFill>
                  <a:srgbClr val="153E75"/>
                </a:solidFill>
                <a:latin typeface="Noto Sans CJK SC"/>
              </a:rPr>
              <a:t>核对成分，留下已服记录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846320"/>
            <a:ext cx="6199632" cy="758952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5029200"/>
            <a:ext cx="108813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EB5969"/>
                </a:solidFill>
                <a:latin typeface="Noto Sans CJK SC"/>
              </a:rPr>
              <a:t>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85416" y="5038344"/>
            <a:ext cx="45171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>
                <a:solidFill>
                  <a:srgbClr val="153E75"/>
                </a:solidFill>
                <a:latin typeface="Noto Sans CJK SC"/>
              </a:rPr>
              <a:t>拿不准，问医生或药师</a:t>
            </a:r>
          </a:p>
        </p:txBody>
      </p:sp>
      <p:sp>
        <p:nvSpPr>
          <p:cNvPr id="14" name="Oval 13"/>
          <p:cNvSpPr/>
          <p:nvPr/>
        </p:nvSpPr>
        <p:spPr>
          <a:xfrm>
            <a:off x="7379208" y="1124712"/>
            <a:ext cx="4105656" cy="4105656"/>
          </a:xfrm>
          <a:prstGeom prst="ellipse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750808" y="1563624"/>
            <a:ext cx="1947672" cy="2185416"/>
          </a:xfrm>
          <a:prstGeom prst="roundRect">
            <a:avLst>
              <a:gd name="adj" fmla="val 10000"/>
            </a:avLst>
          </a:prstGeom>
          <a:solidFill>
            <a:srgbClr val="F1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9015984" y="1975104"/>
            <a:ext cx="1362456" cy="0"/>
          </a:xfrm>
          <a:prstGeom prst="line">
            <a:avLst/>
          </a:prstGeom>
          <a:ln w="2540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015984" y="2304288"/>
            <a:ext cx="1362456" cy="0"/>
          </a:xfrm>
          <a:prstGeom prst="line">
            <a:avLst/>
          </a:prstGeom>
          <a:ln w="2540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015984" y="2633472"/>
            <a:ext cx="1362456" cy="0"/>
          </a:xfrm>
          <a:prstGeom prst="line">
            <a:avLst/>
          </a:prstGeom>
          <a:ln w="2540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015984" y="2962656"/>
            <a:ext cx="1362456" cy="0"/>
          </a:xfrm>
          <a:prstGeom prst="line">
            <a:avLst/>
          </a:prstGeom>
          <a:ln w="2540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571231" y="2011680"/>
            <a:ext cx="1271016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53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16952" y="2057400"/>
            <a:ext cx="1179575" cy="201168"/>
          </a:xfrm>
          <a:prstGeom prst="roundRect">
            <a:avLst>
              <a:gd name="adj" fmla="val 10000"/>
            </a:avLst>
          </a:prstGeom>
          <a:solidFill>
            <a:srgbClr val="153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8206740" y="2377440"/>
            <a:ext cx="0" cy="274320"/>
          </a:xfrm>
          <a:prstGeom prst="line">
            <a:avLst/>
          </a:prstGeom>
          <a:ln w="3810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016087" y="2514600"/>
            <a:ext cx="381305" cy="0"/>
          </a:xfrm>
          <a:prstGeom prst="line">
            <a:avLst/>
          </a:prstGeom>
          <a:ln w="3810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616952" y="3575304"/>
            <a:ext cx="11795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53E75"/>
                </a:solidFill>
                <a:latin typeface="Noto Sans CJK SC"/>
              </a:rPr>
              <a:t>成分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9560" y="3520440"/>
            <a:ext cx="3493008" cy="1709928"/>
          </a:xfrm>
          <a:prstGeom prst="roundRect">
            <a:avLst>
              <a:gd name="adj" fmla="val 10000"/>
            </a:avLst>
          </a:prstGeom>
          <a:solidFill>
            <a:srgbClr val="153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83296" y="3694176"/>
            <a:ext cx="3145536" cy="13624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41080" y="4251960"/>
            <a:ext cx="923544" cy="201168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97696" y="3895344"/>
            <a:ext cx="201168" cy="914400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06840" y="3191256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153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62288" y="3328416"/>
            <a:ext cx="969264" cy="2194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45552" y="5650992"/>
            <a:ext cx="359359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153E75"/>
                </a:solidFill>
                <a:latin typeface="Noto Sans CJK SC"/>
              </a:rPr>
              <a:t>谢谢大家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6291072"/>
            <a:ext cx="666597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153E75"/>
                </a:solidFill>
                <a:latin typeface="Noto Sans CJK SC"/>
              </a:rPr>
              <a:t>会看 · 会核 · 会问 · 会记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53E75"/>
                </a:solidFill>
                <a:latin typeface="Noto Sans CJK SC"/>
                <a:ea typeface="Noto Sans CJK SC"/>
              </a:rPr>
              <a:t>参考资料 /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52144"/>
            <a:ext cx="1088136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3464F"/>
                </a:solidFill>
                <a:latin typeface="Noto Sans CJK SC"/>
                <a:ea typeface="Noto Sans CJK SC"/>
              </a:rPr>
              <a:t>附页，不计入35分钟｜点击条目标题可访问原文｜原始资料：2026-10-09；新增CDC数据核对：2026-10-12；封面与后半段整改：2026-10-13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" y="1792224"/>
            <a:ext cx="640080" cy="329184"/>
          </a:xfrm>
          <a:prstGeom prst="roundRect">
            <a:avLst/>
          </a:prstGeom>
          <a:solidFill>
            <a:srgbClr val="153E75"/>
          </a:solidFill>
          <a:ln>
            <a:solidFill>
              <a:srgbClr val="153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10512"/>
            <a:ext cx="49377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</a:rPr>
              <a:t>S1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81912" y="1737360"/>
            <a:ext cx="99486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3E75"/>
                </a:solidFill>
                <a:latin typeface="Noto Sans CJK SC"/>
                <a:ea typeface="Noto Sans CJK SC"/>
                <a:hlinkClick r:id="rId2"/>
              </a:rPr>
              <a:t>国家卫生健康委等（2020）《关于加强医疗机构药事管理促进合理用药的意见》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81912" y="2487168"/>
            <a:ext cx="9930384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04088" y="2670048"/>
            <a:ext cx="640080" cy="329184"/>
          </a:xfrm>
          <a:prstGeom prst="roundRect">
            <a:avLst/>
          </a:prstGeom>
          <a:solidFill>
            <a:srgbClr val="153E75"/>
          </a:solidFill>
          <a:ln>
            <a:solidFill>
              <a:srgbClr val="153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88336"/>
            <a:ext cx="49377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</a:rPr>
              <a:t>S2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912" y="2615184"/>
            <a:ext cx="99486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3E75"/>
                </a:solidFill>
                <a:latin typeface="Noto Sans CJK SC"/>
                <a:ea typeface="Noto Sans CJK SC"/>
                <a:hlinkClick r:id="rId3"/>
              </a:rPr>
              <a:t>FDA. Don’t Overuse Acetaminophen.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81912" y="3364991"/>
            <a:ext cx="9930384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04088" y="3547872"/>
            <a:ext cx="640080" cy="329184"/>
          </a:xfrm>
          <a:prstGeom prst="roundRect">
            <a:avLst/>
          </a:prstGeom>
          <a:solidFill>
            <a:srgbClr val="153E75"/>
          </a:solidFill>
          <a:ln>
            <a:solidFill>
              <a:srgbClr val="153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66160"/>
            <a:ext cx="49377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</a:rPr>
              <a:t>S4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3493008"/>
            <a:ext cx="99486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3E75"/>
                </a:solidFill>
                <a:latin typeface="Noto Sans CJK SC"/>
                <a:ea typeface="Noto Sans CJK SC"/>
                <a:hlinkClick r:id="rId4"/>
              </a:rPr>
              <a:t>CDC. Healthy Habits: Antibiotic Do’s and Don’ts.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581912" y="4242816"/>
            <a:ext cx="9930384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04088" y="4425696"/>
            <a:ext cx="640080" cy="329184"/>
          </a:xfrm>
          <a:prstGeom prst="roundRect">
            <a:avLst/>
          </a:prstGeom>
          <a:solidFill>
            <a:srgbClr val="153E75"/>
          </a:solidFill>
          <a:ln>
            <a:solidFill>
              <a:srgbClr val="153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443983"/>
            <a:ext cx="49377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</a:rPr>
              <a:t>S5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4370832"/>
            <a:ext cx="99486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3E75"/>
                </a:solidFill>
                <a:latin typeface="Noto Sans CJK SC"/>
                <a:ea typeface="Noto Sans CJK SC"/>
                <a:hlinkClick r:id="rId5"/>
              </a:rPr>
              <a:t>CDC. Antibiotic Use in the United States（2025更新；门诊至少28%不必要处方）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581912" y="5120640"/>
            <a:ext cx="9930384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04088" y="5303520"/>
            <a:ext cx="640080" cy="329184"/>
          </a:xfrm>
          <a:prstGeom prst="roundRect">
            <a:avLst/>
          </a:prstGeom>
          <a:solidFill>
            <a:srgbClr val="153E75"/>
          </a:solidFill>
          <a:ln>
            <a:solidFill>
              <a:srgbClr val="153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321807"/>
            <a:ext cx="49377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</a:rPr>
              <a:t>S8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1912" y="5248656"/>
            <a:ext cx="99486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3E75"/>
                </a:solidFill>
                <a:latin typeface="Noto Sans CJK SC"/>
                <a:ea typeface="Noto Sans CJK SC"/>
                <a:hlinkClick r:id="rId6"/>
              </a:rPr>
              <a:t>NHS. Antihistamines.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581912" y="5998464"/>
            <a:ext cx="9930384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13232" y="64190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3E75"/>
                </a:solidFill>
                <a:latin typeface="Noto Sans CJK SC"/>
                <a:ea typeface="Noto Sans CJK SC"/>
              </a:rPr>
              <a:t>图表按原始数据重绘；案例为虚构，实拍照片另见图片来源附页。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53E75"/>
                </a:solidFill>
                <a:latin typeface="Noto Sans CJK SC"/>
                <a:ea typeface="Noto Sans CJK SC"/>
              </a:rPr>
              <a:t>参考资料 /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52144"/>
            <a:ext cx="1088136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3464F"/>
                </a:solidFill>
                <a:latin typeface="Noto Sans CJK SC"/>
                <a:ea typeface="Noto Sans CJK SC"/>
              </a:rPr>
              <a:t>附页，不计入35分钟｜点击条目标题可访问原文｜原始资料：2026-10-09；新增CDC数据核对：2026-10-12；封面与后半段整改：2026-10-13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" y="1792224"/>
            <a:ext cx="640080" cy="329184"/>
          </a:xfrm>
          <a:prstGeom prst="roundRect">
            <a:avLst/>
          </a:prstGeom>
          <a:solidFill>
            <a:srgbClr val="153E75"/>
          </a:solidFill>
          <a:ln>
            <a:solidFill>
              <a:srgbClr val="153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10512"/>
            <a:ext cx="49377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</a:rPr>
              <a:t>S9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81912" y="1737360"/>
            <a:ext cx="99486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3E75"/>
                </a:solidFill>
                <a:latin typeface="Noto Sans CJK SC"/>
                <a:ea typeface="Noto Sans CJK SC"/>
                <a:hlinkClick r:id="rId2"/>
              </a:rPr>
              <a:t>NIAAA. Alcohol-Medication Interactions: Potentially Dangerous Mixes.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81912" y="2487168"/>
            <a:ext cx="9930384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04088" y="2670048"/>
            <a:ext cx="640080" cy="329184"/>
          </a:xfrm>
          <a:prstGeom prst="roundRect">
            <a:avLst/>
          </a:prstGeom>
          <a:solidFill>
            <a:srgbClr val="153E75"/>
          </a:solidFill>
          <a:ln>
            <a:solidFill>
              <a:srgbClr val="153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88336"/>
            <a:ext cx="49377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</a:rPr>
              <a:t>S10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912" y="2615184"/>
            <a:ext cx="99486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3E75"/>
                </a:solidFill>
                <a:latin typeface="Noto Sans CJK SC"/>
                <a:ea typeface="Noto Sans CJK SC"/>
                <a:hlinkClick r:id="rId3"/>
              </a:rPr>
              <a:t>NHS Specialist Pharmacy Service. Advising on missed or delayed doses of medicines.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81912" y="3364991"/>
            <a:ext cx="9930384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04088" y="3547872"/>
            <a:ext cx="640080" cy="329184"/>
          </a:xfrm>
          <a:prstGeom prst="roundRect">
            <a:avLst/>
          </a:prstGeom>
          <a:solidFill>
            <a:srgbClr val="153E75"/>
          </a:solidFill>
          <a:ln>
            <a:solidFill>
              <a:srgbClr val="153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66160"/>
            <a:ext cx="49377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</a:rPr>
              <a:t>S11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3493008"/>
            <a:ext cx="99486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3E75"/>
                </a:solidFill>
                <a:latin typeface="Noto Sans CJK SC"/>
                <a:ea typeface="Noto Sans CJK SC"/>
                <a:hlinkClick r:id="rId4"/>
              </a:rPr>
              <a:t>CDC. Manage Common Cold.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581912" y="4242816"/>
            <a:ext cx="9930384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04088" y="4425696"/>
            <a:ext cx="640080" cy="329184"/>
          </a:xfrm>
          <a:prstGeom prst="roundRect">
            <a:avLst/>
          </a:prstGeom>
          <a:solidFill>
            <a:srgbClr val="153E75"/>
          </a:solidFill>
          <a:ln>
            <a:solidFill>
              <a:srgbClr val="153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443983"/>
            <a:ext cx="49377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</a:rPr>
              <a:t>S12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4370832"/>
            <a:ext cx="99486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3E75"/>
                </a:solidFill>
                <a:latin typeface="Noto Sans CJK SC"/>
                <a:ea typeface="Noto Sans CJK SC"/>
                <a:hlinkClick r:id="rId5"/>
              </a:rPr>
              <a:t>NHS. Anaphylaxis.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581912" y="5120640"/>
            <a:ext cx="9930384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04088" y="5303520"/>
            <a:ext cx="640080" cy="329184"/>
          </a:xfrm>
          <a:prstGeom prst="roundRect">
            <a:avLst/>
          </a:prstGeom>
          <a:solidFill>
            <a:srgbClr val="153E75"/>
          </a:solidFill>
          <a:ln>
            <a:solidFill>
              <a:srgbClr val="153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321807"/>
            <a:ext cx="49377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</a:rPr>
              <a:t>S13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1912" y="5248656"/>
            <a:ext cx="99486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3E75"/>
                </a:solidFill>
                <a:latin typeface="Noto Sans CJK SC"/>
                <a:ea typeface="Noto Sans CJK SC"/>
                <a:hlinkClick r:id="rId6"/>
              </a:rPr>
              <a:t>NHS. Omeprazole.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581912" y="5998464"/>
            <a:ext cx="9930384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13232" y="64190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3E75"/>
                </a:solidFill>
                <a:latin typeface="Noto Sans CJK SC"/>
                <a:ea typeface="Noto Sans CJK SC"/>
              </a:rPr>
              <a:t>图表按原始数据重绘；案例为虚构，实拍照片另见图片来源附页。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53E75"/>
                </a:solidFill>
                <a:latin typeface="Noto Sans CJK SC"/>
                <a:ea typeface="Noto Sans CJK SC"/>
              </a:rPr>
              <a:t>参考资料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52144"/>
            <a:ext cx="1088136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3464F"/>
                </a:solidFill>
                <a:latin typeface="Noto Sans CJK SC"/>
                <a:ea typeface="Noto Sans CJK SC"/>
              </a:rPr>
              <a:t>附页，不计入35分钟｜点击条目标题可访问原文｜原始资料：2026-10-09；新增CDC数据核对：2026-10-12；封面与后半段整改：2026-10-13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" y="1792224"/>
            <a:ext cx="640080" cy="329184"/>
          </a:xfrm>
          <a:prstGeom prst="roundRect">
            <a:avLst/>
          </a:prstGeom>
          <a:solidFill>
            <a:srgbClr val="153E75"/>
          </a:solidFill>
          <a:ln>
            <a:solidFill>
              <a:srgbClr val="153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10512"/>
            <a:ext cx="49377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</a:rPr>
              <a:t>S14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81912" y="1737360"/>
            <a:ext cx="99486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3E75"/>
                </a:solidFill>
                <a:latin typeface="Noto Sans CJK SC"/>
                <a:ea typeface="Noto Sans CJK SC"/>
                <a:hlinkClick r:id="rId2"/>
              </a:rPr>
              <a:t>Simons FER, Simons KJ. H1 Antihistamines: Current Status and Future Directions. World Allergy Organ J. 2008;1:145–155.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81912" y="2487168"/>
            <a:ext cx="9930384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04088" y="2670048"/>
            <a:ext cx="640080" cy="329184"/>
          </a:xfrm>
          <a:prstGeom prst="roundRect">
            <a:avLst/>
          </a:prstGeom>
          <a:solidFill>
            <a:srgbClr val="153E75"/>
          </a:solidFill>
          <a:ln>
            <a:solidFill>
              <a:srgbClr val="153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88336"/>
            <a:ext cx="49377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</a:rPr>
              <a:t>S15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912" y="2615184"/>
            <a:ext cx="99486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3E75"/>
                </a:solidFill>
                <a:latin typeface="Noto Sans CJK SC"/>
                <a:ea typeface="Noto Sans CJK SC"/>
                <a:hlinkClick r:id="rId3"/>
              </a:rPr>
              <a:t>CDC. Do antibiotics have side effects?（药物相关急诊约1/5来自抗生素反应）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81912" y="3364991"/>
            <a:ext cx="9930384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04088" y="3547872"/>
            <a:ext cx="640080" cy="329184"/>
          </a:xfrm>
          <a:prstGeom prst="roundRect">
            <a:avLst/>
          </a:prstGeom>
          <a:solidFill>
            <a:srgbClr val="153E75"/>
          </a:solidFill>
          <a:ln>
            <a:solidFill>
              <a:srgbClr val="153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66160"/>
            <a:ext cx="49377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</a:rPr>
              <a:t>S16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3493008"/>
            <a:ext cx="99486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3E75"/>
                </a:solidFill>
                <a:latin typeface="Noto Sans CJK SC"/>
                <a:ea typeface="Noto Sans CJK SC"/>
                <a:hlinkClick r:id="rId4"/>
              </a:rPr>
              <a:t>Hersh AL et al. Unnecessary Antibiotic Prescribing in US Ambulatory Care Settings, 2010–2015. Clin Infect Dis. 2021;72:133–137.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581912" y="4242816"/>
            <a:ext cx="9930384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04088" y="4425696"/>
            <a:ext cx="640080" cy="329184"/>
          </a:xfrm>
          <a:prstGeom prst="roundRect">
            <a:avLst/>
          </a:prstGeom>
          <a:solidFill>
            <a:srgbClr val="153E75"/>
          </a:solidFill>
          <a:ln>
            <a:solidFill>
              <a:srgbClr val="153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443983"/>
            <a:ext cx="49377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</a:rPr>
              <a:t>S17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4370832"/>
            <a:ext cx="99486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3E75"/>
                </a:solidFill>
                <a:latin typeface="Noto Sans CJK SC"/>
                <a:ea typeface="Noto Sans CJK SC"/>
                <a:hlinkClick r:id="rId5"/>
              </a:rPr>
              <a:t>Anatomy and Physiology of the Blood-Brain Barrier（脑微血管内皮、紧密连接与支持结构）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581912" y="5120640"/>
            <a:ext cx="9930384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2" y="64190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3E75"/>
                </a:solidFill>
                <a:latin typeface="Noto Sans CJK SC"/>
                <a:ea typeface="Noto Sans CJK SC"/>
              </a:rPr>
              <a:t>图表按原始数据重绘；案例为虚构，实拍照片另见图片来源附页。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53E75"/>
                </a:solidFill>
                <a:latin typeface="Noto Sans CJK SC"/>
                <a:ea typeface="Noto Sans CJK SC"/>
              </a:rPr>
              <a:t>插图素材来源 /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3464F"/>
                </a:solidFill>
                <a:latin typeface="Noto Sans CJK SC"/>
                <a:ea typeface="Noto Sans CJK SC"/>
              </a:rPr>
              <a:t>情境用动漫；机制用独立医学科普插图；主体画面各出现一次，文字独立可编辑。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92224"/>
            <a:ext cx="10195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53E75"/>
                </a:solidFill>
                <a:latin typeface="Noto Sans CJK SC"/>
                <a:ea typeface="Noto Sans CJK SC"/>
              </a:rPr>
              <a:t>cover_rational.png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57984"/>
            <a:ext cx="10195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53E75"/>
                </a:solidFill>
                <a:latin typeface="Noto Sans CJK SC"/>
                <a:ea typeface="Noto Sans CJK SC"/>
              </a:rPr>
              <a:t>封面：一起核对药盒与说明书｜生成：2026-10-13｜使用页：1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2532888"/>
            <a:ext cx="10195560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2660904"/>
            <a:ext cx="10195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53E75"/>
                </a:solidFill>
                <a:latin typeface="Noto Sans CJK SC"/>
                <a:ea typeface="Noto Sans CJK SC"/>
              </a:rPr>
              <a:t>storyboard.png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26664"/>
            <a:ext cx="10195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53E75"/>
                </a:solidFill>
                <a:latin typeface="Noto Sans CJK SC"/>
                <a:ea typeface="Noto Sans CJK SC"/>
              </a:rPr>
              <a:t>宿舍、课堂与聚餐分镜｜生成：2026-10-12｜使用页：5、13、16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3401568"/>
            <a:ext cx="10195560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3529584"/>
            <a:ext cx="10195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53E75"/>
                </a:solidFill>
                <a:latin typeface="Noto Sans CJK SC"/>
                <a:ea typeface="Noto Sans CJK SC"/>
              </a:rPr>
              <a:t>unique_scenes.png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95344"/>
            <a:ext cx="10195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53E75"/>
                </a:solidFill>
                <a:latin typeface="Noto Sans CJK SC"/>
                <a:ea typeface="Noto Sans CJK SC"/>
              </a:rPr>
              <a:t>核药时间线与四道题｜生成：2026-10-12｜使用页：3、7、8、15、25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4270248"/>
            <a:ext cx="10195560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4398264"/>
            <a:ext cx="10195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53E75"/>
                </a:solidFill>
                <a:latin typeface="Noto Sans CJK SC"/>
                <a:ea typeface="Noto Sans CJK SC"/>
              </a:rPr>
              <a:t>actions_storyboard.png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64024"/>
            <a:ext cx="10195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53E75"/>
                </a:solidFill>
                <a:latin typeface="Noto Sans CJK SC"/>
                <a:ea typeface="Noto Sans CJK SC"/>
              </a:rPr>
              <a:t>查、核、问、求助、记录与综合案例｜生成：2026-10-13｜使用页：17、18、19、20、21、22、24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5138927"/>
            <a:ext cx="10195560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5266944"/>
            <a:ext cx="10195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53E75"/>
                </a:solidFill>
                <a:latin typeface="Noto Sans CJK SC"/>
                <a:ea typeface="Noto Sans CJK SC"/>
              </a:rPr>
              <a:t>nasal_histamine.png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32704"/>
            <a:ext cx="10195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53E75"/>
                </a:solidFill>
                <a:latin typeface="Noto Sans CJK SC"/>
                <a:ea typeface="Noto Sans CJK SC"/>
              </a:rPr>
              <a:t>鼻黏膜、组胺与感觉神经作用对象｜生成：2026-10-13｜使用页：14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6007608"/>
            <a:ext cx="10195560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13232" y="64190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3E75"/>
                </a:solidFill>
                <a:latin typeface="Noto Sans CJK SC"/>
                <a:ea typeface="Noto Sans CJK SC"/>
              </a:rPr>
              <a:t>组织结构与H1解释依据见S14、S17；透明PNG和图形核对说明随独立插图一并提供。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53E75"/>
                </a:solidFill>
                <a:latin typeface="Noto Sans CJK SC"/>
                <a:ea typeface="Noto Sans CJK SC"/>
              </a:rPr>
              <a:t>插图素材来源 /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3464F"/>
                </a:solidFill>
                <a:latin typeface="Noto Sans CJK SC"/>
                <a:ea typeface="Noto Sans CJK SC"/>
              </a:rPr>
              <a:t>情境用动漫；机制用独立医学科普插图；主体画面各出现一次，文字独立可编辑。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92224"/>
            <a:ext cx="10195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53E75"/>
                </a:solidFill>
                <a:latin typeface="Noto Sans CJK SC"/>
                <a:ea typeface="Noto Sans CJK SC"/>
              </a:rPr>
              <a:t>brain_bbb_h1.png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57984"/>
            <a:ext cx="10195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53E75"/>
                </a:solidFill>
                <a:latin typeface="Noto Sans CJK SC"/>
                <a:ea typeface="Noto Sans CJK SC"/>
              </a:rPr>
              <a:t>脑微血管、血脑屏障与脑内H1作用对象｜生成：2026-10-13｜使用页：14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2532888"/>
            <a:ext cx="10195560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64190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3E75"/>
                </a:solidFill>
                <a:latin typeface="Noto Sans CJK SC"/>
                <a:ea typeface="Noto Sans CJK SC"/>
              </a:rPr>
              <a:t>组织结构与H1解释依据见S14、S17；透明PNG和图形核对说明随独立插图一并提供。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合理用药：给宿舍药箱上堂课</dc:title>
  <dc:subject>苏州大学选修课｜双人35分钟课堂展示</dc:subject>
  <dc:creator>课堂展示制作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