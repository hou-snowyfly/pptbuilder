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第1页｜甲主讲｜建议45秒</a:t>
            </a:r>
          </a:p>
          <a:p>
            <a:r>
              <a:t>甲主讲；乙操作翻页。</a:t>
            </a:r>
          </a:p>
          <a:p/>
          <a:p>
            <a:r>
              <a:t>甲：大家好。今天我们聊一个进入大学后越来越需要自己做决定的问题：身体不舒服时，药到底该怎么用？离开父母的提醒，宿舍药箱、室友推荐和手机搜索，可能成了我们的第一反应。但名字熟悉，不代表适合自己；药吃得多，也不代表好得快。接下来我们用四类校园情境和几轮举手选择，练习几个能直接用上的判断。我们不考药名，也不背剂量表，目标是学会看什么、问什么，以及什么时候应该就医。</a:t>
            </a:r>
          </a:p>
          <a:p/>
          <a:p>
            <a:r>
              <a:t>视觉说明：蓝底白字封面，右侧为手持药片的真实照片。</a:t>
            </a:r>
          </a:p>
          <a:p/>
          <a:p>
            <a:r>
              <a:t>参考：</a:t>
            </a:r>
          </a:p>
          <a:p/>
          <a:p/>
          <a:p>
            <a:r>
              <a:t>真实照片为图库场景示意，不呈现虚构案例中的真实人物、药品或事件。</a:t>
            </a:r>
          </a:p>
          <a:p>
            <a:r>
              <a:t>图片来源：</a:t>
            </a:r>
          </a:p>
          <a:p>
            <a:r>
              <a:t>Towfiqu barbhuiya｜https://www.pexels.com/photo/hand-holding-a-pill-15703464/｜Pexels License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第2页｜甲主讲｜建议45秒</a:t>
            </a:r>
          </a:p>
          <a:p>
            <a:r>
              <a:t>移至封面后的第2页；先交代路线，再进入原第2页的开场选择题，不提前揭晓答案。</a:t>
            </a:r>
          </a:p>
          <a:p/>
          <a:p>
            <a:r>
              <a:t>甲：先看路线图。前五分钟建立判断原则；接着用十七分钟看四类校园误区：重复成分、抗生素、抗过敏药以及药物与饮酒。然后八分钟练习安全用药，最后五分钟替小苏做综合选择。甲负责前半段，乙接着讲机制与行动，举手互动已计入时间。大家不用背药名或算剂量，只选更有依据的下一步。现在进入第一个情境：室友感冒了，你会先做哪一步？</a:t>
            </a:r>
          </a:p>
          <a:p/>
          <a:p>
            <a:r>
              <a:t>视觉说明：四段路线卡各配一张校园、药房或医疗空间的真实照片。</a:t>
            </a:r>
          </a:p>
          <a:p/>
          <a:p>
            <a:r>
              <a:t>参考：</a:t>
            </a:r>
          </a:p>
          <a:p/>
          <a:p/>
          <a:p>
            <a:r>
              <a:t>真实照片为图库场景示意，不呈现虚构案例中的真实人物、药品或事件。</a:t>
            </a:r>
          </a:p>
          <a:p>
            <a:r>
              <a:t>图片来源：</a:t>
            </a:r>
          </a:p>
          <a:p>
            <a:r>
              <a:t>George Pak｜https://www.pexels.com/photo/7972512/｜Pexels License</a:t>
            </a:r>
          </a:p>
          <a:p>
            <a:r>
              <a:t>Árpád Czapp｜https://unsplash.com/photos/a-room-filled-with-lots-of-shelves-filled-with-boxes-and-boxes-tvP6pCnq9iI｜Unsplash License</a:t>
            </a:r>
          </a:p>
          <a:p>
            <a:r>
              <a:t>National Cancer Institute｜https://unsplash.com/photos/pharmacist-reaching-for-medication-on-shelf-byGTytEGjBo｜Unsplash License</a:t>
            </a:r>
          </a:p>
          <a:p>
            <a:r>
              <a:t>Tasha Kostyuk｜https://unsplash.com/photos/empty-hospital-corridor-with-benches-and-doors-Pk-KuizxQv8｜Unsplash License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第3页｜甲主讲｜建议90秒</a:t>
            </a:r>
          </a:p>
          <a:p>
            <a:r>
              <a:t>10秒阅读＋三轮举手约25秒；不追问个人用药史。</a:t>
            </a:r>
          </a:p>
          <a:p/>
          <a:p>
            <a:r>
              <a:t>甲：小苏流鼻涕、喉咙不舒服，明天还有课。药箱里有上次剩下的药，室友也递来一盒。沿用经验、先核信息、按症状挑药，三个方案都像是在解决问题。信息还不完整时，你选哪一个第一步？</a:t>
            </a:r>
          </a:p>
          <a:p>
            <a:r>
              <a:t>【静默10秒；A、B、C依次举手，各约5秒】</a:t>
            </a:r>
          </a:p>
          <a:p>
            <a:r>
              <a:t>甲：先保留选择。上次有效不代表这次适用，包装上的症状描述也不能代替核对；下一页看判断需要哪些信息。</a:t>
            </a:r>
          </a:p>
          <a:p/>
          <a:p>
            <a:r>
              <a:t>视觉说明：等权选择卡与小苏动漫肖像；仅保留单选或多选标记，不重复添加提示小标题；不按答案区别格式。</a:t>
            </a:r>
          </a:p>
          <a:p/>
          <a:p>
            <a:r>
              <a:t>参考：</a:t>
            </a:r>
          </a:p>
          <a:p/>
          <a:p/>
          <a:p>
            <a:r>
              <a:t>真实照片为图库场景示意，不呈现虚构案例中的真实人物、药品或事件。</a:t>
            </a:r>
          </a:p>
          <a:p>
            <a:r>
              <a:t>图片来源：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第4页｜甲主讲｜建议60秒</a:t>
            </a:r>
          </a:p>
          <a:p/>
          <a:p/>
          <a:p>
            <a:r>
              <a:t>甲：合理用药可以用四个词记住：安全、有效、经济、适宜。安全不是承诺任何药都没有风险，而是识别禁忌和可能的不良反应。有效，是药物针对的问题与实际需要相符。经济，是在满足治疗需要的前提下，避免不必要的药物和花费。适宜，则提醒我们，同一个药对室友合适，对自己不一定合适，年龄、过敏史、正在使用的其他药物，都可能影响选择。所以开场选B，是先把这些信息补齐，而不是看到一个症状就直接往药箱里伸手。</a:t>
            </a:r>
          </a:p>
          <a:p/>
          <a:p>
            <a:r>
              <a:t>视觉说明：四象限原则卡；每格一个关键词和一个简短解释。</a:t>
            </a:r>
          </a:p>
          <a:p/>
          <a:p>
            <a:r>
              <a:t>参考：</a:t>
            </a:r>
          </a:p>
          <a:p>
            <a:r>
              <a:t>[S1] 国家卫生健康委等（2020）《关于加强医疗机构药事管理促进合理用药的意见》</a:t>
            </a:r>
          </a:p>
          <a:p>
            <a:r>
              <a:t>https://www.nhc.gov.cn/yzygj/c100068/202002/fdb7240014db4d49827ca25bbb41b177.shtml</a:t>
            </a:r>
          </a:p>
          <a:p/>
          <a:p>
            <a:r>
              <a:t>真实照片为图库场景示意，不呈现虚构案例中的真实人物、药品或事件。</a:t>
            </a:r>
          </a:p>
          <a:p>
            <a:r>
              <a:t>图片来源：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第5页｜甲主讲｜建议60秒</a:t>
            </a:r>
          </a:p>
          <a:p/>
          <a:p/>
          <a:p>
            <a:r>
              <a:t>甲：小苏吃了抗过敏药，鼻子舒服了，上课却开始犯困。药明明在起作用，怎么还会影响精神？先看图里的两个位置：组胺在鼻部参与部分过敏反应，在脑内也参与维持清醒。部分抗组胺药能进入脑内，影响相关信号，因此可能在缓解过敏症状的同时让人困倦。这就是生物课里的“信号传递”在生活中的一个例子：同一种信号物质，在不同位置可以参与不同功能。不是所有抗过敏药都一样，也不是人人都会困。对我们有用的结论是：选择药物时，不只问能不能缓解症状，还要查嗜睡提示，向药师说清白天有课或需要通勤；已经困倦时，避免驾驶、骑车等高风险活动。后面再展开解释这个机制。</a:t>
            </a:r>
          </a:p>
          <a:p/>
          <a:p>
            <a:r>
              <a:t>视觉说明：两幅同一角色的动漫分镜：鼻部症状缓解、课堂犯困；对白独立排版，图下保留简短机制说明，不重复设置场景小标题。</a:t>
            </a:r>
          </a:p>
          <a:p/>
          <a:p>
            <a:r>
              <a:t>参考：</a:t>
            </a:r>
          </a:p>
          <a:p>
            <a:r>
              <a:t>[S8] NHS. Antihistamines.</a:t>
            </a:r>
          </a:p>
          <a:p>
            <a:r>
              <a:t>https://www.nhs.uk/medicines/antihistamines/</a:t>
            </a:r>
          </a:p>
          <a:p/>
          <a:p>
            <a:r>
              <a:t>真实照片为图库场景示意，不呈现虚构案例中的真实人物、药品或事件。</a:t>
            </a:r>
          </a:p>
          <a:p>
            <a:r>
              <a:t>图片来源：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第6页｜甲主讲｜建议75秒</a:t>
            </a:r>
          </a:p>
          <a:p/>
          <a:p/>
          <a:p>
            <a:r>
              <a:t>甲：小苏觉得头痛还没缓解，拿起另一盒感冒药。室友说，名字不同，一盒管头痛、一盒管感冒，听起来像双保险。三格漫画从不舒服，到听起来合理的建议，再把判断停在药盒背面。症状宣传不同，不代表有效成分不同。下一页不算剂量，只把成分摆在一起，看双保险有没有变成重复。</a:t>
            </a:r>
          </a:p>
          <a:p/>
          <a:p>
            <a:r>
              <a:t>视觉说明：宿舍核药动漫三格：头痛、室友递来第二盒药、两盒成分核对。删除情境、对话、悬念以及重复总结标题；独立对白可编辑。</a:t>
            </a:r>
          </a:p>
          <a:p/>
          <a:p>
            <a:r>
              <a:t>参考：</a:t>
            </a:r>
          </a:p>
          <a:p>
            <a:r>
              <a:t>[S2] FDA. Don’t Overuse Acetaminophen.</a:t>
            </a:r>
          </a:p>
          <a:p>
            <a:r>
              <a:t>https://www.fda.gov/consumers/consumer-updates/dont-overuse-acetaminophen</a:t>
            </a:r>
          </a:p>
          <a:p/>
          <a:p>
            <a:r>
              <a:t>真实照片为图库场景示意，不呈现虚构案例中的真实人物、药品或事件。</a:t>
            </a:r>
          </a:p>
          <a:p>
            <a:r>
              <a:t>图片来源：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第7页｜甲主讲｜建议60秒</a:t>
            </a:r>
          </a:p>
          <a:p/>
          <a:p/>
          <a:p>
            <a:r>
              <a:t>甲：左边是单方退热止痛药的教学标签，只有对乙酰氨基酚；右边的复方感冒药示例另有马来酸氯苯那敏和盐酸伪麻黄碱。组成不完全相同，但同一个红色成分块出现了两次，其他成分的不同不能抵消重复。先把真实说明书的成分逐项对照，再核规格、已经服用的时间和用量，拿不准就带药盒问药师。这两张教学标签不对应具体产品，不给出剂量；不同产品的组成和要求可能不同。</a:t>
            </a:r>
          </a:p>
          <a:p/>
          <a:p>
            <a:r>
              <a:t>视觉说明：两盒不同配色的教学药盒。重复成分都用红色且完整命名；另两种成分用青绿和紫色，汇合箭头突出同一成分来自两盒，再给出圈重复、核信息、再决定的动作。</a:t>
            </a:r>
          </a:p>
          <a:p/>
          <a:p>
            <a:r>
              <a:t>参考：</a:t>
            </a:r>
          </a:p>
          <a:p>
            <a:r>
              <a:t>[S2] FDA. Don’t Overuse Acetaminophen.</a:t>
            </a:r>
          </a:p>
          <a:p>
            <a:r>
              <a:t>https://www.fda.gov/consumers/consumer-updates/dont-overuse-acetaminophen</a:t>
            </a:r>
          </a:p>
          <a:p/>
          <a:p>
            <a:r>
              <a:t>真实照片为图库场景示意，不呈现虚构案例中的真实人物、药品或事件。</a:t>
            </a:r>
          </a:p>
          <a:p>
            <a:r>
              <a:t>图片来源：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第8页｜甲主讲｜建议60秒</a:t>
            </a:r>
          </a:p>
          <a:p/>
          <a:p/>
          <a:p>
            <a:r>
              <a:t>甲：18点，小苏服过一种复方感冒药；20点仍然头痛，想加另一盒退热药。这两个时间只是故事线索，不表示隔两小时就能加药。现在要补齐两盒药的具体药名、成分、规格，以及今天何时用了多少。核对重复和累计使用，不能靠症状还在就自行加量，也不能套统一间隔。怀疑超量或误服应及时寻求医疗帮助；症状持续、加重也应按说明书就医提示处理。下一页只选获取这些信息的下一步。</a:t>
            </a:r>
          </a:p>
          <a:p/>
          <a:p>
            <a:r>
              <a:t>视觉说明：动漫核药时间线；仅保留实际18:00与20:00时间信息，图片下直接说明已服药、症状及核对信息，不叠加阶段名称。</a:t>
            </a:r>
          </a:p>
          <a:p/>
          <a:p>
            <a:r>
              <a:t>参考：</a:t>
            </a:r>
          </a:p>
          <a:p>
            <a:r>
              <a:t>[S2] FDA. Don’t Overuse Acetaminophen.</a:t>
            </a:r>
          </a:p>
          <a:p>
            <a:r>
              <a:t>https://www.fda.gov/consumers/consumer-updates/dont-overuse-acetaminophen</a:t>
            </a:r>
          </a:p>
          <a:p/>
          <a:p>
            <a:r>
              <a:t>真实照片为图库场景示意，不呈现虚构案例中的真实人物、药品或事件。</a:t>
            </a:r>
          </a:p>
          <a:p>
            <a:r>
              <a:t>图片来源：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第9页｜甲主讲｜建议75秒</a:t>
            </a:r>
          </a:p>
          <a:p>
            <a:r>
              <a:t>阅读10秒；举手约25秒；其余时间复述问题并转场。</a:t>
            </a:r>
          </a:p>
          <a:p/>
          <a:p>
            <a:r>
              <a:t>甲：室友群里弹出三条消息。A让我们找重复成分，B建议错开服药时间，C让我们补齐今天的药名、规格和时间。可以给多条消息点赞，选择的是现在有助于判断的建议，不是替小苏开药。</a:t>
            </a:r>
          </a:p>
          <a:p>
            <a:r>
              <a:t>【静默10秒；逐条举手各约5秒，可多次举手】</a:t>
            </a:r>
          </a:p>
          <a:p>
            <a:r>
              <a:t>甲：请保留选择，下一页看哪些建议补齐了信息，哪些只是让安排听起来谨慎。</a:t>
            </a:r>
          </a:p>
          <a:p/>
          <a:p>
            <a:r>
              <a:t>视觉说明：等权选择卡与小苏动漫肖像；仅保留单选或多选标记，不重复添加提示小标题；不按答案区别格式。</a:t>
            </a:r>
          </a:p>
          <a:p/>
          <a:p>
            <a:r>
              <a:t>参考：</a:t>
            </a:r>
          </a:p>
          <a:p>
            <a:r>
              <a:t>[S2] FDA. Don’t Overuse Acetaminophen.</a:t>
            </a:r>
          </a:p>
          <a:p>
            <a:r>
              <a:t>https://www.fda.gov/consumers/consumer-updates/dont-overuse-acetaminophen</a:t>
            </a:r>
          </a:p>
          <a:p/>
          <a:p>
            <a:r>
              <a:t>真实照片为图库场景示意，不呈现虚构案例中的真实人物、药品或事件。</a:t>
            </a:r>
          </a:p>
          <a:p>
            <a:r>
              <a:t>图片来源：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第10页｜甲主讲｜建议30秒</a:t>
            </a:r>
          </a:p>
          <a:p/>
          <a:p/>
          <a:p>
            <a:r>
              <a:t>甲：可以同时给A和C点赞。A找到共有成分，C补齐具体规格与已服记录，两条合起来才更有助于判断。B听起来考虑了时间，但并没有核清成分、规格和累计使用；不能靠错开就推定合用安全。先不自行叠加，带齐这些信息问药师。</a:t>
            </a:r>
          </a:p>
          <a:p/>
          <a:p>
            <a:r>
              <a:t>视觉说明：大号C与三步行动箭头。</a:t>
            </a:r>
          </a:p>
          <a:p/>
          <a:p>
            <a:r>
              <a:t>参考：</a:t>
            </a:r>
          </a:p>
          <a:p>
            <a:r>
              <a:t>[S2] FDA. Don’t Overuse Acetaminophen.</a:t>
            </a:r>
          </a:p>
          <a:p>
            <a:r>
              <a:t>https://www.fda.gov/consumers/consumer-updates/dont-overuse-acetaminophen</a:t>
            </a:r>
          </a:p>
          <a:p/>
          <a:p>
            <a:r>
              <a:t>真实照片为图库场景示意，不呈现虚构案例中的真实人物、药品或事件。</a:t>
            </a:r>
          </a:p>
          <a:p>
            <a:r>
              <a:t>图片来源：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第11页｜甲主讲｜建议75秒</a:t>
            </a:r>
          </a:p>
          <a:p/>
          <a:p/>
          <a:p>
            <a:r>
              <a:t>甲：第二个误区是把抗生素当成感冒时的保险药。回到高中生物，细菌具有细胞结构，病毒没有完整的细胞结构，需要利用宿主细胞复制。不同类别的抗生素，可以作用于细菌的细胞壁合成、蛋白质合成等过程；对引起普通感冒的病毒，它们没有相应的治疗作用。所以流鼻涕、嗓子痛，并不能自动推出“应该吃抗生素”。当然，出现这些症状也可能有其他原因，少数病毒感染之后还可能发生细菌感染，是否需要抗生素需要评估。我们能做的是描述症状、接受判断，而不是自己拿剩药试试看。</a:t>
            </a:r>
          </a:p>
          <a:p/>
          <a:p>
            <a:r>
              <a:t>视觉说明：彩色显微世界插画：青绿细菌有细胞结构与遗传物质；紫色病毒有外壳与遗传物质，连接宿主细胞。用文字说明抗生素针对某些细菌结构或过程；示意不按比例。</a:t>
            </a:r>
          </a:p>
          <a:p/>
          <a:p>
            <a:r>
              <a:t>参考：</a:t>
            </a:r>
          </a:p>
          <a:p>
            <a:r>
              <a:t>[S4] CDC. Healthy Habits: Antibiotic Do’s and Don’ts.</a:t>
            </a:r>
          </a:p>
          <a:p>
            <a:r>
              <a:t>https://www.cdc.gov/antibiotic-use/about/</a:t>
            </a:r>
          </a:p>
          <a:p>
            <a:r>
              <a:t>[S11] CDC. Manage Common Cold.</a:t>
            </a:r>
          </a:p>
          <a:p>
            <a:r>
              <a:t>https://www.cdc.gov/common-cold/treatment/index.html</a:t>
            </a:r>
          </a:p>
          <a:p/>
          <a:p>
            <a:r>
              <a:t>真实照片为图库场景示意，不呈现虚构案例中的真实人物、药品或事件。</a:t>
            </a:r>
          </a:p>
          <a:p>
            <a:r>
              <a:t>图片来源：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第12页｜甲主讲｜建议110秒</a:t>
            </a:r>
          </a:p>
          <a:p/>
          <a:p/>
          <a:p>
            <a:r>
              <a:t>甲：上一页说普通感冒通常由病毒引起，抗生素没有相应治疗作用。为什么不能想着吃一点总没坏处？左边把处方比例换成一百个格子：CDC汇总至少28%的美国门诊抗生素处方被认为不必要，所引研究的这一估计来自2014—2015年。这是处方比例，不是我们班或中国大学生的发生率。右边说的是另一种风险：CDC指出，在服用抗生素期间及结束后一个月，艰难梭菌感染风险最高可达原来的10倍。艰难梭菌可能引起腹泻和结肠炎；抗生素会扰动肠道菌群，给它可乘之机。这里的最高10倍不是人人都会升高10倍，也不是10%的发生率。</a:t>
            </a:r>
          </a:p>
          <a:p>
            <a:r>
              <a:t>【给大家15秒分别读两图；问：左图数的是处方，右图比较的是什么？停顿约10秒，再解释】</a:t>
            </a:r>
          </a:p>
          <a:p>
            <a:r>
              <a:t>甲：两图口径不同，不能把28%与10倍相乘。我们要带走的是：没有需要时吃抗生素，未必得到预期获益，却仍可能遇到副作用。确实需要时按医生方案用药，不因害怕风险自行停药。下一页把这句话换成三个实际动作。</a:t>
            </a:r>
          </a:p>
          <a:p/>
          <a:p>
            <a:r>
              <a:t>视觉说明：蓝与珊瑚红的双图：左侧100格中28格高亮并注明美国门诊2014—2015估计；右侧共同0—10刻度的基准1与最高10倍相对风险示意。注明CDC所述用药期间及结束后1个月，不画成10%的发生率。</a:t>
            </a:r>
          </a:p>
          <a:p/>
          <a:p>
            <a:r>
              <a:t>参考：</a:t>
            </a:r>
          </a:p>
          <a:p>
            <a:r>
              <a:t>[S5] CDC. Antibiotic Use in the United States（2025更新；门诊至少28%不必要处方）</a:t>
            </a:r>
          </a:p>
          <a:p>
            <a:r>
              <a:t>https://www.cdc.gov/antibiotic-use/hcp/data-research/antibiotic-prescribing.html</a:t>
            </a:r>
          </a:p>
          <a:p>
            <a:r>
              <a:t>[S15] CDC. About C. diff（2026更新；用药期间及结束后1个月感染风险最高10倍）</a:t>
            </a:r>
          </a:p>
          <a:p>
            <a:r>
              <a:t>https://www.cdc.gov/c-diff/about/</a:t>
            </a:r>
          </a:p>
          <a:p>
            <a:r>
              <a:t>[S16] Hersh AL et al. Unnecessary Antibiotic Prescribing in US Ambulatory Care Settings, 2010–2015. Clin Infect Dis. 2021;72:133–137.</a:t>
            </a:r>
          </a:p>
          <a:p>
            <a:r>
              <a:t>https://stacks.cdc.gov/view/cdc/120299/cdc_120299_DS1.pdf</a:t>
            </a:r>
          </a:p>
          <a:p/>
          <a:p>
            <a:r>
              <a:t>真实照片为图库场景示意，不呈现虚构案例中的真实人物、药品或事件。</a:t>
            </a:r>
          </a:p>
          <a:p>
            <a:r>
              <a:t>图片来源：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第13页｜甲主讲｜建议80秒</a:t>
            </a:r>
          </a:p>
          <a:p/>
          <a:p/>
          <a:p>
            <a:r>
              <a:t>甲：数据看完，回到小苏的药箱。第一，看见感冒症状，不自动把抗生素当作备用保险，先明确是否需要。第二，室友说这盒我吃着有效，不代表适合自己；相似症状可能来自不同原因，不接室友剩药，也不分享自己的处方。第三，确实需要时按具体处方的剂量、间隔与疗程执行，疗效或不良反应有疑问就咨询，不自己缩短、延长或加量。</a:t>
            </a:r>
          </a:p>
          <a:p>
            <a:r>
              <a:t>【停顿10秒，让大家看三张动作卡，选一个最容易忘记的动作】</a:t>
            </a:r>
          </a:p>
          <a:p>
            <a:r>
              <a:t>甲：真正减少可避免风险的，是把这三个动作做出来。</a:t>
            </a:r>
          </a:p>
          <a:p/>
          <a:p>
            <a:r>
              <a:t>视觉说明：浅蓝底的三张动作卡，统一蓝与珊瑚红；放大镜核对、室友药盒暂停、处方清单咨询三幅原创图标，短标题与一行解释分层。</a:t>
            </a:r>
          </a:p>
          <a:p/>
          <a:p>
            <a:r>
              <a:t>参考：</a:t>
            </a:r>
          </a:p>
          <a:p>
            <a:r>
              <a:t>[S4] CDC. Healthy Habits: Antibiotic Do’s and Don’ts.</a:t>
            </a:r>
          </a:p>
          <a:p>
            <a:r>
              <a:t>https://www.cdc.gov/antibiotic-use/about/</a:t>
            </a:r>
          </a:p>
          <a:p/>
          <a:p>
            <a:r>
              <a:t>真实照片为图库场景示意，不呈现虚构案例中的真实人物、药品或事件。</a:t>
            </a:r>
          </a:p>
          <a:p>
            <a:r>
              <a:t>图片来源：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第14页｜甲主讲｜建议90秒</a:t>
            </a:r>
          </a:p>
          <a:p>
            <a:r>
              <a:t>甲主讲至此页末；预计累计15分55秒，交给乙接着讲组胺机制。</a:t>
            </a:r>
          </a:p>
          <a:p/>
          <a:p>
            <a:r>
              <a:t>甲：第三个情境，小苏的过敏症状缓解了，走进教室却犯困。左边漫画只讲一个现象：鼻子舒服与精神清醒，并不一定同时改善。右边三张提示卡给出行动顺序。先查具体药品的嗜睡提示；再向药师说清白天有课、要通勤等需要；已经困倦或反应变慢时，避开骑车、驾驶和其他高风险活动。有些药较少引起嗜睡，但个人反应仍有差异，不靠抗过敏药四个字作判断。</a:t>
            </a:r>
          </a:p>
          <a:p>
            <a:r>
              <a:t>【留10秒读图；甲用一句话复述：别用咖啡或酒精自行抵消这种感觉】</a:t>
            </a:r>
          </a:p>
          <a:p>
            <a:r>
              <a:t>甲：为什么鼻子与清醒程度会同时受影响？下面交给乙看两条作用路径。</a:t>
            </a:r>
          </a:p>
          <a:p/>
          <a:p>
            <a:r>
              <a:t>视觉说明：左侧为动漫课堂犯困分镜与一句对白；右侧为三个完整行动句，取消先查、再说等重复小标题。</a:t>
            </a:r>
          </a:p>
          <a:p/>
          <a:p>
            <a:r>
              <a:t>参考：</a:t>
            </a:r>
          </a:p>
          <a:p>
            <a:r>
              <a:t>[S8] NHS. Antihistamines.</a:t>
            </a:r>
          </a:p>
          <a:p>
            <a:r>
              <a:t>https://www.nhs.uk/medicines/antihistamines/</a:t>
            </a:r>
          </a:p>
          <a:p/>
          <a:p>
            <a:r>
              <a:t>真实照片为图库场景示意，不呈现虚构案例中的真实人物、药品或事件。</a:t>
            </a:r>
          </a:p>
          <a:p>
            <a:r>
              <a:t>图片来源：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第15页｜乙主讲｜建议65秒</a:t>
            </a:r>
          </a:p>
          <a:p/>
          <a:p/>
          <a:p>
            <a:r>
              <a:t>乙：左侧，组胺与H1受体相关的信号参与部分过敏反应；抗组胺药影响相应受体的作用，可以缓解部分症状。右侧，脑内组胺信号也参与维持清醒。血脑屏障是进入脑内的一道选择性屏障，不是对所有药物都完全封闭；部分抗组胺药能够进入脑内，影响相关受体信号，因此可能嗜睡。两条路径解释治疗作用与其他影响为什么可能同时发生，不表示每种药、每个人都一样。具体选择看说明书和药师建议；困倦时避开驾驶、骑车等高风险活动。</a:t>
            </a:r>
          </a:p>
          <a:p/>
          <a:p>
            <a:r>
              <a:t>视觉说明：可编辑组胺双路径示意配原创动漫肖像；鼻部、脑内、H1受体及血脑屏障为必要机制标注，保留。</a:t>
            </a:r>
          </a:p>
          <a:p/>
          <a:p>
            <a:r>
              <a:t>参考：</a:t>
            </a:r>
          </a:p>
          <a:p>
            <a:r>
              <a:t>[S8] NHS. Antihistamines.</a:t>
            </a:r>
          </a:p>
          <a:p>
            <a:r>
              <a:t>https://www.nhs.uk/medicines/antihistamines/</a:t>
            </a:r>
          </a:p>
          <a:p>
            <a:r>
              <a:t>[S14] Simons FER, Simons KJ. H1 Antihistamines: Current Status and Future Directions. World Allergy Organ J. 2008;1:145–155.</a:t>
            </a:r>
          </a:p>
          <a:p>
            <a:r>
              <a:t>https://pmc.ncbi.nlm.nih.gov/articles/PMC3650962/</a:t>
            </a:r>
          </a:p>
          <a:p/>
          <a:p>
            <a:r>
              <a:t>真实照片为图库场景示意，不呈现虚构案例中的真实人物、药品或事件。</a:t>
            </a:r>
          </a:p>
          <a:p>
            <a:r>
              <a:t>图片来源：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第16页｜乙主讲｜建议150秒</a:t>
            </a:r>
          </a:p>
          <a:p>
            <a:r>
              <a:t>同桌讨论20秒＋举手约25秒；答案口头公布，不追问开放观点。</a:t>
            </a:r>
          </a:p>
          <a:p/>
          <a:p>
            <a:r>
              <a:t>乙：先来一条聚餐邀请。小苏今天服过抗过敏药，但具体饮酒要求没确认。A建议垫肚子并错开时间，B建议按经验少喝，C建议先换白水再核药名。哪条消息先处理了现在的未知？</a:t>
            </a:r>
          </a:p>
          <a:p>
            <a:r>
              <a:t>【同桌讨论20秒，随后静默10秒；A、B、C依次举手，各约5秒】</a:t>
            </a:r>
          </a:p>
          <a:p>
            <a:r>
              <a:t>乙：可以再想十秒：你选的是让自己感觉更放心的安排，还是获取这盒药实际要求的动作？甲只观察，不现场宣布答案，也不问个人用药史。把选择留住，下一页我们让小苏真的走进聚餐，看看这条消息怎样变成行动。</a:t>
            </a:r>
          </a:p>
          <a:p/>
          <a:p>
            <a:r>
              <a:t>视觉说明：等权选择卡与小苏动漫肖像；仅保留单选或多选标记，不重复添加提示小标题；不按答案区别格式。</a:t>
            </a:r>
          </a:p>
          <a:p/>
          <a:p>
            <a:r>
              <a:t>参考：</a:t>
            </a:r>
          </a:p>
          <a:p>
            <a:r>
              <a:t>[S8] NHS. Antihistamines.</a:t>
            </a:r>
          </a:p>
          <a:p>
            <a:r>
              <a:t>https://www.nhs.uk/medicines/antihistamines/</a:t>
            </a:r>
          </a:p>
          <a:p>
            <a:r>
              <a:t>[S9] NIAAA. Alcohol-Medication Interactions: Potentially Dangerous Mixes.</a:t>
            </a:r>
          </a:p>
          <a:p>
            <a:r>
              <a:t>https://www.niaaa.nih.gov/health-professionals-communities/core-resource-on-alcohol/alcohol-medication-interactions-potentially-dangerous-mixes</a:t>
            </a:r>
          </a:p>
          <a:p/>
          <a:p>
            <a:r>
              <a:t>真实照片为图库场景示意，不呈现虚构案例中的真实人物、药品或事件。</a:t>
            </a:r>
          </a:p>
          <a:p>
            <a:r>
              <a:t>图片来源：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第17页｜乙主讲｜建议150秒</a:t>
            </a:r>
          </a:p>
          <a:p/>
          <a:p/>
          <a:p>
            <a:r>
              <a:t>乙：现在把刚才群聊题的答案放回实际聚餐。第一格，小苏白天服过抗过敏药；第二格，室友端来酒杯说就一点；第三格，小苏先换成白水，把具体药名和饮酒要求核实。答案C不是一个显得规矩的口号，而是给信息缺口留出一个核实动作。</a:t>
            </a:r>
          </a:p>
          <a:p>
            <a:r>
              <a:t>【甲演室友：先吃点东西再喝，行不行？乙：这不能证明这个药与酒精合用安全。甲：那等两小时呢？乙：也没有适用于所有药物的统一等待时间。留约20秒表演及停顿】</a:t>
            </a:r>
          </a:p>
          <a:p>
            <a:r>
              <a:t>乙：酒精与部分具有镇静作用的药物合用，可能增加嗜睡及反应受损风险；不同药物还可能有其他相互作用，具体看说明书或问药师。普通口服片剂或胶囊通常用白水，含服、咀嚼等剂型另有要求，仍以具体说明为准。下一步把这些判断整理成看、核、问、记。</a:t>
            </a:r>
          </a:p>
          <a:p/>
          <a:p>
            <a:r>
              <a:t>视觉说明：原创动漫聚餐三格：记起已服药、室友劝酒、选白水并核实信息。取消白天、晚上、行动的独立标题和复述性短语，时间与行为直接写入对白。</a:t>
            </a:r>
          </a:p>
          <a:p/>
          <a:p>
            <a:r>
              <a:t>参考：</a:t>
            </a:r>
          </a:p>
          <a:p>
            <a:r>
              <a:t>[S8] NHS. Antihistamines.</a:t>
            </a:r>
          </a:p>
          <a:p>
            <a:r>
              <a:t>https://www.nhs.uk/medicines/antihistamines/</a:t>
            </a:r>
          </a:p>
          <a:p>
            <a:r>
              <a:t>[S9] NIAAA. Alcohol-Medication Interactions: Potentially Dangerous Mixes.</a:t>
            </a:r>
          </a:p>
          <a:p>
            <a:r>
              <a:t>https://www.niaaa.nih.gov/health-professionals-communities/core-resource-on-alcohol/alcohol-medication-interactions-potentially-dangerous-mixes</a:t>
            </a:r>
          </a:p>
          <a:p>
            <a:r>
              <a:t>[S13] NHS. Omeprazole.</a:t>
            </a:r>
          </a:p>
          <a:p>
            <a:r>
              <a:t>https://www.nhs.uk/medicines/omeprazole/</a:t>
            </a:r>
          </a:p>
          <a:p/>
          <a:p>
            <a:r>
              <a:t>真实照片为图库场景示意，不呈现虚构案例中的真实人物、药品或事件。</a:t>
            </a:r>
          </a:p>
          <a:p>
            <a:r>
              <a:t>图片来源：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第18页｜乙主讲｜建议60秒</a:t>
            </a:r>
          </a:p>
          <a:p/>
          <a:p/>
          <a:p>
            <a:r>
              <a:t>乙：第三部分，我们把前面的例子浓缩成四个动作：看、核、问、记。看，是观察症状，也看说明书和需要就医的信号。核，是核对成分有没有重复，剂量与时间是否符合要求，自己有没有相关禁忌。问，是把不确定的地方交给医生或药师确认，不用猜测填空。记，是记录已经用过的药、时间、用量以及出现的反应。上一题选C，就把“这盒药能不能配酒”的不确定性变成了一个清楚的咨询问题。这四步是课堂助记法，不是替代诊疗的专业流程。</a:t>
            </a:r>
          </a:p>
          <a:p/>
          <a:p>
            <a:r>
              <a:t>视觉说明：原创四步流程，标注“课堂助记法”。</a:t>
            </a:r>
          </a:p>
          <a:p/>
          <a:p>
            <a:r>
              <a:t>参考：</a:t>
            </a:r>
          </a:p>
          <a:p>
            <a:r>
              <a:t>[S1] 国家卫生健康委等（2020）《关于加强医疗机构药事管理促进合理用药的意见》</a:t>
            </a:r>
          </a:p>
          <a:p>
            <a:r>
              <a:t>https://www.nhc.gov.cn/yzygj/c100068/202002/fdb7240014db4d49827ca25bbb41b177.shtml</a:t>
            </a:r>
          </a:p>
          <a:p>
            <a:r>
              <a:t>[S2] FDA. Don’t Overuse Acetaminophen.</a:t>
            </a:r>
          </a:p>
          <a:p>
            <a:r>
              <a:t>https://www.fda.gov/consumers/consumer-updates/dont-overuse-acetaminophen</a:t>
            </a:r>
          </a:p>
          <a:p>
            <a:r>
              <a:t>[S8] NHS. Antihistamines.</a:t>
            </a:r>
          </a:p>
          <a:p>
            <a:r>
              <a:t>https://www.nhs.uk/medicines/antihistamines/</a:t>
            </a:r>
          </a:p>
          <a:p>
            <a:r>
              <a:t>[S9] NIAAA. Alcohol-Medication Interactions: Potentially Dangerous Mixes.</a:t>
            </a:r>
          </a:p>
          <a:p>
            <a:r>
              <a:t>https://www.niaaa.nih.gov/health-professionals-communities/core-resource-on-alcohol/alcohol-medication-interactions-potentially-dangerous-mixes</a:t>
            </a:r>
          </a:p>
          <a:p/>
          <a:p>
            <a:r>
              <a:t>真实照片为图库场景示意，不呈现虚构案例中的真实人物、药品或事件。</a:t>
            </a:r>
          </a:p>
          <a:p>
            <a:r>
              <a:t>图片来源：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第19页｜乙主讲｜建议90秒</a:t>
            </a:r>
          </a:p>
          <a:p/>
          <a:p/>
          <a:p>
            <a:r>
              <a:t>乙：看到密密麻麻的说明书，不少人的反应是只找“一次几片”。更有效的办法，是先定位六类信息。第一，成分和通用名，解决“我究竟在吃什么”。第二，适应证，确认它用于什么情况。第三，用法用量，包含每次多少、间隔多久以及如何服用。第四，禁忌和注意事项，查看过敏史、既往疾病和特殊人群等相关要求。第五，相互作用与不良反应，看看与其他药物、食物饮料是否存在需要注意的地方。第六，贮藏条件和有效期，确认药品是否仍适合使用。</a:t>
            </a:r>
          </a:p>
          <a:p>
            <a:r>
              <a:t>这张是重新设计的阅读示意，不是实际产品的说明书，也不能替代完整说明书。如果处方要求与自己的理解不一致，应向开方医生或药师核实，而不是自己随意选一种理解执行。</a:t>
            </a:r>
          </a:p>
          <a:p/>
          <a:p>
            <a:r>
              <a:t>视觉说明：说明书六处阅读清单配药瓶实拍照片；提醒以实际说明书为准。</a:t>
            </a:r>
          </a:p>
          <a:p/>
          <a:p>
            <a:r>
              <a:t>参考：</a:t>
            </a:r>
          </a:p>
          <a:p>
            <a:r>
              <a:t>[S1] 国家卫生健康委等（2020）《关于加强医疗机构药事管理促进合理用药的意见》</a:t>
            </a:r>
          </a:p>
          <a:p>
            <a:r>
              <a:t>https://www.nhc.gov.cn/yzygj/c100068/202002/fdb7240014db4d49827ca25bbb41b177.shtml</a:t>
            </a:r>
          </a:p>
          <a:p>
            <a:r>
              <a:t>[S2] FDA. Don’t Overuse Acetaminophen.</a:t>
            </a:r>
          </a:p>
          <a:p>
            <a:r>
              <a:t>https://www.fda.gov/consumers/consumer-updates/dont-overuse-acetaminophen</a:t>
            </a:r>
          </a:p>
          <a:p>
            <a:r>
              <a:t>[S8] NHS. Antihistamines.</a:t>
            </a:r>
          </a:p>
          <a:p>
            <a:r>
              <a:t>https://www.nhs.uk/medicines/antihistamines/</a:t>
            </a:r>
          </a:p>
          <a:p/>
          <a:p>
            <a:r>
              <a:t>真实照片为图库场景示意，不呈现虚构案例中的真实人物、药品或事件。</a:t>
            </a:r>
          </a:p>
          <a:p>
            <a:r>
              <a:t>图片来源：</a:t>
            </a:r>
          </a:p>
          <a:p>
            <a:r>
              <a:t>Pexels photo 16051935｜https://www.pexels.com/photo/16051935/｜Pexels License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第20页｜乙主讲｜建议70秒</a:t>
            </a:r>
          </a:p>
          <a:p/>
          <a:p/>
          <a:p>
            <a:r>
              <a:t>乙：用药过程中的很多问题，不是药选错了，而是自己改变了使用方式。比如漏了一次，不要自动理解成下次吃双倍。不同药物的处理方法不同，先查说明书，拿不准就问药师。再比如疗程，按处方使用，同时留意症状与反应；出现疑问要及时沟通，不能自行加量或延长。还有剂型，一些缓释或肠溶制剂依赖特定结构控制释放位置和速度，随意掰碎、咀嚼或打开胶囊，可能改变原先设计。也不是说所有带刻痕的药都不能分，而是能不能分、怎样分，应以具体产品说明为准。</a:t>
            </a:r>
          </a:p>
          <a:p/>
          <a:p>
            <a:r>
              <a:t>视觉说明：时间、剂量、剂型三张行动卡，各配一张药物或药房实拍照片。</a:t>
            </a:r>
          </a:p>
          <a:p/>
          <a:p>
            <a:r>
              <a:t>参考：</a:t>
            </a:r>
          </a:p>
          <a:p>
            <a:r>
              <a:t>[S4] CDC. Healthy Habits: Antibiotic Do’s and Don’ts.</a:t>
            </a:r>
          </a:p>
          <a:p>
            <a:r>
              <a:t>https://www.cdc.gov/antibiotic-use/about/</a:t>
            </a:r>
          </a:p>
          <a:p>
            <a:r>
              <a:t>[S10] NHS Specialist Pharmacy Service. Advising on missed or delayed doses of medicines.</a:t>
            </a:r>
          </a:p>
          <a:p>
            <a:r>
              <a:t>https://sps.nhs.uk/articles/advising-on-missed-or-delayed-doses-of-medicines/</a:t>
            </a:r>
          </a:p>
          <a:p>
            <a:r>
              <a:t>[S13] NHS. Omeprazole.</a:t>
            </a:r>
          </a:p>
          <a:p>
            <a:r>
              <a:t>https://www.nhs.uk/medicines/omeprazole/</a:t>
            </a:r>
          </a:p>
          <a:p/>
          <a:p>
            <a:r>
              <a:t>真实照片为图库场景示意，不呈现虚构案例中的真实人物、药品或事件。</a:t>
            </a:r>
          </a:p>
          <a:p>
            <a:r>
              <a:t>图片来源：</a:t>
            </a:r>
          </a:p>
          <a:p>
            <a:r>
              <a:t>Pexels photo 16051935｜https://www.pexels.com/photo/16051935/｜Pexels License</a:t>
            </a:r>
          </a:p>
          <a:p>
            <a:r>
              <a:t>Árpád Czapp｜https://unsplash.com/photos/a-room-filled-with-lots-of-shelves-filled-with-boxes-and-boxes-tvP6pCnq9iI｜Unsplash License</a:t>
            </a:r>
          </a:p>
          <a:p>
            <a:r>
              <a:t>Towfiqu barbhuiya｜https://www.pexels.com/photo/hand-holding-a-pill-15703464/｜Pexels License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第21页｜乙主讲｜建议60秒</a:t>
            </a:r>
          </a:p>
          <a:p/>
          <a:p/>
          <a:p>
            <a:r>
              <a:t>乙：咨询是否有效，很大程度取决于我们提供的信息。可以按三句话组织。第一，我有什么症状，持续多久，正在变好还是加重。第二，我正在使用哪些药物或保健食品，具体药名和规格是什么，已经什么时候用了多少。第三，我有哪些已知药物过敏史、既往疾病或特殊情况。最好把药盒和说明书带上，或者拍清楚成分、规格和用法用量。只说“那种白色药片”，专业人员也难以准确判断。如果需要描述私密情况，可以单独咨询，不必在课堂或宿舍群里公开。</a:t>
            </a:r>
          </a:p>
          <a:p/>
          <a:p>
            <a:r>
              <a:t>视觉说明：药师取药实拍照片配咨询时需要说明的三类信息。</a:t>
            </a:r>
          </a:p>
          <a:p/>
          <a:p>
            <a:r>
              <a:t>参考：</a:t>
            </a:r>
          </a:p>
          <a:p>
            <a:r>
              <a:t>[S1] 国家卫生健康委等（2020）《关于加强医疗机构药事管理促进合理用药的意见》</a:t>
            </a:r>
          </a:p>
          <a:p>
            <a:r>
              <a:t>https://www.nhc.gov.cn/yzygj/c100068/202002/fdb7240014db4d49827ca25bbb41b177.shtml</a:t>
            </a:r>
          </a:p>
          <a:p>
            <a:r>
              <a:t>[S2] FDA. Don’t Overuse Acetaminophen.</a:t>
            </a:r>
          </a:p>
          <a:p>
            <a:r>
              <a:t>https://www.fda.gov/consumers/consumer-updates/dont-overuse-acetaminophen</a:t>
            </a:r>
          </a:p>
          <a:p/>
          <a:p>
            <a:r>
              <a:t>真实照片为图库场景示意，不呈现虚构案例中的真实人物、药品或事件。</a:t>
            </a:r>
          </a:p>
          <a:p>
            <a:r>
              <a:t>图片来源：</a:t>
            </a:r>
          </a:p>
          <a:p>
            <a:r>
              <a:t>National Cancer Institute｜https://unsplash.com/photos/pharmacist-reaching-for-medication-on-shelf-byGTytEGjBo｜Unsplash License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第22页｜乙主讲｜建议75秒</a:t>
            </a:r>
          </a:p>
          <a:p/>
          <a:p/>
          <a:p>
            <a:r>
              <a:t>乙：合理用药还包括知道什么时候停止自己试错。用药后出现呼吸困难、喉部或舌头肿胀、明显意识异常等情况，可能是严重反应，应立即寻求急救，在国内拨打120。不要靠继续加药来压住症状。怀疑超量或误服，也要及时获得医疗帮助，有些问题并不一定马上表现出来。就诊时带上药盒和已经服用的时间、用量记录。如果不是急症，但症状持续、反复或越来越重，也应该按药品说明书的就医提示及时就诊。我们列的是几个重要信号，不是完整清单，更不是要大家在宿舍自行鉴别各种严重疾病。</a:t>
            </a:r>
          </a:p>
          <a:p/>
          <a:p>
            <a:r>
              <a:t>视觉说明：红色120急救块、危险信号清单及医院走廊实拍照片。</a:t>
            </a:r>
          </a:p>
          <a:p/>
          <a:p>
            <a:r>
              <a:t>参考：</a:t>
            </a:r>
          </a:p>
          <a:p>
            <a:r>
              <a:t>[S2] FDA. Don’t Overuse Acetaminophen.</a:t>
            </a:r>
          </a:p>
          <a:p>
            <a:r>
              <a:t>https://www.fda.gov/consumers/consumer-updates/dont-overuse-acetaminophen</a:t>
            </a:r>
          </a:p>
          <a:p>
            <a:r>
              <a:t>[S11] CDC. Manage Common Cold.</a:t>
            </a:r>
          </a:p>
          <a:p>
            <a:r>
              <a:t>https://www.cdc.gov/common-cold/treatment/index.html</a:t>
            </a:r>
          </a:p>
          <a:p>
            <a:r>
              <a:t>[S12] NHS. Anaphylaxis.</a:t>
            </a:r>
          </a:p>
          <a:p>
            <a:r>
              <a:t>https://www.nhs.uk/conditions/anaphylaxis/</a:t>
            </a:r>
          </a:p>
          <a:p/>
          <a:p>
            <a:r>
              <a:t>真实照片为图库场景示意，不呈现虚构案例中的真实人物、药品或事件。</a:t>
            </a:r>
          </a:p>
          <a:p>
            <a:r>
              <a:t>图片来源：</a:t>
            </a:r>
          </a:p>
          <a:p>
            <a:r>
              <a:t>Tasha Kostyuk｜https://unsplash.com/photos/empty-hospital-corridor-with-benches-and-doors-Pk-KuizxQv8｜Unsplash License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第23页｜乙主讲｜建议65秒</a:t>
            </a:r>
          </a:p>
          <a:p/>
          <a:p/>
          <a:p>
            <a:r>
              <a:t>乙：说到药箱，最重要的不是囤得多，而是需要时能认清。药品尽量保留原包装和说明书，避免把不同药片混在一个没有标签的小盒子里。检查有效期，也检查包装上的贮藏要求，不能把“放冰箱”当作所有药物的统一保存方法。自己的处方药不要分享给室友，过期或不再需要的药品按当地药品回收或分类要求处理。再保留一个简单的用药记录，例如手机备忘录，写药名、时间、用量和反应。这样复诊或咨询时，信息会比凭印象回忆更准确。</a:t>
            </a:r>
          </a:p>
          <a:p/>
          <a:p>
            <a:r>
              <a:t>视觉说明：药房实拍照片配宿舍药箱管理的三条行动提示。</a:t>
            </a:r>
          </a:p>
          <a:p/>
          <a:p>
            <a:r>
              <a:t>参考：</a:t>
            </a:r>
          </a:p>
          <a:p>
            <a:r>
              <a:t>[S2] FDA. Don’t Overuse Acetaminophen.</a:t>
            </a:r>
          </a:p>
          <a:p>
            <a:r>
              <a:t>https://www.fda.gov/consumers/consumer-updates/dont-overuse-acetaminophen</a:t>
            </a:r>
          </a:p>
          <a:p>
            <a:r>
              <a:t>[S4] CDC. Healthy Habits: Antibiotic Do’s and Don’ts.</a:t>
            </a:r>
          </a:p>
          <a:p>
            <a:r>
              <a:t>https://www.cdc.gov/antibiotic-use/about/</a:t>
            </a:r>
          </a:p>
          <a:p/>
          <a:p>
            <a:r>
              <a:t>真实照片为图库场景示意，不呈现虚构案例中的真实人物、药品或事件。</a:t>
            </a:r>
          </a:p>
          <a:p>
            <a:r>
              <a:t>图片来源：</a:t>
            </a:r>
          </a:p>
          <a:p>
            <a:r>
              <a:t>Árpád Czapp｜https://unsplash.com/photos/a-room-filled-with-lots-of-shelves-filled-with-boxes-and-boxes-tvP6pCnq9iI｜Unsplash License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第24页｜乙主讲｜建议60秒</a:t>
            </a:r>
          </a:p>
          <a:p/>
          <a:p/>
          <a:p>
            <a:r>
              <a:t>乙：挑战前，把四个情境换成四个动作：感冒药想叠加，先核成分；感冒想到抗生素，先确认是否需要；抗过敏后困倦，查提示并避开高风险活动；服药后聚餐，先核实饮酒要求。这些动作都在刚才的案例里出现过，不用背一串药名。最后的小测把它们组合起来，练习在信息缺口前停一下。</a:t>
            </a:r>
          </a:p>
          <a:p/>
          <a:p>
            <a:r>
              <a:t>视觉说明：五行“场景→动作”映射；每行配一个小图标。</a:t>
            </a:r>
          </a:p>
          <a:p/>
          <a:p>
            <a:r>
              <a:t>参考：</a:t>
            </a:r>
          </a:p>
          <a:p/>
          <a:p/>
          <a:p>
            <a:r>
              <a:t>真实照片为图库场景示意，不呈现虚构案例中的真实人物、药品或事件。</a:t>
            </a:r>
          </a:p>
          <a:p>
            <a:r>
              <a:t>图片来源：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第25页｜乙主讲｜建议60秒</a:t>
            </a:r>
          </a:p>
          <a:p/>
          <a:p/>
          <a:p>
            <a:r>
              <a:t>乙：最后进入综合挑战，小苏再次登场。这次信息更完整：他今天已经服用一种复方感冒药，晚上觉得还没完全舒服，想再加另一盒，同时准备去聚餐。现在两盒药的成分没有核对，饮酒要求也不清楚，症状目前较轻，没有我们刚才提到的严重急症表现。这里不要求大家诊断他得了什么病，也不要求给他开药，只选一个更稳妥的下一步方案。请记住三个线索：已经服过药、还没核对成分、聚餐可能喝酒。下一页有三个方案，答案不会藏在复杂医学知识里。</a:t>
            </a:r>
          </a:p>
          <a:p/>
          <a:p>
            <a:r>
              <a:t>视觉说明：手持药片实拍照片配三条虚构综合情境线索。</a:t>
            </a:r>
          </a:p>
          <a:p/>
          <a:p>
            <a:r>
              <a:t>参考：</a:t>
            </a:r>
          </a:p>
          <a:p/>
          <a:p/>
          <a:p>
            <a:r>
              <a:t>真实照片为图库场景示意，不呈现虚构案例中的真实人物、药品或事件。</a:t>
            </a:r>
          </a:p>
          <a:p>
            <a:r>
              <a:t>图片来源：</a:t>
            </a:r>
          </a:p>
          <a:p>
            <a:r>
              <a:t>Towfiqu barbhuiya｜https://www.pexels.com/photo/hand-holding-a-pill-15703464/｜Pexels License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第26页｜乙主讲｜建议90秒</a:t>
            </a:r>
          </a:p>
          <a:p>
            <a:r>
              <a:t>阅读10秒＋举手约25秒；甲负责观察，乙主讲。</a:t>
            </a:r>
          </a:p>
          <a:p/>
          <a:p>
            <a:r>
              <a:t>乙：这次可以采纳多条建议。A处理聚餐饮酒的不确定性，B准备药盒和已服记录，C沿用上次经验调整第二盒的时间。请判断哪些能补齐题目里的未知信息，再把采纳的建议拼成小苏今晚的计划。</a:t>
            </a:r>
          </a:p>
          <a:p>
            <a:r>
              <a:t>【静默10秒；依次举手各约5秒，可以多次举手】</a:t>
            </a:r>
          </a:p>
          <a:p>
            <a:r>
              <a:t>乙：先保留选择。下一页分别核对饮酒、成分与已服情况，不用靠哪个选项最长来猜。</a:t>
            </a:r>
          </a:p>
          <a:p/>
          <a:p>
            <a:r>
              <a:t>视觉说明：等权选择卡与小苏动漫肖像；仅保留单选或多选标记，不重复添加提示小标题；不按答案区别格式。</a:t>
            </a:r>
          </a:p>
          <a:p/>
          <a:p>
            <a:r>
              <a:t>参考：</a:t>
            </a:r>
          </a:p>
          <a:p/>
          <a:p/>
          <a:p>
            <a:r>
              <a:t>真实照片为图库场景示意，不呈现虚构案例中的真实人物、药品或事件。</a:t>
            </a:r>
          </a:p>
          <a:p>
            <a:r>
              <a:t>图片来源：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第27页｜乙主讲｜建议90秒</a:t>
            </a:r>
          </a:p>
          <a:p>
            <a:r>
              <a:t>乙揭晓；甲补充就医边界约15秒，再交回乙。</a:t>
            </a:r>
          </a:p>
          <a:p/>
          <a:p>
            <a:r>
              <a:t>乙：A与B可以一起采纳。A在饮酒要求明确之前先不喝，B把具体药名、规格、成分、何时用了多少一起交给药师核对。C沿用上次经验把药改到睡前，没有解决现在的重复成分和累计使用问题。</a:t>
            </a:r>
          </a:p>
          <a:p>
            <a:r>
              <a:t>甲：症状持续、加重或出现呼吸困难、意识异常等急症表现，要转为就医或急救。</a:t>
            </a:r>
          </a:p>
          <a:p>
            <a:r>
              <a:t>乙：两条建议拼成完整行动，才比一个听起来谨慎的安排更有依据。</a:t>
            </a:r>
          </a:p>
          <a:p/>
          <a:p>
            <a:r>
              <a:t>视觉说明：大号B＋三个“线索→行动”映射。</a:t>
            </a:r>
          </a:p>
          <a:p/>
          <a:p>
            <a:r>
              <a:t>参考：</a:t>
            </a:r>
          </a:p>
          <a:p>
            <a:r>
              <a:t>[S2] FDA. Don’t Overuse Acetaminophen.</a:t>
            </a:r>
          </a:p>
          <a:p>
            <a:r>
              <a:t>https://www.fda.gov/consumers/consumer-updates/dont-overuse-acetaminophen</a:t>
            </a:r>
          </a:p>
          <a:p>
            <a:r>
              <a:t>[S4] CDC. Healthy Habits: Antibiotic Do’s and Don’ts.</a:t>
            </a:r>
          </a:p>
          <a:p>
            <a:r>
              <a:t>https://www.cdc.gov/antibiotic-use/about/</a:t>
            </a:r>
          </a:p>
          <a:p>
            <a:r>
              <a:t>[S9] NIAAA. Alcohol-Medication Interactions: Potentially Dangerous Mixes.</a:t>
            </a:r>
          </a:p>
          <a:p>
            <a:r>
              <a:t>https://www.niaaa.nih.gov/health-professionals-communities/core-resource-on-alcohol/alcohol-medication-interactions-potentially-dangerous-mixes</a:t>
            </a:r>
          </a:p>
          <a:p>
            <a:r>
              <a:t>[S11] CDC. Manage Common Cold.</a:t>
            </a:r>
          </a:p>
          <a:p>
            <a:r>
              <a:t>https://www.cdc.gov/common-cold/treatment/index.html</a:t>
            </a:r>
          </a:p>
          <a:p>
            <a:r>
              <a:t>[S12] NHS. Anaphylaxis.</a:t>
            </a:r>
          </a:p>
          <a:p>
            <a:r>
              <a:t>https://www.nhs.uk/conditions/anaphylaxis/</a:t>
            </a:r>
          </a:p>
          <a:p/>
          <a:p>
            <a:r>
              <a:t>真实照片为图库场景示意，不呈现虚构案例中的真实人物、药品或事件。</a:t>
            </a:r>
          </a:p>
          <a:p>
            <a:r>
              <a:t>图片来源：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第28页｜乙主讲｜建议60秒</a:t>
            </a:r>
          </a:p>
          <a:p>
            <a:r>
              <a:t>甲乙共同收尾；参考文献附页不逐页讲解。</a:t>
            </a:r>
          </a:p>
          <a:p/>
          <a:p>
            <a:r>
              <a:t>乙：最后，我们把今天的内容收在三句话里。第一，先看说明书，再做用药决定，不让包装和熟悉感替我们判断。第二，核对重复成分，并记录已经服用的药物、时间和用量。第三，遇到不确定的信息，向医生或药师询问；该就医的时候，不继续靠自己试药。</a:t>
            </a:r>
          </a:p>
          <a:p>
            <a:r>
              <a:t>甲：希望下一次室友拿出药盒时，大家能多做一个核对动作，多问一个具体问题。</a:t>
            </a:r>
          </a:p>
          <a:p>
            <a:r>
              <a:t>乙：药可以常备，判断不能省略。谢谢大家。我们的数据出处和参考资料放在后面的附页，方便课后查阅。</a:t>
            </a:r>
          </a:p>
          <a:p>
            <a:r>
              <a:t>【留出约10秒结束停顿；不在35分钟内另加开放讨论。】</a:t>
            </a:r>
          </a:p>
          <a:p/>
          <a:p>
            <a:r>
              <a:t>视觉说明：蓝底白字收尾，右侧为医疗空间实拍照片。</a:t>
            </a:r>
          </a:p>
          <a:p/>
          <a:p>
            <a:r>
              <a:t>参考：</a:t>
            </a:r>
          </a:p>
          <a:p/>
          <a:p/>
          <a:p>
            <a:r>
              <a:t>真实照片为图库场景示意，不呈现虚构案例中的真实人物、药品或事件。</a:t>
            </a:r>
          </a:p>
          <a:p>
            <a:r>
              <a:t>图片来源：</a:t>
            </a:r>
          </a:p>
          <a:p>
            <a:r>
              <a:t>Martha Dominguez de Gouveia｜https://unsplash.com/photos/hospital-lobby-reception-with-signage-nMyM7fxpokE｜Unsplash License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参考文献附页，不逐页讲解。</a:t>
            </a:r>
          </a:p>
          <a:p/>
          <a:p>
            <a:r>
              <a:t>[S1] 国家卫生健康委等（2020）《关于加强医疗机构药事管理促进合理用药的意见》</a:t>
            </a:r>
          </a:p>
          <a:p>
            <a:r>
              <a:t>https://www.nhc.gov.cn/yzygj/c100068/202002/fdb7240014db4d49827ca25bbb41b177.shtml</a:t>
            </a:r>
          </a:p>
          <a:p/>
          <a:p>
            <a:r>
              <a:t>[S2] FDA. Don’t Overuse Acetaminophen.</a:t>
            </a:r>
          </a:p>
          <a:p>
            <a:r>
              <a:t>https://www.fda.gov/consumers/consumer-updates/dont-overuse-acetaminophen</a:t>
            </a:r>
          </a:p>
          <a:p/>
          <a:p>
            <a:r>
              <a:t>[S4] CDC. Healthy Habits: Antibiotic Do’s and Don’ts.</a:t>
            </a:r>
          </a:p>
          <a:p>
            <a:r>
              <a:t>https://www.cdc.gov/antibiotic-use/about/</a:t>
            </a:r>
          </a:p>
          <a:p/>
          <a:p>
            <a:r>
              <a:t>[S5] CDC. Antibiotic Use in the United States（2025更新；门诊至少28%不必要处方）</a:t>
            </a:r>
          </a:p>
          <a:p>
            <a:r>
              <a:t>https://www.cdc.gov/antibiotic-use/hcp/data-research/antibiotic-prescribing.html</a:t>
            </a:r>
          </a:p>
          <a:p/>
          <a:p>
            <a:r>
              <a:t>[S8] NHS. Antihistamines.</a:t>
            </a:r>
          </a:p>
          <a:p>
            <a:r>
              <a:t>https://www.nhs.uk/medicines/antihistamines/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参考文献附页，不逐页讲解。</a:t>
            </a:r>
          </a:p>
          <a:p/>
          <a:p>
            <a:r>
              <a:t>[S9] NIAAA. Alcohol-Medication Interactions: Potentially Dangerous Mixes.</a:t>
            </a:r>
          </a:p>
          <a:p>
            <a:r>
              <a:t>https://www.niaaa.nih.gov/health-professionals-communities/core-resource-on-alcohol/alcohol-medication-interactions-potentially-dangerous-mixes</a:t>
            </a:r>
          </a:p>
          <a:p/>
          <a:p>
            <a:r>
              <a:t>[S10] NHS Specialist Pharmacy Service. Advising on missed or delayed doses of medicines.</a:t>
            </a:r>
          </a:p>
          <a:p>
            <a:r>
              <a:t>https://sps.nhs.uk/articles/advising-on-missed-or-delayed-doses-of-medicines/</a:t>
            </a:r>
          </a:p>
          <a:p/>
          <a:p>
            <a:r>
              <a:t>[S11] CDC. Manage Common Cold.</a:t>
            </a:r>
          </a:p>
          <a:p>
            <a:r>
              <a:t>https://www.cdc.gov/common-cold/treatment/index.html</a:t>
            </a:r>
          </a:p>
          <a:p/>
          <a:p>
            <a:r>
              <a:t>[S12] NHS. Anaphylaxis.</a:t>
            </a:r>
          </a:p>
          <a:p>
            <a:r>
              <a:t>https://www.nhs.uk/conditions/anaphylaxis/</a:t>
            </a:r>
          </a:p>
          <a:p/>
          <a:p>
            <a:r>
              <a:t>[S13] NHS. Omeprazole.</a:t>
            </a:r>
          </a:p>
          <a:p>
            <a:r>
              <a:t>https://www.nhs.uk/medicines/omeprazole/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参考文献附页，不逐页讲解。</a:t>
            </a:r>
          </a:p>
          <a:p/>
          <a:p>
            <a:r>
              <a:t>[S14] Simons FER, Simons KJ. H1 Antihistamines: Current Status and Future Directions. World Allergy Organ J. 2008;1:145–155.</a:t>
            </a:r>
          </a:p>
          <a:p>
            <a:r>
              <a:t>https://pmc.ncbi.nlm.nih.gov/articles/PMC3650962/</a:t>
            </a:r>
          </a:p>
          <a:p/>
          <a:p>
            <a:r>
              <a:t>[S15] CDC. About C. diff（2026更新；用药期间及结束后1个月感染风险最高10倍）</a:t>
            </a:r>
          </a:p>
          <a:p>
            <a:r>
              <a:t>https://www.cdc.gov/c-diff/about/</a:t>
            </a:r>
          </a:p>
          <a:p/>
          <a:p>
            <a:r>
              <a:t>[S16] Hersh AL et al. Unnecessary Antibiotic Prescribing in US Ambulatory Care Settings, 2010–2015. Clin Infect Dis. 2021;72:133–137.</a:t>
            </a:r>
          </a:p>
          <a:p>
            <a:r>
              <a:t>https://stacks.cdc.gov/view/cdc/120299/cdc_120299_DS1.pdf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真实照片来源附页，不逐页讲解。</a:t>
            </a:r>
          </a:p>
          <a:p/>
          <a:p>
            <a:r>
              <a:t>tablet-hand.jpg｜Towfiqu barbhuiya</a:t>
            </a:r>
          </a:p>
          <a:p>
            <a:r>
              <a:t>https://www.pexels.com/photo/hand-holding-a-pill-15703464/</a:t>
            </a:r>
          </a:p>
          <a:p>
            <a:r>
              <a:t>Pexels License: https://www.pexels.com/license/</a:t>
            </a:r>
          </a:p>
          <a:p/>
          <a:p>
            <a:r>
              <a:t>pill-bottle.jpg｜Pexels photo 16051935</a:t>
            </a:r>
          </a:p>
          <a:p>
            <a:r>
              <a:t>https://www.pexels.com/photo/16051935/</a:t>
            </a:r>
          </a:p>
          <a:p>
            <a:r>
              <a:t>Pexels License: https://www.pexels.com/license/</a:t>
            </a:r>
          </a:p>
          <a:p/>
          <a:p>
            <a:r>
              <a:t>college-campus.jpg｜George Pak</a:t>
            </a:r>
          </a:p>
          <a:p>
            <a:r>
              <a:t>https://www.pexels.com/photo/7972512/</a:t>
            </a:r>
          </a:p>
          <a:p>
            <a:r>
              <a:t>Pexels License: https://www.pexels.com/license/</a:t>
            </a:r>
          </a:p>
          <a:p/>
          <a:p>
            <a:r>
              <a:t>evening.jpg｜LZ Jian</a:t>
            </a:r>
          </a:p>
          <a:p>
            <a:r>
              <a:t>https://www.pexels.com/photo/black-lamp-beside-bed-5968800/</a:t>
            </a:r>
          </a:p>
          <a:p>
            <a:r>
              <a:t>Pexels License: https://www.pexels.com/license/</a:t>
            </a:r>
          </a:p>
          <a:p/>
          <a:p>
            <a:r>
              <a:t>pharmacy-01.jpg｜Árpád Czapp</a:t>
            </a:r>
          </a:p>
          <a:p>
            <a:r>
              <a:t>https://unsplash.com/photos/a-room-filled-with-lots-of-shelves-filled-with-boxes-and-boxes-tvP6pCnq9iI</a:t>
            </a:r>
          </a:p>
          <a:p>
            <a:r>
              <a:t>Unsplash License: https://unsplash.com/license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真实照片来源附页，不逐页讲解。</a:t>
            </a:r>
          </a:p>
          <a:p/>
          <a:p>
            <a:r>
              <a:t>pharmacy-02.jpg｜National Cancer Institute</a:t>
            </a:r>
          </a:p>
          <a:p>
            <a:r>
              <a:t>https://unsplash.com/photos/pharmacist-reaching-for-medication-on-shelf-byGTytEGjBo</a:t>
            </a:r>
          </a:p>
          <a:p>
            <a:r>
              <a:t>Unsplash License: https://unsplash.com/license</a:t>
            </a:r>
          </a:p>
          <a:p/>
          <a:p>
            <a:r>
              <a:t>pharmacy-03.jpg｜paws and prints</a:t>
            </a:r>
          </a:p>
          <a:p>
            <a:r>
              <a:t>https://unsplash.com/photos/sQjHIOhiL0E</a:t>
            </a:r>
          </a:p>
          <a:p>
            <a:r>
              <a:t>Unsplash License: https://unsplash.com/license</a:t>
            </a:r>
          </a:p>
          <a:p/>
          <a:p>
            <a:r>
              <a:t>hospital-02.jpg｜Tasha Kostyuk</a:t>
            </a:r>
          </a:p>
          <a:p>
            <a:r>
              <a:t>https://unsplash.com/photos/empty-hospital-corridor-with-benches-and-doors-Pk-KuizxQv8</a:t>
            </a:r>
          </a:p>
          <a:p>
            <a:r>
              <a:t>Unsplash License: https://unsplash.com/license</a:t>
            </a:r>
          </a:p>
          <a:p/>
          <a:p>
            <a:r>
              <a:t>clinic-01.jpg｜Martha Dominguez de Gouveia</a:t>
            </a:r>
          </a:p>
          <a:p>
            <a:r>
              <a:t>https://unsplash.com/photos/hospital-lobby-reception-with-signage-nMyM7fxpokE</a:t>
            </a:r>
          </a:p>
          <a:p>
            <a:r>
              <a:t>Unsplash License: https://unsplash.com/license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jpg"/><Relationship Id="rId4" Type="http://schemas.openxmlformats.org/officeDocument/2006/relationships/image" Target="../media/image3.jpg"/><Relationship Id="rId5" Type="http://schemas.openxmlformats.org/officeDocument/2006/relationships/image" Target="../media/image4.jpg"/><Relationship Id="rId6" Type="http://schemas.openxmlformats.org/officeDocument/2006/relationships/image" Target="../media/image5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6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7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7.jpg"/><Relationship Id="rId4" Type="http://schemas.openxmlformats.org/officeDocument/2006/relationships/image" Target="../media/image3.jpg"/><Relationship Id="rId5" Type="http://schemas.openxmlformats.org/officeDocument/2006/relationships/image" Target="../media/image1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4.jp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5.jp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3.jp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1.jp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image6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8.jp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nhc.gov.cn/yzygj/c100068/202002/fdb7240014db4d49827ca25bbb41b177.shtml" TargetMode="External"/><Relationship Id="rId3" Type="http://schemas.openxmlformats.org/officeDocument/2006/relationships/hyperlink" Target="https://www.fda.gov/consumers/consumer-updates/dont-overuse-acetaminophen" TargetMode="External"/><Relationship Id="rId4" Type="http://schemas.openxmlformats.org/officeDocument/2006/relationships/hyperlink" Target="https://www.cdc.gov/antibiotic-use/about/" TargetMode="External"/><Relationship Id="rId5" Type="http://schemas.openxmlformats.org/officeDocument/2006/relationships/hyperlink" Target="https://www.cdc.gov/antibiotic-use/hcp/data-research/antibiotic-prescribing.html" TargetMode="External"/><Relationship Id="rId6" Type="http://schemas.openxmlformats.org/officeDocument/2006/relationships/hyperlink" Target="https://www.nhs.uk/medicines/antihistamines/" TargetMode="External"/><Relationship Id="rId7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niaaa.nih.gov/health-professionals-communities/core-resource-on-alcohol/alcohol-medication-interactions-potentially-dangerous-mixes" TargetMode="External"/><Relationship Id="rId3" Type="http://schemas.openxmlformats.org/officeDocument/2006/relationships/hyperlink" Target="https://sps.nhs.uk/articles/advising-on-missed-or-delayed-doses-of-medicines/" TargetMode="External"/><Relationship Id="rId4" Type="http://schemas.openxmlformats.org/officeDocument/2006/relationships/hyperlink" Target="https://www.cdc.gov/common-cold/treatment/index.html" TargetMode="External"/><Relationship Id="rId5" Type="http://schemas.openxmlformats.org/officeDocument/2006/relationships/hyperlink" Target="https://www.nhs.uk/conditions/anaphylaxis/" TargetMode="External"/><Relationship Id="rId6" Type="http://schemas.openxmlformats.org/officeDocument/2006/relationships/hyperlink" Target="https://www.nhs.uk/medicines/omeprazole/" TargetMode="External"/><Relationship Id="rId7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pmc.ncbi.nlm.nih.gov/articles/PMC3650962/" TargetMode="External"/><Relationship Id="rId3" Type="http://schemas.openxmlformats.org/officeDocument/2006/relationships/hyperlink" Target="https://www.cdc.gov/c-diff/about/" TargetMode="External"/><Relationship Id="rId4" Type="http://schemas.openxmlformats.org/officeDocument/2006/relationships/hyperlink" Target="https://stacks.cdc.gov/view/cdc/120299/cdc_120299_DS1.pdf" TargetMode="External"/><Relationship Id="rId5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pexels.com/photo/hand-holding-a-pill-15703464/" TargetMode="External"/><Relationship Id="rId3" Type="http://schemas.openxmlformats.org/officeDocument/2006/relationships/hyperlink" Target="https://www.pexels.com/license/" TargetMode="External"/><Relationship Id="rId4" Type="http://schemas.openxmlformats.org/officeDocument/2006/relationships/hyperlink" Target="https://www.pexels.com/photo/16051935/" TargetMode="External"/><Relationship Id="rId5" Type="http://schemas.openxmlformats.org/officeDocument/2006/relationships/hyperlink" Target="https://www.pexels.com/photo/7972512/" TargetMode="External"/><Relationship Id="rId6" Type="http://schemas.openxmlformats.org/officeDocument/2006/relationships/hyperlink" Target="https://www.pexels.com/photo/black-lamp-beside-bed-5968800/" TargetMode="External"/><Relationship Id="rId7" Type="http://schemas.openxmlformats.org/officeDocument/2006/relationships/hyperlink" Target="https://unsplash.com/photos/a-room-filled-with-lots-of-shelves-filled-with-boxes-and-boxes-tvP6pCnq9iI" TargetMode="External"/><Relationship Id="rId8" Type="http://schemas.openxmlformats.org/officeDocument/2006/relationships/hyperlink" Target="https://unsplash.com/license" TargetMode="External"/><Relationship Id="rId9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unsplash.com/photos/pharmacist-reaching-for-medication-on-shelf-byGTytEGjBo" TargetMode="External"/><Relationship Id="rId3" Type="http://schemas.openxmlformats.org/officeDocument/2006/relationships/hyperlink" Target="https://unsplash.com/license" TargetMode="External"/><Relationship Id="rId4" Type="http://schemas.openxmlformats.org/officeDocument/2006/relationships/hyperlink" Target="https://unsplash.com/photos/sQjHIOhiL0E" TargetMode="External"/><Relationship Id="rId5" Type="http://schemas.openxmlformats.org/officeDocument/2006/relationships/hyperlink" Target="https://unsplash.com/photos/empty-hospital-corridor-with-benches-and-doors-Pk-KuizxQv8" TargetMode="External"/><Relationship Id="rId6" Type="http://schemas.openxmlformats.org/officeDocument/2006/relationships/hyperlink" Target="https://unsplash.com/photos/hospital-lobby-reception-with-signage-nMyM7fxpokE" TargetMode="External"/><Relationship Id="rId7" Type="http://schemas.openxmlformats.org/officeDocument/2006/relationships/notesSlide" Target="../notesSlides/notesSlide3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3E7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40080" y="594360"/>
            <a:ext cx="2011680" cy="329184"/>
          </a:xfrm>
          <a:prstGeom prst="roundRect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1" y="612648"/>
            <a:ext cx="1865376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Noto Sans CJK SC"/>
                <a:ea typeface="Noto Sans CJK SC"/>
              </a:rPr>
              <a:t>校园用药生存课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417320"/>
            <a:ext cx="6400800" cy="10789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6100" b="1">
                <a:solidFill>
                  <a:srgbClr val="FFFFFF"/>
                </a:solidFill>
                <a:latin typeface="Noto Sans CJK SC"/>
                <a:ea typeface="Noto Sans CJK SC"/>
              </a:rPr>
              <a:t>合理用药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2615184"/>
            <a:ext cx="612648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3200" b="1">
                <a:solidFill>
                  <a:srgbClr val="FFFFFF"/>
                </a:solidFill>
                <a:latin typeface="Noto Sans CJK SC"/>
                <a:ea typeface="Noto Sans CJK SC"/>
              </a:rPr>
              <a:t>给宿舍药箱上堂课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675887"/>
            <a:ext cx="6126480" cy="4846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0">
                <a:solidFill>
                  <a:srgbClr val="FFFFFF"/>
                </a:solidFill>
                <a:latin typeface="Noto Sans CJK SC"/>
                <a:ea typeface="Noto Sans CJK SC"/>
              </a:rPr>
              <a:t>会选药 · 看成分 · 避误区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5029200"/>
            <a:ext cx="6309360" cy="8869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0">
                <a:solidFill>
                  <a:srgbClr val="FFFFFF"/>
                </a:solidFill>
                <a:latin typeface="Noto Sans CJK SC"/>
                <a:ea typeface="Noto Sans CJK SC"/>
              </a:rPr>
              <a:t>苏州大学｜选修课课堂展示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0">
                <a:solidFill>
                  <a:srgbClr val="FFFFFF"/>
                </a:solidFill>
                <a:latin typeface="Noto Sans CJK SC"/>
                <a:ea typeface="Noto Sans CJK SC"/>
              </a:rPr>
              <a:t>主讲：同学甲 / 同学乙</a:t>
            </a:r>
          </a:p>
        </p:txBody>
      </p:sp>
      <p:pic>
        <p:nvPicPr>
          <p:cNvPr id="8" name="Picture 7" descr="tablet-hand.jpg"/>
          <p:cNvPicPr>
            <a:picLocks noChangeAspect="1"/>
          </p:cNvPicPr>
          <p:nvPr/>
        </p:nvPicPr>
        <p:blipFill>
          <a:blip r:embed="rId3"/>
          <a:srcRect l="7477" r="7477"/>
          <a:stretch>
            <a:fillRect/>
          </a:stretch>
        </p:blipFill>
        <p:spPr>
          <a:xfrm>
            <a:off x="7406640" y="1060704"/>
            <a:ext cx="4160520" cy="489204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7406640" y="1060704"/>
            <a:ext cx="4160520" cy="4892040"/>
          </a:xfrm>
          <a:prstGeom prst="rect">
            <a:avLst/>
          </a:prstGeom>
          <a:noFill/>
          <a:ln w="19050">
            <a:solidFill>
              <a:srgbClr val="153E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424927" y="5632704"/>
            <a:ext cx="4123944" cy="301752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534656" y="5660136"/>
            <a:ext cx="390448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53E75"/>
                </a:solidFill>
                <a:latin typeface="Noto Sans CJK SC"/>
                <a:ea typeface="Noto Sans CJK SC"/>
              </a:rPr>
              <a:t>真实照片 · 场景示意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6428232"/>
            <a:ext cx="914400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FFFFFF"/>
                </a:solidFill>
                <a:latin typeface="Noto Sans CJK SC"/>
                <a:ea typeface="Noto Sans CJK SC"/>
              </a:rPr>
              <a:t>35分钟 · 2位讲者 · 4部分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65760"/>
            <a:ext cx="64008" cy="246888"/>
          </a:xfrm>
          <a:prstGeom prst="rect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92608"/>
            <a:ext cx="36576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53E75"/>
                </a:solidFill>
                <a:latin typeface="Noto Sans CJK SC"/>
                <a:ea typeface="Noto Sans CJK SC"/>
              </a:rPr>
              <a:t>01 / 基本原则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896112"/>
            <a:ext cx="1101852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53E75"/>
                </a:solidFill>
                <a:latin typeface="Noto Sans CJK SC"/>
                <a:ea typeface="Noto Sans CJK SC"/>
              </a:rPr>
              <a:t>今天的路线：从会判断，到会行动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94360" y="5843016"/>
            <a:ext cx="11000232" cy="0"/>
          </a:xfrm>
          <a:prstGeom prst="line">
            <a:avLst/>
          </a:prstGeom>
          <a:ln w="8890">
            <a:solidFill>
              <a:srgbClr val="153E7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5943600"/>
            <a:ext cx="1074420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E3464F"/>
                </a:solidFill>
                <a:latin typeface="Noto Sans CJK SC"/>
                <a:ea typeface="Noto Sans CJK SC"/>
              </a:rPr>
              <a:t>全程约35分钟，已包含举手互动。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510528"/>
            <a:ext cx="9601200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153E75"/>
                </a:solidFill>
                <a:latin typeface="Noto Sans CJK SC"/>
                <a:ea typeface="Noto Sans CJK SC"/>
              </a:rPr>
              <a:t>合理用药｜课堂科普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153E75"/>
                </a:solidFill>
                <a:latin typeface="Noto Sans CJK SC"/>
                <a:ea typeface="Noto Sans CJK SC"/>
              </a:rPr>
              <a:t>02 / 28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2048256"/>
            <a:ext cx="2706624" cy="315468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153E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college-campus.jpg"/>
          <p:cNvPicPr>
            <a:picLocks noChangeAspect="1"/>
          </p:cNvPicPr>
          <p:nvPr/>
        </p:nvPicPr>
        <p:blipFill>
          <a:blip r:embed="rId3"/>
          <a:srcRect t="33824" b="33824"/>
          <a:stretch>
            <a:fillRect/>
          </a:stretch>
        </p:blipFill>
        <p:spPr>
          <a:xfrm>
            <a:off x="822960" y="2157984"/>
            <a:ext cx="2487168" cy="1207008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822960" y="2157984"/>
            <a:ext cx="2487168" cy="1207008"/>
          </a:xfrm>
          <a:prstGeom prst="rect">
            <a:avLst/>
          </a:prstGeom>
          <a:noFill/>
          <a:ln w="19050">
            <a:solidFill>
              <a:srgbClr val="153E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41832" y="3456432"/>
            <a:ext cx="22860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3400" b="1">
                <a:solidFill>
                  <a:srgbClr val="E3464F"/>
                </a:solidFill>
                <a:latin typeface="Noto Sans CJK SC"/>
                <a:ea typeface="Noto Sans CJK SC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1832" y="4069080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1">
                <a:solidFill>
                  <a:srgbClr val="153E75"/>
                </a:solidFill>
                <a:latin typeface="Noto Sans CJK SC"/>
                <a:ea typeface="Noto Sans CJK SC"/>
              </a:rPr>
              <a:t>基本原则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41832" y="4626864"/>
            <a:ext cx="22860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0">
                <a:solidFill>
                  <a:srgbClr val="153E75"/>
                </a:solidFill>
                <a:latin typeface="Noto Sans CJK SC"/>
                <a:ea typeface="Noto Sans CJK SC"/>
              </a:rPr>
              <a:t>5分钟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11880" y="2048256"/>
            <a:ext cx="2706624" cy="315468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153E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pharmacy-01.jpg"/>
          <p:cNvPicPr>
            <a:picLocks noChangeAspect="1"/>
          </p:cNvPicPr>
          <p:nvPr/>
        </p:nvPicPr>
        <p:blipFill>
          <a:blip r:embed="rId4"/>
          <a:srcRect t="6863" b="6863"/>
          <a:stretch>
            <a:fillRect/>
          </a:stretch>
        </p:blipFill>
        <p:spPr>
          <a:xfrm>
            <a:off x="3721608" y="2157984"/>
            <a:ext cx="2487168" cy="1207008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>
          <a:xfrm>
            <a:off x="3721608" y="2157984"/>
            <a:ext cx="2487168" cy="1207008"/>
          </a:xfrm>
          <a:prstGeom prst="rect">
            <a:avLst/>
          </a:prstGeom>
          <a:noFill/>
          <a:ln w="19050">
            <a:solidFill>
              <a:srgbClr val="153E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840480" y="3456432"/>
            <a:ext cx="22860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3400" b="1">
                <a:solidFill>
                  <a:srgbClr val="E3464F"/>
                </a:solidFill>
                <a:latin typeface="Noto Sans CJK SC"/>
                <a:ea typeface="Noto Sans CJK SC"/>
              </a:rPr>
              <a:t>02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840480" y="4069080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1">
                <a:solidFill>
                  <a:srgbClr val="153E75"/>
                </a:solidFill>
                <a:latin typeface="Noto Sans CJK SC"/>
                <a:ea typeface="Noto Sans CJK SC"/>
              </a:rPr>
              <a:t>宿舍误区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840480" y="4626864"/>
            <a:ext cx="22860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0">
                <a:solidFill>
                  <a:srgbClr val="153E75"/>
                </a:solidFill>
                <a:latin typeface="Noto Sans CJK SC"/>
                <a:ea typeface="Noto Sans CJK SC"/>
              </a:rPr>
              <a:t>17分钟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510528" y="2048256"/>
            <a:ext cx="2706624" cy="315468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153E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pharmacy-02.jpg"/>
          <p:cNvPicPr>
            <a:picLocks noChangeAspect="1"/>
          </p:cNvPicPr>
          <p:nvPr/>
        </p:nvPicPr>
        <p:blipFill>
          <a:blip r:embed="rId5"/>
          <a:srcRect t="6863" b="6863"/>
          <a:stretch>
            <a:fillRect/>
          </a:stretch>
        </p:blipFill>
        <p:spPr>
          <a:xfrm>
            <a:off x="6620256" y="2157984"/>
            <a:ext cx="2487168" cy="1207008"/>
          </a:xfrm>
          <a:prstGeom prst="rect">
            <a:avLst/>
          </a:prstGeom>
        </p:spPr>
      </p:pic>
      <p:sp>
        <p:nvSpPr>
          <p:cNvPr id="23" name="Rectangle 22"/>
          <p:cNvSpPr/>
          <p:nvPr/>
        </p:nvSpPr>
        <p:spPr>
          <a:xfrm>
            <a:off x="6620256" y="2157984"/>
            <a:ext cx="2487168" cy="1207008"/>
          </a:xfrm>
          <a:prstGeom prst="rect">
            <a:avLst/>
          </a:prstGeom>
          <a:noFill/>
          <a:ln w="19050">
            <a:solidFill>
              <a:srgbClr val="153E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739128" y="3456432"/>
            <a:ext cx="22860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3400" b="1">
                <a:solidFill>
                  <a:srgbClr val="E3464F"/>
                </a:solidFill>
                <a:latin typeface="Noto Sans CJK SC"/>
                <a:ea typeface="Noto Sans CJK SC"/>
              </a:rPr>
              <a:t>03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739128" y="4069080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1">
                <a:solidFill>
                  <a:srgbClr val="153E75"/>
                </a:solidFill>
                <a:latin typeface="Noto Sans CJK SC"/>
                <a:ea typeface="Noto Sans CJK SC"/>
              </a:rPr>
              <a:t>安全用药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39128" y="4626864"/>
            <a:ext cx="22860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0">
                <a:solidFill>
                  <a:srgbClr val="153E75"/>
                </a:solidFill>
                <a:latin typeface="Noto Sans CJK SC"/>
                <a:ea typeface="Noto Sans CJK SC"/>
              </a:rPr>
              <a:t>8分钟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409176" y="2048256"/>
            <a:ext cx="2706624" cy="315468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153E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8" name="Picture 27" descr="hospital-02.jpg"/>
          <p:cNvPicPr>
            <a:picLocks noChangeAspect="1"/>
          </p:cNvPicPr>
          <p:nvPr/>
        </p:nvPicPr>
        <p:blipFill>
          <a:blip r:embed="rId6"/>
          <a:srcRect t="6863" b="6863"/>
          <a:stretch>
            <a:fillRect/>
          </a:stretch>
        </p:blipFill>
        <p:spPr>
          <a:xfrm>
            <a:off x="9518903" y="2157984"/>
            <a:ext cx="2487168" cy="1207008"/>
          </a:xfrm>
          <a:prstGeom prst="rect">
            <a:avLst/>
          </a:prstGeom>
        </p:spPr>
      </p:pic>
      <p:sp>
        <p:nvSpPr>
          <p:cNvPr id="29" name="Rectangle 28"/>
          <p:cNvSpPr/>
          <p:nvPr/>
        </p:nvSpPr>
        <p:spPr>
          <a:xfrm>
            <a:off x="9518903" y="2157984"/>
            <a:ext cx="2487168" cy="1207008"/>
          </a:xfrm>
          <a:prstGeom prst="rect">
            <a:avLst/>
          </a:prstGeom>
          <a:noFill/>
          <a:ln w="19050">
            <a:solidFill>
              <a:srgbClr val="153E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637776" y="3456432"/>
            <a:ext cx="22860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3400" b="1">
                <a:solidFill>
                  <a:srgbClr val="E3464F"/>
                </a:solidFill>
                <a:latin typeface="Noto Sans CJK SC"/>
                <a:ea typeface="Noto Sans CJK SC"/>
              </a:rPr>
              <a:t>04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37776" y="4069080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1">
                <a:solidFill>
                  <a:srgbClr val="153E75"/>
                </a:solidFill>
                <a:latin typeface="Noto Sans CJK SC"/>
                <a:ea typeface="Noto Sans CJK SC"/>
              </a:rPr>
              <a:t>选择挑战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637776" y="4626864"/>
            <a:ext cx="22860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0">
                <a:solidFill>
                  <a:srgbClr val="153E75"/>
                </a:solidFill>
                <a:latin typeface="Noto Sans CJK SC"/>
                <a:ea typeface="Noto Sans CJK SC"/>
              </a:rPr>
              <a:t>5分钟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65760"/>
            <a:ext cx="64008" cy="246888"/>
          </a:xfrm>
          <a:prstGeom prst="rect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92608"/>
            <a:ext cx="36576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53E75"/>
                </a:solidFill>
                <a:latin typeface="Noto Sans CJK SC"/>
                <a:ea typeface="Noto Sans CJK SC"/>
              </a:rPr>
              <a:t>01 / 基本原则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896112"/>
            <a:ext cx="1101852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53E75"/>
                </a:solidFill>
                <a:latin typeface="Noto Sans CJK SC"/>
                <a:ea typeface="Noto Sans CJK SC"/>
              </a:rPr>
              <a:t>室友感冒了，你先做哪一步？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94360" y="5843016"/>
            <a:ext cx="11000232" cy="0"/>
          </a:xfrm>
          <a:prstGeom prst="line">
            <a:avLst/>
          </a:prstGeom>
          <a:ln w="8890">
            <a:solidFill>
              <a:srgbClr val="153E7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5943600"/>
            <a:ext cx="1074420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E3464F"/>
                </a:solidFill>
                <a:latin typeface="Noto Sans CJK SC"/>
                <a:ea typeface="Noto Sans CJK SC"/>
              </a:rPr>
              <a:t>举手选择 A / B / C｜暂不揭晓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510528"/>
            <a:ext cx="9601200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153E75"/>
                </a:solidFill>
                <a:latin typeface="Noto Sans CJK SC"/>
                <a:ea typeface="Noto Sans CJK SC"/>
              </a:rPr>
              <a:t>合理用药｜课堂科普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153E75"/>
                </a:solidFill>
                <a:latin typeface="Noto Sans CJK SC"/>
                <a:ea typeface="Noto Sans CJK SC"/>
              </a:rPr>
              <a:t>03 / 28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68096" y="1938528"/>
            <a:ext cx="8257031" cy="941832"/>
          </a:xfrm>
          <a:prstGeom prst="roundRect">
            <a:avLst>
              <a:gd name="adj" fmla="val 10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987552" y="2240280"/>
            <a:ext cx="539496" cy="329184"/>
          </a:xfrm>
          <a:prstGeom prst="roundRect">
            <a:avLst>
              <a:gd name="adj" fmla="val 10000"/>
            </a:avLst>
          </a:prstGeom>
          <a:solidFill>
            <a:srgbClr val="2033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2258568"/>
            <a:ext cx="411479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Noto Sans CJK SC"/>
              </a:rPr>
              <a:t>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92224" y="2093976"/>
            <a:ext cx="6922008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300" b="0">
                <a:solidFill>
                  <a:srgbClr val="203354"/>
                </a:solidFill>
                <a:latin typeface="Noto Sans CJK SC"/>
              </a:rPr>
              <a:t>用上次的剩药，沿用当时吃法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68096" y="3081528"/>
            <a:ext cx="8257031" cy="941832"/>
          </a:xfrm>
          <a:prstGeom prst="roundRect">
            <a:avLst>
              <a:gd name="adj" fmla="val 10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987552" y="3383280"/>
            <a:ext cx="539496" cy="329184"/>
          </a:xfrm>
          <a:prstGeom prst="roundRect">
            <a:avLst>
              <a:gd name="adj" fmla="val 10000"/>
            </a:avLst>
          </a:prstGeom>
          <a:solidFill>
            <a:srgbClr val="2033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51560" y="3401568"/>
            <a:ext cx="411479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Noto Sans CJK SC"/>
              </a:rPr>
              <a:t>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92224" y="3236976"/>
            <a:ext cx="6922008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300" b="0">
                <a:solidFill>
                  <a:srgbClr val="203354"/>
                </a:solidFill>
                <a:latin typeface="Noto Sans CJK SC"/>
              </a:rPr>
              <a:t>拍清楚药盒，先核对再作决定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68096" y="4224528"/>
            <a:ext cx="8257031" cy="941832"/>
          </a:xfrm>
          <a:prstGeom prst="roundRect">
            <a:avLst>
              <a:gd name="adj" fmla="val 10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987552" y="4526280"/>
            <a:ext cx="539496" cy="329184"/>
          </a:xfrm>
          <a:prstGeom prst="roundRect">
            <a:avLst>
              <a:gd name="adj" fmla="val 10000"/>
            </a:avLst>
          </a:prstGeom>
          <a:solidFill>
            <a:srgbClr val="2033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51560" y="4544568"/>
            <a:ext cx="411479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Noto Sans CJK SC"/>
              </a:rPr>
              <a:t>C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92224" y="4379976"/>
            <a:ext cx="6922008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300" b="0">
                <a:solidFill>
                  <a:srgbClr val="203354"/>
                </a:solidFill>
                <a:latin typeface="Noto Sans CJK SC"/>
              </a:rPr>
              <a:t>按最主要症状，先挑一盒试试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272016" y="1938528"/>
            <a:ext cx="2121408" cy="3246120"/>
          </a:xfrm>
          <a:prstGeom prst="roundRect">
            <a:avLst>
              <a:gd name="adj" fmla="val 10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ANIME_R1_C3" descr="原创AI生成动漫情境；人物和事件为虚构教学示意"/>
          <p:cNvPicPr>
            <a:picLocks noChangeAspect="1"/>
          </p:cNvPicPr>
          <p:nvPr/>
        </p:nvPicPr>
        <p:blipFill>
          <a:blip r:embed="rId3"/>
          <a:srcRect l="79498" r="5574" t="594" b="70906"/>
          <a:stretch>
            <a:fillRect/>
          </a:stretch>
        </p:blipFill>
        <p:spPr>
          <a:xfrm>
            <a:off x="9509760" y="2715768"/>
            <a:ext cx="1659636" cy="2112264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9774936" y="2148840"/>
            <a:ext cx="1106424" cy="329184"/>
          </a:xfrm>
          <a:prstGeom prst="roundRect">
            <a:avLst>
              <a:gd name="adj" fmla="val 10000"/>
            </a:avLst>
          </a:prstGeom>
          <a:solidFill>
            <a:srgbClr val="7952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838944" y="2167128"/>
            <a:ext cx="978407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Noto Sans CJK SC"/>
              </a:rPr>
              <a:t>单选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65760"/>
            <a:ext cx="64008" cy="246888"/>
          </a:xfrm>
          <a:prstGeom prst="rect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92608"/>
            <a:ext cx="36576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53E75"/>
                </a:solidFill>
                <a:latin typeface="Noto Sans CJK SC"/>
                <a:ea typeface="Noto Sans CJK SC"/>
              </a:rPr>
              <a:t>01 / 基本原则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896112"/>
            <a:ext cx="1101852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53E75"/>
                </a:solidFill>
                <a:latin typeface="Noto Sans CJK SC"/>
                <a:ea typeface="Noto Sans CJK SC"/>
              </a:rPr>
              <a:t>合理用药，要同时过四关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94360" y="5843016"/>
            <a:ext cx="11000232" cy="0"/>
          </a:xfrm>
          <a:prstGeom prst="line">
            <a:avLst/>
          </a:prstGeom>
          <a:ln w="8890">
            <a:solidFill>
              <a:srgbClr val="153E7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5943600"/>
            <a:ext cx="1074420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E3464F"/>
                </a:solidFill>
                <a:latin typeface="Noto Sans CJK SC"/>
                <a:ea typeface="Noto Sans CJK SC"/>
              </a:rPr>
              <a:t>刚才选 B：先了解，再决定。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510528"/>
            <a:ext cx="9601200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153E75"/>
                </a:solidFill>
                <a:latin typeface="Noto Sans CJK SC"/>
                <a:ea typeface="Noto Sans CJK SC"/>
              </a:rPr>
              <a:t>来源：S1  ·  完整链接见附页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153E75"/>
                </a:solidFill>
                <a:latin typeface="Noto Sans CJK SC"/>
                <a:ea typeface="Noto Sans CJK SC"/>
              </a:rPr>
              <a:t>04 / 28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1938528"/>
            <a:ext cx="5138928" cy="1618488"/>
          </a:xfrm>
          <a:prstGeom prst="roundRect">
            <a:avLst>
              <a:gd name="adj" fmla="val 10000"/>
            </a:avLst>
          </a:prstGeom>
          <a:solidFill>
            <a:srgbClr val="EE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1005840" y="2139696"/>
            <a:ext cx="512064" cy="329184"/>
          </a:xfrm>
          <a:prstGeom prst="roundRect">
            <a:avLst>
              <a:gd name="adj" fmla="val 10000"/>
            </a:avLst>
          </a:prstGeom>
          <a:solidFill>
            <a:srgbClr val="2033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69848" y="2157984"/>
            <a:ext cx="384048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Noto Sans CJK SC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00784" y="2093976"/>
            <a:ext cx="3858768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900" b="1">
                <a:solidFill>
                  <a:srgbClr val="203354"/>
                </a:solidFill>
                <a:latin typeface="Noto Sans CJK SC"/>
              </a:rPr>
              <a:t>安全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2415" y="2852928"/>
            <a:ext cx="4562856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300" b="0">
                <a:solidFill>
                  <a:srgbClr val="203354"/>
                </a:solidFill>
                <a:latin typeface="Noto Sans CJK SC"/>
              </a:rPr>
              <a:t>关注禁忌与不良反应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63640" y="1938528"/>
            <a:ext cx="5138928" cy="1618488"/>
          </a:xfrm>
          <a:prstGeom prst="roundRect">
            <a:avLst>
              <a:gd name="adj" fmla="val 10000"/>
            </a:avLst>
          </a:prstGeom>
          <a:solidFill>
            <a:srgbClr val="FF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492240" y="2139696"/>
            <a:ext cx="512064" cy="329184"/>
          </a:xfrm>
          <a:prstGeom prst="roundRect">
            <a:avLst>
              <a:gd name="adj" fmla="val 10000"/>
            </a:avLst>
          </a:prstGeom>
          <a:solidFill>
            <a:srgbClr val="2033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56248" y="2157984"/>
            <a:ext cx="384048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Noto Sans CJK SC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87183" y="2093976"/>
            <a:ext cx="3858768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900" b="1">
                <a:solidFill>
                  <a:srgbClr val="203354"/>
                </a:solidFill>
                <a:latin typeface="Noto Sans CJK SC"/>
              </a:rPr>
              <a:t>有效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28816" y="2852928"/>
            <a:ext cx="4562856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300" b="0">
                <a:solidFill>
                  <a:srgbClr val="203354"/>
                </a:solidFill>
                <a:latin typeface="Noto Sans CJK SC"/>
              </a:rPr>
              <a:t>针对真正需要解决的问题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77240" y="3822191"/>
            <a:ext cx="5138928" cy="1618488"/>
          </a:xfrm>
          <a:prstGeom prst="roundRect">
            <a:avLst>
              <a:gd name="adj" fmla="val 10000"/>
            </a:avLst>
          </a:prstGeom>
          <a:solidFill>
            <a:srgbClr val="EE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1005840" y="4023359"/>
            <a:ext cx="512064" cy="329184"/>
          </a:xfrm>
          <a:prstGeom prst="roundRect">
            <a:avLst>
              <a:gd name="adj" fmla="val 10000"/>
            </a:avLst>
          </a:prstGeom>
          <a:solidFill>
            <a:srgbClr val="2033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69848" y="4041647"/>
            <a:ext cx="384048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Noto Sans CJK SC"/>
              </a:rPr>
              <a:t>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700784" y="3977639"/>
            <a:ext cx="3858768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900" b="1">
                <a:solidFill>
                  <a:srgbClr val="203354"/>
                </a:solidFill>
                <a:latin typeface="Noto Sans CJK SC"/>
              </a:rPr>
              <a:t>经济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42415" y="4736592"/>
            <a:ext cx="4562856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300" b="0">
                <a:solidFill>
                  <a:srgbClr val="203354"/>
                </a:solidFill>
                <a:latin typeface="Noto Sans CJK SC"/>
              </a:rPr>
              <a:t>避免不必要的花费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63640" y="3822191"/>
            <a:ext cx="5138928" cy="1618488"/>
          </a:xfrm>
          <a:prstGeom prst="roundRect">
            <a:avLst>
              <a:gd name="adj" fmla="val 10000"/>
            </a:avLst>
          </a:prstGeom>
          <a:solidFill>
            <a:srgbClr val="FF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492240" y="4023359"/>
            <a:ext cx="512064" cy="329184"/>
          </a:xfrm>
          <a:prstGeom prst="roundRect">
            <a:avLst>
              <a:gd name="adj" fmla="val 10000"/>
            </a:avLst>
          </a:prstGeom>
          <a:solidFill>
            <a:srgbClr val="2033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56248" y="4041647"/>
            <a:ext cx="384048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Noto Sans CJK SC"/>
              </a:rPr>
              <a:t>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187183" y="3977639"/>
            <a:ext cx="3858768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900" b="1">
                <a:solidFill>
                  <a:srgbClr val="203354"/>
                </a:solidFill>
                <a:latin typeface="Noto Sans CJK SC"/>
              </a:rPr>
              <a:t>适宜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28816" y="4736592"/>
            <a:ext cx="4562856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300" b="0">
                <a:solidFill>
                  <a:srgbClr val="203354"/>
                </a:solidFill>
                <a:latin typeface="Noto Sans CJK SC"/>
              </a:rPr>
              <a:t>适合这个人、这个时机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65760"/>
            <a:ext cx="64008" cy="246888"/>
          </a:xfrm>
          <a:prstGeom prst="rect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92608"/>
            <a:ext cx="36576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53E75"/>
                </a:solidFill>
                <a:latin typeface="Noto Sans CJK SC"/>
                <a:ea typeface="Noto Sans CJK SC"/>
              </a:rPr>
              <a:t>01 / 基本原则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896112"/>
            <a:ext cx="1101852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53E75"/>
                </a:solidFill>
                <a:latin typeface="Noto Sans CJK SC"/>
                <a:ea typeface="Noto Sans CJK SC"/>
              </a:rPr>
              <a:t>鼻子舒服了，为什么上课却犯困？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94360" y="5843016"/>
            <a:ext cx="11000232" cy="0"/>
          </a:xfrm>
          <a:prstGeom prst="line">
            <a:avLst/>
          </a:prstGeom>
          <a:ln w="8890">
            <a:solidFill>
              <a:srgbClr val="153E7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5943600"/>
            <a:ext cx="1074420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E3464F"/>
                </a:solidFill>
                <a:latin typeface="Noto Sans CJK SC"/>
                <a:ea typeface="Noto Sans CJK SC"/>
              </a:rPr>
              <a:t>症状缓解，不代表没有其他影响｜先查嗜睡提示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510528"/>
            <a:ext cx="9601200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153E75"/>
                </a:solidFill>
                <a:latin typeface="Noto Sans CJK SC"/>
                <a:ea typeface="Noto Sans CJK SC"/>
              </a:rPr>
              <a:t>来源：S8  ·  完整链接见附页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153E75"/>
                </a:solidFill>
                <a:latin typeface="Noto Sans CJK SC"/>
                <a:ea typeface="Noto Sans CJK SC"/>
              </a:rPr>
              <a:t>05 / 28</a:t>
            </a:r>
          </a:p>
        </p:txBody>
      </p:sp>
      <p:pic>
        <p:nvPicPr>
          <p:cNvPr id="9" name="ANIME_R2_C1" descr="原创AI生成动漫情境；人物和事件为虚构教学示意"/>
          <p:cNvPicPr>
            <a:picLocks noChangeAspect="1"/>
          </p:cNvPicPr>
          <p:nvPr/>
        </p:nvPicPr>
        <p:blipFill>
          <a:blip r:embed="rId3"/>
          <a:srcRect r="66992" t="30905" b="42888"/>
          <a:stretch>
            <a:fillRect/>
          </a:stretch>
        </p:blipFill>
        <p:spPr>
          <a:xfrm>
            <a:off x="777240" y="1938528"/>
            <a:ext cx="5148072" cy="2724912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777240" y="4800600"/>
            <a:ext cx="5148072" cy="548640"/>
          </a:xfrm>
          <a:prstGeom prst="roundRect">
            <a:avLst>
              <a:gd name="adj" fmla="val 10000"/>
            </a:avLst>
          </a:prstGeom>
          <a:solidFill>
            <a:srgbClr val="F1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41832" y="4882896"/>
            <a:ext cx="481888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200" b="1">
                <a:solidFill>
                  <a:srgbClr val="203354"/>
                </a:solidFill>
                <a:latin typeface="Noto Sans CJK SC"/>
              </a:rPr>
              <a:t>终于不用一直擦鼻涕！</a:t>
            </a:r>
          </a:p>
        </p:txBody>
      </p:sp>
      <p:pic>
        <p:nvPicPr>
          <p:cNvPr id="12" name="ANIME_R2_C2" descr="原创AI生成动漫情境；人物和事件为虚构教学示意"/>
          <p:cNvPicPr>
            <a:picLocks noChangeAspect="1"/>
          </p:cNvPicPr>
          <p:nvPr/>
        </p:nvPicPr>
        <p:blipFill>
          <a:blip r:embed="rId3"/>
          <a:srcRect l="33464" r="33529" t="30905" b="42888"/>
          <a:stretch>
            <a:fillRect/>
          </a:stretch>
        </p:blipFill>
        <p:spPr>
          <a:xfrm>
            <a:off x="6245352" y="1938528"/>
            <a:ext cx="5148072" cy="2724912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6245352" y="4800600"/>
            <a:ext cx="5148072" cy="548640"/>
          </a:xfrm>
          <a:prstGeom prst="roundRect">
            <a:avLst>
              <a:gd name="adj" fmla="val 10000"/>
            </a:avLst>
          </a:prstGeom>
          <a:solidFill>
            <a:srgbClr val="F1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9944" y="4882896"/>
            <a:ext cx="481888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200" b="1">
                <a:solidFill>
                  <a:srgbClr val="203354"/>
                </a:solidFill>
                <a:latin typeface="Noto Sans CJK SC"/>
              </a:rPr>
              <a:t>鼻子好了，脑子想“下课”……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9264" y="5468112"/>
            <a:ext cx="4764024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600" b="1">
                <a:solidFill>
                  <a:srgbClr val="008C82"/>
                </a:solidFill>
                <a:latin typeface="Noto Sans CJK SC"/>
              </a:rPr>
              <a:t>鼻部过敏症状缓解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37376" y="5468112"/>
            <a:ext cx="4764024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400" b="1">
                <a:solidFill>
                  <a:srgbClr val="7952D5"/>
                </a:solidFill>
                <a:latin typeface="Noto Sans CJK SC"/>
              </a:rPr>
              <a:t>部分药物影响脑内清醒信号，可能嗜睡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65760"/>
            <a:ext cx="64008" cy="246888"/>
          </a:xfrm>
          <a:prstGeom prst="rect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92608"/>
            <a:ext cx="36576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53E75"/>
                </a:solidFill>
                <a:latin typeface="Noto Sans CJK SC"/>
                <a:ea typeface="Noto Sans CJK SC"/>
              </a:rPr>
              <a:t>02 / 宿舍误区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896112"/>
            <a:ext cx="1101852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53E75"/>
                </a:solidFill>
                <a:latin typeface="Noto Sans CJK SC"/>
                <a:ea typeface="Noto Sans CJK SC"/>
              </a:rPr>
              <a:t>两盒药，是“双保险”还是撞车？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94360" y="5843016"/>
            <a:ext cx="11000232" cy="0"/>
          </a:xfrm>
          <a:prstGeom prst="line">
            <a:avLst/>
          </a:prstGeom>
          <a:ln w="8890">
            <a:solidFill>
              <a:srgbClr val="153E7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5943600"/>
            <a:ext cx="1074420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E3464F"/>
                </a:solidFill>
                <a:latin typeface="Noto Sans CJK SC"/>
                <a:ea typeface="Noto Sans CJK SC"/>
              </a:rPr>
              <a:t>虚构情境｜包装不同，成分可能重复。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510528"/>
            <a:ext cx="9601200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153E75"/>
                </a:solidFill>
                <a:latin typeface="Noto Sans CJK SC"/>
                <a:ea typeface="Noto Sans CJK SC"/>
              </a:rPr>
              <a:t>来源：S2  ·  完整链接见附页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153E75"/>
                </a:solidFill>
                <a:latin typeface="Noto Sans CJK SC"/>
                <a:ea typeface="Noto Sans CJK SC"/>
              </a:rPr>
              <a:t>06 / 28</a:t>
            </a:r>
          </a:p>
        </p:txBody>
      </p:sp>
      <p:pic>
        <p:nvPicPr>
          <p:cNvPr id="9" name="ANIME_R1_C1" descr="原创AI生成动漫情境；人物和事件为虚构教学示意"/>
          <p:cNvPicPr>
            <a:picLocks noChangeAspect="1"/>
          </p:cNvPicPr>
          <p:nvPr/>
        </p:nvPicPr>
        <p:blipFill>
          <a:blip r:embed="rId3"/>
          <a:srcRect l="1621" r="68613" b="70312"/>
          <a:stretch>
            <a:fillRect/>
          </a:stretch>
        </p:blipFill>
        <p:spPr>
          <a:xfrm>
            <a:off x="749808" y="1956816"/>
            <a:ext cx="3465576" cy="2304288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749808" y="4416552"/>
            <a:ext cx="3465576" cy="1024128"/>
          </a:xfrm>
          <a:prstGeom prst="roundRect">
            <a:avLst>
              <a:gd name="adj" fmla="val 10000"/>
            </a:avLst>
          </a:prstGeom>
          <a:solidFill>
            <a:srgbClr val="F1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4498848"/>
            <a:ext cx="3136392" cy="8595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100" b="1">
                <a:solidFill>
                  <a:srgbClr val="203354"/>
                </a:solidFill>
                <a:latin typeface="Noto Sans CJK SC"/>
              </a:rPr>
              <a:t>头痛还在，要不再加一盒？</a:t>
            </a:r>
          </a:p>
        </p:txBody>
      </p:sp>
      <p:pic>
        <p:nvPicPr>
          <p:cNvPr id="12" name="ANIME_R1_C2" descr="原创AI生成动漫情境；人物和事件为虚构教学示意"/>
          <p:cNvPicPr>
            <a:picLocks noChangeAspect="1"/>
          </p:cNvPicPr>
          <p:nvPr/>
        </p:nvPicPr>
        <p:blipFill>
          <a:blip r:embed="rId3"/>
          <a:srcRect l="35084" r="35150" b="70312"/>
          <a:stretch>
            <a:fillRect/>
          </a:stretch>
        </p:blipFill>
        <p:spPr>
          <a:xfrm>
            <a:off x="4434840" y="1956816"/>
            <a:ext cx="3465576" cy="2304288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4434840" y="4416552"/>
            <a:ext cx="3465576" cy="1024128"/>
          </a:xfrm>
          <a:prstGeom prst="roundRect">
            <a:avLst>
              <a:gd name="adj" fmla="val 10000"/>
            </a:avLst>
          </a:prstGeom>
          <a:solidFill>
            <a:srgbClr val="F1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99432" y="4498848"/>
            <a:ext cx="3136392" cy="8595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100" b="1">
                <a:solidFill>
                  <a:srgbClr val="203354"/>
                </a:solidFill>
                <a:latin typeface="Noto Sans CJK SC"/>
              </a:rPr>
              <a:t>名字不同，应该不重复吧？</a:t>
            </a:r>
          </a:p>
        </p:txBody>
      </p:sp>
      <p:pic>
        <p:nvPicPr>
          <p:cNvPr id="15" name="ANIME_R1_C3" descr="原创AI生成动漫情境；人物和事件为虚构教学示意"/>
          <p:cNvPicPr>
            <a:picLocks noChangeAspect="1"/>
          </p:cNvPicPr>
          <p:nvPr/>
        </p:nvPicPr>
        <p:blipFill>
          <a:blip r:embed="rId3"/>
          <a:srcRect l="68613" r="1621" b="70312"/>
          <a:stretch>
            <a:fillRect/>
          </a:stretch>
        </p:blipFill>
        <p:spPr>
          <a:xfrm>
            <a:off x="8119872" y="1956816"/>
            <a:ext cx="3465576" cy="2304288"/>
          </a:xfrm>
          <a:prstGeom prst="rect">
            <a:avLst/>
          </a:prstGeom>
        </p:spPr>
      </p:pic>
      <p:sp>
        <p:nvSpPr>
          <p:cNvPr id="16" name="Rounded Rectangle 15"/>
          <p:cNvSpPr/>
          <p:nvPr/>
        </p:nvSpPr>
        <p:spPr>
          <a:xfrm>
            <a:off x="8119872" y="4416552"/>
            <a:ext cx="3465576" cy="1024128"/>
          </a:xfrm>
          <a:prstGeom prst="roundRect">
            <a:avLst>
              <a:gd name="adj" fmla="val 10000"/>
            </a:avLst>
          </a:prstGeom>
          <a:solidFill>
            <a:srgbClr val="F1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84464" y="4498848"/>
            <a:ext cx="3136392" cy="8595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100" b="1">
                <a:solidFill>
                  <a:srgbClr val="203354"/>
                </a:solidFill>
                <a:latin typeface="Noto Sans CJK SC"/>
              </a:rPr>
              <a:t>药盒不同，里面的成分呢？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65760"/>
            <a:ext cx="64008" cy="246888"/>
          </a:xfrm>
          <a:prstGeom prst="rect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92608"/>
            <a:ext cx="36576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53E75"/>
                </a:solidFill>
                <a:latin typeface="Noto Sans CJK SC"/>
                <a:ea typeface="Noto Sans CJK SC"/>
              </a:rPr>
              <a:t>02 / 宿舍误区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896112"/>
            <a:ext cx="1101852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53E75"/>
                </a:solidFill>
                <a:latin typeface="Noto Sans CJK SC"/>
                <a:ea typeface="Noto Sans CJK SC"/>
              </a:rPr>
              <a:t>药盒不同，成分可能“撞车”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94360" y="5843016"/>
            <a:ext cx="11000232" cy="0"/>
          </a:xfrm>
          <a:prstGeom prst="line">
            <a:avLst/>
          </a:prstGeom>
          <a:ln w="8890">
            <a:solidFill>
              <a:srgbClr val="153E7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5943600"/>
            <a:ext cx="1074420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E3464F"/>
                </a:solidFill>
                <a:latin typeface="Noto Sans CJK SC"/>
                <a:ea typeface="Noto Sans CJK SC"/>
              </a:rPr>
              <a:t>同名成分出现两次，是暂停核对的信号｜未确认前不自行叠加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510528"/>
            <a:ext cx="9601200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153E75"/>
                </a:solidFill>
                <a:latin typeface="Noto Sans CJK SC"/>
                <a:ea typeface="Noto Sans CJK SC"/>
              </a:rPr>
              <a:t>来源：S2  ·  完整链接见附页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153E75"/>
                </a:solidFill>
                <a:latin typeface="Noto Sans CJK SC"/>
                <a:ea typeface="Noto Sans CJK SC"/>
              </a:rPr>
              <a:t>07 / 28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32688" y="1938528"/>
            <a:ext cx="4754880" cy="2916936"/>
          </a:xfrm>
          <a:prstGeom prst="roundRect">
            <a:avLst>
              <a:gd name="adj" fmla="val 10000"/>
            </a:avLst>
          </a:prstGeom>
          <a:solidFill>
            <a:srgbClr val="F0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79576" y="2112264"/>
            <a:ext cx="196596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500" b="1">
                <a:solidFill>
                  <a:srgbClr val="203354"/>
                </a:solidFill>
                <a:latin typeface="Noto Sans CJK SC"/>
              </a:rPr>
              <a:t>药盒 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79576" y="2560320"/>
            <a:ext cx="4206240" cy="283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700" b="0">
                <a:solidFill>
                  <a:srgbClr val="203354"/>
                </a:solidFill>
                <a:latin typeface="Noto Sans CJK SC"/>
              </a:rPr>
              <a:t>单方退热止痛药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52144" y="3026664"/>
            <a:ext cx="4315968" cy="530352"/>
          </a:xfrm>
          <a:prstGeom prst="roundRect">
            <a:avLst>
              <a:gd name="adj" fmla="val 10000"/>
            </a:avLst>
          </a:prstGeom>
          <a:solidFill>
            <a:srgbClr val="EB59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43584" y="3090672"/>
            <a:ext cx="4133087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2400" b="1">
                <a:solidFill>
                  <a:srgbClr val="FFFFFF"/>
                </a:solidFill>
                <a:latin typeface="Noto Sans CJK SC"/>
              </a:rPr>
              <a:t>对乙酰氨基酚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19672" y="1938528"/>
            <a:ext cx="4754880" cy="2916936"/>
          </a:xfrm>
          <a:prstGeom prst="roundRect">
            <a:avLst>
              <a:gd name="adj" fmla="val 10000"/>
            </a:avLst>
          </a:prstGeom>
          <a:solidFill>
            <a:srgbClr val="F0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66560" y="2112264"/>
            <a:ext cx="196596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500" b="1">
                <a:solidFill>
                  <a:srgbClr val="203354"/>
                </a:solidFill>
                <a:latin typeface="Noto Sans CJK SC"/>
              </a:rPr>
              <a:t>药盒 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66560" y="2560320"/>
            <a:ext cx="4206240" cy="283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700" b="0">
                <a:solidFill>
                  <a:srgbClr val="203354"/>
                </a:solidFill>
                <a:latin typeface="Noto Sans CJK SC"/>
              </a:rPr>
              <a:t>复方感冒药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739128" y="3026664"/>
            <a:ext cx="4315968" cy="530352"/>
          </a:xfrm>
          <a:prstGeom prst="roundRect">
            <a:avLst>
              <a:gd name="adj" fmla="val 10000"/>
            </a:avLst>
          </a:prstGeom>
          <a:solidFill>
            <a:srgbClr val="EB59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30568" y="3090672"/>
            <a:ext cx="4133087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2400" b="1">
                <a:solidFill>
                  <a:srgbClr val="FFFFFF"/>
                </a:solidFill>
                <a:latin typeface="Noto Sans CJK SC"/>
              </a:rPr>
              <a:t>对乙酰氨基酚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88720" y="3968496"/>
            <a:ext cx="4206240" cy="3566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900" b="1">
                <a:solidFill>
                  <a:srgbClr val="203354"/>
                </a:solidFill>
                <a:latin typeface="Noto Sans CJK SC"/>
              </a:rPr>
              <a:t>只有这一种有效成分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739128" y="3694176"/>
            <a:ext cx="4315968" cy="411480"/>
          </a:xfrm>
          <a:prstGeom prst="roundRect">
            <a:avLst>
              <a:gd name="adj" fmla="val 10000"/>
            </a:avLst>
          </a:prstGeom>
          <a:solidFill>
            <a:srgbClr val="2033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39712" y="3730752"/>
            <a:ext cx="411480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Noto Sans CJK SC"/>
              </a:rPr>
              <a:t>马来酸氯苯那敏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739128" y="4215384"/>
            <a:ext cx="4315968" cy="411480"/>
          </a:xfrm>
          <a:prstGeom prst="roundRect">
            <a:avLst>
              <a:gd name="adj" fmla="val 10000"/>
            </a:avLst>
          </a:prstGeom>
          <a:solidFill>
            <a:srgbClr val="2033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39712" y="4251960"/>
            <a:ext cx="411480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Noto Sans CJK SC"/>
              </a:rPr>
              <a:t>盐酸伪麻黄碱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5468112" y="3291840"/>
            <a:ext cx="411480" cy="0"/>
          </a:xfrm>
          <a:prstGeom prst="line">
            <a:avLst/>
          </a:prstGeom>
          <a:ln w="31750">
            <a:solidFill>
              <a:srgbClr val="EB596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879592" y="3291840"/>
            <a:ext cx="0" cy="1481328"/>
          </a:xfrm>
          <a:prstGeom prst="line">
            <a:avLst/>
          </a:prstGeom>
          <a:ln w="31750">
            <a:solidFill>
              <a:srgbClr val="EB596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 flipH="1">
            <a:off x="6309360" y="3291840"/>
            <a:ext cx="429768" cy="0"/>
          </a:xfrm>
          <a:prstGeom prst="line">
            <a:avLst/>
          </a:prstGeom>
          <a:ln w="31750">
            <a:solidFill>
              <a:srgbClr val="EB596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6309360" y="3291840"/>
            <a:ext cx="0" cy="1481328"/>
          </a:xfrm>
          <a:prstGeom prst="line">
            <a:avLst/>
          </a:prstGeom>
          <a:ln w="31750">
            <a:solidFill>
              <a:srgbClr val="EB596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5879592" y="4773168"/>
            <a:ext cx="219456" cy="164592"/>
          </a:xfrm>
          <a:prstGeom prst="line">
            <a:avLst/>
          </a:prstGeom>
          <a:ln w="31750">
            <a:solidFill>
              <a:srgbClr val="EB596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 flipH="1">
            <a:off x="6099048" y="4773168"/>
            <a:ext cx="210312" cy="164592"/>
          </a:xfrm>
          <a:prstGeom prst="line">
            <a:avLst/>
          </a:prstGeom>
          <a:ln w="31750">
            <a:solidFill>
              <a:srgbClr val="EB596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Rounded Rectangle 29"/>
          <p:cNvSpPr/>
          <p:nvPr/>
        </p:nvSpPr>
        <p:spPr>
          <a:xfrm>
            <a:off x="3931920" y="4937760"/>
            <a:ext cx="4343400" cy="402336"/>
          </a:xfrm>
          <a:prstGeom prst="roundRect">
            <a:avLst>
              <a:gd name="adj" fmla="val 10000"/>
            </a:avLst>
          </a:prstGeom>
          <a:solidFill>
            <a:srgbClr val="FF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023360" y="4965192"/>
            <a:ext cx="416052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2200" b="1">
                <a:solidFill>
                  <a:srgbClr val="EB5969"/>
                </a:solidFill>
                <a:latin typeface="Noto Sans CJK SC"/>
              </a:rPr>
              <a:t>同一成分，来自两盒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05840" y="5458968"/>
            <a:ext cx="1014984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700" b="1">
                <a:solidFill>
                  <a:srgbClr val="203354"/>
                </a:solidFill>
                <a:latin typeface="Noto Sans CJK SC"/>
              </a:rPr>
              <a:t>① 圈出重复　→　② 核规格与已服情况　→　③ 未确认，不自行叠加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65760"/>
            <a:ext cx="64008" cy="246888"/>
          </a:xfrm>
          <a:prstGeom prst="rect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92608"/>
            <a:ext cx="36576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53E75"/>
                </a:solidFill>
                <a:latin typeface="Noto Sans CJK SC"/>
                <a:ea typeface="Noto Sans CJK SC"/>
              </a:rPr>
              <a:t>02 / 宿舍误区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896112"/>
            <a:ext cx="1101852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53E75"/>
                </a:solidFill>
                <a:latin typeface="Noto Sans CJK SC"/>
                <a:ea typeface="Noto Sans CJK SC"/>
              </a:rPr>
              <a:t>18点吃过药，20点还痛：先补哪条信息？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94360" y="5843016"/>
            <a:ext cx="11000232" cy="0"/>
          </a:xfrm>
          <a:prstGeom prst="line">
            <a:avLst/>
          </a:prstGeom>
          <a:ln w="8890">
            <a:solidFill>
              <a:srgbClr val="153E7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5943600"/>
            <a:ext cx="1074420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E3464F"/>
                </a:solidFill>
                <a:latin typeface="Noto Sans CJK SC"/>
                <a:ea typeface="Noto Sans CJK SC"/>
              </a:rPr>
              <a:t>时间只是故事线索，不是推荐给药间隔｜先补信息，不凭感觉加药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510528"/>
            <a:ext cx="9601200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153E75"/>
                </a:solidFill>
                <a:latin typeface="Noto Sans CJK SC"/>
                <a:ea typeface="Noto Sans CJK SC"/>
              </a:rPr>
              <a:t>来源：S2  ·  完整链接见附页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153E75"/>
                </a:solidFill>
                <a:latin typeface="Noto Sans CJK SC"/>
                <a:ea typeface="Noto Sans CJK SC"/>
              </a:rPr>
              <a:t>08 / 28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1938528"/>
            <a:ext cx="3465576" cy="3621024"/>
          </a:xfrm>
          <a:prstGeom prst="roundRect">
            <a:avLst>
              <a:gd name="adj" fmla="val 10000"/>
            </a:avLst>
          </a:prstGeom>
          <a:solidFill>
            <a:srgbClr val="F1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950976" y="2093976"/>
            <a:ext cx="1234440" cy="329184"/>
          </a:xfrm>
          <a:prstGeom prst="roundRect">
            <a:avLst>
              <a:gd name="adj" fmla="val 10000"/>
            </a:avLst>
          </a:prstGeom>
          <a:solidFill>
            <a:srgbClr val="2033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14984" y="2112264"/>
            <a:ext cx="1106424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Noto Sans CJK SC"/>
              </a:rPr>
              <a:t>18:00</a:t>
            </a:r>
          </a:p>
        </p:txBody>
      </p:sp>
      <p:pic>
        <p:nvPicPr>
          <p:cNvPr id="12" name="ANIME_R3_C1" descr="原创AI生成动漫情境；人物和事件为虚构教学示意"/>
          <p:cNvPicPr>
            <a:picLocks noChangeAspect="1"/>
          </p:cNvPicPr>
          <p:nvPr/>
        </p:nvPicPr>
        <p:blipFill>
          <a:blip r:embed="rId3"/>
          <a:srcRect r="66992" t="61835" b="7202"/>
          <a:stretch>
            <a:fillRect/>
          </a:stretch>
        </p:blipFill>
        <p:spPr>
          <a:xfrm>
            <a:off x="932688" y="2596896"/>
            <a:ext cx="3099816" cy="193852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50976" y="4709160"/>
            <a:ext cx="306324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900" b="1">
                <a:solidFill>
                  <a:srgbClr val="203354"/>
                </a:solidFill>
                <a:latin typeface="Noto Sans CJK SC"/>
              </a:rPr>
              <a:t>已经服过一种复方感冒药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434840" y="1938528"/>
            <a:ext cx="3465576" cy="3621024"/>
          </a:xfrm>
          <a:prstGeom prst="roundRect">
            <a:avLst>
              <a:gd name="adj" fmla="val 10000"/>
            </a:avLst>
          </a:prstGeom>
          <a:solidFill>
            <a:srgbClr val="F1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636008" y="2093976"/>
            <a:ext cx="1234440" cy="329184"/>
          </a:xfrm>
          <a:prstGeom prst="roundRect">
            <a:avLst>
              <a:gd name="adj" fmla="val 10000"/>
            </a:avLst>
          </a:prstGeom>
          <a:solidFill>
            <a:srgbClr val="2033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700016" y="2112264"/>
            <a:ext cx="1106424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Noto Sans CJK SC"/>
              </a:rPr>
              <a:t>20:00</a:t>
            </a:r>
          </a:p>
        </p:txBody>
      </p:sp>
      <p:pic>
        <p:nvPicPr>
          <p:cNvPr id="17" name="ANIME_R1_C1" descr="原创AI生成动漫情境；人物和事件为虚构教学示意"/>
          <p:cNvPicPr>
            <a:picLocks noChangeAspect="1"/>
          </p:cNvPicPr>
          <p:nvPr/>
        </p:nvPicPr>
        <p:blipFill>
          <a:blip r:embed="rId3"/>
          <a:srcRect l="680" r="67672" b="70312"/>
          <a:stretch>
            <a:fillRect/>
          </a:stretch>
        </p:blipFill>
        <p:spPr>
          <a:xfrm>
            <a:off x="4617720" y="2596896"/>
            <a:ext cx="3099816" cy="1938528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4636008" y="4709160"/>
            <a:ext cx="306324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900" b="1">
                <a:solidFill>
                  <a:srgbClr val="203354"/>
                </a:solidFill>
                <a:latin typeface="Noto Sans CJK SC"/>
              </a:rPr>
              <a:t>症状还在，准备加一盒退热药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19872" y="1938528"/>
            <a:ext cx="3465576" cy="3621024"/>
          </a:xfrm>
          <a:prstGeom prst="roundRect">
            <a:avLst>
              <a:gd name="adj" fmla="val 10000"/>
            </a:avLst>
          </a:prstGeom>
          <a:solidFill>
            <a:srgbClr val="F1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ANIME_R1_C3" descr="原创AI生成动漫情境；人物和事件为虚构教学示意"/>
          <p:cNvPicPr>
            <a:picLocks noChangeAspect="1"/>
          </p:cNvPicPr>
          <p:nvPr/>
        </p:nvPicPr>
        <p:blipFill>
          <a:blip r:embed="rId3"/>
          <a:srcRect l="67672" r="680" b="70312"/>
          <a:stretch>
            <a:fillRect/>
          </a:stretch>
        </p:blipFill>
        <p:spPr>
          <a:xfrm>
            <a:off x="8302752" y="2596896"/>
            <a:ext cx="3099816" cy="1938528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8321040" y="4709160"/>
            <a:ext cx="306324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900" b="1">
                <a:solidFill>
                  <a:srgbClr val="203354"/>
                </a:solidFill>
                <a:latin typeface="Noto Sans CJK SC"/>
              </a:rPr>
              <a:t>成分、规格、已服用量还没核对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65760"/>
            <a:ext cx="64008" cy="246888"/>
          </a:xfrm>
          <a:prstGeom prst="rect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92608"/>
            <a:ext cx="36576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53E75"/>
                </a:solidFill>
                <a:latin typeface="Noto Sans CJK SC"/>
                <a:ea typeface="Noto Sans CJK SC"/>
              </a:rPr>
              <a:t>02 / 宿舍误区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896112"/>
            <a:ext cx="1101852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53E75"/>
                </a:solidFill>
                <a:latin typeface="Noto Sans CJK SC"/>
                <a:ea typeface="Noto Sans CJK SC"/>
              </a:rPr>
              <a:t>室友群的三条消息，你给哪条点赞？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94360" y="5843016"/>
            <a:ext cx="11000232" cy="0"/>
          </a:xfrm>
          <a:prstGeom prst="line">
            <a:avLst/>
          </a:prstGeom>
          <a:ln w="8890">
            <a:solidFill>
              <a:srgbClr val="153E7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5943600"/>
            <a:ext cx="1074420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E3464F"/>
                </a:solidFill>
                <a:latin typeface="Noto Sans CJK SC"/>
                <a:ea typeface="Noto Sans CJK SC"/>
              </a:rPr>
              <a:t>可多选 A / B / C｜哪些建议先帮我们补齐判断所需的信息？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510528"/>
            <a:ext cx="9601200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153E75"/>
                </a:solidFill>
                <a:latin typeface="Noto Sans CJK SC"/>
                <a:ea typeface="Noto Sans CJK SC"/>
              </a:rPr>
              <a:t>来源：S2  ·  完整链接见附页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153E75"/>
                </a:solidFill>
                <a:latin typeface="Noto Sans CJK SC"/>
                <a:ea typeface="Noto Sans CJK SC"/>
              </a:rPr>
              <a:t>09 / 28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68096" y="1938528"/>
            <a:ext cx="8257031" cy="941832"/>
          </a:xfrm>
          <a:prstGeom prst="roundRect">
            <a:avLst>
              <a:gd name="adj" fmla="val 10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987552" y="2240280"/>
            <a:ext cx="539496" cy="329184"/>
          </a:xfrm>
          <a:prstGeom prst="roundRect">
            <a:avLst>
              <a:gd name="adj" fmla="val 10000"/>
            </a:avLst>
          </a:prstGeom>
          <a:solidFill>
            <a:srgbClr val="2033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2258568"/>
            <a:ext cx="411479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Noto Sans CJK SC"/>
              </a:rPr>
              <a:t>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92224" y="2093976"/>
            <a:ext cx="6922008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300" b="0">
                <a:solidFill>
                  <a:srgbClr val="203354"/>
                </a:solidFill>
                <a:latin typeface="Noto Sans CJK SC"/>
              </a:rPr>
              <a:t>拍下两盒成分，圈出相同的名字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68096" y="3081528"/>
            <a:ext cx="8257031" cy="941832"/>
          </a:xfrm>
          <a:prstGeom prst="roundRect">
            <a:avLst>
              <a:gd name="adj" fmla="val 10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987552" y="3383280"/>
            <a:ext cx="539496" cy="329184"/>
          </a:xfrm>
          <a:prstGeom prst="roundRect">
            <a:avLst>
              <a:gd name="adj" fmla="val 10000"/>
            </a:avLst>
          </a:prstGeom>
          <a:solidFill>
            <a:srgbClr val="2033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51560" y="3401568"/>
            <a:ext cx="411479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Noto Sans CJK SC"/>
              </a:rPr>
              <a:t>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92224" y="3236976"/>
            <a:ext cx="6922008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300" b="0">
                <a:solidFill>
                  <a:srgbClr val="203354"/>
                </a:solidFill>
                <a:latin typeface="Noto Sans CJK SC"/>
              </a:rPr>
              <a:t>按症状拆开安排，把服药时间错开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68096" y="4224528"/>
            <a:ext cx="8257031" cy="941832"/>
          </a:xfrm>
          <a:prstGeom prst="roundRect">
            <a:avLst>
              <a:gd name="adj" fmla="val 10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987552" y="4526280"/>
            <a:ext cx="539496" cy="329184"/>
          </a:xfrm>
          <a:prstGeom prst="roundRect">
            <a:avLst>
              <a:gd name="adj" fmla="val 10000"/>
            </a:avLst>
          </a:prstGeom>
          <a:solidFill>
            <a:srgbClr val="2033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51560" y="4544568"/>
            <a:ext cx="411479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Noto Sans CJK SC"/>
              </a:rPr>
              <a:t>C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92224" y="4379976"/>
            <a:ext cx="6922008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300" b="0">
                <a:solidFill>
                  <a:srgbClr val="203354"/>
                </a:solidFill>
                <a:latin typeface="Noto Sans CJK SC"/>
              </a:rPr>
              <a:t>补上今天已服药名、规格与时间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272016" y="1938528"/>
            <a:ext cx="2121408" cy="3246120"/>
          </a:xfrm>
          <a:prstGeom prst="roundRect">
            <a:avLst>
              <a:gd name="adj" fmla="val 10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ANIME_R1_C3" descr="原创AI生成动漫情境；人物和事件为虚构教学示意"/>
          <p:cNvPicPr>
            <a:picLocks noChangeAspect="1"/>
          </p:cNvPicPr>
          <p:nvPr/>
        </p:nvPicPr>
        <p:blipFill>
          <a:blip r:embed="rId3"/>
          <a:srcRect l="79498" r="5574" t="594" b="70906"/>
          <a:stretch>
            <a:fillRect/>
          </a:stretch>
        </p:blipFill>
        <p:spPr>
          <a:xfrm>
            <a:off x="9509760" y="2715768"/>
            <a:ext cx="1659636" cy="2112264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9774936" y="2148840"/>
            <a:ext cx="1106424" cy="329184"/>
          </a:xfrm>
          <a:prstGeom prst="roundRect">
            <a:avLst>
              <a:gd name="adj" fmla="val 10000"/>
            </a:avLst>
          </a:prstGeom>
          <a:solidFill>
            <a:srgbClr val="7952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838944" y="2167128"/>
            <a:ext cx="978407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Noto Sans CJK SC"/>
              </a:rPr>
              <a:t>可多选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65760"/>
            <a:ext cx="64008" cy="246888"/>
          </a:xfrm>
          <a:prstGeom prst="rect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92608"/>
            <a:ext cx="36576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53E75"/>
                </a:solidFill>
                <a:latin typeface="Noto Sans CJK SC"/>
                <a:ea typeface="Noto Sans CJK SC"/>
              </a:rPr>
              <a:t>02 / 宿舍误区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896112"/>
            <a:ext cx="1101852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53E75"/>
                </a:solidFill>
                <a:latin typeface="Noto Sans CJK SC"/>
                <a:ea typeface="Noto Sans CJK SC"/>
              </a:rPr>
              <a:t>答案 A＋C：先把两类信息凑齐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94360" y="5843016"/>
            <a:ext cx="11000232" cy="0"/>
          </a:xfrm>
          <a:prstGeom prst="line">
            <a:avLst/>
          </a:prstGeom>
          <a:ln w="8890">
            <a:solidFill>
              <a:srgbClr val="153E7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5943600"/>
            <a:ext cx="1074420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E3464F"/>
                </a:solidFill>
                <a:latin typeface="Noto Sans CJK SC"/>
                <a:ea typeface="Noto Sans CJK SC"/>
              </a:rPr>
              <a:t>同成分先不自行叠加；拿着完整信息，再核实下一步。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510528"/>
            <a:ext cx="9601200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153E75"/>
                </a:solidFill>
                <a:latin typeface="Noto Sans CJK SC"/>
                <a:ea typeface="Noto Sans CJK SC"/>
              </a:rPr>
              <a:t>来源：S2  ·  完整链接见附页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153E75"/>
                </a:solidFill>
                <a:latin typeface="Noto Sans CJK SC"/>
                <a:ea typeface="Noto Sans CJK SC"/>
              </a:rPr>
              <a:t>10 / 28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2423160"/>
            <a:ext cx="2103120" cy="1280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5400" b="1">
                <a:solidFill>
                  <a:srgbClr val="E3464F"/>
                </a:solidFill>
                <a:latin typeface="Noto Sans CJK SC"/>
                <a:ea typeface="Noto Sans CJK SC"/>
              </a:rPr>
              <a:t>A＋C</a:t>
            </a:r>
          </a:p>
        </p:txBody>
      </p:sp>
      <p:sp>
        <p:nvSpPr>
          <p:cNvPr id="10" name="Oval 9"/>
          <p:cNvSpPr/>
          <p:nvPr/>
        </p:nvSpPr>
        <p:spPr>
          <a:xfrm>
            <a:off x="3154680" y="2075688"/>
            <a:ext cx="128016" cy="128016"/>
          </a:xfrm>
          <a:prstGeom prst="ellipse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83864" y="1938528"/>
            <a:ext cx="7927848" cy="7955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0">
                <a:solidFill>
                  <a:srgbClr val="153E75"/>
                </a:solidFill>
                <a:latin typeface="Noto Sans CJK SC"/>
                <a:ea typeface="Noto Sans CJK SC"/>
              </a:rPr>
              <a:t>A 圈出同名成分，发现可能重复</a:t>
            </a:r>
          </a:p>
        </p:txBody>
      </p:sp>
      <p:sp>
        <p:nvSpPr>
          <p:cNvPr id="12" name="Oval 11"/>
          <p:cNvSpPr/>
          <p:nvPr/>
        </p:nvSpPr>
        <p:spPr>
          <a:xfrm>
            <a:off x="3154680" y="3200400"/>
            <a:ext cx="128016" cy="128016"/>
          </a:xfrm>
          <a:prstGeom prst="ellipse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83864" y="3063240"/>
            <a:ext cx="7927848" cy="7955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0">
                <a:solidFill>
                  <a:srgbClr val="153E75"/>
                </a:solidFill>
                <a:latin typeface="Noto Sans CJK SC"/>
                <a:ea typeface="Noto Sans CJK SC"/>
              </a:rPr>
              <a:t>C 补规格和已服记录，核对累计使用</a:t>
            </a:r>
          </a:p>
        </p:txBody>
      </p:sp>
      <p:sp>
        <p:nvSpPr>
          <p:cNvPr id="14" name="Oval 13"/>
          <p:cNvSpPr/>
          <p:nvPr/>
        </p:nvSpPr>
        <p:spPr>
          <a:xfrm>
            <a:off x="3154680" y="4325112"/>
            <a:ext cx="128016" cy="128016"/>
          </a:xfrm>
          <a:prstGeom prst="ellipse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83864" y="4187952"/>
            <a:ext cx="7927848" cy="7955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0">
                <a:solidFill>
                  <a:srgbClr val="153E75"/>
                </a:solidFill>
                <a:latin typeface="Noto Sans CJK SC"/>
                <a:ea typeface="Noto Sans CJK SC"/>
              </a:rPr>
              <a:t>B 错开时间，仍不能代替完整核对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65760"/>
            <a:ext cx="64008" cy="246888"/>
          </a:xfrm>
          <a:prstGeom prst="rect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92608"/>
            <a:ext cx="36576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53E75"/>
                </a:solidFill>
                <a:latin typeface="Noto Sans CJK SC"/>
                <a:ea typeface="Noto Sans CJK SC"/>
              </a:rPr>
              <a:t>02 / 宿舍误区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896112"/>
            <a:ext cx="1101852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53E75"/>
                </a:solidFill>
                <a:latin typeface="Noto Sans CJK SC"/>
                <a:ea typeface="Noto Sans CJK SC"/>
              </a:rPr>
              <a:t>案例②：抗生素，不是感冒的通用答案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94360" y="5843016"/>
            <a:ext cx="11000232" cy="0"/>
          </a:xfrm>
          <a:prstGeom prst="line">
            <a:avLst/>
          </a:prstGeom>
          <a:ln w="8890">
            <a:solidFill>
              <a:srgbClr val="153E7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5943600"/>
            <a:ext cx="1074420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E3464F"/>
                </a:solidFill>
                <a:latin typeface="Noto Sans CJK SC"/>
                <a:ea typeface="Noto Sans CJK SC"/>
              </a:rPr>
              <a:t>普通感冒通常由病毒引起；是否需要抗生素，由医生判断。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510528"/>
            <a:ext cx="9601200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153E75"/>
                </a:solidFill>
                <a:latin typeface="Noto Sans CJK SC"/>
                <a:ea typeface="Noto Sans CJK SC"/>
              </a:rPr>
              <a:t>来源：S4; S11  ·  完整链接见附页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153E75"/>
                </a:solidFill>
                <a:latin typeface="Noto Sans CJK SC"/>
                <a:ea typeface="Noto Sans CJK SC"/>
              </a:rPr>
              <a:t>11 / 28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1901952"/>
            <a:ext cx="5148072" cy="3675887"/>
          </a:xfrm>
          <a:prstGeom prst="roundRect">
            <a:avLst>
              <a:gd name="adj" fmla="val 10000"/>
            </a:avLst>
          </a:prstGeom>
          <a:solidFill>
            <a:srgbClr val="E4F8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245352" y="1901952"/>
            <a:ext cx="5148072" cy="3675887"/>
          </a:xfrm>
          <a:prstGeom prst="roundRect">
            <a:avLst>
              <a:gd name="adj" fmla="val 10000"/>
            </a:avLst>
          </a:prstGeom>
          <a:solidFill>
            <a:srgbClr val="F1EA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024128" y="2112264"/>
            <a:ext cx="941832" cy="329184"/>
          </a:xfrm>
          <a:prstGeom prst="roundRect">
            <a:avLst>
              <a:gd name="adj" fmla="val 10000"/>
            </a:avLst>
          </a:prstGeom>
          <a:solidFill>
            <a:srgbClr val="008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88136" y="2130552"/>
            <a:ext cx="81381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Noto Sans CJK SC"/>
              </a:rPr>
              <a:t>细菌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92240" y="2112264"/>
            <a:ext cx="941832" cy="329184"/>
          </a:xfrm>
          <a:prstGeom prst="roundRect">
            <a:avLst>
              <a:gd name="adj" fmla="val 10000"/>
            </a:avLst>
          </a:prstGeom>
          <a:solidFill>
            <a:srgbClr val="7952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56248" y="2130552"/>
            <a:ext cx="81381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Noto Sans CJK SC"/>
              </a:rPr>
              <a:t>病毒</a:t>
            </a:r>
          </a:p>
        </p:txBody>
      </p:sp>
      <p:sp>
        <p:nvSpPr>
          <p:cNvPr id="15" name="Oval 14"/>
          <p:cNvSpPr/>
          <p:nvPr/>
        </p:nvSpPr>
        <p:spPr>
          <a:xfrm>
            <a:off x="1225296" y="2935224"/>
            <a:ext cx="2066543" cy="1243584"/>
          </a:xfrm>
          <a:prstGeom prst="ellipse">
            <a:avLst/>
          </a:prstGeom>
          <a:solidFill>
            <a:srgbClr val="008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325880" y="3035808"/>
            <a:ext cx="1865376" cy="1042415"/>
          </a:xfrm>
          <a:prstGeom prst="ellipse">
            <a:avLst/>
          </a:prstGeom>
          <a:solidFill>
            <a:srgbClr val="B5EF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3300984" y="3557016"/>
            <a:ext cx="201168" cy="0"/>
          </a:xfrm>
          <a:prstGeom prst="line">
            <a:avLst/>
          </a:prstGeom>
          <a:ln w="25400">
            <a:solidFill>
              <a:srgbClr val="008C8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3161326" y="3877056"/>
            <a:ext cx="174217" cy="100584"/>
          </a:xfrm>
          <a:prstGeom prst="line">
            <a:avLst/>
          </a:prstGeom>
          <a:ln w="25400">
            <a:solidFill>
              <a:srgbClr val="008C8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2779776" y="4111341"/>
            <a:ext cx="100584" cy="174217"/>
          </a:xfrm>
          <a:prstGeom prst="line">
            <a:avLst/>
          </a:prstGeom>
          <a:ln w="25400">
            <a:solidFill>
              <a:srgbClr val="008C8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2258568" y="4197096"/>
            <a:ext cx="0" cy="201168"/>
          </a:xfrm>
          <a:prstGeom prst="line">
            <a:avLst/>
          </a:prstGeom>
          <a:ln w="25400">
            <a:solidFill>
              <a:srgbClr val="008C8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H="1">
            <a:off x="1636776" y="4111341"/>
            <a:ext cx="100584" cy="174217"/>
          </a:xfrm>
          <a:prstGeom prst="line">
            <a:avLst/>
          </a:prstGeom>
          <a:ln w="25400">
            <a:solidFill>
              <a:srgbClr val="008C8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H="1">
            <a:off x="1181592" y="3877056"/>
            <a:ext cx="174217" cy="100584"/>
          </a:xfrm>
          <a:prstGeom prst="line">
            <a:avLst/>
          </a:prstGeom>
          <a:ln w="25400">
            <a:solidFill>
              <a:srgbClr val="008C8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 flipH="1">
            <a:off x="1014984" y="3557016"/>
            <a:ext cx="201168" cy="0"/>
          </a:xfrm>
          <a:prstGeom prst="line">
            <a:avLst/>
          </a:prstGeom>
          <a:ln w="25400">
            <a:solidFill>
              <a:srgbClr val="008C8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 flipH="1" flipV="1">
            <a:off x="1181592" y="3136392"/>
            <a:ext cx="174217" cy="100584"/>
          </a:xfrm>
          <a:prstGeom prst="line">
            <a:avLst/>
          </a:prstGeom>
          <a:ln w="25400">
            <a:solidFill>
              <a:srgbClr val="008C8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 flipH="1" flipV="1">
            <a:off x="1636775" y="2828473"/>
            <a:ext cx="100584" cy="174217"/>
          </a:xfrm>
          <a:prstGeom prst="line">
            <a:avLst/>
          </a:prstGeom>
          <a:ln w="25400">
            <a:solidFill>
              <a:srgbClr val="008C8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 flipV="1">
            <a:off x="2258568" y="2715768"/>
            <a:ext cx="0" cy="201168"/>
          </a:xfrm>
          <a:prstGeom prst="line">
            <a:avLst/>
          </a:prstGeom>
          <a:ln w="25400">
            <a:solidFill>
              <a:srgbClr val="008C8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 flipV="1">
            <a:off x="2779776" y="2828473"/>
            <a:ext cx="100584" cy="174217"/>
          </a:xfrm>
          <a:prstGeom prst="line">
            <a:avLst/>
          </a:prstGeom>
          <a:ln w="25400">
            <a:solidFill>
              <a:srgbClr val="008C8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V="1">
            <a:off x="3161326" y="3136391"/>
            <a:ext cx="174217" cy="100585"/>
          </a:xfrm>
          <a:prstGeom prst="line">
            <a:avLst/>
          </a:prstGeom>
          <a:ln w="25400">
            <a:solidFill>
              <a:srgbClr val="008C8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1691640" y="3520440"/>
            <a:ext cx="201167" cy="137160"/>
          </a:xfrm>
          <a:prstGeom prst="line">
            <a:avLst/>
          </a:prstGeom>
          <a:ln w="38100">
            <a:solidFill>
              <a:srgbClr val="7952D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 flipV="1">
            <a:off x="1892808" y="3520440"/>
            <a:ext cx="201168" cy="137160"/>
          </a:xfrm>
          <a:prstGeom prst="line">
            <a:avLst/>
          </a:prstGeom>
          <a:ln w="38100">
            <a:solidFill>
              <a:srgbClr val="7952D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2093976" y="3520440"/>
            <a:ext cx="201168" cy="137160"/>
          </a:xfrm>
          <a:prstGeom prst="line">
            <a:avLst/>
          </a:prstGeom>
          <a:ln w="38100">
            <a:solidFill>
              <a:srgbClr val="7952D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 flipV="1">
            <a:off x="2295144" y="3520440"/>
            <a:ext cx="201168" cy="137160"/>
          </a:xfrm>
          <a:prstGeom prst="line">
            <a:avLst/>
          </a:prstGeom>
          <a:ln w="38100">
            <a:solidFill>
              <a:srgbClr val="7952D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2496312" y="3520440"/>
            <a:ext cx="201167" cy="137160"/>
          </a:xfrm>
          <a:prstGeom prst="line">
            <a:avLst/>
          </a:prstGeom>
          <a:ln w="38100">
            <a:solidFill>
              <a:srgbClr val="7952D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Oval 33"/>
          <p:cNvSpPr/>
          <p:nvPr/>
        </p:nvSpPr>
        <p:spPr>
          <a:xfrm>
            <a:off x="1572768" y="3273552"/>
            <a:ext cx="100584" cy="100584"/>
          </a:xfrm>
          <a:prstGeom prst="ellipse">
            <a:avLst/>
          </a:prstGeom>
          <a:solidFill>
            <a:srgbClr val="FFB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2057400" y="3236976"/>
            <a:ext cx="100584" cy="100584"/>
          </a:xfrm>
          <a:prstGeom prst="ellipse">
            <a:avLst/>
          </a:prstGeom>
          <a:solidFill>
            <a:srgbClr val="FFB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2715768" y="3346704"/>
            <a:ext cx="100584" cy="100584"/>
          </a:xfrm>
          <a:prstGeom prst="ellipse">
            <a:avLst/>
          </a:prstGeom>
          <a:solidFill>
            <a:srgbClr val="FFB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1627632" y="3813048"/>
            <a:ext cx="100584" cy="100584"/>
          </a:xfrm>
          <a:prstGeom prst="ellipse">
            <a:avLst/>
          </a:prstGeom>
          <a:solidFill>
            <a:srgbClr val="FFB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2386584" y="3867912"/>
            <a:ext cx="100584" cy="100584"/>
          </a:xfrm>
          <a:prstGeom prst="ellipse">
            <a:avLst/>
          </a:prstGeom>
          <a:solidFill>
            <a:srgbClr val="FFB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483864" y="3182112"/>
            <a:ext cx="2075688" cy="3566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300" b="1">
                <a:solidFill>
                  <a:srgbClr val="008C82"/>
                </a:solidFill>
                <a:latin typeface="Noto Sans CJK SC"/>
              </a:rPr>
              <a:t>有细胞结构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483864" y="3648456"/>
            <a:ext cx="2075688" cy="5577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700" b="0">
                <a:solidFill>
                  <a:srgbClr val="203354"/>
                </a:solidFill>
                <a:latin typeface="Noto Sans CJK SC"/>
              </a:rPr>
              <a:t>在适宜条件下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700" b="0">
                <a:solidFill>
                  <a:srgbClr val="203354"/>
                </a:solidFill>
                <a:latin typeface="Noto Sans CJK SC"/>
              </a:rPr>
              <a:t>可自行繁殖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51560" y="4672584"/>
            <a:ext cx="4562856" cy="6126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100" b="1">
                <a:solidFill>
                  <a:srgbClr val="203354"/>
                </a:solidFill>
                <a:latin typeface="Noto Sans CJK SC"/>
              </a:rPr>
              <a:t>某些细菌结构或过程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100" b="1">
                <a:solidFill>
                  <a:srgbClr val="203354"/>
                </a:solidFill>
                <a:latin typeface="Noto Sans CJK SC"/>
              </a:rPr>
              <a:t>可成为抗生素的靶点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7744967" y="3566160"/>
            <a:ext cx="201169" cy="0"/>
          </a:xfrm>
          <a:prstGeom prst="line">
            <a:avLst/>
          </a:prstGeom>
          <a:ln w="25400">
            <a:solidFill>
              <a:srgbClr val="7952D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Oval 42"/>
          <p:cNvSpPr/>
          <p:nvPr/>
        </p:nvSpPr>
        <p:spPr>
          <a:xfrm>
            <a:off x="7891271" y="3511296"/>
            <a:ext cx="109728" cy="109728"/>
          </a:xfrm>
          <a:prstGeom prst="ellipse">
            <a:avLst/>
          </a:prstGeom>
          <a:solidFill>
            <a:srgbClr val="FFB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4" name="Connector 43"/>
          <p:cNvCxnSpPr/>
          <p:nvPr/>
        </p:nvCxnSpPr>
        <p:spPr>
          <a:xfrm>
            <a:off x="7669875" y="3797272"/>
            <a:ext cx="162748" cy="118244"/>
          </a:xfrm>
          <a:prstGeom prst="line">
            <a:avLst/>
          </a:prstGeom>
          <a:ln w="25400">
            <a:solidFill>
              <a:srgbClr val="7952D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Oval 44"/>
          <p:cNvSpPr/>
          <p:nvPr/>
        </p:nvSpPr>
        <p:spPr>
          <a:xfrm>
            <a:off x="7777759" y="3860652"/>
            <a:ext cx="109728" cy="109728"/>
          </a:xfrm>
          <a:prstGeom prst="ellipse">
            <a:avLst/>
          </a:prstGeom>
          <a:solidFill>
            <a:srgbClr val="FFB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6" name="Connector 45"/>
          <p:cNvCxnSpPr/>
          <p:nvPr/>
        </p:nvCxnSpPr>
        <p:spPr>
          <a:xfrm>
            <a:off x="7473279" y="3940107"/>
            <a:ext cx="62164" cy="191322"/>
          </a:xfrm>
          <a:prstGeom prst="line">
            <a:avLst/>
          </a:prstGeom>
          <a:ln w="25400">
            <a:solidFill>
              <a:srgbClr val="7952D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Oval 46"/>
          <p:cNvSpPr/>
          <p:nvPr/>
        </p:nvSpPr>
        <p:spPr>
          <a:xfrm>
            <a:off x="7480579" y="4076565"/>
            <a:ext cx="109728" cy="109728"/>
          </a:xfrm>
          <a:prstGeom prst="ellipse">
            <a:avLst/>
          </a:prstGeom>
          <a:solidFill>
            <a:srgbClr val="FFB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8" name="Connector 47"/>
          <p:cNvCxnSpPr/>
          <p:nvPr/>
        </p:nvCxnSpPr>
        <p:spPr>
          <a:xfrm flipH="1">
            <a:off x="7168108" y="3940107"/>
            <a:ext cx="62164" cy="191322"/>
          </a:xfrm>
          <a:prstGeom prst="line">
            <a:avLst/>
          </a:prstGeom>
          <a:ln w="25400">
            <a:solidFill>
              <a:srgbClr val="7952D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Oval 48"/>
          <p:cNvSpPr/>
          <p:nvPr/>
        </p:nvSpPr>
        <p:spPr>
          <a:xfrm>
            <a:off x="7113244" y="4076565"/>
            <a:ext cx="109728" cy="109728"/>
          </a:xfrm>
          <a:prstGeom prst="ellipse">
            <a:avLst/>
          </a:prstGeom>
          <a:solidFill>
            <a:srgbClr val="FFB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0" name="Connector 49"/>
          <p:cNvCxnSpPr/>
          <p:nvPr/>
        </p:nvCxnSpPr>
        <p:spPr>
          <a:xfrm flipH="1">
            <a:off x="6870928" y="3797272"/>
            <a:ext cx="162748" cy="118244"/>
          </a:xfrm>
          <a:prstGeom prst="line">
            <a:avLst/>
          </a:prstGeom>
          <a:ln w="25400">
            <a:solidFill>
              <a:srgbClr val="7952D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Oval 50"/>
          <p:cNvSpPr/>
          <p:nvPr/>
        </p:nvSpPr>
        <p:spPr>
          <a:xfrm>
            <a:off x="6816064" y="3860652"/>
            <a:ext cx="109728" cy="109728"/>
          </a:xfrm>
          <a:prstGeom prst="ellipse">
            <a:avLst/>
          </a:prstGeom>
          <a:solidFill>
            <a:srgbClr val="FFB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2" name="Connector 51"/>
          <p:cNvCxnSpPr/>
          <p:nvPr/>
        </p:nvCxnSpPr>
        <p:spPr>
          <a:xfrm flipH="1">
            <a:off x="6757415" y="3566160"/>
            <a:ext cx="201168" cy="0"/>
          </a:xfrm>
          <a:prstGeom prst="line">
            <a:avLst/>
          </a:prstGeom>
          <a:ln w="25400">
            <a:solidFill>
              <a:srgbClr val="7952D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Oval 52"/>
          <p:cNvSpPr/>
          <p:nvPr/>
        </p:nvSpPr>
        <p:spPr>
          <a:xfrm>
            <a:off x="6702551" y="3511296"/>
            <a:ext cx="109728" cy="109728"/>
          </a:xfrm>
          <a:prstGeom prst="ellipse">
            <a:avLst/>
          </a:prstGeom>
          <a:solidFill>
            <a:srgbClr val="FFB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4" name="Connector 53"/>
          <p:cNvCxnSpPr/>
          <p:nvPr/>
        </p:nvCxnSpPr>
        <p:spPr>
          <a:xfrm flipH="1" flipV="1">
            <a:off x="6870928" y="3216803"/>
            <a:ext cx="162748" cy="118244"/>
          </a:xfrm>
          <a:prstGeom prst="line">
            <a:avLst/>
          </a:prstGeom>
          <a:ln w="25400">
            <a:solidFill>
              <a:srgbClr val="7952D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Oval 54"/>
          <p:cNvSpPr/>
          <p:nvPr/>
        </p:nvSpPr>
        <p:spPr>
          <a:xfrm>
            <a:off x="6816064" y="3161939"/>
            <a:ext cx="109728" cy="109728"/>
          </a:xfrm>
          <a:prstGeom prst="ellipse">
            <a:avLst/>
          </a:prstGeom>
          <a:solidFill>
            <a:srgbClr val="FFB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6" name="Connector 55"/>
          <p:cNvCxnSpPr/>
          <p:nvPr/>
        </p:nvCxnSpPr>
        <p:spPr>
          <a:xfrm flipH="1" flipV="1">
            <a:off x="7168108" y="3000890"/>
            <a:ext cx="62164" cy="191322"/>
          </a:xfrm>
          <a:prstGeom prst="line">
            <a:avLst/>
          </a:prstGeom>
          <a:ln w="25400">
            <a:solidFill>
              <a:srgbClr val="7952D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Oval 56"/>
          <p:cNvSpPr/>
          <p:nvPr/>
        </p:nvSpPr>
        <p:spPr>
          <a:xfrm>
            <a:off x="7113244" y="2946026"/>
            <a:ext cx="109728" cy="109728"/>
          </a:xfrm>
          <a:prstGeom prst="ellipse">
            <a:avLst/>
          </a:prstGeom>
          <a:solidFill>
            <a:srgbClr val="FFB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8" name="Connector 57"/>
          <p:cNvCxnSpPr/>
          <p:nvPr/>
        </p:nvCxnSpPr>
        <p:spPr>
          <a:xfrm flipV="1">
            <a:off x="7473279" y="3000890"/>
            <a:ext cx="62164" cy="191322"/>
          </a:xfrm>
          <a:prstGeom prst="line">
            <a:avLst/>
          </a:prstGeom>
          <a:ln w="25400">
            <a:solidFill>
              <a:srgbClr val="7952D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Oval 58"/>
          <p:cNvSpPr/>
          <p:nvPr/>
        </p:nvSpPr>
        <p:spPr>
          <a:xfrm>
            <a:off x="7480579" y="2946026"/>
            <a:ext cx="109728" cy="109728"/>
          </a:xfrm>
          <a:prstGeom prst="ellipse">
            <a:avLst/>
          </a:prstGeom>
          <a:solidFill>
            <a:srgbClr val="FFB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0" name="Connector 59"/>
          <p:cNvCxnSpPr/>
          <p:nvPr/>
        </p:nvCxnSpPr>
        <p:spPr>
          <a:xfrm flipV="1">
            <a:off x="7669875" y="3216803"/>
            <a:ext cx="162748" cy="118244"/>
          </a:xfrm>
          <a:prstGeom prst="line">
            <a:avLst/>
          </a:prstGeom>
          <a:ln w="25400">
            <a:solidFill>
              <a:srgbClr val="7952D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Oval 60"/>
          <p:cNvSpPr/>
          <p:nvPr/>
        </p:nvSpPr>
        <p:spPr>
          <a:xfrm>
            <a:off x="7777759" y="3161939"/>
            <a:ext cx="109728" cy="109728"/>
          </a:xfrm>
          <a:prstGeom prst="ellipse">
            <a:avLst/>
          </a:prstGeom>
          <a:solidFill>
            <a:srgbClr val="FFB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Oval 61"/>
          <p:cNvSpPr/>
          <p:nvPr/>
        </p:nvSpPr>
        <p:spPr>
          <a:xfrm>
            <a:off x="6912863" y="3127248"/>
            <a:ext cx="877824" cy="877824"/>
          </a:xfrm>
          <a:prstGeom prst="ellipse">
            <a:avLst/>
          </a:prstGeom>
          <a:solidFill>
            <a:srgbClr val="7952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7040879" y="3255264"/>
            <a:ext cx="621792" cy="621792"/>
          </a:xfrm>
          <a:prstGeom prst="ellipse">
            <a:avLst/>
          </a:prstGeom>
          <a:solidFill>
            <a:srgbClr val="D8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4" name="Connector 63"/>
          <p:cNvCxnSpPr/>
          <p:nvPr/>
        </p:nvCxnSpPr>
        <p:spPr>
          <a:xfrm>
            <a:off x="7187183" y="3419856"/>
            <a:ext cx="118872" cy="283464"/>
          </a:xfrm>
          <a:prstGeom prst="line">
            <a:avLst/>
          </a:prstGeom>
          <a:ln w="25400">
            <a:solidFill>
              <a:srgbClr val="EB596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>
            <a:off x="7306055" y="3419856"/>
            <a:ext cx="118872" cy="283464"/>
          </a:xfrm>
          <a:prstGeom prst="line">
            <a:avLst/>
          </a:prstGeom>
          <a:ln w="25400">
            <a:solidFill>
              <a:srgbClr val="EB596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>
            <a:off x="7424927" y="3419856"/>
            <a:ext cx="118873" cy="283464"/>
          </a:xfrm>
          <a:prstGeom prst="line">
            <a:avLst/>
          </a:prstGeom>
          <a:ln w="25400">
            <a:solidFill>
              <a:srgbClr val="EB596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7" name="Chevron 66"/>
          <p:cNvSpPr/>
          <p:nvPr/>
        </p:nvSpPr>
        <p:spPr>
          <a:xfrm>
            <a:off x="8247888" y="3465576"/>
            <a:ext cx="365760" cy="274320"/>
          </a:xfrm>
          <a:prstGeom prst="chevron">
            <a:avLst/>
          </a:prstGeom>
          <a:solidFill>
            <a:srgbClr val="7952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Oval 67"/>
          <p:cNvSpPr/>
          <p:nvPr/>
        </p:nvSpPr>
        <p:spPr>
          <a:xfrm>
            <a:off x="8823960" y="2962656"/>
            <a:ext cx="1965960" cy="1280160"/>
          </a:xfrm>
          <a:prstGeom prst="ellipse">
            <a:avLst/>
          </a:prstGeom>
          <a:solidFill>
            <a:srgbClr val="DBF4ED"/>
          </a:solidFill>
          <a:ln w="19050">
            <a:solidFill>
              <a:srgbClr val="008C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9400032" y="3346704"/>
            <a:ext cx="557784" cy="493776"/>
          </a:xfrm>
          <a:prstGeom prst="ellipse">
            <a:avLst/>
          </a:prstGeom>
          <a:solidFill>
            <a:srgbClr val="008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8933688" y="4361688"/>
            <a:ext cx="1792224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700" b="1">
                <a:solidFill>
                  <a:srgbClr val="008C82"/>
                </a:solidFill>
                <a:latin typeface="Noto Sans CJK SC"/>
              </a:rPr>
              <a:t>宿主细胞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537960" y="4681728"/>
            <a:ext cx="4562856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100" b="1">
                <a:solidFill>
                  <a:srgbClr val="203354"/>
                </a:solidFill>
                <a:latin typeface="Noto Sans CJK SC"/>
              </a:rPr>
              <a:t>无细胞结构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100" b="1">
                <a:solidFill>
                  <a:srgbClr val="203354"/>
                </a:solidFill>
                <a:latin typeface="Noto Sans CJK SC"/>
              </a:rPr>
              <a:t>依赖宿主细胞复制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65760"/>
            <a:ext cx="64008" cy="246888"/>
          </a:xfrm>
          <a:prstGeom prst="rect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92608"/>
            <a:ext cx="36576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53E75"/>
                </a:solidFill>
                <a:latin typeface="Noto Sans CJK SC"/>
                <a:ea typeface="Noto Sans CJK SC"/>
              </a:rPr>
              <a:t>02 / 宿舍误区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896112"/>
            <a:ext cx="1101852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53E75"/>
                </a:solidFill>
                <a:latin typeface="Noto Sans CJK SC"/>
                <a:ea typeface="Noto Sans CJK SC"/>
              </a:rPr>
              <a:t>不需要的抗生素，也可能带来真实伤害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94360" y="5843016"/>
            <a:ext cx="11000232" cy="0"/>
          </a:xfrm>
          <a:prstGeom prst="line">
            <a:avLst/>
          </a:prstGeom>
          <a:ln w="8890">
            <a:solidFill>
              <a:srgbClr val="153E7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5943600"/>
            <a:ext cx="1074420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E3464F"/>
                </a:solidFill>
                <a:latin typeface="Noto Sans CJK SC"/>
                <a:ea typeface="Noto Sans CJK SC"/>
              </a:rPr>
              <a:t>28%是处方比例，10倍是风险上限说明；口径不同，不能相乘或推算个人概率。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510528"/>
            <a:ext cx="9601200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153E75"/>
                </a:solidFill>
                <a:latin typeface="Noto Sans CJK SC"/>
                <a:ea typeface="Noto Sans CJK SC"/>
              </a:rPr>
              <a:t>来源：S5; S15; S16  ·  完整链接见附页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153E75"/>
                </a:solidFill>
                <a:latin typeface="Noto Sans CJK SC"/>
                <a:ea typeface="Noto Sans CJK SC"/>
              </a:rPr>
              <a:t>12 / 28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1920240"/>
            <a:ext cx="5148072" cy="3749039"/>
          </a:xfrm>
          <a:prstGeom prst="roundRect">
            <a:avLst>
              <a:gd name="adj" fmla="val 10000"/>
            </a:avLst>
          </a:prstGeom>
          <a:solidFill>
            <a:srgbClr val="F0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245352" y="1920240"/>
            <a:ext cx="5148072" cy="3749039"/>
          </a:xfrm>
          <a:prstGeom prst="roundRect">
            <a:avLst>
              <a:gd name="adj" fmla="val 10000"/>
            </a:avLst>
          </a:prstGeom>
          <a:solidFill>
            <a:srgbClr val="F0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33271" y="2112264"/>
            <a:ext cx="457200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400" b="1">
                <a:solidFill>
                  <a:srgbClr val="203354"/>
                </a:solidFill>
                <a:latin typeface="Noto Sans CJK SC"/>
              </a:rPr>
              <a:t>不必要的抗生素处方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3271" y="2615184"/>
            <a:ext cx="4572000" cy="2651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400" b="0">
                <a:solidFill>
                  <a:srgbClr val="203354"/>
                </a:solidFill>
                <a:latin typeface="Noto Sans CJK SC"/>
              </a:rPr>
              <a:t>美国门诊 · 2014—2015估计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33271" y="3182112"/>
            <a:ext cx="2167128" cy="283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000" b="1">
                <a:solidFill>
                  <a:srgbClr val="EB5969"/>
                </a:solidFill>
                <a:latin typeface="Noto Sans CJK SC"/>
              </a:rPr>
              <a:t>至少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33271" y="3593592"/>
            <a:ext cx="2167128" cy="7589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4800" b="1">
                <a:solidFill>
                  <a:srgbClr val="EB5969"/>
                </a:solidFill>
                <a:latin typeface="Noto Sans CJK SC"/>
              </a:rPr>
              <a:t>28%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474720" y="2935224"/>
            <a:ext cx="164592" cy="164592"/>
          </a:xfrm>
          <a:prstGeom prst="roundRect">
            <a:avLst>
              <a:gd name="adj" fmla="val 10000"/>
            </a:avLst>
          </a:prstGeom>
          <a:solidFill>
            <a:srgbClr val="EB59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680459" y="2935224"/>
            <a:ext cx="164592" cy="164592"/>
          </a:xfrm>
          <a:prstGeom prst="roundRect">
            <a:avLst>
              <a:gd name="adj" fmla="val 10000"/>
            </a:avLst>
          </a:prstGeom>
          <a:solidFill>
            <a:srgbClr val="EB59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886200" y="2935224"/>
            <a:ext cx="164592" cy="164592"/>
          </a:xfrm>
          <a:prstGeom prst="roundRect">
            <a:avLst>
              <a:gd name="adj" fmla="val 10000"/>
            </a:avLst>
          </a:prstGeom>
          <a:solidFill>
            <a:srgbClr val="EB59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091939" y="2935224"/>
            <a:ext cx="164592" cy="164592"/>
          </a:xfrm>
          <a:prstGeom prst="roundRect">
            <a:avLst>
              <a:gd name="adj" fmla="val 10000"/>
            </a:avLst>
          </a:prstGeom>
          <a:solidFill>
            <a:srgbClr val="EB59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4297680" y="2935224"/>
            <a:ext cx="164592" cy="164592"/>
          </a:xfrm>
          <a:prstGeom prst="roundRect">
            <a:avLst>
              <a:gd name="adj" fmla="val 10000"/>
            </a:avLst>
          </a:prstGeom>
          <a:solidFill>
            <a:srgbClr val="EB59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4503420" y="2935224"/>
            <a:ext cx="164592" cy="164592"/>
          </a:xfrm>
          <a:prstGeom prst="roundRect">
            <a:avLst>
              <a:gd name="adj" fmla="val 10000"/>
            </a:avLst>
          </a:prstGeom>
          <a:solidFill>
            <a:srgbClr val="EB59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4709160" y="2935224"/>
            <a:ext cx="164592" cy="164592"/>
          </a:xfrm>
          <a:prstGeom prst="roundRect">
            <a:avLst>
              <a:gd name="adj" fmla="val 10000"/>
            </a:avLst>
          </a:prstGeom>
          <a:solidFill>
            <a:srgbClr val="EB59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4914900" y="2935224"/>
            <a:ext cx="164592" cy="164592"/>
          </a:xfrm>
          <a:prstGeom prst="roundRect">
            <a:avLst>
              <a:gd name="adj" fmla="val 10000"/>
            </a:avLst>
          </a:prstGeom>
          <a:solidFill>
            <a:srgbClr val="EB59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5120640" y="2935224"/>
            <a:ext cx="164592" cy="164592"/>
          </a:xfrm>
          <a:prstGeom prst="roundRect">
            <a:avLst>
              <a:gd name="adj" fmla="val 10000"/>
            </a:avLst>
          </a:prstGeom>
          <a:solidFill>
            <a:srgbClr val="EB59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5326379" y="2935224"/>
            <a:ext cx="164592" cy="164592"/>
          </a:xfrm>
          <a:prstGeom prst="roundRect">
            <a:avLst>
              <a:gd name="adj" fmla="val 10000"/>
            </a:avLst>
          </a:prstGeom>
          <a:solidFill>
            <a:srgbClr val="EB59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3474720" y="3140964"/>
            <a:ext cx="164592" cy="164592"/>
          </a:xfrm>
          <a:prstGeom prst="roundRect">
            <a:avLst>
              <a:gd name="adj" fmla="val 10000"/>
            </a:avLst>
          </a:prstGeom>
          <a:solidFill>
            <a:srgbClr val="EB59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3680459" y="3140964"/>
            <a:ext cx="164592" cy="164592"/>
          </a:xfrm>
          <a:prstGeom prst="roundRect">
            <a:avLst>
              <a:gd name="adj" fmla="val 10000"/>
            </a:avLst>
          </a:prstGeom>
          <a:solidFill>
            <a:srgbClr val="EB59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3886200" y="3140964"/>
            <a:ext cx="164592" cy="164592"/>
          </a:xfrm>
          <a:prstGeom prst="roundRect">
            <a:avLst>
              <a:gd name="adj" fmla="val 10000"/>
            </a:avLst>
          </a:prstGeom>
          <a:solidFill>
            <a:srgbClr val="EB59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4091939" y="3140964"/>
            <a:ext cx="164592" cy="164592"/>
          </a:xfrm>
          <a:prstGeom prst="roundRect">
            <a:avLst>
              <a:gd name="adj" fmla="val 10000"/>
            </a:avLst>
          </a:prstGeom>
          <a:solidFill>
            <a:srgbClr val="EB59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4297680" y="3140964"/>
            <a:ext cx="164592" cy="164592"/>
          </a:xfrm>
          <a:prstGeom prst="roundRect">
            <a:avLst>
              <a:gd name="adj" fmla="val 10000"/>
            </a:avLst>
          </a:prstGeom>
          <a:solidFill>
            <a:srgbClr val="EB59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4503420" y="3140964"/>
            <a:ext cx="164592" cy="164592"/>
          </a:xfrm>
          <a:prstGeom prst="roundRect">
            <a:avLst>
              <a:gd name="adj" fmla="val 10000"/>
            </a:avLst>
          </a:prstGeom>
          <a:solidFill>
            <a:srgbClr val="EB59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4709160" y="3140964"/>
            <a:ext cx="164592" cy="164592"/>
          </a:xfrm>
          <a:prstGeom prst="roundRect">
            <a:avLst>
              <a:gd name="adj" fmla="val 10000"/>
            </a:avLst>
          </a:prstGeom>
          <a:solidFill>
            <a:srgbClr val="EB59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4914900" y="3140964"/>
            <a:ext cx="164592" cy="164592"/>
          </a:xfrm>
          <a:prstGeom prst="roundRect">
            <a:avLst>
              <a:gd name="adj" fmla="val 10000"/>
            </a:avLst>
          </a:prstGeom>
          <a:solidFill>
            <a:srgbClr val="EB59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5120640" y="3140964"/>
            <a:ext cx="164592" cy="164592"/>
          </a:xfrm>
          <a:prstGeom prst="roundRect">
            <a:avLst>
              <a:gd name="adj" fmla="val 10000"/>
            </a:avLst>
          </a:prstGeom>
          <a:solidFill>
            <a:srgbClr val="EB59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5326379" y="3140964"/>
            <a:ext cx="164592" cy="164592"/>
          </a:xfrm>
          <a:prstGeom prst="roundRect">
            <a:avLst>
              <a:gd name="adj" fmla="val 10000"/>
            </a:avLst>
          </a:prstGeom>
          <a:solidFill>
            <a:srgbClr val="EB59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3474720" y="3346704"/>
            <a:ext cx="164592" cy="164592"/>
          </a:xfrm>
          <a:prstGeom prst="roundRect">
            <a:avLst>
              <a:gd name="adj" fmla="val 10000"/>
            </a:avLst>
          </a:prstGeom>
          <a:solidFill>
            <a:srgbClr val="EB59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3680459" y="3346704"/>
            <a:ext cx="164592" cy="164592"/>
          </a:xfrm>
          <a:prstGeom prst="roundRect">
            <a:avLst>
              <a:gd name="adj" fmla="val 10000"/>
            </a:avLst>
          </a:prstGeom>
          <a:solidFill>
            <a:srgbClr val="EB59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3886200" y="3346704"/>
            <a:ext cx="164592" cy="164592"/>
          </a:xfrm>
          <a:prstGeom prst="roundRect">
            <a:avLst>
              <a:gd name="adj" fmla="val 10000"/>
            </a:avLst>
          </a:prstGeom>
          <a:solidFill>
            <a:srgbClr val="EB59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4091939" y="3346704"/>
            <a:ext cx="164592" cy="164592"/>
          </a:xfrm>
          <a:prstGeom prst="roundRect">
            <a:avLst>
              <a:gd name="adj" fmla="val 10000"/>
            </a:avLst>
          </a:prstGeom>
          <a:solidFill>
            <a:srgbClr val="EB59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4297680" y="3346704"/>
            <a:ext cx="164592" cy="164592"/>
          </a:xfrm>
          <a:prstGeom prst="roundRect">
            <a:avLst>
              <a:gd name="adj" fmla="val 10000"/>
            </a:avLst>
          </a:prstGeom>
          <a:solidFill>
            <a:srgbClr val="EB59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4503420" y="3346704"/>
            <a:ext cx="164592" cy="164592"/>
          </a:xfrm>
          <a:prstGeom prst="roundRect">
            <a:avLst>
              <a:gd name="adj" fmla="val 10000"/>
            </a:avLst>
          </a:prstGeom>
          <a:solidFill>
            <a:srgbClr val="EB59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4709160" y="3346704"/>
            <a:ext cx="164592" cy="164592"/>
          </a:xfrm>
          <a:prstGeom prst="roundRect">
            <a:avLst>
              <a:gd name="adj" fmla="val 10000"/>
            </a:avLst>
          </a:prstGeom>
          <a:solidFill>
            <a:srgbClr val="EB59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4914900" y="3346704"/>
            <a:ext cx="164592" cy="164592"/>
          </a:xfrm>
          <a:prstGeom prst="roundRect">
            <a:avLst>
              <a:gd name="adj" fmla="val 10000"/>
            </a:avLst>
          </a:prstGeom>
          <a:solidFill>
            <a:srgbClr val="EB59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5120640" y="3346704"/>
            <a:ext cx="164592" cy="164592"/>
          </a:xfrm>
          <a:prstGeom prst="roundRect">
            <a:avLst>
              <a:gd name="adj" fmla="val 10000"/>
            </a:avLst>
          </a:prstGeom>
          <a:solidFill>
            <a:srgbClr val="D6E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5326379" y="3346704"/>
            <a:ext cx="164592" cy="164592"/>
          </a:xfrm>
          <a:prstGeom prst="roundRect">
            <a:avLst>
              <a:gd name="adj" fmla="val 10000"/>
            </a:avLst>
          </a:prstGeom>
          <a:solidFill>
            <a:srgbClr val="D6E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3474720" y="3552444"/>
            <a:ext cx="164592" cy="164592"/>
          </a:xfrm>
          <a:prstGeom prst="roundRect">
            <a:avLst>
              <a:gd name="adj" fmla="val 10000"/>
            </a:avLst>
          </a:prstGeom>
          <a:solidFill>
            <a:srgbClr val="D6E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3680459" y="3552444"/>
            <a:ext cx="164592" cy="164592"/>
          </a:xfrm>
          <a:prstGeom prst="roundRect">
            <a:avLst>
              <a:gd name="adj" fmla="val 10000"/>
            </a:avLst>
          </a:prstGeom>
          <a:solidFill>
            <a:srgbClr val="D6E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3886200" y="3552444"/>
            <a:ext cx="164592" cy="164592"/>
          </a:xfrm>
          <a:prstGeom prst="roundRect">
            <a:avLst>
              <a:gd name="adj" fmla="val 10000"/>
            </a:avLst>
          </a:prstGeom>
          <a:solidFill>
            <a:srgbClr val="D6E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4091939" y="3552444"/>
            <a:ext cx="164592" cy="164592"/>
          </a:xfrm>
          <a:prstGeom prst="roundRect">
            <a:avLst>
              <a:gd name="adj" fmla="val 10000"/>
            </a:avLst>
          </a:prstGeom>
          <a:solidFill>
            <a:srgbClr val="D6E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4297680" y="3552444"/>
            <a:ext cx="164592" cy="164592"/>
          </a:xfrm>
          <a:prstGeom prst="roundRect">
            <a:avLst>
              <a:gd name="adj" fmla="val 10000"/>
            </a:avLst>
          </a:prstGeom>
          <a:solidFill>
            <a:srgbClr val="D6E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4503420" y="3552444"/>
            <a:ext cx="164592" cy="164592"/>
          </a:xfrm>
          <a:prstGeom prst="roundRect">
            <a:avLst>
              <a:gd name="adj" fmla="val 10000"/>
            </a:avLst>
          </a:prstGeom>
          <a:solidFill>
            <a:srgbClr val="D6E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ounded Rectangle 50"/>
          <p:cNvSpPr/>
          <p:nvPr/>
        </p:nvSpPr>
        <p:spPr>
          <a:xfrm>
            <a:off x="4709160" y="3552444"/>
            <a:ext cx="164592" cy="164592"/>
          </a:xfrm>
          <a:prstGeom prst="roundRect">
            <a:avLst>
              <a:gd name="adj" fmla="val 10000"/>
            </a:avLst>
          </a:prstGeom>
          <a:solidFill>
            <a:srgbClr val="D6E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4914900" y="3552444"/>
            <a:ext cx="164592" cy="164592"/>
          </a:xfrm>
          <a:prstGeom prst="roundRect">
            <a:avLst>
              <a:gd name="adj" fmla="val 10000"/>
            </a:avLst>
          </a:prstGeom>
          <a:solidFill>
            <a:srgbClr val="D6E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5120640" y="3552444"/>
            <a:ext cx="164592" cy="164592"/>
          </a:xfrm>
          <a:prstGeom prst="roundRect">
            <a:avLst>
              <a:gd name="adj" fmla="val 10000"/>
            </a:avLst>
          </a:prstGeom>
          <a:solidFill>
            <a:srgbClr val="D6E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ounded Rectangle 53"/>
          <p:cNvSpPr/>
          <p:nvPr/>
        </p:nvSpPr>
        <p:spPr>
          <a:xfrm>
            <a:off x="5326379" y="3552444"/>
            <a:ext cx="164592" cy="164592"/>
          </a:xfrm>
          <a:prstGeom prst="roundRect">
            <a:avLst>
              <a:gd name="adj" fmla="val 10000"/>
            </a:avLst>
          </a:prstGeom>
          <a:solidFill>
            <a:srgbClr val="D6E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ounded Rectangle 54"/>
          <p:cNvSpPr/>
          <p:nvPr/>
        </p:nvSpPr>
        <p:spPr>
          <a:xfrm>
            <a:off x="3474720" y="3758184"/>
            <a:ext cx="164592" cy="164592"/>
          </a:xfrm>
          <a:prstGeom prst="roundRect">
            <a:avLst>
              <a:gd name="adj" fmla="val 10000"/>
            </a:avLst>
          </a:prstGeom>
          <a:solidFill>
            <a:srgbClr val="D6E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3680459" y="3758184"/>
            <a:ext cx="164592" cy="164592"/>
          </a:xfrm>
          <a:prstGeom prst="roundRect">
            <a:avLst>
              <a:gd name="adj" fmla="val 10000"/>
            </a:avLst>
          </a:prstGeom>
          <a:solidFill>
            <a:srgbClr val="D6E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3886200" y="3758184"/>
            <a:ext cx="164592" cy="164592"/>
          </a:xfrm>
          <a:prstGeom prst="roundRect">
            <a:avLst>
              <a:gd name="adj" fmla="val 10000"/>
            </a:avLst>
          </a:prstGeom>
          <a:solidFill>
            <a:srgbClr val="D6E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ounded Rectangle 57"/>
          <p:cNvSpPr/>
          <p:nvPr/>
        </p:nvSpPr>
        <p:spPr>
          <a:xfrm>
            <a:off x="4091939" y="3758184"/>
            <a:ext cx="164592" cy="164592"/>
          </a:xfrm>
          <a:prstGeom prst="roundRect">
            <a:avLst>
              <a:gd name="adj" fmla="val 10000"/>
            </a:avLst>
          </a:prstGeom>
          <a:solidFill>
            <a:srgbClr val="D6E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ounded Rectangle 58"/>
          <p:cNvSpPr/>
          <p:nvPr/>
        </p:nvSpPr>
        <p:spPr>
          <a:xfrm>
            <a:off x="4297680" y="3758184"/>
            <a:ext cx="164592" cy="164592"/>
          </a:xfrm>
          <a:prstGeom prst="roundRect">
            <a:avLst>
              <a:gd name="adj" fmla="val 10000"/>
            </a:avLst>
          </a:prstGeom>
          <a:solidFill>
            <a:srgbClr val="D6E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ounded Rectangle 59"/>
          <p:cNvSpPr/>
          <p:nvPr/>
        </p:nvSpPr>
        <p:spPr>
          <a:xfrm>
            <a:off x="4503420" y="3758184"/>
            <a:ext cx="164592" cy="164592"/>
          </a:xfrm>
          <a:prstGeom prst="roundRect">
            <a:avLst>
              <a:gd name="adj" fmla="val 10000"/>
            </a:avLst>
          </a:prstGeom>
          <a:solidFill>
            <a:srgbClr val="D6E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ounded Rectangle 60"/>
          <p:cNvSpPr/>
          <p:nvPr/>
        </p:nvSpPr>
        <p:spPr>
          <a:xfrm>
            <a:off x="4709160" y="3758184"/>
            <a:ext cx="164592" cy="164592"/>
          </a:xfrm>
          <a:prstGeom prst="roundRect">
            <a:avLst>
              <a:gd name="adj" fmla="val 10000"/>
            </a:avLst>
          </a:prstGeom>
          <a:solidFill>
            <a:srgbClr val="D6E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ounded Rectangle 61"/>
          <p:cNvSpPr/>
          <p:nvPr/>
        </p:nvSpPr>
        <p:spPr>
          <a:xfrm>
            <a:off x="4914900" y="3758184"/>
            <a:ext cx="164592" cy="164592"/>
          </a:xfrm>
          <a:prstGeom prst="roundRect">
            <a:avLst>
              <a:gd name="adj" fmla="val 10000"/>
            </a:avLst>
          </a:prstGeom>
          <a:solidFill>
            <a:srgbClr val="D6E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ounded Rectangle 62"/>
          <p:cNvSpPr/>
          <p:nvPr/>
        </p:nvSpPr>
        <p:spPr>
          <a:xfrm>
            <a:off x="5120640" y="3758184"/>
            <a:ext cx="164592" cy="164592"/>
          </a:xfrm>
          <a:prstGeom prst="roundRect">
            <a:avLst>
              <a:gd name="adj" fmla="val 10000"/>
            </a:avLst>
          </a:prstGeom>
          <a:solidFill>
            <a:srgbClr val="D6E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ounded Rectangle 63"/>
          <p:cNvSpPr/>
          <p:nvPr/>
        </p:nvSpPr>
        <p:spPr>
          <a:xfrm>
            <a:off x="5326379" y="3758184"/>
            <a:ext cx="164592" cy="164592"/>
          </a:xfrm>
          <a:prstGeom prst="roundRect">
            <a:avLst>
              <a:gd name="adj" fmla="val 10000"/>
            </a:avLst>
          </a:prstGeom>
          <a:solidFill>
            <a:srgbClr val="D6E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ounded Rectangle 64"/>
          <p:cNvSpPr/>
          <p:nvPr/>
        </p:nvSpPr>
        <p:spPr>
          <a:xfrm>
            <a:off x="3474720" y="3963924"/>
            <a:ext cx="164592" cy="164592"/>
          </a:xfrm>
          <a:prstGeom prst="roundRect">
            <a:avLst>
              <a:gd name="adj" fmla="val 10000"/>
            </a:avLst>
          </a:prstGeom>
          <a:solidFill>
            <a:srgbClr val="D6E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ounded Rectangle 65"/>
          <p:cNvSpPr/>
          <p:nvPr/>
        </p:nvSpPr>
        <p:spPr>
          <a:xfrm>
            <a:off x="3680459" y="3963924"/>
            <a:ext cx="164592" cy="164592"/>
          </a:xfrm>
          <a:prstGeom prst="roundRect">
            <a:avLst>
              <a:gd name="adj" fmla="val 10000"/>
            </a:avLst>
          </a:prstGeom>
          <a:solidFill>
            <a:srgbClr val="D6E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ounded Rectangle 66"/>
          <p:cNvSpPr/>
          <p:nvPr/>
        </p:nvSpPr>
        <p:spPr>
          <a:xfrm>
            <a:off x="3886200" y="3963924"/>
            <a:ext cx="164592" cy="164592"/>
          </a:xfrm>
          <a:prstGeom prst="roundRect">
            <a:avLst>
              <a:gd name="adj" fmla="val 10000"/>
            </a:avLst>
          </a:prstGeom>
          <a:solidFill>
            <a:srgbClr val="D6E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ounded Rectangle 67"/>
          <p:cNvSpPr/>
          <p:nvPr/>
        </p:nvSpPr>
        <p:spPr>
          <a:xfrm>
            <a:off x="4091939" y="3963924"/>
            <a:ext cx="164592" cy="164592"/>
          </a:xfrm>
          <a:prstGeom prst="roundRect">
            <a:avLst>
              <a:gd name="adj" fmla="val 10000"/>
            </a:avLst>
          </a:prstGeom>
          <a:solidFill>
            <a:srgbClr val="D6E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ounded Rectangle 68"/>
          <p:cNvSpPr/>
          <p:nvPr/>
        </p:nvSpPr>
        <p:spPr>
          <a:xfrm>
            <a:off x="4297680" y="3963924"/>
            <a:ext cx="164592" cy="164592"/>
          </a:xfrm>
          <a:prstGeom prst="roundRect">
            <a:avLst>
              <a:gd name="adj" fmla="val 10000"/>
            </a:avLst>
          </a:prstGeom>
          <a:solidFill>
            <a:srgbClr val="D6E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ounded Rectangle 69"/>
          <p:cNvSpPr/>
          <p:nvPr/>
        </p:nvSpPr>
        <p:spPr>
          <a:xfrm>
            <a:off x="4503420" y="3963924"/>
            <a:ext cx="164592" cy="164592"/>
          </a:xfrm>
          <a:prstGeom prst="roundRect">
            <a:avLst>
              <a:gd name="adj" fmla="val 10000"/>
            </a:avLst>
          </a:prstGeom>
          <a:solidFill>
            <a:srgbClr val="D6E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ounded Rectangle 70"/>
          <p:cNvSpPr/>
          <p:nvPr/>
        </p:nvSpPr>
        <p:spPr>
          <a:xfrm>
            <a:off x="4709160" y="3963924"/>
            <a:ext cx="164592" cy="164592"/>
          </a:xfrm>
          <a:prstGeom prst="roundRect">
            <a:avLst>
              <a:gd name="adj" fmla="val 10000"/>
            </a:avLst>
          </a:prstGeom>
          <a:solidFill>
            <a:srgbClr val="D6E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ounded Rectangle 71"/>
          <p:cNvSpPr/>
          <p:nvPr/>
        </p:nvSpPr>
        <p:spPr>
          <a:xfrm>
            <a:off x="4914900" y="3963924"/>
            <a:ext cx="164592" cy="164592"/>
          </a:xfrm>
          <a:prstGeom prst="roundRect">
            <a:avLst>
              <a:gd name="adj" fmla="val 10000"/>
            </a:avLst>
          </a:prstGeom>
          <a:solidFill>
            <a:srgbClr val="D6E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ounded Rectangle 72"/>
          <p:cNvSpPr/>
          <p:nvPr/>
        </p:nvSpPr>
        <p:spPr>
          <a:xfrm>
            <a:off x="5120640" y="3963924"/>
            <a:ext cx="164592" cy="164592"/>
          </a:xfrm>
          <a:prstGeom prst="roundRect">
            <a:avLst>
              <a:gd name="adj" fmla="val 10000"/>
            </a:avLst>
          </a:prstGeom>
          <a:solidFill>
            <a:srgbClr val="D6E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ounded Rectangle 73"/>
          <p:cNvSpPr/>
          <p:nvPr/>
        </p:nvSpPr>
        <p:spPr>
          <a:xfrm>
            <a:off x="5326379" y="3963924"/>
            <a:ext cx="164592" cy="164592"/>
          </a:xfrm>
          <a:prstGeom prst="roundRect">
            <a:avLst>
              <a:gd name="adj" fmla="val 10000"/>
            </a:avLst>
          </a:prstGeom>
          <a:solidFill>
            <a:srgbClr val="D6E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ounded Rectangle 74"/>
          <p:cNvSpPr/>
          <p:nvPr/>
        </p:nvSpPr>
        <p:spPr>
          <a:xfrm>
            <a:off x="3474720" y="4169664"/>
            <a:ext cx="164592" cy="164592"/>
          </a:xfrm>
          <a:prstGeom prst="roundRect">
            <a:avLst>
              <a:gd name="adj" fmla="val 10000"/>
            </a:avLst>
          </a:prstGeom>
          <a:solidFill>
            <a:srgbClr val="D6E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ounded Rectangle 75"/>
          <p:cNvSpPr/>
          <p:nvPr/>
        </p:nvSpPr>
        <p:spPr>
          <a:xfrm>
            <a:off x="3680459" y="4169664"/>
            <a:ext cx="164592" cy="164592"/>
          </a:xfrm>
          <a:prstGeom prst="roundRect">
            <a:avLst>
              <a:gd name="adj" fmla="val 10000"/>
            </a:avLst>
          </a:prstGeom>
          <a:solidFill>
            <a:srgbClr val="D6E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ounded Rectangle 76"/>
          <p:cNvSpPr/>
          <p:nvPr/>
        </p:nvSpPr>
        <p:spPr>
          <a:xfrm>
            <a:off x="3886200" y="4169664"/>
            <a:ext cx="164592" cy="164592"/>
          </a:xfrm>
          <a:prstGeom prst="roundRect">
            <a:avLst>
              <a:gd name="adj" fmla="val 10000"/>
            </a:avLst>
          </a:prstGeom>
          <a:solidFill>
            <a:srgbClr val="D6E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ounded Rectangle 77"/>
          <p:cNvSpPr/>
          <p:nvPr/>
        </p:nvSpPr>
        <p:spPr>
          <a:xfrm>
            <a:off x="4091939" y="4169664"/>
            <a:ext cx="164592" cy="164592"/>
          </a:xfrm>
          <a:prstGeom prst="roundRect">
            <a:avLst>
              <a:gd name="adj" fmla="val 10000"/>
            </a:avLst>
          </a:prstGeom>
          <a:solidFill>
            <a:srgbClr val="D6E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ounded Rectangle 78"/>
          <p:cNvSpPr/>
          <p:nvPr/>
        </p:nvSpPr>
        <p:spPr>
          <a:xfrm>
            <a:off x="4297680" y="4169664"/>
            <a:ext cx="164592" cy="164592"/>
          </a:xfrm>
          <a:prstGeom prst="roundRect">
            <a:avLst>
              <a:gd name="adj" fmla="val 10000"/>
            </a:avLst>
          </a:prstGeom>
          <a:solidFill>
            <a:srgbClr val="D6E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ounded Rectangle 79"/>
          <p:cNvSpPr/>
          <p:nvPr/>
        </p:nvSpPr>
        <p:spPr>
          <a:xfrm>
            <a:off x="4503420" y="4169664"/>
            <a:ext cx="164592" cy="164592"/>
          </a:xfrm>
          <a:prstGeom prst="roundRect">
            <a:avLst>
              <a:gd name="adj" fmla="val 10000"/>
            </a:avLst>
          </a:prstGeom>
          <a:solidFill>
            <a:srgbClr val="D6E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ounded Rectangle 80"/>
          <p:cNvSpPr/>
          <p:nvPr/>
        </p:nvSpPr>
        <p:spPr>
          <a:xfrm>
            <a:off x="4709160" y="4169664"/>
            <a:ext cx="164592" cy="164592"/>
          </a:xfrm>
          <a:prstGeom prst="roundRect">
            <a:avLst>
              <a:gd name="adj" fmla="val 10000"/>
            </a:avLst>
          </a:prstGeom>
          <a:solidFill>
            <a:srgbClr val="D6E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ounded Rectangle 81"/>
          <p:cNvSpPr/>
          <p:nvPr/>
        </p:nvSpPr>
        <p:spPr>
          <a:xfrm>
            <a:off x="4914900" y="4169664"/>
            <a:ext cx="164592" cy="164592"/>
          </a:xfrm>
          <a:prstGeom prst="roundRect">
            <a:avLst>
              <a:gd name="adj" fmla="val 10000"/>
            </a:avLst>
          </a:prstGeom>
          <a:solidFill>
            <a:srgbClr val="D6E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ounded Rectangle 82"/>
          <p:cNvSpPr/>
          <p:nvPr/>
        </p:nvSpPr>
        <p:spPr>
          <a:xfrm>
            <a:off x="5120640" y="4169664"/>
            <a:ext cx="164592" cy="164592"/>
          </a:xfrm>
          <a:prstGeom prst="roundRect">
            <a:avLst>
              <a:gd name="adj" fmla="val 10000"/>
            </a:avLst>
          </a:prstGeom>
          <a:solidFill>
            <a:srgbClr val="D6E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ounded Rectangle 83"/>
          <p:cNvSpPr/>
          <p:nvPr/>
        </p:nvSpPr>
        <p:spPr>
          <a:xfrm>
            <a:off x="5326379" y="4169664"/>
            <a:ext cx="164592" cy="164592"/>
          </a:xfrm>
          <a:prstGeom prst="roundRect">
            <a:avLst>
              <a:gd name="adj" fmla="val 10000"/>
            </a:avLst>
          </a:prstGeom>
          <a:solidFill>
            <a:srgbClr val="D6E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ounded Rectangle 84"/>
          <p:cNvSpPr/>
          <p:nvPr/>
        </p:nvSpPr>
        <p:spPr>
          <a:xfrm>
            <a:off x="3474720" y="4375404"/>
            <a:ext cx="164592" cy="164592"/>
          </a:xfrm>
          <a:prstGeom prst="roundRect">
            <a:avLst>
              <a:gd name="adj" fmla="val 10000"/>
            </a:avLst>
          </a:prstGeom>
          <a:solidFill>
            <a:srgbClr val="D6E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ounded Rectangle 85"/>
          <p:cNvSpPr/>
          <p:nvPr/>
        </p:nvSpPr>
        <p:spPr>
          <a:xfrm>
            <a:off x="3680459" y="4375404"/>
            <a:ext cx="164592" cy="164592"/>
          </a:xfrm>
          <a:prstGeom prst="roundRect">
            <a:avLst>
              <a:gd name="adj" fmla="val 10000"/>
            </a:avLst>
          </a:prstGeom>
          <a:solidFill>
            <a:srgbClr val="D6E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ounded Rectangle 86"/>
          <p:cNvSpPr/>
          <p:nvPr/>
        </p:nvSpPr>
        <p:spPr>
          <a:xfrm>
            <a:off x="3886200" y="4375404"/>
            <a:ext cx="164592" cy="164592"/>
          </a:xfrm>
          <a:prstGeom prst="roundRect">
            <a:avLst>
              <a:gd name="adj" fmla="val 10000"/>
            </a:avLst>
          </a:prstGeom>
          <a:solidFill>
            <a:srgbClr val="D6E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ounded Rectangle 87"/>
          <p:cNvSpPr/>
          <p:nvPr/>
        </p:nvSpPr>
        <p:spPr>
          <a:xfrm>
            <a:off x="4091939" y="4375404"/>
            <a:ext cx="164592" cy="164592"/>
          </a:xfrm>
          <a:prstGeom prst="roundRect">
            <a:avLst>
              <a:gd name="adj" fmla="val 10000"/>
            </a:avLst>
          </a:prstGeom>
          <a:solidFill>
            <a:srgbClr val="D6E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ounded Rectangle 88"/>
          <p:cNvSpPr/>
          <p:nvPr/>
        </p:nvSpPr>
        <p:spPr>
          <a:xfrm>
            <a:off x="4297680" y="4375404"/>
            <a:ext cx="164592" cy="164592"/>
          </a:xfrm>
          <a:prstGeom prst="roundRect">
            <a:avLst>
              <a:gd name="adj" fmla="val 10000"/>
            </a:avLst>
          </a:prstGeom>
          <a:solidFill>
            <a:srgbClr val="D6E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ounded Rectangle 89"/>
          <p:cNvSpPr/>
          <p:nvPr/>
        </p:nvSpPr>
        <p:spPr>
          <a:xfrm>
            <a:off x="4503420" y="4375404"/>
            <a:ext cx="164592" cy="164592"/>
          </a:xfrm>
          <a:prstGeom prst="roundRect">
            <a:avLst>
              <a:gd name="adj" fmla="val 10000"/>
            </a:avLst>
          </a:prstGeom>
          <a:solidFill>
            <a:srgbClr val="D6E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ounded Rectangle 90"/>
          <p:cNvSpPr/>
          <p:nvPr/>
        </p:nvSpPr>
        <p:spPr>
          <a:xfrm>
            <a:off x="4709160" y="4375404"/>
            <a:ext cx="164592" cy="164592"/>
          </a:xfrm>
          <a:prstGeom prst="roundRect">
            <a:avLst>
              <a:gd name="adj" fmla="val 10000"/>
            </a:avLst>
          </a:prstGeom>
          <a:solidFill>
            <a:srgbClr val="D6E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ounded Rectangle 91"/>
          <p:cNvSpPr/>
          <p:nvPr/>
        </p:nvSpPr>
        <p:spPr>
          <a:xfrm>
            <a:off x="4914900" y="4375404"/>
            <a:ext cx="164592" cy="164592"/>
          </a:xfrm>
          <a:prstGeom prst="roundRect">
            <a:avLst>
              <a:gd name="adj" fmla="val 10000"/>
            </a:avLst>
          </a:prstGeom>
          <a:solidFill>
            <a:srgbClr val="D6E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ounded Rectangle 92"/>
          <p:cNvSpPr/>
          <p:nvPr/>
        </p:nvSpPr>
        <p:spPr>
          <a:xfrm>
            <a:off x="5120640" y="4375404"/>
            <a:ext cx="164592" cy="164592"/>
          </a:xfrm>
          <a:prstGeom prst="roundRect">
            <a:avLst>
              <a:gd name="adj" fmla="val 10000"/>
            </a:avLst>
          </a:prstGeom>
          <a:solidFill>
            <a:srgbClr val="D6E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ounded Rectangle 93"/>
          <p:cNvSpPr/>
          <p:nvPr/>
        </p:nvSpPr>
        <p:spPr>
          <a:xfrm>
            <a:off x="5326379" y="4375404"/>
            <a:ext cx="164592" cy="164592"/>
          </a:xfrm>
          <a:prstGeom prst="roundRect">
            <a:avLst>
              <a:gd name="adj" fmla="val 10000"/>
            </a:avLst>
          </a:prstGeom>
          <a:solidFill>
            <a:srgbClr val="D6E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ounded Rectangle 94"/>
          <p:cNvSpPr/>
          <p:nvPr/>
        </p:nvSpPr>
        <p:spPr>
          <a:xfrm>
            <a:off x="3474720" y="4581144"/>
            <a:ext cx="164592" cy="164592"/>
          </a:xfrm>
          <a:prstGeom prst="roundRect">
            <a:avLst>
              <a:gd name="adj" fmla="val 10000"/>
            </a:avLst>
          </a:prstGeom>
          <a:solidFill>
            <a:srgbClr val="D6E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ounded Rectangle 95"/>
          <p:cNvSpPr/>
          <p:nvPr/>
        </p:nvSpPr>
        <p:spPr>
          <a:xfrm>
            <a:off x="3680459" y="4581144"/>
            <a:ext cx="164592" cy="164592"/>
          </a:xfrm>
          <a:prstGeom prst="roundRect">
            <a:avLst>
              <a:gd name="adj" fmla="val 10000"/>
            </a:avLst>
          </a:prstGeom>
          <a:solidFill>
            <a:srgbClr val="D6E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ounded Rectangle 96"/>
          <p:cNvSpPr/>
          <p:nvPr/>
        </p:nvSpPr>
        <p:spPr>
          <a:xfrm>
            <a:off x="3886200" y="4581144"/>
            <a:ext cx="164592" cy="164592"/>
          </a:xfrm>
          <a:prstGeom prst="roundRect">
            <a:avLst>
              <a:gd name="adj" fmla="val 10000"/>
            </a:avLst>
          </a:prstGeom>
          <a:solidFill>
            <a:srgbClr val="D6E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ounded Rectangle 97"/>
          <p:cNvSpPr/>
          <p:nvPr/>
        </p:nvSpPr>
        <p:spPr>
          <a:xfrm>
            <a:off x="4091939" y="4581144"/>
            <a:ext cx="164592" cy="164592"/>
          </a:xfrm>
          <a:prstGeom prst="roundRect">
            <a:avLst>
              <a:gd name="adj" fmla="val 10000"/>
            </a:avLst>
          </a:prstGeom>
          <a:solidFill>
            <a:srgbClr val="D6E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ounded Rectangle 98"/>
          <p:cNvSpPr/>
          <p:nvPr/>
        </p:nvSpPr>
        <p:spPr>
          <a:xfrm>
            <a:off x="4297680" y="4581144"/>
            <a:ext cx="164592" cy="164592"/>
          </a:xfrm>
          <a:prstGeom prst="roundRect">
            <a:avLst>
              <a:gd name="adj" fmla="val 10000"/>
            </a:avLst>
          </a:prstGeom>
          <a:solidFill>
            <a:srgbClr val="D6E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ounded Rectangle 99"/>
          <p:cNvSpPr/>
          <p:nvPr/>
        </p:nvSpPr>
        <p:spPr>
          <a:xfrm>
            <a:off x="4503420" y="4581144"/>
            <a:ext cx="164592" cy="164592"/>
          </a:xfrm>
          <a:prstGeom prst="roundRect">
            <a:avLst>
              <a:gd name="adj" fmla="val 10000"/>
            </a:avLst>
          </a:prstGeom>
          <a:solidFill>
            <a:srgbClr val="D6E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ounded Rectangle 100"/>
          <p:cNvSpPr/>
          <p:nvPr/>
        </p:nvSpPr>
        <p:spPr>
          <a:xfrm>
            <a:off x="4709160" y="4581144"/>
            <a:ext cx="164592" cy="164592"/>
          </a:xfrm>
          <a:prstGeom prst="roundRect">
            <a:avLst>
              <a:gd name="adj" fmla="val 10000"/>
            </a:avLst>
          </a:prstGeom>
          <a:solidFill>
            <a:srgbClr val="D6E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ounded Rectangle 101"/>
          <p:cNvSpPr/>
          <p:nvPr/>
        </p:nvSpPr>
        <p:spPr>
          <a:xfrm>
            <a:off x="4914900" y="4581144"/>
            <a:ext cx="164592" cy="164592"/>
          </a:xfrm>
          <a:prstGeom prst="roundRect">
            <a:avLst>
              <a:gd name="adj" fmla="val 10000"/>
            </a:avLst>
          </a:prstGeom>
          <a:solidFill>
            <a:srgbClr val="D6E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ounded Rectangle 102"/>
          <p:cNvSpPr/>
          <p:nvPr/>
        </p:nvSpPr>
        <p:spPr>
          <a:xfrm>
            <a:off x="5120640" y="4581144"/>
            <a:ext cx="164592" cy="164592"/>
          </a:xfrm>
          <a:prstGeom prst="roundRect">
            <a:avLst>
              <a:gd name="adj" fmla="val 10000"/>
            </a:avLst>
          </a:prstGeom>
          <a:solidFill>
            <a:srgbClr val="D6E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ounded Rectangle 103"/>
          <p:cNvSpPr/>
          <p:nvPr/>
        </p:nvSpPr>
        <p:spPr>
          <a:xfrm>
            <a:off x="5326379" y="4581144"/>
            <a:ext cx="164592" cy="164592"/>
          </a:xfrm>
          <a:prstGeom prst="roundRect">
            <a:avLst>
              <a:gd name="adj" fmla="val 10000"/>
            </a:avLst>
          </a:prstGeom>
          <a:solidFill>
            <a:srgbClr val="D6E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ounded Rectangle 104"/>
          <p:cNvSpPr/>
          <p:nvPr/>
        </p:nvSpPr>
        <p:spPr>
          <a:xfrm>
            <a:off x="3474720" y="4786883"/>
            <a:ext cx="164592" cy="164592"/>
          </a:xfrm>
          <a:prstGeom prst="roundRect">
            <a:avLst>
              <a:gd name="adj" fmla="val 10000"/>
            </a:avLst>
          </a:prstGeom>
          <a:solidFill>
            <a:srgbClr val="D6E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Rounded Rectangle 105"/>
          <p:cNvSpPr/>
          <p:nvPr/>
        </p:nvSpPr>
        <p:spPr>
          <a:xfrm>
            <a:off x="3680459" y="4786883"/>
            <a:ext cx="164592" cy="164592"/>
          </a:xfrm>
          <a:prstGeom prst="roundRect">
            <a:avLst>
              <a:gd name="adj" fmla="val 10000"/>
            </a:avLst>
          </a:prstGeom>
          <a:solidFill>
            <a:srgbClr val="D6E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Rounded Rectangle 106"/>
          <p:cNvSpPr/>
          <p:nvPr/>
        </p:nvSpPr>
        <p:spPr>
          <a:xfrm>
            <a:off x="3886200" y="4786883"/>
            <a:ext cx="164592" cy="164592"/>
          </a:xfrm>
          <a:prstGeom prst="roundRect">
            <a:avLst>
              <a:gd name="adj" fmla="val 10000"/>
            </a:avLst>
          </a:prstGeom>
          <a:solidFill>
            <a:srgbClr val="D6E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Rounded Rectangle 107"/>
          <p:cNvSpPr/>
          <p:nvPr/>
        </p:nvSpPr>
        <p:spPr>
          <a:xfrm>
            <a:off x="4091939" y="4786883"/>
            <a:ext cx="164592" cy="164592"/>
          </a:xfrm>
          <a:prstGeom prst="roundRect">
            <a:avLst>
              <a:gd name="adj" fmla="val 10000"/>
            </a:avLst>
          </a:prstGeom>
          <a:solidFill>
            <a:srgbClr val="D6E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ounded Rectangle 108"/>
          <p:cNvSpPr/>
          <p:nvPr/>
        </p:nvSpPr>
        <p:spPr>
          <a:xfrm>
            <a:off x="4297680" y="4786883"/>
            <a:ext cx="164592" cy="164592"/>
          </a:xfrm>
          <a:prstGeom prst="roundRect">
            <a:avLst>
              <a:gd name="adj" fmla="val 10000"/>
            </a:avLst>
          </a:prstGeom>
          <a:solidFill>
            <a:srgbClr val="D6E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Rounded Rectangle 109"/>
          <p:cNvSpPr/>
          <p:nvPr/>
        </p:nvSpPr>
        <p:spPr>
          <a:xfrm>
            <a:off x="4503420" y="4786883"/>
            <a:ext cx="164592" cy="164592"/>
          </a:xfrm>
          <a:prstGeom prst="roundRect">
            <a:avLst>
              <a:gd name="adj" fmla="val 10000"/>
            </a:avLst>
          </a:prstGeom>
          <a:solidFill>
            <a:srgbClr val="D6E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ounded Rectangle 110"/>
          <p:cNvSpPr/>
          <p:nvPr/>
        </p:nvSpPr>
        <p:spPr>
          <a:xfrm>
            <a:off x="4709160" y="4786883"/>
            <a:ext cx="164592" cy="164592"/>
          </a:xfrm>
          <a:prstGeom prst="roundRect">
            <a:avLst>
              <a:gd name="adj" fmla="val 10000"/>
            </a:avLst>
          </a:prstGeom>
          <a:solidFill>
            <a:srgbClr val="D6E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Rounded Rectangle 111"/>
          <p:cNvSpPr/>
          <p:nvPr/>
        </p:nvSpPr>
        <p:spPr>
          <a:xfrm>
            <a:off x="4914900" y="4786883"/>
            <a:ext cx="164592" cy="164592"/>
          </a:xfrm>
          <a:prstGeom prst="roundRect">
            <a:avLst>
              <a:gd name="adj" fmla="val 10000"/>
            </a:avLst>
          </a:prstGeom>
          <a:solidFill>
            <a:srgbClr val="D6E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Rounded Rectangle 112"/>
          <p:cNvSpPr/>
          <p:nvPr/>
        </p:nvSpPr>
        <p:spPr>
          <a:xfrm>
            <a:off x="5120640" y="4786883"/>
            <a:ext cx="164592" cy="164592"/>
          </a:xfrm>
          <a:prstGeom prst="roundRect">
            <a:avLst>
              <a:gd name="adj" fmla="val 10000"/>
            </a:avLst>
          </a:prstGeom>
          <a:solidFill>
            <a:srgbClr val="D6E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Rounded Rectangle 113"/>
          <p:cNvSpPr/>
          <p:nvPr/>
        </p:nvSpPr>
        <p:spPr>
          <a:xfrm>
            <a:off x="5326379" y="4786883"/>
            <a:ext cx="164592" cy="164592"/>
          </a:xfrm>
          <a:prstGeom prst="roundRect">
            <a:avLst>
              <a:gd name="adj" fmla="val 10000"/>
            </a:avLst>
          </a:prstGeom>
          <a:solidFill>
            <a:srgbClr val="D6E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1033271" y="5148072"/>
            <a:ext cx="4572000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400" b="1">
                <a:solidFill>
                  <a:srgbClr val="203354"/>
                </a:solidFill>
                <a:latin typeface="Noto Sans CJK SC"/>
              </a:rPr>
              <a:t>每格＝1%处方；红色标出28%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033271" y="5449824"/>
            <a:ext cx="4572000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00" b="0">
                <a:solidFill>
                  <a:srgbClr val="203354"/>
                </a:solidFill>
                <a:latin typeface="Noto Sans CJK SC"/>
              </a:rPr>
              <a:t>其余格子不表示都合理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6501384" y="2112264"/>
            <a:ext cx="457200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400" b="1">
                <a:solidFill>
                  <a:srgbClr val="203354"/>
                </a:solidFill>
                <a:latin typeface="Noto Sans CJK SC"/>
              </a:rPr>
              <a:t>艰难梭菌感染风险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6501384" y="2615184"/>
            <a:ext cx="457200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400" b="0">
                <a:solidFill>
                  <a:srgbClr val="203354"/>
                </a:solidFill>
                <a:latin typeface="Noto Sans CJK SC"/>
              </a:rPr>
              <a:t>可引起腹泻、结肠炎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6501384" y="2944368"/>
            <a:ext cx="4572000" cy="5577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800" b="1">
                <a:solidFill>
                  <a:srgbClr val="EB5969"/>
                </a:solidFill>
                <a:latin typeface="Noto Sans CJK SC"/>
              </a:rPr>
              <a:t>最高10倍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6501384" y="3575304"/>
            <a:ext cx="4572000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400" b="0">
                <a:solidFill>
                  <a:srgbClr val="203354"/>
                </a:solidFill>
                <a:latin typeface="Noto Sans CJK SC"/>
              </a:rPr>
              <a:t>抗生素使用期间及结束后1个月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6519672" y="3877056"/>
            <a:ext cx="4407408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300" b="0">
                <a:solidFill>
                  <a:srgbClr val="203354"/>
                </a:solidFill>
                <a:latin typeface="Noto Sans CJK SC"/>
              </a:rPr>
              <a:t>比较基准＝1</a:t>
            </a:r>
          </a:p>
        </p:txBody>
      </p:sp>
      <p:sp>
        <p:nvSpPr>
          <p:cNvPr id="122" name="Rounded Rectangle 121"/>
          <p:cNvSpPr/>
          <p:nvPr/>
        </p:nvSpPr>
        <p:spPr>
          <a:xfrm>
            <a:off x="6519672" y="4206240"/>
            <a:ext cx="440740" cy="201168"/>
          </a:xfrm>
          <a:prstGeom prst="roundRect">
            <a:avLst>
              <a:gd name="adj" fmla="val 10000"/>
            </a:avLst>
          </a:prstGeom>
          <a:solidFill>
            <a:srgbClr val="2033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7079284" y="4160520"/>
            <a:ext cx="35661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600" b="1">
                <a:solidFill>
                  <a:srgbClr val="203354"/>
                </a:solidFill>
                <a:latin typeface="Noto Sans CJK SC"/>
              </a:rPr>
              <a:t>1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6519672" y="4544568"/>
            <a:ext cx="4407408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300" b="0">
                <a:solidFill>
                  <a:srgbClr val="203354"/>
                </a:solidFill>
                <a:latin typeface="Noto Sans CJK SC"/>
              </a:rPr>
              <a:t>最高风险示意</a:t>
            </a:r>
          </a:p>
        </p:txBody>
      </p:sp>
      <p:sp>
        <p:nvSpPr>
          <p:cNvPr id="125" name="Rounded Rectangle 124"/>
          <p:cNvSpPr/>
          <p:nvPr/>
        </p:nvSpPr>
        <p:spPr>
          <a:xfrm>
            <a:off x="6519672" y="4882896"/>
            <a:ext cx="4407408" cy="201168"/>
          </a:xfrm>
          <a:prstGeom prst="roundRect">
            <a:avLst>
              <a:gd name="adj" fmla="val 10000"/>
            </a:avLst>
          </a:prstGeom>
          <a:solidFill>
            <a:srgbClr val="EB59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6" name="Connector 125"/>
          <p:cNvCxnSpPr/>
          <p:nvPr/>
        </p:nvCxnSpPr>
        <p:spPr>
          <a:xfrm>
            <a:off x="6519672" y="5294376"/>
            <a:ext cx="4407408" cy="0"/>
          </a:xfrm>
          <a:prstGeom prst="line">
            <a:avLst/>
          </a:prstGeom>
          <a:ln w="12700">
            <a:solidFill>
              <a:srgbClr val="20335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7" name="Connector 126"/>
          <p:cNvCxnSpPr/>
          <p:nvPr/>
        </p:nvCxnSpPr>
        <p:spPr>
          <a:xfrm>
            <a:off x="6519672" y="5294376"/>
            <a:ext cx="0" cy="45720"/>
          </a:xfrm>
          <a:prstGeom prst="line">
            <a:avLst/>
          </a:prstGeom>
          <a:ln w="12700">
            <a:solidFill>
              <a:srgbClr val="20335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8" name="TextBox 127"/>
          <p:cNvSpPr txBox="1"/>
          <p:nvPr/>
        </p:nvSpPr>
        <p:spPr>
          <a:xfrm>
            <a:off x="6345936" y="5385816"/>
            <a:ext cx="347472" cy="1920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100" b="0">
                <a:solidFill>
                  <a:srgbClr val="203354"/>
                </a:solidFill>
                <a:latin typeface="Noto Sans CJK SC"/>
              </a:rPr>
              <a:t>0</a:t>
            </a:r>
          </a:p>
        </p:txBody>
      </p:sp>
      <p:cxnSp>
        <p:nvCxnSpPr>
          <p:cNvPr id="129" name="Connector 128"/>
          <p:cNvCxnSpPr/>
          <p:nvPr/>
        </p:nvCxnSpPr>
        <p:spPr>
          <a:xfrm>
            <a:off x="8723376" y="5294376"/>
            <a:ext cx="0" cy="45720"/>
          </a:xfrm>
          <a:prstGeom prst="line">
            <a:avLst/>
          </a:prstGeom>
          <a:ln w="12700">
            <a:solidFill>
              <a:srgbClr val="20335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0" name="TextBox 129"/>
          <p:cNvSpPr txBox="1"/>
          <p:nvPr/>
        </p:nvSpPr>
        <p:spPr>
          <a:xfrm>
            <a:off x="8549640" y="5385816"/>
            <a:ext cx="347472" cy="1920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100" b="0">
                <a:solidFill>
                  <a:srgbClr val="203354"/>
                </a:solidFill>
                <a:latin typeface="Noto Sans CJK SC"/>
              </a:rPr>
              <a:t>5</a:t>
            </a:r>
          </a:p>
        </p:txBody>
      </p:sp>
      <p:cxnSp>
        <p:nvCxnSpPr>
          <p:cNvPr id="131" name="Connector 130"/>
          <p:cNvCxnSpPr/>
          <p:nvPr/>
        </p:nvCxnSpPr>
        <p:spPr>
          <a:xfrm>
            <a:off x="10927080" y="5294376"/>
            <a:ext cx="0" cy="45720"/>
          </a:xfrm>
          <a:prstGeom prst="line">
            <a:avLst/>
          </a:prstGeom>
          <a:ln w="12700">
            <a:solidFill>
              <a:srgbClr val="20335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2" name="TextBox 131"/>
          <p:cNvSpPr txBox="1"/>
          <p:nvPr/>
        </p:nvSpPr>
        <p:spPr>
          <a:xfrm>
            <a:off x="10753344" y="5385816"/>
            <a:ext cx="347472" cy="1920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100" b="0">
                <a:solidFill>
                  <a:srgbClr val="203354"/>
                </a:solidFill>
                <a:latin typeface="Noto Sans CJK SC"/>
              </a:rPr>
              <a:t>10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65760"/>
            <a:ext cx="64008" cy="246888"/>
          </a:xfrm>
          <a:prstGeom prst="rect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92608"/>
            <a:ext cx="36576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53E75"/>
                </a:solidFill>
                <a:latin typeface="Noto Sans CJK SC"/>
                <a:ea typeface="Noto Sans CJK SC"/>
              </a:rPr>
              <a:t>02 / 宿舍误区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896112"/>
            <a:ext cx="1101852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53E75"/>
                </a:solidFill>
                <a:latin typeface="Noto Sans CJK SC"/>
                <a:ea typeface="Noto Sans CJK SC"/>
              </a:rPr>
              <a:t>把“别乱吃抗生素”，换成三个动作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94360" y="5843016"/>
            <a:ext cx="11000232" cy="0"/>
          </a:xfrm>
          <a:prstGeom prst="line">
            <a:avLst/>
          </a:prstGeom>
          <a:ln w="8890">
            <a:solidFill>
              <a:srgbClr val="153E7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5943600"/>
            <a:ext cx="1074420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E3464F"/>
                </a:solidFill>
                <a:latin typeface="Noto Sans CJK SC"/>
                <a:ea typeface="Noto Sans CJK SC"/>
              </a:rPr>
              <a:t>先确认需要，再按具体处方使用；有疑问及时联系医生或药师。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510528"/>
            <a:ext cx="9601200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153E75"/>
                </a:solidFill>
                <a:latin typeface="Noto Sans CJK SC"/>
                <a:ea typeface="Noto Sans CJK SC"/>
              </a:rPr>
              <a:t>来源：S4  ·  完整链接见附页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153E75"/>
                </a:solidFill>
                <a:latin typeface="Noto Sans CJK SC"/>
                <a:ea typeface="Noto Sans CJK SC"/>
              </a:rPr>
              <a:t>13 / 28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1947672"/>
            <a:ext cx="3474720" cy="3593592"/>
          </a:xfrm>
          <a:prstGeom prst="roundRect">
            <a:avLst>
              <a:gd name="adj" fmla="val 10000"/>
            </a:avLst>
          </a:prstGeom>
          <a:solidFill>
            <a:srgbClr val="EE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1014983" y="2139696"/>
            <a:ext cx="548640" cy="329184"/>
          </a:xfrm>
          <a:prstGeom prst="roundRect">
            <a:avLst>
              <a:gd name="adj" fmla="val 10000"/>
            </a:avLst>
          </a:prstGeom>
          <a:solidFill>
            <a:srgbClr val="2033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8992" y="2157984"/>
            <a:ext cx="420623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Noto Sans CJK SC"/>
              </a:rPr>
              <a:t>01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298448" y="2770632"/>
            <a:ext cx="914400" cy="1143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2033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344168" y="2816351"/>
            <a:ext cx="822960" cy="201168"/>
          </a:xfrm>
          <a:prstGeom prst="roundRect">
            <a:avLst>
              <a:gd name="adj" fmla="val 10000"/>
            </a:avLst>
          </a:prstGeom>
          <a:solidFill>
            <a:srgbClr val="2033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4" name="Connector 13"/>
          <p:cNvCxnSpPr/>
          <p:nvPr/>
        </p:nvCxnSpPr>
        <p:spPr>
          <a:xfrm>
            <a:off x="1755648" y="3136391"/>
            <a:ext cx="0" cy="274320"/>
          </a:xfrm>
          <a:prstGeom prst="line">
            <a:avLst/>
          </a:prstGeom>
          <a:ln w="38100">
            <a:solidFill>
              <a:srgbClr val="20335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1618488" y="3273552"/>
            <a:ext cx="274319" cy="0"/>
          </a:xfrm>
          <a:prstGeom prst="line">
            <a:avLst/>
          </a:prstGeom>
          <a:ln w="38100">
            <a:solidFill>
              <a:srgbClr val="20335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344168" y="3602735"/>
            <a:ext cx="82296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200" b="1">
                <a:solidFill>
                  <a:srgbClr val="203354"/>
                </a:solidFill>
                <a:latin typeface="Noto Sans CJK SC"/>
              </a:rPr>
              <a:t>抗生素</a:t>
            </a:r>
          </a:p>
        </p:txBody>
      </p:sp>
      <p:sp>
        <p:nvSpPr>
          <p:cNvPr id="17" name="Oval 16"/>
          <p:cNvSpPr/>
          <p:nvPr/>
        </p:nvSpPr>
        <p:spPr>
          <a:xfrm>
            <a:off x="2468880" y="2834640"/>
            <a:ext cx="941832" cy="941832"/>
          </a:xfrm>
          <a:prstGeom prst="ellipse">
            <a:avLst/>
          </a:prstGeom>
          <a:solidFill>
            <a:srgbClr val="FFEEF0"/>
          </a:solidFill>
          <a:ln w="19050">
            <a:solidFill>
              <a:srgbClr val="EB59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560320" y="3154680"/>
            <a:ext cx="749808" cy="2651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700" b="1">
                <a:solidFill>
                  <a:srgbClr val="EB5969"/>
                </a:solidFill>
                <a:latin typeface="Noto Sans CJK SC"/>
              </a:rPr>
              <a:t>需要？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3209544" y="3593592"/>
            <a:ext cx="420624" cy="374904"/>
          </a:xfrm>
          <a:prstGeom prst="line">
            <a:avLst/>
          </a:prstGeom>
          <a:ln w="76200">
            <a:solidFill>
              <a:srgbClr val="EB596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1014983" y="4443984"/>
            <a:ext cx="2999232" cy="3566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400" b="1">
                <a:solidFill>
                  <a:srgbClr val="203354"/>
                </a:solidFill>
                <a:latin typeface="Noto Sans CJK SC"/>
              </a:rPr>
              <a:t>先确认需要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4983" y="4901184"/>
            <a:ext cx="2999232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700" b="0">
                <a:solidFill>
                  <a:srgbClr val="203354"/>
                </a:solidFill>
                <a:latin typeface="Noto Sans CJK SC"/>
              </a:rPr>
              <a:t>感冒症状，不自动等于要用抗生素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471416" y="1947672"/>
            <a:ext cx="3474720" cy="3593592"/>
          </a:xfrm>
          <a:prstGeom prst="roundRect">
            <a:avLst>
              <a:gd name="adj" fmla="val 10000"/>
            </a:avLst>
          </a:prstGeom>
          <a:solidFill>
            <a:srgbClr val="EE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4709159" y="2139696"/>
            <a:ext cx="548640" cy="329184"/>
          </a:xfrm>
          <a:prstGeom prst="roundRect">
            <a:avLst>
              <a:gd name="adj" fmla="val 10000"/>
            </a:avLst>
          </a:prstGeom>
          <a:solidFill>
            <a:srgbClr val="2033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773168" y="2157984"/>
            <a:ext cx="420623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Noto Sans CJK SC"/>
              </a:rPr>
              <a:t>02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901183" y="2807208"/>
            <a:ext cx="923544" cy="117957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2033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4946903" y="2852927"/>
            <a:ext cx="832104" cy="201168"/>
          </a:xfrm>
          <a:prstGeom prst="roundRect">
            <a:avLst>
              <a:gd name="adj" fmla="val 10000"/>
            </a:avLst>
          </a:prstGeom>
          <a:solidFill>
            <a:srgbClr val="2033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7" name="Connector 26"/>
          <p:cNvCxnSpPr/>
          <p:nvPr/>
        </p:nvCxnSpPr>
        <p:spPr>
          <a:xfrm>
            <a:off x="5362955" y="3172968"/>
            <a:ext cx="0" cy="274319"/>
          </a:xfrm>
          <a:prstGeom prst="line">
            <a:avLst/>
          </a:prstGeom>
          <a:ln w="38100">
            <a:solidFill>
              <a:srgbClr val="20335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5224424" y="3310128"/>
            <a:ext cx="277063" cy="0"/>
          </a:xfrm>
          <a:prstGeom prst="line">
            <a:avLst/>
          </a:prstGeom>
          <a:ln w="38100">
            <a:solidFill>
              <a:srgbClr val="20335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4946903" y="3675887"/>
            <a:ext cx="832104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200" b="1">
                <a:solidFill>
                  <a:srgbClr val="203354"/>
                </a:solidFill>
                <a:latin typeface="Noto Sans CJK SC"/>
              </a:rPr>
              <a:t>室友剩药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473952" y="2807208"/>
            <a:ext cx="923544" cy="117957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2033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519672" y="2852927"/>
            <a:ext cx="832104" cy="201168"/>
          </a:xfrm>
          <a:prstGeom prst="roundRect">
            <a:avLst>
              <a:gd name="adj" fmla="val 10000"/>
            </a:avLst>
          </a:prstGeom>
          <a:solidFill>
            <a:srgbClr val="2033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2" name="Connector 31"/>
          <p:cNvCxnSpPr/>
          <p:nvPr/>
        </p:nvCxnSpPr>
        <p:spPr>
          <a:xfrm>
            <a:off x="6935724" y="3172968"/>
            <a:ext cx="0" cy="274319"/>
          </a:xfrm>
          <a:prstGeom prst="line">
            <a:avLst/>
          </a:prstGeom>
          <a:ln w="38100">
            <a:solidFill>
              <a:srgbClr val="20335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6797192" y="3310128"/>
            <a:ext cx="277063" cy="0"/>
          </a:xfrm>
          <a:prstGeom prst="line">
            <a:avLst/>
          </a:prstGeom>
          <a:ln w="38100">
            <a:solidFill>
              <a:srgbClr val="20335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6519672" y="3675887"/>
            <a:ext cx="832104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200" b="1">
                <a:solidFill>
                  <a:srgbClr val="203354"/>
                </a:solidFill>
                <a:latin typeface="Noto Sans CJK SC"/>
              </a:rPr>
              <a:t>我的用药</a:t>
            </a:r>
          </a:p>
        </p:txBody>
      </p:sp>
      <p:sp>
        <p:nvSpPr>
          <p:cNvPr id="35" name="Oval 34"/>
          <p:cNvSpPr/>
          <p:nvPr/>
        </p:nvSpPr>
        <p:spPr>
          <a:xfrm>
            <a:off x="5843016" y="3136392"/>
            <a:ext cx="548640" cy="548640"/>
          </a:xfrm>
          <a:prstGeom prst="ellipse">
            <a:avLst/>
          </a:prstGeom>
          <a:solidFill>
            <a:srgbClr val="FFEEF0"/>
          </a:solidFill>
          <a:ln w="19050">
            <a:solidFill>
              <a:srgbClr val="EB59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6" name="Connector 35"/>
          <p:cNvCxnSpPr/>
          <p:nvPr/>
        </p:nvCxnSpPr>
        <p:spPr>
          <a:xfrm>
            <a:off x="5943600" y="3246120"/>
            <a:ext cx="347472" cy="347472"/>
          </a:xfrm>
          <a:prstGeom prst="line">
            <a:avLst/>
          </a:prstGeom>
          <a:ln w="38100">
            <a:solidFill>
              <a:srgbClr val="EB596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4709159" y="4443984"/>
            <a:ext cx="2999232" cy="3566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400" b="1">
                <a:solidFill>
                  <a:srgbClr val="203354"/>
                </a:solidFill>
                <a:latin typeface="Noto Sans CJK SC"/>
              </a:rPr>
              <a:t>不接室友剩药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709159" y="4901184"/>
            <a:ext cx="2999232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700" b="0">
                <a:solidFill>
                  <a:srgbClr val="203354"/>
                </a:solidFill>
                <a:latin typeface="Noto Sans CJK SC"/>
              </a:rPr>
              <a:t>相似症状，不代表同一病因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165592" y="1947672"/>
            <a:ext cx="3474720" cy="3593592"/>
          </a:xfrm>
          <a:prstGeom prst="roundRect">
            <a:avLst>
              <a:gd name="adj" fmla="val 10000"/>
            </a:avLst>
          </a:prstGeom>
          <a:solidFill>
            <a:srgbClr val="EE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8403336" y="2139696"/>
            <a:ext cx="548640" cy="329184"/>
          </a:xfrm>
          <a:prstGeom prst="roundRect">
            <a:avLst>
              <a:gd name="adj" fmla="val 10000"/>
            </a:avLst>
          </a:prstGeom>
          <a:solidFill>
            <a:srgbClr val="2033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467344" y="2157984"/>
            <a:ext cx="420623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Noto Sans CJK SC"/>
              </a:rPr>
              <a:t>03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778240" y="2761488"/>
            <a:ext cx="2103120" cy="140817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2033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336024" y="2898648"/>
            <a:ext cx="1243584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600" b="0">
                <a:solidFill>
                  <a:srgbClr val="203354"/>
                </a:solidFill>
                <a:latin typeface="Noto Sans CJK SC"/>
              </a:rPr>
              <a:t>剂量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8924544" y="3017520"/>
            <a:ext cx="118872" cy="100584"/>
          </a:xfrm>
          <a:prstGeom prst="line">
            <a:avLst/>
          </a:prstGeom>
          <a:ln w="25400">
            <a:solidFill>
              <a:srgbClr val="EB596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V="1">
            <a:off x="9043416" y="2907791"/>
            <a:ext cx="182880" cy="210313"/>
          </a:xfrm>
          <a:prstGeom prst="line">
            <a:avLst/>
          </a:prstGeom>
          <a:ln w="25400">
            <a:solidFill>
              <a:srgbClr val="EB596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>
            <a:off x="9336024" y="3291840"/>
            <a:ext cx="1243584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600" b="0">
                <a:solidFill>
                  <a:srgbClr val="203354"/>
                </a:solidFill>
                <a:latin typeface="Noto Sans CJK SC"/>
              </a:rPr>
              <a:t>间隔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8924544" y="3410712"/>
            <a:ext cx="118872" cy="100584"/>
          </a:xfrm>
          <a:prstGeom prst="line">
            <a:avLst/>
          </a:prstGeom>
          <a:ln w="25400">
            <a:solidFill>
              <a:srgbClr val="EB596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V="1">
            <a:off x="9043416" y="3300984"/>
            <a:ext cx="182880" cy="210312"/>
          </a:xfrm>
          <a:prstGeom prst="line">
            <a:avLst/>
          </a:prstGeom>
          <a:ln w="25400">
            <a:solidFill>
              <a:srgbClr val="EB596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TextBox 48"/>
          <p:cNvSpPr txBox="1"/>
          <p:nvPr/>
        </p:nvSpPr>
        <p:spPr>
          <a:xfrm>
            <a:off x="9336024" y="3685032"/>
            <a:ext cx="1243584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600" b="0">
                <a:solidFill>
                  <a:srgbClr val="203354"/>
                </a:solidFill>
                <a:latin typeface="Noto Sans CJK SC"/>
              </a:rPr>
              <a:t>疗程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8924544" y="3803904"/>
            <a:ext cx="118872" cy="100584"/>
          </a:xfrm>
          <a:prstGeom prst="line">
            <a:avLst/>
          </a:prstGeom>
          <a:ln w="25400">
            <a:solidFill>
              <a:srgbClr val="EB596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V="1">
            <a:off x="9043416" y="3694176"/>
            <a:ext cx="182880" cy="210312"/>
          </a:xfrm>
          <a:prstGeom prst="line">
            <a:avLst/>
          </a:prstGeom>
          <a:ln w="25400">
            <a:solidFill>
              <a:srgbClr val="EB596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TextBox 51"/>
          <p:cNvSpPr txBox="1"/>
          <p:nvPr/>
        </p:nvSpPr>
        <p:spPr>
          <a:xfrm>
            <a:off x="8403336" y="4443984"/>
            <a:ext cx="2999232" cy="3566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400" b="1">
                <a:solidFill>
                  <a:srgbClr val="203354"/>
                </a:solidFill>
                <a:latin typeface="Noto Sans CJK SC"/>
              </a:rPr>
              <a:t>按处方执行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403336" y="4901184"/>
            <a:ext cx="2999232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700" b="0">
                <a:solidFill>
                  <a:srgbClr val="203354"/>
                </a:solidFill>
                <a:latin typeface="Noto Sans CJK SC"/>
              </a:rPr>
              <a:t>疗效或反应有疑问，及时咨询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65760"/>
            <a:ext cx="64008" cy="246888"/>
          </a:xfrm>
          <a:prstGeom prst="rect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92608"/>
            <a:ext cx="36576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53E75"/>
                </a:solidFill>
                <a:latin typeface="Noto Sans CJK SC"/>
                <a:ea typeface="Noto Sans CJK SC"/>
              </a:rPr>
              <a:t>02 / 宿舍误区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896112"/>
            <a:ext cx="1101852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53E75"/>
                </a:solidFill>
                <a:latin typeface="Noto Sans CJK SC"/>
                <a:ea typeface="Noto Sans CJK SC"/>
              </a:rPr>
              <a:t>案例③：鼻子舒服了，上课却困了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94360" y="5843016"/>
            <a:ext cx="11000232" cy="0"/>
          </a:xfrm>
          <a:prstGeom prst="line">
            <a:avLst/>
          </a:prstGeom>
          <a:ln w="8890">
            <a:solidFill>
              <a:srgbClr val="153E7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5943600"/>
            <a:ext cx="1074420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E3464F"/>
                </a:solidFill>
                <a:latin typeface="Noto Sans CJK SC"/>
                <a:ea typeface="Noto Sans CJK SC"/>
              </a:rPr>
              <a:t>“较少嗜睡”不等于人人不困；第一次使用时尤其留意个人反应。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510528"/>
            <a:ext cx="9601200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153E75"/>
                </a:solidFill>
                <a:latin typeface="Noto Sans CJK SC"/>
                <a:ea typeface="Noto Sans CJK SC"/>
              </a:rPr>
              <a:t>来源：S8  ·  完整链接见附页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153E75"/>
                </a:solidFill>
                <a:latin typeface="Noto Sans CJK SC"/>
                <a:ea typeface="Noto Sans CJK SC"/>
              </a:rPr>
              <a:t>14 / 28</a:t>
            </a:r>
          </a:p>
        </p:txBody>
      </p:sp>
      <p:pic>
        <p:nvPicPr>
          <p:cNvPr id="9" name="ANIME_R2_C2" descr="原创AI生成动漫情境；人物和事件为虚构教学示意"/>
          <p:cNvPicPr>
            <a:picLocks noChangeAspect="1"/>
          </p:cNvPicPr>
          <p:nvPr/>
        </p:nvPicPr>
        <p:blipFill>
          <a:blip r:embed="rId3"/>
          <a:srcRect l="33464" r="33529" t="30755" b="41543"/>
          <a:stretch>
            <a:fillRect/>
          </a:stretch>
        </p:blipFill>
        <p:spPr>
          <a:xfrm>
            <a:off x="777240" y="1938528"/>
            <a:ext cx="5148072" cy="288036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777240" y="4974336"/>
            <a:ext cx="5148072" cy="557784"/>
          </a:xfrm>
          <a:prstGeom prst="roundRect">
            <a:avLst>
              <a:gd name="adj" fmla="val 10000"/>
            </a:avLst>
          </a:prstGeom>
          <a:solidFill>
            <a:srgbClr val="F1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41832" y="5056632"/>
            <a:ext cx="4818888" cy="3931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200" b="1">
                <a:solidFill>
                  <a:srgbClr val="203354"/>
                </a:solidFill>
                <a:latin typeface="Noto Sans CJK SC"/>
              </a:rPr>
              <a:t>鼻子舒服了，老师讲哪儿了？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45352" y="1938528"/>
            <a:ext cx="5148072" cy="1115568"/>
          </a:xfrm>
          <a:prstGeom prst="roundRect">
            <a:avLst>
              <a:gd name="adj" fmla="val 10000"/>
            </a:avLst>
          </a:prstGeom>
          <a:solidFill>
            <a:srgbClr val="EE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73952" y="2093976"/>
            <a:ext cx="4636008" cy="8046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200" b="1">
                <a:solidFill>
                  <a:srgbClr val="203354"/>
                </a:solidFill>
                <a:latin typeface="Noto Sans CJK SC"/>
              </a:rPr>
              <a:t>查看说明书中的嗜睡提示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45352" y="3200400"/>
            <a:ext cx="5148072" cy="1115568"/>
          </a:xfrm>
          <a:prstGeom prst="roundRect">
            <a:avLst>
              <a:gd name="adj" fmla="val 10000"/>
            </a:avLst>
          </a:prstGeom>
          <a:solidFill>
            <a:srgbClr val="EE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73952" y="3355848"/>
            <a:ext cx="4636008" cy="8046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200" b="1">
                <a:solidFill>
                  <a:srgbClr val="203354"/>
                </a:solidFill>
                <a:latin typeface="Noto Sans CJK SC"/>
              </a:rPr>
              <a:t>告诉药师：白天有课、需要通勤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45352" y="4462272"/>
            <a:ext cx="5148072" cy="1115568"/>
          </a:xfrm>
          <a:prstGeom prst="roundRect">
            <a:avLst>
              <a:gd name="adj" fmla="val 10000"/>
            </a:avLst>
          </a:prstGeom>
          <a:solidFill>
            <a:srgbClr val="FF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73952" y="4617720"/>
            <a:ext cx="4636008" cy="8046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200" b="1">
                <a:solidFill>
                  <a:srgbClr val="203354"/>
                </a:solidFill>
                <a:latin typeface="Noto Sans CJK SC"/>
              </a:rPr>
              <a:t>已经困倦时，避开驾驶或骑车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65760"/>
            <a:ext cx="64008" cy="246888"/>
          </a:xfrm>
          <a:prstGeom prst="rect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92608"/>
            <a:ext cx="36576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53E75"/>
                </a:solidFill>
                <a:latin typeface="Noto Sans CJK SC"/>
                <a:ea typeface="Noto Sans CJK SC"/>
              </a:rPr>
              <a:t>02 / 宿舍误区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896112"/>
            <a:ext cx="1101852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53E75"/>
                </a:solidFill>
                <a:latin typeface="Noto Sans CJK SC"/>
                <a:ea typeface="Noto Sans CJK SC"/>
              </a:rPr>
              <a:t>同一种组胺信号，为什么有两种影响？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94360" y="5843016"/>
            <a:ext cx="11000232" cy="0"/>
          </a:xfrm>
          <a:prstGeom prst="line">
            <a:avLst/>
          </a:prstGeom>
          <a:ln w="8890">
            <a:solidFill>
              <a:srgbClr val="153E7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5943600"/>
            <a:ext cx="1074420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E3464F"/>
                </a:solidFill>
                <a:latin typeface="Noto Sans CJK SC"/>
                <a:ea typeface="Noto Sans CJK SC"/>
              </a:rPr>
              <a:t>这是简化机制图；不能据此自行换药。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510528"/>
            <a:ext cx="9601200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153E75"/>
                </a:solidFill>
                <a:latin typeface="Noto Sans CJK SC"/>
                <a:ea typeface="Noto Sans CJK SC"/>
              </a:rPr>
              <a:t>来源：S8; S14  ·  完整链接见附页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153E75"/>
                </a:solidFill>
                <a:latin typeface="Noto Sans CJK SC"/>
                <a:ea typeface="Noto Sans CJK SC"/>
              </a:rPr>
              <a:t>15 / 28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1947672"/>
            <a:ext cx="5148072" cy="3639312"/>
          </a:xfrm>
          <a:prstGeom prst="roundRect">
            <a:avLst>
              <a:gd name="adj" fmla="val 10000"/>
            </a:avLst>
          </a:prstGeom>
          <a:solidFill>
            <a:srgbClr val="E4F8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245352" y="1947672"/>
            <a:ext cx="5148072" cy="3639312"/>
          </a:xfrm>
          <a:prstGeom prst="roundRect">
            <a:avLst>
              <a:gd name="adj" fmla="val 10000"/>
            </a:avLst>
          </a:prstGeom>
          <a:solidFill>
            <a:srgbClr val="F1EA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33271" y="2139696"/>
            <a:ext cx="4562856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500" b="1">
                <a:solidFill>
                  <a:srgbClr val="008C82"/>
                </a:solidFill>
                <a:latin typeface="Noto Sans CJK SC"/>
              </a:rPr>
              <a:t>鼻部：参与过敏反应</a:t>
            </a:r>
          </a:p>
        </p:txBody>
      </p:sp>
      <p:pic>
        <p:nvPicPr>
          <p:cNvPr id="12" name="ANIME_R2_C1" descr="原创AI生成动漫情境；人物和事件为虚构教学示意"/>
          <p:cNvPicPr>
            <a:picLocks noChangeAspect="1"/>
          </p:cNvPicPr>
          <p:nvPr/>
        </p:nvPicPr>
        <p:blipFill>
          <a:blip r:embed="rId3"/>
          <a:srcRect l="10637" r="74328" t="30566" b="40731"/>
          <a:stretch>
            <a:fillRect/>
          </a:stretch>
        </p:blipFill>
        <p:spPr>
          <a:xfrm>
            <a:off x="1170432" y="2779776"/>
            <a:ext cx="935431" cy="1190548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2386584" y="2843784"/>
            <a:ext cx="1353312" cy="56692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Isosceles Triangle 13"/>
          <p:cNvSpPr/>
          <p:nvPr/>
        </p:nvSpPr>
        <p:spPr>
          <a:xfrm rot="10800000">
            <a:off x="2615184" y="3401568"/>
            <a:ext cx="256032" cy="219456"/>
          </a:xfrm>
          <a:prstGeom prst="triangl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532888" y="2916936"/>
            <a:ext cx="1060704" cy="42062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100" b="1">
                <a:solidFill>
                  <a:srgbClr val="203354"/>
                </a:solidFill>
                <a:latin typeface="Noto Sans CJK SC"/>
              </a:rPr>
              <a:t>阿嚏！</a:t>
            </a:r>
          </a:p>
        </p:txBody>
      </p:sp>
      <p:sp>
        <p:nvSpPr>
          <p:cNvPr id="16" name="Oval 15"/>
          <p:cNvSpPr/>
          <p:nvPr/>
        </p:nvSpPr>
        <p:spPr>
          <a:xfrm>
            <a:off x="4251960" y="2880360"/>
            <a:ext cx="594360" cy="594360"/>
          </a:xfrm>
          <a:prstGeom prst="ellipse">
            <a:avLst/>
          </a:prstGeom>
          <a:solidFill>
            <a:srgbClr val="FFB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01184" y="2999232"/>
            <a:ext cx="786384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600" b="1">
                <a:solidFill>
                  <a:srgbClr val="203354"/>
                </a:solidFill>
                <a:latin typeface="Noto Sans CJK SC"/>
              </a:rPr>
              <a:t>组胺</a:t>
            </a:r>
          </a:p>
        </p:txBody>
      </p:sp>
      <p:sp>
        <p:nvSpPr>
          <p:cNvPr id="18" name="Chevron 17"/>
          <p:cNvSpPr/>
          <p:nvPr/>
        </p:nvSpPr>
        <p:spPr>
          <a:xfrm rot="5400000">
            <a:off x="4370832" y="3584448"/>
            <a:ext cx="310896" cy="274320"/>
          </a:xfrm>
          <a:prstGeom prst="chevron">
            <a:avLst/>
          </a:prstGeom>
          <a:solidFill>
            <a:srgbClr val="FFB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Chevron 18"/>
          <p:cNvSpPr/>
          <p:nvPr/>
        </p:nvSpPr>
        <p:spPr>
          <a:xfrm>
            <a:off x="2596896" y="4059936"/>
            <a:ext cx="356616" cy="274320"/>
          </a:xfrm>
          <a:prstGeom prst="chevron">
            <a:avLst/>
          </a:prstGeom>
          <a:solidFill>
            <a:srgbClr val="008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3136392" y="3895344"/>
            <a:ext cx="2103120" cy="576072"/>
          </a:xfrm>
          <a:prstGeom prst="roundRect">
            <a:avLst>
              <a:gd name="adj" fmla="val 10000"/>
            </a:avLst>
          </a:prstGeom>
          <a:solidFill>
            <a:srgbClr val="008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264408" y="3968496"/>
            <a:ext cx="1847088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2300" b="1">
                <a:solidFill>
                  <a:srgbClr val="FFFFFF"/>
                </a:solidFill>
                <a:latin typeface="Noto Sans CJK SC"/>
              </a:rPr>
              <a:t>H1 受体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188720" y="4050791"/>
            <a:ext cx="832104" cy="274320"/>
          </a:xfrm>
          <a:prstGeom prst="roundRect">
            <a:avLst>
              <a:gd name="adj" fmla="val 10000"/>
            </a:avLst>
          </a:prstGeom>
          <a:solidFill>
            <a:srgbClr val="EB59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225296" y="4087368"/>
            <a:ext cx="366125" cy="201167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33271" y="4489704"/>
            <a:ext cx="1627632" cy="283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500" b="1">
                <a:solidFill>
                  <a:srgbClr val="EB5969"/>
                </a:solidFill>
                <a:latin typeface="Noto Sans CJK SC"/>
              </a:rPr>
              <a:t>抗组胺药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33271" y="5010912"/>
            <a:ext cx="4562856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900" b="1">
                <a:solidFill>
                  <a:srgbClr val="008C82"/>
                </a:solidFill>
                <a:latin typeface="Noto Sans CJK SC"/>
              </a:rPr>
              <a:t>影响受体作用 → 缓解部分症状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01384" y="2139696"/>
            <a:ext cx="4562856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500" b="1">
                <a:solidFill>
                  <a:srgbClr val="7952D5"/>
                </a:solidFill>
                <a:latin typeface="Noto Sans CJK SC"/>
              </a:rPr>
              <a:t>脑内：也参与维持清醒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44383" y="2743200"/>
            <a:ext cx="1426464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600" b="1">
                <a:solidFill>
                  <a:srgbClr val="7952D5"/>
                </a:solidFill>
                <a:latin typeface="Noto Sans CJK SC"/>
              </a:rPr>
              <a:t>血脑屏障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284464" y="3136392"/>
            <a:ext cx="146304" cy="393192"/>
          </a:xfrm>
          <a:prstGeom prst="roundRect">
            <a:avLst>
              <a:gd name="adj" fmla="val 10000"/>
            </a:avLst>
          </a:prstGeom>
          <a:solidFill>
            <a:srgbClr val="7952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8284464" y="3730752"/>
            <a:ext cx="146304" cy="393192"/>
          </a:xfrm>
          <a:prstGeom prst="roundRect">
            <a:avLst>
              <a:gd name="adj" fmla="val 10000"/>
            </a:avLst>
          </a:prstGeom>
          <a:solidFill>
            <a:srgbClr val="7952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6693408" y="3465576"/>
            <a:ext cx="950976" cy="320040"/>
          </a:xfrm>
          <a:prstGeom prst="roundRect">
            <a:avLst>
              <a:gd name="adj" fmla="val 10000"/>
            </a:avLst>
          </a:prstGeom>
          <a:solidFill>
            <a:srgbClr val="EB59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729984" y="3502152"/>
            <a:ext cx="418429" cy="246887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Chevron 31"/>
          <p:cNvSpPr/>
          <p:nvPr/>
        </p:nvSpPr>
        <p:spPr>
          <a:xfrm>
            <a:off x="7799831" y="3474720"/>
            <a:ext cx="420624" cy="274320"/>
          </a:xfrm>
          <a:prstGeom prst="chevron">
            <a:avLst/>
          </a:prstGeom>
          <a:solidFill>
            <a:srgbClr val="EB59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Chevron 32"/>
          <p:cNvSpPr/>
          <p:nvPr/>
        </p:nvSpPr>
        <p:spPr>
          <a:xfrm>
            <a:off x="8586216" y="3474720"/>
            <a:ext cx="384048" cy="274320"/>
          </a:xfrm>
          <a:prstGeom prst="chevron">
            <a:avLst/>
          </a:prstGeom>
          <a:solidFill>
            <a:srgbClr val="EB59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9244584" y="3306470"/>
            <a:ext cx="546811" cy="605698"/>
          </a:xfrm>
          <a:prstGeom prst="ellipse">
            <a:avLst/>
          </a:prstGeom>
          <a:solidFill>
            <a:srgbClr val="D8C4FF"/>
          </a:solidFill>
          <a:ln w="19050">
            <a:solidFill>
              <a:srgbClr val="7952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9345533" y="3096158"/>
            <a:ext cx="630936" cy="639348"/>
          </a:xfrm>
          <a:prstGeom prst="ellipse">
            <a:avLst/>
          </a:prstGeom>
          <a:solidFill>
            <a:srgbClr val="D8C4FF"/>
          </a:solidFill>
          <a:ln w="19050">
            <a:solidFill>
              <a:srgbClr val="7952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9732507" y="3054096"/>
            <a:ext cx="639348" cy="672998"/>
          </a:xfrm>
          <a:prstGeom prst="ellipse">
            <a:avLst/>
          </a:prstGeom>
          <a:solidFill>
            <a:srgbClr val="D8C4FF"/>
          </a:solidFill>
          <a:ln w="19050">
            <a:solidFill>
              <a:srgbClr val="7952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10153131" y="3239170"/>
            <a:ext cx="563636" cy="647760"/>
          </a:xfrm>
          <a:prstGeom prst="ellipse">
            <a:avLst/>
          </a:prstGeom>
          <a:solidFill>
            <a:srgbClr val="D8C4FF"/>
          </a:solidFill>
          <a:ln w="19050">
            <a:solidFill>
              <a:srgbClr val="7952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9749332" y="3491544"/>
            <a:ext cx="647760" cy="479511"/>
          </a:xfrm>
          <a:prstGeom prst="ellipse">
            <a:avLst/>
          </a:prstGeom>
          <a:solidFill>
            <a:srgbClr val="D8C4FF"/>
          </a:solidFill>
          <a:ln w="19050">
            <a:solidFill>
              <a:srgbClr val="7952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9" name="Connector 38"/>
          <p:cNvCxnSpPr/>
          <p:nvPr/>
        </p:nvCxnSpPr>
        <p:spPr>
          <a:xfrm>
            <a:off x="9505370" y="3289645"/>
            <a:ext cx="143013" cy="159837"/>
          </a:xfrm>
          <a:prstGeom prst="line">
            <a:avLst/>
          </a:prstGeom>
          <a:ln w="25400">
            <a:solidFill>
              <a:srgbClr val="7952D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H="1">
            <a:off x="9799807" y="3255995"/>
            <a:ext cx="33650" cy="277612"/>
          </a:xfrm>
          <a:prstGeom prst="line">
            <a:avLst/>
          </a:prstGeom>
          <a:ln w="25400">
            <a:solidFill>
              <a:srgbClr val="7952D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10203606" y="3373770"/>
            <a:ext cx="134600" cy="176662"/>
          </a:xfrm>
          <a:prstGeom prst="line">
            <a:avLst/>
          </a:prstGeom>
          <a:ln w="25400">
            <a:solidFill>
              <a:srgbClr val="7952D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9606320" y="3693444"/>
            <a:ext cx="218725" cy="75712"/>
          </a:xfrm>
          <a:prstGeom prst="line">
            <a:avLst/>
          </a:prstGeom>
          <a:ln w="25400">
            <a:solidFill>
              <a:srgbClr val="7952D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10119481" y="3727094"/>
            <a:ext cx="117775" cy="109362"/>
          </a:xfrm>
          <a:prstGeom prst="line">
            <a:avLst/>
          </a:prstGeom>
          <a:ln w="25400">
            <a:solidFill>
              <a:srgbClr val="7952D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9098280" y="4142232"/>
            <a:ext cx="1938528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500" b="1">
                <a:solidFill>
                  <a:srgbClr val="7952D5"/>
                </a:solidFill>
                <a:latin typeface="Noto Sans CJK SC"/>
              </a:rPr>
              <a:t>脑内 H1 信号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501384" y="4645152"/>
            <a:ext cx="4562856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200" b="1">
                <a:solidFill>
                  <a:srgbClr val="7952D5"/>
                </a:solidFill>
                <a:latin typeface="Noto Sans CJK SC"/>
              </a:rPr>
              <a:t>部分药物可进入脑内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501384" y="5093208"/>
            <a:ext cx="456285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700" b="0">
                <a:solidFill>
                  <a:srgbClr val="203354"/>
                </a:solidFill>
                <a:latin typeface="Noto Sans CJK SC"/>
              </a:rPr>
              <a:t>清醒相关信号受影响 → 可能嗜睡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65760"/>
            <a:ext cx="64008" cy="246888"/>
          </a:xfrm>
          <a:prstGeom prst="rect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92608"/>
            <a:ext cx="36576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53E75"/>
                </a:solidFill>
                <a:latin typeface="Noto Sans CJK SC"/>
                <a:ea typeface="Noto Sans CJK SC"/>
              </a:rPr>
              <a:t>02 / 宿舍误区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896112"/>
            <a:ext cx="1101852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53E75"/>
                </a:solidFill>
                <a:latin typeface="Noto Sans CJK SC"/>
                <a:ea typeface="Noto Sans CJK SC"/>
              </a:rPr>
              <a:t>聚餐邀请到了，你先回哪条消息？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94360" y="5843016"/>
            <a:ext cx="11000232" cy="0"/>
          </a:xfrm>
          <a:prstGeom prst="line">
            <a:avLst/>
          </a:prstGeom>
          <a:ln w="8890">
            <a:solidFill>
              <a:srgbClr val="153E7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5943600"/>
            <a:ext cx="1074420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E3464F"/>
                </a:solidFill>
                <a:latin typeface="Noto Sans CJK SC"/>
                <a:ea typeface="Noto Sans CJK SC"/>
              </a:rPr>
              <a:t>单选｜今天服过抗过敏药，具体饮酒要求未确认；下一页再揭晓。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510528"/>
            <a:ext cx="9601200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153E75"/>
                </a:solidFill>
                <a:latin typeface="Noto Sans CJK SC"/>
                <a:ea typeface="Noto Sans CJK SC"/>
              </a:rPr>
              <a:t>来源：S8; S9  ·  完整链接见附页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153E75"/>
                </a:solidFill>
                <a:latin typeface="Noto Sans CJK SC"/>
                <a:ea typeface="Noto Sans CJK SC"/>
              </a:rPr>
              <a:t>16 / 28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68096" y="1938528"/>
            <a:ext cx="8257031" cy="941832"/>
          </a:xfrm>
          <a:prstGeom prst="roundRect">
            <a:avLst>
              <a:gd name="adj" fmla="val 10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987552" y="2240280"/>
            <a:ext cx="539496" cy="329184"/>
          </a:xfrm>
          <a:prstGeom prst="roundRect">
            <a:avLst>
              <a:gd name="adj" fmla="val 10000"/>
            </a:avLst>
          </a:prstGeom>
          <a:solidFill>
            <a:srgbClr val="2033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2258568"/>
            <a:ext cx="411479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Noto Sans CJK SC"/>
              </a:rPr>
              <a:t>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92224" y="2093976"/>
            <a:ext cx="6922008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300" b="0">
                <a:solidFill>
                  <a:srgbClr val="203354"/>
                </a:solidFill>
                <a:latin typeface="Noto Sans CJK SC"/>
              </a:rPr>
              <a:t>先吃点东西，把两者错开两小时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68096" y="3081528"/>
            <a:ext cx="8257031" cy="941832"/>
          </a:xfrm>
          <a:prstGeom prst="roundRect">
            <a:avLst>
              <a:gd name="adj" fmla="val 10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987552" y="3383280"/>
            <a:ext cx="539496" cy="329184"/>
          </a:xfrm>
          <a:prstGeom prst="roundRect">
            <a:avLst>
              <a:gd name="adj" fmla="val 10000"/>
            </a:avLst>
          </a:prstGeom>
          <a:solidFill>
            <a:srgbClr val="2033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51560" y="3401568"/>
            <a:ext cx="411479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Noto Sans CJK SC"/>
              </a:rPr>
              <a:t>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92224" y="3236976"/>
            <a:ext cx="6922008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300" b="0">
                <a:solidFill>
                  <a:srgbClr val="203354"/>
                </a:solidFill>
                <a:latin typeface="Noto Sans CJK SC"/>
              </a:rPr>
              <a:t>照以前的经验，只小酌不碰烈酒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68096" y="4224528"/>
            <a:ext cx="8257031" cy="941832"/>
          </a:xfrm>
          <a:prstGeom prst="roundRect">
            <a:avLst>
              <a:gd name="adj" fmla="val 10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987552" y="4526280"/>
            <a:ext cx="539496" cy="329184"/>
          </a:xfrm>
          <a:prstGeom prst="roundRect">
            <a:avLst>
              <a:gd name="adj" fmla="val 10000"/>
            </a:avLst>
          </a:prstGeom>
          <a:solidFill>
            <a:srgbClr val="2033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51560" y="4544568"/>
            <a:ext cx="411479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Noto Sans CJK SC"/>
              </a:rPr>
              <a:t>C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92224" y="4379976"/>
            <a:ext cx="6922008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300" b="0">
                <a:solidFill>
                  <a:srgbClr val="203354"/>
                </a:solidFill>
                <a:latin typeface="Noto Sans CJK SC"/>
              </a:rPr>
              <a:t>今晚先换白水，按具体药名查要求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272016" y="1938528"/>
            <a:ext cx="2121408" cy="3246120"/>
          </a:xfrm>
          <a:prstGeom prst="roundRect">
            <a:avLst>
              <a:gd name="adj" fmla="val 10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ANIME_R1_C3" descr="原创AI生成动漫情境；人物和事件为虚构教学示意"/>
          <p:cNvPicPr>
            <a:picLocks noChangeAspect="1"/>
          </p:cNvPicPr>
          <p:nvPr/>
        </p:nvPicPr>
        <p:blipFill>
          <a:blip r:embed="rId3"/>
          <a:srcRect l="79498" r="5574" t="594" b="70906"/>
          <a:stretch>
            <a:fillRect/>
          </a:stretch>
        </p:blipFill>
        <p:spPr>
          <a:xfrm>
            <a:off x="9509760" y="2715768"/>
            <a:ext cx="1659636" cy="2112264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9774936" y="2148840"/>
            <a:ext cx="1106424" cy="329184"/>
          </a:xfrm>
          <a:prstGeom prst="roundRect">
            <a:avLst>
              <a:gd name="adj" fmla="val 10000"/>
            </a:avLst>
          </a:prstGeom>
          <a:solidFill>
            <a:srgbClr val="7952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838944" y="2167128"/>
            <a:ext cx="978407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Noto Sans CJK SC"/>
              </a:rPr>
              <a:t>单选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65760"/>
            <a:ext cx="64008" cy="246888"/>
          </a:xfrm>
          <a:prstGeom prst="rect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92608"/>
            <a:ext cx="36576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53E75"/>
                </a:solidFill>
                <a:latin typeface="Noto Sans CJK SC"/>
                <a:ea typeface="Noto Sans CJK SC"/>
              </a:rPr>
              <a:t>02 / 宿舍误区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896112"/>
            <a:ext cx="1101852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53E75"/>
                </a:solidFill>
                <a:latin typeface="Noto Sans CJK SC"/>
                <a:ea typeface="Noto Sans CJK SC"/>
              </a:rPr>
              <a:t>案例④：聚餐这杯酒，先停一下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94360" y="5843016"/>
            <a:ext cx="11000232" cy="0"/>
          </a:xfrm>
          <a:prstGeom prst="line">
            <a:avLst/>
          </a:prstGeom>
          <a:ln w="8890">
            <a:solidFill>
              <a:srgbClr val="153E7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5943600"/>
            <a:ext cx="1074420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E3464F"/>
                </a:solidFill>
                <a:latin typeface="Noto Sans CJK SC"/>
                <a:ea typeface="Noto Sans CJK SC"/>
              </a:rPr>
              <a:t>刚才选 C：拿不准就先不喝；错开两小时、酒量好都不能代替核实。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510528"/>
            <a:ext cx="9601200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153E75"/>
                </a:solidFill>
                <a:latin typeface="Noto Sans CJK SC"/>
                <a:ea typeface="Noto Sans CJK SC"/>
              </a:rPr>
              <a:t>来源：S8; S9; S13  ·  完整链接见附页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153E75"/>
                </a:solidFill>
                <a:latin typeface="Noto Sans CJK SC"/>
                <a:ea typeface="Noto Sans CJK SC"/>
              </a:rPr>
              <a:t>17 / 28</a:t>
            </a:r>
          </a:p>
        </p:txBody>
      </p:sp>
      <p:pic>
        <p:nvPicPr>
          <p:cNvPr id="9" name="ANIME_R3_C1" descr="原创AI生成动漫情境；人物和事件为虚构教学示意"/>
          <p:cNvPicPr>
            <a:picLocks noChangeAspect="1"/>
          </p:cNvPicPr>
          <p:nvPr/>
        </p:nvPicPr>
        <p:blipFill>
          <a:blip r:embed="rId3"/>
          <a:srcRect r="66992" t="61640" b="5440"/>
          <a:stretch>
            <a:fillRect/>
          </a:stretch>
        </p:blipFill>
        <p:spPr>
          <a:xfrm>
            <a:off x="749808" y="1956816"/>
            <a:ext cx="3465576" cy="2304288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749808" y="4416552"/>
            <a:ext cx="3465576" cy="1024128"/>
          </a:xfrm>
          <a:prstGeom prst="roundRect">
            <a:avLst>
              <a:gd name="adj" fmla="val 10000"/>
            </a:avLst>
          </a:prstGeom>
          <a:solidFill>
            <a:srgbClr val="F1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4498848"/>
            <a:ext cx="3136392" cy="8595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100" b="1">
                <a:solidFill>
                  <a:srgbClr val="203354"/>
                </a:solidFill>
                <a:latin typeface="Noto Sans CJK SC"/>
              </a:rPr>
              <a:t>白天服过药，今晚聚餐怎么办？</a:t>
            </a:r>
          </a:p>
        </p:txBody>
      </p:sp>
      <p:pic>
        <p:nvPicPr>
          <p:cNvPr id="12" name="ANIME_R3_C2" descr="原创AI生成动漫情境；人物和事件为虚构教学示意"/>
          <p:cNvPicPr>
            <a:picLocks noChangeAspect="1"/>
          </p:cNvPicPr>
          <p:nvPr/>
        </p:nvPicPr>
        <p:blipFill>
          <a:blip r:embed="rId3"/>
          <a:srcRect l="33464" r="33529" t="61640" b="5440"/>
          <a:stretch>
            <a:fillRect/>
          </a:stretch>
        </p:blipFill>
        <p:spPr>
          <a:xfrm>
            <a:off x="4434840" y="1956816"/>
            <a:ext cx="3465576" cy="2304288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4434840" y="4416552"/>
            <a:ext cx="3465576" cy="1024128"/>
          </a:xfrm>
          <a:prstGeom prst="roundRect">
            <a:avLst>
              <a:gd name="adj" fmla="val 10000"/>
            </a:avLst>
          </a:prstGeom>
          <a:solidFill>
            <a:srgbClr val="F1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99432" y="4498848"/>
            <a:ext cx="3136392" cy="8595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100" b="1">
                <a:solidFill>
                  <a:srgbClr val="203354"/>
                </a:solidFill>
                <a:latin typeface="Noto Sans CJK SC"/>
              </a:rPr>
              <a:t>室友：就喝一点，没事吧？</a:t>
            </a:r>
          </a:p>
        </p:txBody>
      </p:sp>
      <p:pic>
        <p:nvPicPr>
          <p:cNvPr id="15" name="ANIME_R3_C3" descr="原创AI生成动漫情境；人物和事件为虚构教学示意"/>
          <p:cNvPicPr>
            <a:picLocks noChangeAspect="1"/>
          </p:cNvPicPr>
          <p:nvPr/>
        </p:nvPicPr>
        <p:blipFill>
          <a:blip r:embed="rId3"/>
          <a:srcRect l="66992" t="61640" b="5440"/>
          <a:stretch>
            <a:fillRect/>
          </a:stretch>
        </p:blipFill>
        <p:spPr>
          <a:xfrm>
            <a:off x="8119872" y="1956816"/>
            <a:ext cx="3465576" cy="2304288"/>
          </a:xfrm>
          <a:prstGeom prst="rect">
            <a:avLst/>
          </a:prstGeom>
        </p:spPr>
      </p:pic>
      <p:sp>
        <p:nvSpPr>
          <p:cNvPr id="16" name="Rounded Rectangle 15"/>
          <p:cNvSpPr/>
          <p:nvPr/>
        </p:nvSpPr>
        <p:spPr>
          <a:xfrm>
            <a:off x="8119872" y="4416552"/>
            <a:ext cx="3465576" cy="1024128"/>
          </a:xfrm>
          <a:prstGeom prst="roundRect">
            <a:avLst>
              <a:gd name="adj" fmla="val 10000"/>
            </a:avLst>
          </a:prstGeom>
          <a:solidFill>
            <a:srgbClr val="F1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84464" y="4498848"/>
            <a:ext cx="3136392" cy="8595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100" b="1">
                <a:solidFill>
                  <a:srgbClr val="203354"/>
                </a:solidFill>
                <a:latin typeface="Noto Sans CJK SC"/>
              </a:rPr>
              <a:t>我先换白水，再核实这盒药的要求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65760"/>
            <a:ext cx="64008" cy="246888"/>
          </a:xfrm>
          <a:prstGeom prst="rect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92608"/>
            <a:ext cx="36576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53E75"/>
                </a:solidFill>
                <a:latin typeface="Noto Sans CJK SC"/>
                <a:ea typeface="Noto Sans CJK SC"/>
              </a:rPr>
              <a:t>03 / 安全用药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896112"/>
            <a:ext cx="1101852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53E75"/>
                </a:solidFill>
                <a:latin typeface="Noto Sans CJK SC"/>
                <a:ea typeface="Noto Sans CJK SC"/>
              </a:rPr>
              <a:t>安全用药四步：看、核、问、记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94360" y="5843016"/>
            <a:ext cx="11000232" cy="0"/>
          </a:xfrm>
          <a:prstGeom prst="line">
            <a:avLst/>
          </a:prstGeom>
          <a:ln w="8890">
            <a:solidFill>
              <a:srgbClr val="153E7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5943600"/>
            <a:ext cx="1074420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E3464F"/>
                </a:solidFill>
                <a:latin typeface="Noto Sans CJK SC"/>
                <a:ea typeface="Noto Sans CJK SC"/>
              </a:rPr>
              <a:t>刚才选 C｜把“不确定”变成一个咨询动作。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510528"/>
            <a:ext cx="9601200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153E75"/>
                </a:solidFill>
                <a:latin typeface="Noto Sans CJK SC"/>
                <a:ea typeface="Noto Sans CJK SC"/>
              </a:rPr>
              <a:t>来源：S1; S2; S8; S9  ·  完整链接见附页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153E75"/>
                </a:solidFill>
                <a:latin typeface="Noto Sans CJK SC"/>
                <a:ea typeface="Noto Sans CJK SC"/>
              </a:rPr>
              <a:t>18 / 28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1810512"/>
            <a:ext cx="5239512" cy="164592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153E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1993392"/>
            <a:ext cx="4480560" cy="5212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3464F"/>
                </a:solidFill>
                <a:latin typeface="Noto Sans CJK SC"/>
                <a:ea typeface="Noto Sans CJK SC"/>
              </a:rPr>
              <a:t>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2670048"/>
            <a:ext cx="4736592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0">
                <a:solidFill>
                  <a:srgbClr val="153E75"/>
                </a:solidFill>
                <a:latin typeface="Noto Sans CJK SC"/>
                <a:ea typeface="Noto Sans CJK SC"/>
              </a:rPr>
              <a:t>症状、说明书、就医信号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54496" y="1810512"/>
            <a:ext cx="5239512" cy="164592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153E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83096" y="1993392"/>
            <a:ext cx="4480560" cy="5212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3464F"/>
                </a:solidFill>
                <a:latin typeface="Noto Sans CJK SC"/>
                <a:ea typeface="Noto Sans CJK SC"/>
              </a:rPr>
              <a:t>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83096" y="2670048"/>
            <a:ext cx="4736592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0">
                <a:solidFill>
                  <a:srgbClr val="153E75"/>
                </a:solidFill>
                <a:latin typeface="Noto Sans CJK SC"/>
                <a:ea typeface="Noto Sans CJK SC"/>
              </a:rPr>
              <a:t>成分、剂量、间隔、禁忌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3685031"/>
            <a:ext cx="5239512" cy="164592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153E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0120" y="3867911"/>
            <a:ext cx="4480560" cy="5212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3464F"/>
                </a:solidFill>
                <a:latin typeface="Noto Sans CJK SC"/>
                <a:ea typeface="Noto Sans CJK SC"/>
              </a:rPr>
              <a:t>问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" y="4544567"/>
            <a:ext cx="4736592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0">
                <a:solidFill>
                  <a:srgbClr val="153E75"/>
                </a:solidFill>
                <a:latin typeface="Noto Sans CJK SC"/>
                <a:ea typeface="Noto Sans CJK SC"/>
              </a:rPr>
              <a:t>医生 / 药师，确认不确定处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54496" y="3685031"/>
            <a:ext cx="5239512" cy="164592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153E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83096" y="3867911"/>
            <a:ext cx="4480560" cy="5212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3464F"/>
                </a:solidFill>
                <a:latin typeface="Noto Sans CJK SC"/>
                <a:ea typeface="Noto Sans CJK SC"/>
              </a:rPr>
              <a:t>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83096" y="4544567"/>
            <a:ext cx="4736592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0">
                <a:solidFill>
                  <a:srgbClr val="153E75"/>
                </a:solidFill>
                <a:latin typeface="Noto Sans CJK SC"/>
                <a:ea typeface="Noto Sans CJK SC"/>
              </a:rPr>
              <a:t>药名、时间、用量与反应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65760"/>
            <a:ext cx="64008" cy="246888"/>
          </a:xfrm>
          <a:prstGeom prst="rect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92608"/>
            <a:ext cx="36576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53E75"/>
                </a:solidFill>
                <a:latin typeface="Noto Sans CJK SC"/>
                <a:ea typeface="Noto Sans CJK SC"/>
              </a:rPr>
              <a:t>03 / 安全用药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896112"/>
            <a:ext cx="1101852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53E75"/>
                </a:solidFill>
                <a:latin typeface="Noto Sans CJK SC"/>
                <a:ea typeface="Noto Sans CJK SC"/>
              </a:rPr>
              <a:t>说明书很长？先定位这六处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94360" y="5843016"/>
            <a:ext cx="11000232" cy="0"/>
          </a:xfrm>
          <a:prstGeom prst="line">
            <a:avLst/>
          </a:prstGeom>
          <a:ln w="8890">
            <a:solidFill>
              <a:srgbClr val="153E7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5943600"/>
            <a:ext cx="1074420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E3464F"/>
                </a:solidFill>
                <a:latin typeface="Noto Sans CJK SC"/>
                <a:ea typeface="Noto Sans CJK SC"/>
              </a:rPr>
              <a:t>六处是阅读起点，不代表其余内容可以跳过。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510528"/>
            <a:ext cx="9601200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153E75"/>
                </a:solidFill>
                <a:latin typeface="Noto Sans CJK SC"/>
                <a:ea typeface="Noto Sans CJK SC"/>
              </a:rPr>
              <a:t>来源：S1; S2; S8  ·  完整链接见附页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153E75"/>
                </a:solidFill>
                <a:latin typeface="Noto Sans CJK SC"/>
                <a:ea typeface="Noto Sans CJK SC"/>
              </a:rPr>
              <a:t>19 / 28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32688" y="1801368"/>
            <a:ext cx="10305288" cy="3767328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153E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79576" y="2039112"/>
            <a:ext cx="502920" cy="502920"/>
          </a:xfrm>
          <a:prstGeom prst="ellipse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79576" y="2066543"/>
            <a:ext cx="50292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Noto Sans CJK SC"/>
                <a:ea typeface="Noto Sans CJK SC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37943" y="2029968"/>
            <a:ext cx="2926080" cy="6126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153E75"/>
                </a:solidFill>
                <a:latin typeface="Noto Sans CJK SC"/>
                <a:ea typeface="Noto Sans CJK SC"/>
              </a:rPr>
              <a:t>成分 / 通用名</a:t>
            </a:r>
          </a:p>
        </p:txBody>
      </p:sp>
      <p:sp>
        <p:nvSpPr>
          <p:cNvPr id="13" name="Oval 12"/>
          <p:cNvSpPr/>
          <p:nvPr/>
        </p:nvSpPr>
        <p:spPr>
          <a:xfrm>
            <a:off x="4864608" y="2039112"/>
            <a:ext cx="502920" cy="502920"/>
          </a:xfrm>
          <a:prstGeom prst="ellipse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864608" y="2066543"/>
            <a:ext cx="50292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Noto Sans CJK SC"/>
                <a:ea typeface="Noto Sans CJK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522976" y="2029968"/>
            <a:ext cx="2926080" cy="6126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153E75"/>
                </a:solidFill>
                <a:latin typeface="Noto Sans CJK SC"/>
                <a:ea typeface="Noto Sans CJK SC"/>
              </a:rPr>
              <a:t>适应证或功能主治</a:t>
            </a:r>
          </a:p>
        </p:txBody>
      </p:sp>
      <p:sp>
        <p:nvSpPr>
          <p:cNvPr id="16" name="Oval 15"/>
          <p:cNvSpPr/>
          <p:nvPr/>
        </p:nvSpPr>
        <p:spPr>
          <a:xfrm>
            <a:off x="1179576" y="3127248"/>
            <a:ext cx="502920" cy="502920"/>
          </a:xfrm>
          <a:prstGeom prst="ellipse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79576" y="3154679"/>
            <a:ext cx="50292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Noto Sans CJK SC"/>
                <a:ea typeface="Noto Sans CJK SC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37943" y="3118104"/>
            <a:ext cx="2926080" cy="6126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153E75"/>
                </a:solidFill>
                <a:latin typeface="Noto Sans CJK SC"/>
                <a:ea typeface="Noto Sans CJK SC"/>
              </a:rPr>
              <a:t>用法用量</a:t>
            </a:r>
          </a:p>
        </p:txBody>
      </p:sp>
      <p:sp>
        <p:nvSpPr>
          <p:cNvPr id="19" name="Oval 18"/>
          <p:cNvSpPr/>
          <p:nvPr/>
        </p:nvSpPr>
        <p:spPr>
          <a:xfrm>
            <a:off x="4864608" y="3127248"/>
            <a:ext cx="502920" cy="502920"/>
          </a:xfrm>
          <a:prstGeom prst="ellipse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864608" y="3154679"/>
            <a:ext cx="50292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Noto Sans CJK SC"/>
                <a:ea typeface="Noto Sans CJK SC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522976" y="3118104"/>
            <a:ext cx="2926080" cy="6126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153E75"/>
                </a:solidFill>
                <a:latin typeface="Noto Sans CJK SC"/>
                <a:ea typeface="Noto Sans CJK SC"/>
              </a:rPr>
              <a:t>禁忌与注意事项</a:t>
            </a:r>
          </a:p>
        </p:txBody>
      </p:sp>
      <p:sp>
        <p:nvSpPr>
          <p:cNvPr id="22" name="Oval 21"/>
          <p:cNvSpPr/>
          <p:nvPr/>
        </p:nvSpPr>
        <p:spPr>
          <a:xfrm>
            <a:off x="1179576" y="4215383"/>
            <a:ext cx="502920" cy="502920"/>
          </a:xfrm>
          <a:prstGeom prst="ellipse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79576" y="4242816"/>
            <a:ext cx="50292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Noto Sans CJK SC"/>
                <a:ea typeface="Noto Sans CJK SC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37943" y="4206240"/>
            <a:ext cx="2926080" cy="6126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153E75"/>
                </a:solidFill>
                <a:latin typeface="Noto Sans CJK SC"/>
                <a:ea typeface="Noto Sans CJK SC"/>
              </a:rPr>
              <a:t>相互作用 / 不良反应</a:t>
            </a:r>
          </a:p>
        </p:txBody>
      </p:sp>
      <p:sp>
        <p:nvSpPr>
          <p:cNvPr id="25" name="Oval 24"/>
          <p:cNvSpPr/>
          <p:nvPr/>
        </p:nvSpPr>
        <p:spPr>
          <a:xfrm>
            <a:off x="4864608" y="4215383"/>
            <a:ext cx="502920" cy="502920"/>
          </a:xfrm>
          <a:prstGeom prst="ellipse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864608" y="4242816"/>
            <a:ext cx="50292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Noto Sans CJK SC"/>
                <a:ea typeface="Noto Sans CJK SC"/>
              </a:rPr>
              <a:t>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522976" y="4206240"/>
            <a:ext cx="2926080" cy="6126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153E75"/>
                </a:solidFill>
                <a:latin typeface="Noto Sans CJK SC"/>
                <a:ea typeface="Noto Sans CJK SC"/>
              </a:rPr>
              <a:t>贮藏条件 / 有效期</a:t>
            </a:r>
          </a:p>
        </p:txBody>
      </p:sp>
      <p:pic>
        <p:nvPicPr>
          <p:cNvPr id="28" name="Picture 27" descr="pill-bottle.jpg"/>
          <p:cNvPicPr>
            <a:picLocks noChangeAspect="1"/>
          </p:cNvPicPr>
          <p:nvPr/>
        </p:nvPicPr>
        <p:blipFill>
          <a:blip r:embed="rId3"/>
          <a:srcRect t="7230" b="7230"/>
          <a:stretch>
            <a:fillRect/>
          </a:stretch>
        </p:blipFill>
        <p:spPr>
          <a:xfrm>
            <a:off x="8613648" y="1975104"/>
            <a:ext cx="2331720" cy="3191256"/>
          </a:xfrm>
          <a:prstGeom prst="rect">
            <a:avLst/>
          </a:prstGeom>
        </p:spPr>
      </p:pic>
      <p:sp>
        <p:nvSpPr>
          <p:cNvPr id="29" name="Rectangle 28"/>
          <p:cNvSpPr/>
          <p:nvPr/>
        </p:nvSpPr>
        <p:spPr>
          <a:xfrm>
            <a:off x="8613648" y="1975104"/>
            <a:ext cx="2331720" cy="3191256"/>
          </a:xfrm>
          <a:prstGeom prst="rect">
            <a:avLst/>
          </a:prstGeom>
          <a:noFill/>
          <a:ln w="19050">
            <a:solidFill>
              <a:srgbClr val="153E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631936" y="4846320"/>
            <a:ext cx="2295144" cy="301752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741664" y="4873752"/>
            <a:ext cx="207568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53E75"/>
                </a:solidFill>
                <a:latin typeface="Noto Sans CJK SC"/>
                <a:ea typeface="Noto Sans CJK SC"/>
              </a:rPr>
              <a:t>真实照片 · 场景示意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43000" y="5330952"/>
            <a:ext cx="7132320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153E75"/>
                </a:solidFill>
                <a:latin typeface="Noto Sans CJK SC"/>
                <a:ea typeface="Noto Sans CJK SC"/>
              </a:rPr>
              <a:t>请以手中的真实说明书为准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65760"/>
            <a:ext cx="64008" cy="246888"/>
          </a:xfrm>
          <a:prstGeom prst="rect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92608"/>
            <a:ext cx="36576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53E75"/>
                </a:solidFill>
                <a:latin typeface="Noto Sans CJK SC"/>
                <a:ea typeface="Noto Sans CJK SC"/>
              </a:rPr>
              <a:t>03 / 安全用药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896112"/>
            <a:ext cx="1101852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53E75"/>
                </a:solidFill>
                <a:latin typeface="Noto Sans CJK SC"/>
                <a:ea typeface="Noto Sans CJK SC"/>
              </a:rPr>
              <a:t>时间、剂量、剂型，都别凭感觉改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94360" y="5843016"/>
            <a:ext cx="11000232" cy="0"/>
          </a:xfrm>
          <a:prstGeom prst="line">
            <a:avLst/>
          </a:prstGeom>
          <a:ln w="8890">
            <a:solidFill>
              <a:srgbClr val="153E7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5943600"/>
            <a:ext cx="1074420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E3464F"/>
                </a:solidFill>
                <a:latin typeface="Noto Sans CJK SC"/>
                <a:ea typeface="Noto Sans CJK SC"/>
              </a:rPr>
              <a:t>不同药物要求不同；不要套用同一条补药规则。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510528"/>
            <a:ext cx="9601200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153E75"/>
                </a:solidFill>
                <a:latin typeface="Noto Sans CJK SC"/>
                <a:ea typeface="Noto Sans CJK SC"/>
              </a:rPr>
              <a:t>来源：S10; S13; S4  ·  完整链接见附页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153E75"/>
                </a:solidFill>
                <a:latin typeface="Noto Sans CJK SC"/>
                <a:ea typeface="Noto Sans CJK SC"/>
              </a:rPr>
              <a:t>20 / 28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1993392"/>
            <a:ext cx="3447288" cy="3346704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153E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pill-bottle.jpg"/>
          <p:cNvPicPr>
            <a:picLocks noChangeAspect="1"/>
          </p:cNvPicPr>
          <p:nvPr/>
        </p:nvPicPr>
        <p:blipFill>
          <a:blip r:embed="rId3"/>
          <a:srcRect t="37981" b="37981"/>
          <a:stretch>
            <a:fillRect/>
          </a:stretch>
        </p:blipFill>
        <p:spPr>
          <a:xfrm>
            <a:off x="868680" y="2103120"/>
            <a:ext cx="3209544" cy="123444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868680" y="2103120"/>
            <a:ext cx="3209544" cy="1234440"/>
          </a:xfrm>
          <a:prstGeom prst="rect">
            <a:avLst/>
          </a:prstGeom>
          <a:noFill/>
          <a:ln w="19050">
            <a:solidFill>
              <a:srgbClr val="153E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960120" y="3474720"/>
            <a:ext cx="530352" cy="329184"/>
          </a:xfrm>
          <a:prstGeom prst="roundRect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33272" y="3493008"/>
            <a:ext cx="384047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Noto Sans CJK SC"/>
                <a:ea typeface="Noto Sans CJK SC"/>
              </a:rPr>
              <a:t>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3877056"/>
            <a:ext cx="301752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153E75"/>
                </a:solidFill>
                <a:latin typeface="Noto Sans CJK SC"/>
                <a:ea typeface="Noto Sans CJK SC"/>
              </a:rPr>
              <a:t>漏服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4443984"/>
            <a:ext cx="2999232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0">
                <a:solidFill>
                  <a:srgbClr val="153E75"/>
                </a:solidFill>
                <a:latin typeface="Noto Sans CJK SC"/>
                <a:ea typeface="Noto Sans CJK SC"/>
              </a:rPr>
              <a:t>先查具体处理要求，不自行加倍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90288" y="1993392"/>
            <a:ext cx="3447288" cy="3346704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153E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pharmacy-01.jpg"/>
          <p:cNvPicPr>
            <a:picLocks noChangeAspect="1"/>
          </p:cNvPicPr>
          <p:nvPr/>
        </p:nvPicPr>
        <p:blipFill>
          <a:blip r:embed="rId4"/>
          <a:srcRect t="15812" b="15812"/>
          <a:stretch>
            <a:fillRect/>
          </a:stretch>
        </p:blipFill>
        <p:spPr>
          <a:xfrm>
            <a:off x="4709160" y="2103120"/>
            <a:ext cx="3209544" cy="1234440"/>
          </a:xfrm>
          <a:prstGeom prst="rect">
            <a:avLst/>
          </a:prstGeom>
        </p:spPr>
      </p:pic>
      <p:sp>
        <p:nvSpPr>
          <p:cNvPr id="18" name="Rectangle 17"/>
          <p:cNvSpPr/>
          <p:nvPr/>
        </p:nvSpPr>
        <p:spPr>
          <a:xfrm>
            <a:off x="4709160" y="2103120"/>
            <a:ext cx="3209544" cy="1234440"/>
          </a:xfrm>
          <a:prstGeom prst="rect">
            <a:avLst/>
          </a:prstGeom>
          <a:noFill/>
          <a:ln w="19050">
            <a:solidFill>
              <a:srgbClr val="153E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4800600" y="3474720"/>
            <a:ext cx="530352" cy="329184"/>
          </a:xfrm>
          <a:prstGeom prst="roundRect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873752" y="3493008"/>
            <a:ext cx="384047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Noto Sans CJK SC"/>
                <a:ea typeface="Noto Sans CJK SC"/>
              </a:rPr>
              <a:t>02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00600" y="3877056"/>
            <a:ext cx="301752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153E75"/>
                </a:solidFill>
                <a:latin typeface="Noto Sans CJK SC"/>
                <a:ea typeface="Noto Sans CJK SC"/>
              </a:rPr>
              <a:t>疗程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00600" y="4443984"/>
            <a:ext cx="2999232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0">
                <a:solidFill>
                  <a:srgbClr val="153E75"/>
                </a:solidFill>
                <a:latin typeface="Noto Sans CJK SC"/>
                <a:ea typeface="Noto Sans CJK SC"/>
              </a:rPr>
              <a:t>按处方执行，有问题及时咨询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430768" y="1993392"/>
            <a:ext cx="3447288" cy="3346704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153E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tablet-hand.jpg"/>
          <p:cNvPicPr>
            <a:picLocks noChangeAspect="1"/>
          </p:cNvPicPr>
          <p:nvPr/>
        </p:nvPicPr>
        <p:blipFill>
          <a:blip r:embed="rId5"/>
          <a:srcRect t="30769" b="30769"/>
          <a:stretch>
            <a:fillRect/>
          </a:stretch>
        </p:blipFill>
        <p:spPr>
          <a:xfrm>
            <a:off x="8549640" y="2103120"/>
            <a:ext cx="3209544" cy="1234440"/>
          </a:xfrm>
          <a:prstGeom prst="rect">
            <a:avLst/>
          </a:prstGeom>
        </p:spPr>
      </p:pic>
      <p:sp>
        <p:nvSpPr>
          <p:cNvPr id="25" name="Rectangle 24"/>
          <p:cNvSpPr/>
          <p:nvPr/>
        </p:nvSpPr>
        <p:spPr>
          <a:xfrm>
            <a:off x="8549640" y="2103120"/>
            <a:ext cx="3209544" cy="1234440"/>
          </a:xfrm>
          <a:prstGeom prst="rect">
            <a:avLst/>
          </a:prstGeom>
          <a:noFill/>
          <a:ln w="19050">
            <a:solidFill>
              <a:srgbClr val="153E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8641080" y="3474720"/>
            <a:ext cx="530352" cy="329184"/>
          </a:xfrm>
          <a:prstGeom prst="roundRect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714232" y="3493008"/>
            <a:ext cx="384047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Noto Sans CJK SC"/>
                <a:ea typeface="Noto Sans CJK SC"/>
              </a:rPr>
              <a:t>03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41080" y="3877056"/>
            <a:ext cx="301752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153E75"/>
                </a:solidFill>
                <a:latin typeface="Noto Sans CJK SC"/>
                <a:ea typeface="Noto Sans CJK SC"/>
              </a:rPr>
              <a:t>剂型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41080" y="4443984"/>
            <a:ext cx="2999232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0">
                <a:solidFill>
                  <a:srgbClr val="153E75"/>
                </a:solidFill>
                <a:latin typeface="Noto Sans CJK SC"/>
                <a:ea typeface="Noto Sans CJK SC"/>
              </a:rPr>
              <a:t>缓释、肠溶等，不随意掰碎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65760"/>
            <a:ext cx="64008" cy="246888"/>
          </a:xfrm>
          <a:prstGeom prst="rect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92608"/>
            <a:ext cx="36576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53E75"/>
                </a:solidFill>
                <a:latin typeface="Noto Sans CJK SC"/>
                <a:ea typeface="Noto Sans CJK SC"/>
              </a:rPr>
              <a:t>03 / 安全用药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896112"/>
            <a:ext cx="1101852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53E75"/>
                </a:solidFill>
                <a:latin typeface="Noto Sans CJK SC"/>
                <a:ea typeface="Noto Sans CJK SC"/>
              </a:rPr>
              <a:t>问药师时，把信息一次说清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94360" y="5843016"/>
            <a:ext cx="11000232" cy="0"/>
          </a:xfrm>
          <a:prstGeom prst="line">
            <a:avLst/>
          </a:prstGeom>
          <a:ln w="8890">
            <a:solidFill>
              <a:srgbClr val="153E7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5943600"/>
            <a:ext cx="1074420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E3464F"/>
                </a:solidFill>
                <a:latin typeface="Noto Sans CJK SC"/>
                <a:ea typeface="Noto Sans CJK SC"/>
              </a:rPr>
              <a:t>带药盒 / 说明书照片，比“那种白色药片”更有用。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510528"/>
            <a:ext cx="9601200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153E75"/>
                </a:solidFill>
                <a:latin typeface="Noto Sans CJK SC"/>
                <a:ea typeface="Noto Sans CJK SC"/>
              </a:rPr>
              <a:t>来源：S2; S1  ·  完整链接见附页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153E75"/>
                </a:solidFill>
                <a:latin typeface="Noto Sans CJK SC"/>
                <a:ea typeface="Noto Sans CJK SC"/>
              </a:rPr>
              <a:t>21 / 28</a:t>
            </a:r>
          </a:p>
        </p:txBody>
      </p:sp>
      <p:pic>
        <p:nvPicPr>
          <p:cNvPr id="9" name="Picture 8" descr="pharmacy-02.jpg"/>
          <p:cNvPicPr>
            <a:picLocks noChangeAspect="1"/>
          </p:cNvPicPr>
          <p:nvPr/>
        </p:nvPicPr>
        <p:blipFill>
          <a:blip r:embed="rId3"/>
          <a:srcRect l="29209" r="29209"/>
          <a:stretch>
            <a:fillRect/>
          </a:stretch>
        </p:blipFill>
        <p:spPr>
          <a:xfrm>
            <a:off x="822960" y="1975104"/>
            <a:ext cx="2514600" cy="3401568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822960" y="1975104"/>
            <a:ext cx="2514600" cy="3401568"/>
          </a:xfrm>
          <a:prstGeom prst="rect">
            <a:avLst/>
          </a:prstGeom>
          <a:noFill/>
          <a:ln w="19050">
            <a:solidFill>
              <a:srgbClr val="153E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41248" y="5056632"/>
            <a:ext cx="2478024" cy="301752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50976" y="5084064"/>
            <a:ext cx="2258568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53E75"/>
                </a:solidFill>
                <a:latin typeface="Noto Sans CJK SC"/>
                <a:ea typeface="Noto Sans CJK SC"/>
              </a:rPr>
              <a:t>真实照片 · 场景示意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602736" y="1975104"/>
            <a:ext cx="7726679" cy="340156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53E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886200" y="2240279"/>
            <a:ext cx="128016" cy="128016"/>
          </a:xfrm>
          <a:prstGeom prst="ellipse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215384" y="2103120"/>
            <a:ext cx="6793992" cy="7955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0">
                <a:solidFill>
                  <a:srgbClr val="153E75"/>
                </a:solidFill>
                <a:latin typeface="Noto Sans CJK SC"/>
                <a:ea typeface="Noto Sans CJK SC"/>
              </a:rPr>
              <a:t>我有什么症状，持续多久？</a:t>
            </a:r>
          </a:p>
        </p:txBody>
      </p:sp>
      <p:sp>
        <p:nvSpPr>
          <p:cNvPr id="16" name="Oval 15"/>
          <p:cNvSpPr/>
          <p:nvPr/>
        </p:nvSpPr>
        <p:spPr>
          <a:xfrm>
            <a:off x="3886200" y="3227832"/>
            <a:ext cx="128016" cy="128016"/>
          </a:xfrm>
          <a:prstGeom prst="ellipse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215384" y="3090672"/>
            <a:ext cx="6793992" cy="7955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0">
                <a:solidFill>
                  <a:srgbClr val="153E75"/>
                </a:solidFill>
                <a:latin typeface="Noto Sans CJK SC"/>
                <a:ea typeface="Noto Sans CJK SC"/>
              </a:rPr>
              <a:t>我正在吃什么，何时吃了多少？</a:t>
            </a:r>
          </a:p>
        </p:txBody>
      </p:sp>
      <p:sp>
        <p:nvSpPr>
          <p:cNvPr id="18" name="Oval 17"/>
          <p:cNvSpPr/>
          <p:nvPr/>
        </p:nvSpPr>
        <p:spPr>
          <a:xfrm>
            <a:off x="3886200" y="4215384"/>
            <a:ext cx="128016" cy="128016"/>
          </a:xfrm>
          <a:prstGeom prst="ellipse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215384" y="4078224"/>
            <a:ext cx="6793992" cy="7955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0">
                <a:solidFill>
                  <a:srgbClr val="153E75"/>
                </a:solidFill>
                <a:latin typeface="Noto Sans CJK SC"/>
                <a:ea typeface="Noto Sans CJK SC"/>
              </a:rPr>
              <a:t>我有哪些过敏史、疾病或特殊情况？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65760"/>
            <a:ext cx="64008" cy="246888"/>
          </a:xfrm>
          <a:prstGeom prst="rect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92608"/>
            <a:ext cx="36576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53E75"/>
                </a:solidFill>
                <a:latin typeface="Noto Sans CJK SC"/>
                <a:ea typeface="Noto Sans CJK SC"/>
              </a:rPr>
              <a:t>03 / 安全用药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896112"/>
            <a:ext cx="1101852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53E75"/>
                </a:solidFill>
                <a:latin typeface="Noto Sans CJK SC"/>
                <a:ea typeface="Noto Sans CJK SC"/>
              </a:rPr>
              <a:t>什么时候，不该继续自己试药？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94360" y="5843016"/>
            <a:ext cx="11000232" cy="0"/>
          </a:xfrm>
          <a:prstGeom prst="line">
            <a:avLst/>
          </a:prstGeom>
          <a:ln w="8890">
            <a:solidFill>
              <a:srgbClr val="153E7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5943600"/>
            <a:ext cx="1074420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E3464F"/>
                </a:solidFill>
                <a:latin typeface="Noto Sans CJK SC"/>
                <a:ea typeface="Noto Sans CJK SC"/>
              </a:rPr>
              <a:t>严重急症拨打120；带上药品信息，别等“自己好”。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510528"/>
            <a:ext cx="9601200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153E75"/>
                </a:solidFill>
                <a:latin typeface="Noto Sans CJK SC"/>
                <a:ea typeface="Noto Sans CJK SC"/>
              </a:rPr>
              <a:t>来源：S2; S11; S12  ·  完整链接见附页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153E75"/>
                </a:solidFill>
                <a:latin typeface="Noto Sans CJK SC"/>
                <a:ea typeface="Noto Sans CJK SC"/>
              </a:rPr>
              <a:t>22 / 28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1938528"/>
            <a:ext cx="2852928" cy="3465576"/>
          </a:xfrm>
          <a:prstGeom prst="roundRect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2560320"/>
            <a:ext cx="2377440" cy="9875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6400" b="1">
                <a:solidFill>
                  <a:srgbClr val="FFFFFF"/>
                </a:solidFill>
                <a:latin typeface="Noto Sans CJK SC"/>
                <a:ea typeface="Noto Sans CJK SC"/>
              </a:rPr>
              <a:t>120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8992" y="3986784"/>
            <a:ext cx="2221992" cy="9875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1">
                <a:solidFill>
                  <a:srgbClr val="FFFFFF"/>
                </a:solidFill>
                <a:latin typeface="Noto Sans CJK SC"/>
                <a:ea typeface="Noto Sans CJK SC"/>
              </a:rPr>
              <a:t>严重急症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1">
                <a:solidFill>
                  <a:srgbClr val="FFFFFF"/>
                </a:solidFill>
                <a:latin typeface="Noto Sans CJK SC"/>
                <a:ea typeface="Noto Sans CJK SC"/>
              </a:rPr>
              <a:t>立即求助</a:t>
            </a:r>
          </a:p>
        </p:txBody>
      </p:sp>
      <p:pic>
        <p:nvPicPr>
          <p:cNvPr id="12" name="Picture 11" descr="hospital-02.jpg"/>
          <p:cNvPicPr>
            <a:picLocks noChangeAspect="1"/>
          </p:cNvPicPr>
          <p:nvPr/>
        </p:nvPicPr>
        <p:blipFill>
          <a:blip r:embed="rId3"/>
          <a:srcRect l="34960" r="34960"/>
          <a:stretch>
            <a:fillRect/>
          </a:stretch>
        </p:blipFill>
        <p:spPr>
          <a:xfrm>
            <a:off x="9555480" y="1956816"/>
            <a:ext cx="1828800" cy="3419856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9555480" y="1956816"/>
            <a:ext cx="1828800" cy="3419856"/>
          </a:xfrm>
          <a:prstGeom prst="rect">
            <a:avLst/>
          </a:prstGeom>
          <a:noFill/>
          <a:ln w="19050">
            <a:solidFill>
              <a:srgbClr val="153E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573767" y="5056632"/>
            <a:ext cx="1792224" cy="301752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83496" y="5084064"/>
            <a:ext cx="1572768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53E75"/>
                </a:solidFill>
                <a:latin typeface="Noto Sans CJK SC"/>
                <a:ea typeface="Noto Sans CJK SC"/>
              </a:rPr>
              <a:t>真实照片 · 场景示意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014215" y="1984248"/>
            <a:ext cx="5349240" cy="4663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>
                <a:solidFill>
                  <a:srgbClr val="153E75"/>
                </a:solidFill>
                <a:latin typeface="Noto Sans CJK SC"/>
                <a:ea typeface="Noto Sans CJK SC"/>
              </a:rPr>
              <a:t>呼吸困难 / 喉舌肿胀 / 意识异常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014215" y="2514600"/>
            <a:ext cx="534924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900" b="0">
                <a:solidFill>
                  <a:srgbClr val="E3464F"/>
                </a:solidFill>
                <a:latin typeface="Noto Sans CJK SC"/>
                <a:ea typeface="Noto Sans CJK SC"/>
              </a:rPr>
              <a:t>立即急救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014215" y="3127248"/>
            <a:ext cx="5349240" cy="4663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>
                <a:solidFill>
                  <a:srgbClr val="153E75"/>
                </a:solidFill>
                <a:latin typeface="Noto Sans CJK SC"/>
                <a:ea typeface="Noto Sans CJK SC"/>
              </a:rPr>
              <a:t>疑似超量或误服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014215" y="3657600"/>
            <a:ext cx="534924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900" b="0">
                <a:solidFill>
                  <a:srgbClr val="E3464F"/>
                </a:solidFill>
                <a:latin typeface="Noto Sans CJK SC"/>
                <a:ea typeface="Noto Sans CJK SC"/>
              </a:rPr>
              <a:t>及时寻求医疗帮助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014215" y="4270248"/>
            <a:ext cx="5349240" cy="4663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>
                <a:solidFill>
                  <a:srgbClr val="153E75"/>
                </a:solidFill>
                <a:latin typeface="Noto Sans CJK SC"/>
                <a:ea typeface="Noto Sans CJK SC"/>
              </a:rPr>
              <a:t>症状持续、加重或反复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014215" y="4800600"/>
            <a:ext cx="534924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900" b="0">
                <a:solidFill>
                  <a:srgbClr val="E3464F"/>
                </a:solidFill>
                <a:latin typeface="Noto Sans CJK SC"/>
                <a:ea typeface="Noto Sans CJK SC"/>
              </a:rPr>
              <a:t>及时就诊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65760"/>
            <a:ext cx="64008" cy="246888"/>
          </a:xfrm>
          <a:prstGeom prst="rect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92608"/>
            <a:ext cx="36576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53E75"/>
                </a:solidFill>
                <a:latin typeface="Noto Sans CJK SC"/>
                <a:ea typeface="Noto Sans CJK SC"/>
              </a:rPr>
              <a:t>03 / 安全用药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896112"/>
            <a:ext cx="1101852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53E75"/>
                </a:solidFill>
                <a:latin typeface="Noto Sans CJK SC"/>
                <a:ea typeface="Noto Sans CJK SC"/>
              </a:rPr>
              <a:t>宿舍药箱：留信息，也留秩序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94360" y="5843016"/>
            <a:ext cx="11000232" cy="0"/>
          </a:xfrm>
          <a:prstGeom prst="line">
            <a:avLst/>
          </a:prstGeom>
          <a:ln w="8890">
            <a:solidFill>
              <a:srgbClr val="153E7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5943600"/>
            <a:ext cx="1074420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E3464F"/>
                </a:solidFill>
                <a:latin typeface="Noto Sans CJK SC"/>
                <a:ea typeface="Noto Sans CJK SC"/>
              </a:rPr>
              <a:t>数量不求多；需要时能认清、查到、说清。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510528"/>
            <a:ext cx="9601200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153E75"/>
                </a:solidFill>
                <a:latin typeface="Noto Sans CJK SC"/>
                <a:ea typeface="Noto Sans CJK SC"/>
              </a:rPr>
              <a:t>来源：S2; S4  ·  完整链接见附页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153E75"/>
                </a:solidFill>
                <a:latin typeface="Noto Sans CJK SC"/>
                <a:ea typeface="Noto Sans CJK SC"/>
              </a:rPr>
              <a:t>23 / 28</a:t>
            </a:r>
          </a:p>
        </p:txBody>
      </p:sp>
      <p:pic>
        <p:nvPicPr>
          <p:cNvPr id="9" name="Picture 8" descr="pharmacy-01.jpg"/>
          <p:cNvPicPr>
            <a:picLocks noChangeAspect="1"/>
          </p:cNvPicPr>
          <p:nvPr/>
        </p:nvPicPr>
        <p:blipFill>
          <a:blip r:embed="rId3"/>
          <a:srcRect l="19318" r="19318"/>
          <a:stretch>
            <a:fillRect/>
          </a:stretch>
        </p:blipFill>
        <p:spPr>
          <a:xfrm>
            <a:off x="914400" y="2048256"/>
            <a:ext cx="3291840" cy="301752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914400" y="2048256"/>
            <a:ext cx="3291840" cy="3017520"/>
          </a:xfrm>
          <a:prstGeom prst="rect">
            <a:avLst/>
          </a:prstGeom>
          <a:noFill/>
          <a:ln w="19050">
            <a:solidFill>
              <a:srgbClr val="153E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32688" y="4745736"/>
            <a:ext cx="3255264" cy="301752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42416" y="4773168"/>
            <a:ext cx="3035808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53E75"/>
                </a:solidFill>
                <a:latin typeface="Noto Sans CJK SC"/>
                <a:ea typeface="Noto Sans CJK SC"/>
              </a:rPr>
              <a:t>真实照片 · 场景示意</a:t>
            </a:r>
          </a:p>
        </p:txBody>
      </p:sp>
      <p:sp>
        <p:nvSpPr>
          <p:cNvPr id="13" name="Oval 12"/>
          <p:cNvSpPr/>
          <p:nvPr/>
        </p:nvSpPr>
        <p:spPr>
          <a:xfrm>
            <a:off x="4599432" y="2231136"/>
            <a:ext cx="128016" cy="128016"/>
          </a:xfrm>
          <a:prstGeom prst="ellipse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28616" y="2093976"/>
            <a:ext cx="6464807" cy="7955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400" b="0">
                <a:solidFill>
                  <a:srgbClr val="153E75"/>
                </a:solidFill>
                <a:latin typeface="Noto Sans CJK SC"/>
                <a:ea typeface="Noto Sans CJK SC"/>
              </a:rPr>
              <a:t>原包装＋说明书｜一起保留</a:t>
            </a:r>
          </a:p>
        </p:txBody>
      </p:sp>
      <p:sp>
        <p:nvSpPr>
          <p:cNvPr id="15" name="Oval 14"/>
          <p:cNvSpPr/>
          <p:nvPr/>
        </p:nvSpPr>
        <p:spPr>
          <a:xfrm>
            <a:off x="4599432" y="3346703"/>
            <a:ext cx="128016" cy="128016"/>
          </a:xfrm>
          <a:prstGeom prst="ellipse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928616" y="3209544"/>
            <a:ext cx="6464807" cy="7955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400" b="0">
                <a:solidFill>
                  <a:srgbClr val="153E75"/>
                </a:solidFill>
                <a:latin typeface="Noto Sans CJK SC"/>
                <a:ea typeface="Noto Sans CJK SC"/>
              </a:rPr>
              <a:t>有效期＋贮藏条件｜定期检查</a:t>
            </a:r>
          </a:p>
        </p:txBody>
      </p:sp>
      <p:sp>
        <p:nvSpPr>
          <p:cNvPr id="17" name="Oval 16"/>
          <p:cNvSpPr/>
          <p:nvPr/>
        </p:nvSpPr>
        <p:spPr>
          <a:xfrm>
            <a:off x="4599432" y="4462272"/>
            <a:ext cx="128016" cy="128016"/>
          </a:xfrm>
          <a:prstGeom prst="ellipse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928616" y="4325112"/>
            <a:ext cx="6464807" cy="7955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400" b="0">
                <a:solidFill>
                  <a:srgbClr val="153E75"/>
                </a:solidFill>
                <a:latin typeface="Noto Sans CJK SC"/>
                <a:ea typeface="Noto Sans CJK SC"/>
              </a:rPr>
              <a:t>个人用药记录｜不混装、不分享处方药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65760"/>
            <a:ext cx="64008" cy="246888"/>
          </a:xfrm>
          <a:prstGeom prst="rect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92608"/>
            <a:ext cx="36576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53E75"/>
                </a:solidFill>
                <a:latin typeface="Noto Sans CJK SC"/>
                <a:ea typeface="Noto Sans CJK SC"/>
              </a:rPr>
              <a:t>03 / 安全用药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896112"/>
            <a:ext cx="1101852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53E75"/>
                </a:solidFill>
                <a:latin typeface="Noto Sans CJK SC"/>
                <a:ea typeface="Noto Sans CJK SC"/>
              </a:rPr>
              <a:t>把四个误区，换成四个动作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94360" y="5843016"/>
            <a:ext cx="11000232" cy="0"/>
          </a:xfrm>
          <a:prstGeom prst="line">
            <a:avLst/>
          </a:prstGeom>
          <a:ln w="8890">
            <a:solidFill>
              <a:srgbClr val="153E7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5943600"/>
            <a:ext cx="1074420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E3464F"/>
                </a:solidFill>
                <a:latin typeface="Noto Sans CJK SC"/>
                <a:ea typeface="Noto Sans CJK SC"/>
              </a:rPr>
              <a:t>看、核、问、记：现在进入简单挑战。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510528"/>
            <a:ext cx="9601200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153E75"/>
                </a:solidFill>
                <a:latin typeface="Noto Sans CJK SC"/>
                <a:ea typeface="Noto Sans CJK SC"/>
              </a:rPr>
              <a:t>合理用药｜课堂科普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153E75"/>
                </a:solidFill>
                <a:latin typeface="Noto Sans CJK SC"/>
                <a:ea typeface="Noto Sans CJK SC"/>
              </a:rPr>
              <a:t>24 / 28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8096" y="1828800"/>
            <a:ext cx="630936" cy="4480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E3464F"/>
                </a:solidFill>
                <a:latin typeface="Noto Sans CJK SC"/>
                <a:ea typeface="Noto Sans CJK SC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09344" y="1828800"/>
            <a:ext cx="4078224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53E75"/>
                </a:solidFill>
                <a:latin typeface="Noto Sans CJK SC"/>
                <a:ea typeface="Noto Sans CJK SC"/>
              </a:rPr>
              <a:t>感冒药叠加</a:t>
            </a:r>
          </a:p>
        </p:txBody>
      </p:sp>
      <p:sp>
        <p:nvSpPr>
          <p:cNvPr id="11" name="Chevron 10"/>
          <p:cNvSpPr/>
          <p:nvPr/>
        </p:nvSpPr>
        <p:spPr>
          <a:xfrm>
            <a:off x="5907024" y="1883664"/>
            <a:ext cx="365760" cy="384048"/>
          </a:xfrm>
          <a:prstGeom prst="chevron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84264" y="1828800"/>
            <a:ext cx="4581144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0">
                <a:solidFill>
                  <a:srgbClr val="153E75"/>
                </a:solidFill>
                <a:latin typeface="Noto Sans CJK SC"/>
                <a:ea typeface="Noto Sans CJK SC"/>
              </a:rPr>
              <a:t>核对成分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8096" y="2569464"/>
            <a:ext cx="630936" cy="4480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E3464F"/>
                </a:solidFill>
                <a:latin typeface="Noto Sans CJK SC"/>
                <a:ea typeface="Noto Sans CJK SC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09344" y="2569464"/>
            <a:ext cx="4078224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53E75"/>
                </a:solidFill>
                <a:latin typeface="Noto Sans CJK SC"/>
                <a:ea typeface="Noto Sans CJK SC"/>
              </a:rPr>
              <a:t>感冒吃抗生素</a:t>
            </a:r>
          </a:p>
        </p:txBody>
      </p:sp>
      <p:sp>
        <p:nvSpPr>
          <p:cNvPr id="15" name="Chevron 14"/>
          <p:cNvSpPr/>
          <p:nvPr/>
        </p:nvSpPr>
        <p:spPr>
          <a:xfrm>
            <a:off x="5907024" y="2624328"/>
            <a:ext cx="365760" cy="384048"/>
          </a:xfrm>
          <a:prstGeom prst="chevron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84264" y="2569464"/>
            <a:ext cx="4581144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0">
                <a:solidFill>
                  <a:srgbClr val="153E75"/>
                </a:solidFill>
                <a:latin typeface="Noto Sans CJK SC"/>
                <a:ea typeface="Noto Sans CJK SC"/>
              </a:rPr>
              <a:t>先确认是否需要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8096" y="3310128"/>
            <a:ext cx="630936" cy="4480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E3464F"/>
                </a:solidFill>
                <a:latin typeface="Noto Sans CJK SC"/>
                <a:ea typeface="Noto Sans CJK SC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09344" y="3310128"/>
            <a:ext cx="4078224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53E75"/>
                </a:solidFill>
                <a:latin typeface="Noto Sans CJK SC"/>
                <a:ea typeface="Noto Sans CJK SC"/>
              </a:rPr>
              <a:t>抗过敏后困倦</a:t>
            </a:r>
          </a:p>
        </p:txBody>
      </p:sp>
      <p:sp>
        <p:nvSpPr>
          <p:cNvPr id="19" name="Chevron 18"/>
          <p:cNvSpPr/>
          <p:nvPr/>
        </p:nvSpPr>
        <p:spPr>
          <a:xfrm>
            <a:off x="5907024" y="3364992"/>
            <a:ext cx="365760" cy="384048"/>
          </a:xfrm>
          <a:prstGeom prst="chevron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84264" y="3310128"/>
            <a:ext cx="4581144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0">
                <a:solidFill>
                  <a:srgbClr val="153E75"/>
                </a:solidFill>
                <a:latin typeface="Noto Sans CJK SC"/>
                <a:ea typeface="Noto Sans CJK SC"/>
              </a:rPr>
              <a:t>查提示、避高风险活动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8096" y="4050791"/>
            <a:ext cx="630936" cy="4480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E3464F"/>
                </a:solidFill>
                <a:latin typeface="Noto Sans CJK SC"/>
                <a:ea typeface="Noto Sans CJK SC"/>
              </a:rPr>
              <a:t>04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609344" y="4050791"/>
            <a:ext cx="4078224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53E75"/>
                </a:solidFill>
                <a:latin typeface="Noto Sans CJK SC"/>
                <a:ea typeface="Noto Sans CJK SC"/>
              </a:rPr>
              <a:t>吃药后聚餐</a:t>
            </a:r>
          </a:p>
        </p:txBody>
      </p:sp>
      <p:sp>
        <p:nvSpPr>
          <p:cNvPr id="23" name="Chevron 22"/>
          <p:cNvSpPr/>
          <p:nvPr/>
        </p:nvSpPr>
        <p:spPr>
          <a:xfrm>
            <a:off x="5907024" y="4105655"/>
            <a:ext cx="365760" cy="384048"/>
          </a:xfrm>
          <a:prstGeom prst="chevron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84264" y="4050791"/>
            <a:ext cx="4581144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0">
                <a:solidFill>
                  <a:srgbClr val="153E75"/>
                </a:solidFill>
                <a:latin typeface="Noto Sans CJK SC"/>
                <a:ea typeface="Noto Sans CJK SC"/>
              </a:rPr>
              <a:t>先核实饮酒要求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65760"/>
            <a:ext cx="64008" cy="246888"/>
          </a:xfrm>
          <a:prstGeom prst="rect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92608"/>
            <a:ext cx="36576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53E75"/>
                </a:solidFill>
                <a:latin typeface="Noto Sans CJK SC"/>
                <a:ea typeface="Noto Sans CJK SC"/>
              </a:rPr>
              <a:t>04 / 选择挑战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896112"/>
            <a:ext cx="1101852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53E75"/>
                </a:solidFill>
                <a:latin typeface="Noto Sans CJK SC"/>
                <a:ea typeface="Noto Sans CJK SC"/>
              </a:rPr>
              <a:t>综合挑战：小苏今晚怎么安排？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94360" y="5843016"/>
            <a:ext cx="11000232" cy="0"/>
          </a:xfrm>
          <a:prstGeom prst="line">
            <a:avLst/>
          </a:prstGeom>
          <a:ln w="8890">
            <a:solidFill>
              <a:srgbClr val="153E7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5943600"/>
            <a:ext cx="1074420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E3464F"/>
                </a:solidFill>
                <a:latin typeface="Noto Sans CJK SC"/>
                <a:ea typeface="Noto Sans CJK SC"/>
              </a:rPr>
              <a:t>虚构情境｜无呼吸困难、意识异常等急症表现。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510528"/>
            <a:ext cx="9601200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153E75"/>
                </a:solidFill>
                <a:latin typeface="Noto Sans CJK SC"/>
                <a:ea typeface="Noto Sans CJK SC"/>
              </a:rPr>
              <a:t>合理用药｜课堂科普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153E75"/>
                </a:solidFill>
                <a:latin typeface="Noto Sans CJK SC"/>
                <a:ea typeface="Noto Sans CJK SC"/>
              </a:rPr>
              <a:t>25 / 28</a:t>
            </a:r>
          </a:p>
        </p:txBody>
      </p:sp>
      <p:pic>
        <p:nvPicPr>
          <p:cNvPr id="9" name="Picture 8" descr="tablet-hand.jpg"/>
          <p:cNvPicPr>
            <a:picLocks noChangeAspect="1"/>
          </p:cNvPicPr>
          <p:nvPr/>
        </p:nvPicPr>
        <p:blipFill>
          <a:blip r:embed="rId3"/>
          <a:srcRect l="12534" r="12534"/>
          <a:stretch>
            <a:fillRect/>
          </a:stretch>
        </p:blipFill>
        <p:spPr>
          <a:xfrm>
            <a:off x="795528" y="1901952"/>
            <a:ext cx="2514600" cy="3355848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795528" y="1901952"/>
            <a:ext cx="2514600" cy="3355848"/>
          </a:xfrm>
          <a:prstGeom prst="rect">
            <a:avLst/>
          </a:prstGeom>
          <a:noFill/>
          <a:ln w="19050">
            <a:solidFill>
              <a:srgbClr val="153E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13816" y="4937760"/>
            <a:ext cx="2478024" cy="301752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23544" y="4965192"/>
            <a:ext cx="2258568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53E75"/>
                </a:solidFill>
                <a:latin typeface="Noto Sans CJK SC"/>
                <a:ea typeface="Noto Sans CJK SC"/>
              </a:rPr>
              <a:t>真实照片 · 场景示意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657600" y="1901952"/>
            <a:ext cx="7735824" cy="950976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53E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913632" y="2011680"/>
            <a:ext cx="7214616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400" b="0">
                <a:solidFill>
                  <a:srgbClr val="153E75"/>
                </a:solidFill>
                <a:latin typeface="Noto Sans CJK SC"/>
                <a:ea typeface="Noto Sans CJK SC"/>
              </a:rPr>
              <a:t>已服：一种复方感冒药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0" y="3072384"/>
            <a:ext cx="7735824" cy="950976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53E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913632" y="3182112"/>
            <a:ext cx="7214616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400" b="0">
                <a:solidFill>
                  <a:srgbClr val="153E75"/>
                </a:solidFill>
                <a:latin typeface="Noto Sans CJK SC"/>
                <a:ea typeface="Noto Sans CJK SC"/>
              </a:rPr>
              <a:t>准备：再加一盒药＋参加聚餐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657600" y="4242816"/>
            <a:ext cx="7735824" cy="950976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53E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913632" y="4352544"/>
            <a:ext cx="7214616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400" b="0">
                <a:solidFill>
                  <a:srgbClr val="153E75"/>
                </a:solidFill>
                <a:latin typeface="Noto Sans CJK SC"/>
                <a:ea typeface="Noto Sans CJK SC"/>
              </a:rPr>
              <a:t>当前：成分没核对，症状尚轻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65760"/>
            <a:ext cx="64008" cy="246888"/>
          </a:xfrm>
          <a:prstGeom prst="rect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92608"/>
            <a:ext cx="36576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53E75"/>
                </a:solidFill>
                <a:latin typeface="Noto Sans CJK SC"/>
                <a:ea typeface="Noto Sans CJK SC"/>
              </a:rPr>
              <a:t>04 / 选择挑战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896112"/>
            <a:ext cx="1101852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53E75"/>
                </a:solidFill>
                <a:latin typeface="Noto Sans CJK SC"/>
                <a:ea typeface="Noto Sans CJK SC"/>
              </a:rPr>
              <a:t>小苏的晚间计划，你采纳哪几条？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94360" y="5843016"/>
            <a:ext cx="11000232" cy="0"/>
          </a:xfrm>
          <a:prstGeom prst="line">
            <a:avLst/>
          </a:prstGeom>
          <a:ln w="8890">
            <a:solidFill>
              <a:srgbClr val="153E7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5943600"/>
            <a:ext cx="1074420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E3464F"/>
                </a:solidFill>
                <a:latin typeface="Noto Sans CJK SC"/>
                <a:ea typeface="Noto Sans CJK SC"/>
              </a:rPr>
              <a:t>可多选 A / B / C｜逐条判断；想10秒，再举手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510528"/>
            <a:ext cx="9601200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153E75"/>
                </a:solidFill>
                <a:latin typeface="Noto Sans CJK SC"/>
                <a:ea typeface="Noto Sans CJK SC"/>
              </a:rPr>
              <a:t>合理用药｜课堂科普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153E75"/>
                </a:solidFill>
                <a:latin typeface="Noto Sans CJK SC"/>
                <a:ea typeface="Noto Sans CJK SC"/>
              </a:rPr>
              <a:t>26 / 28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68096" y="1938528"/>
            <a:ext cx="8257031" cy="941832"/>
          </a:xfrm>
          <a:prstGeom prst="roundRect">
            <a:avLst>
              <a:gd name="adj" fmla="val 10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987552" y="2240280"/>
            <a:ext cx="539496" cy="329184"/>
          </a:xfrm>
          <a:prstGeom prst="roundRect">
            <a:avLst>
              <a:gd name="adj" fmla="val 10000"/>
            </a:avLst>
          </a:prstGeom>
          <a:solidFill>
            <a:srgbClr val="2033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2258568"/>
            <a:ext cx="411479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Noto Sans CJK SC"/>
              </a:rPr>
              <a:t>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92224" y="2093976"/>
            <a:ext cx="6922008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300" b="0">
                <a:solidFill>
                  <a:srgbClr val="203354"/>
                </a:solidFill>
                <a:latin typeface="Noto Sans CJK SC"/>
              </a:rPr>
              <a:t>聚餐先点白水，具体饮酒要求再查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68096" y="3081528"/>
            <a:ext cx="8257031" cy="941832"/>
          </a:xfrm>
          <a:prstGeom prst="roundRect">
            <a:avLst>
              <a:gd name="adj" fmla="val 10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987552" y="3383280"/>
            <a:ext cx="539496" cy="329184"/>
          </a:xfrm>
          <a:prstGeom prst="roundRect">
            <a:avLst>
              <a:gd name="adj" fmla="val 10000"/>
            </a:avLst>
          </a:prstGeom>
          <a:solidFill>
            <a:srgbClr val="2033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51560" y="3401568"/>
            <a:ext cx="411479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Noto Sans CJK SC"/>
              </a:rPr>
              <a:t>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92224" y="3236976"/>
            <a:ext cx="6922008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300" b="0">
                <a:solidFill>
                  <a:srgbClr val="203354"/>
                </a:solidFill>
                <a:latin typeface="Noto Sans CJK SC"/>
              </a:rPr>
              <a:t>药盒和已服记录，一起交给药师核对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68096" y="4224528"/>
            <a:ext cx="8257031" cy="941832"/>
          </a:xfrm>
          <a:prstGeom prst="roundRect">
            <a:avLst>
              <a:gd name="adj" fmla="val 10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987552" y="4526280"/>
            <a:ext cx="539496" cy="329184"/>
          </a:xfrm>
          <a:prstGeom prst="roundRect">
            <a:avLst>
              <a:gd name="adj" fmla="val 10000"/>
            </a:avLst>
          </a:prstGeom>
          <a:solidFill>
            <a:srgbClr val="2033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51560" y="4544568"/>
            <a:ext cx="411479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Noto Sans CJK SC"/>
              </a:rPr>
              <a:t>C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92224" y="4379976"/>
            <a:ext cx="6922008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300" b="0">
                <a:solidFill>
                  <a:srgbClr val="203354"/>
                </a:solidFill>
                <a:latin typeface="Noto Sans CJK SC"/>
              </a:rPr>
              <a:t>照上次的经验，把第二盒改到睡前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272016" y="1938528"/>
            <a:ext cx="2121408" cy="3246120"/>
          </a:xfrm>
          <a:prstGeom prst="roundRect">
            <a:avLst>
              <a:gd name="adj" fmla="val 10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ANIME_R1_C3" descr="原创AI生成动漫情境；人物和事件为虚构教学示意"/>
          <p:cNvPicPr>
            <a:picLocks noChangeAspect="1"/>
          </p:cNvPicPr>
          <p:nvPr/>
        </p:nvPicPr>
        <p:blipFill>
          <a:blip r:embed="rId3"/>
          <a:srcRect l="79498" r="5574" t="594" b="70906"/>
          <a:stretch>
            <a:fillRect/>
          </a:stretch>
        </p:blipFill>
        <p:spPr>
          <a:xfrm>
            <a:off x="9509760" y="2715768"/>
            <a:ext cx="1659636" cy="2112264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9774936" y="2148840"/>
            <a:ext cx="1106424" cy="329184"/>
          </a:xfrm>
          <a:prstGeom prst="roundRect">
            <a:avLst>
              <a:gd name="adj" fmla="val 10000"/>
            </a:avLst>
          </a:prstGeom>
          <a:solidFill>
            <a:srgbClr val="7952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838944" y="2167128"/>
            <a:ext cx="978407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Noto Sans CJK SC"/>
              </a:rPr>
              <a:t>可多选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65760"/>
            <a:ext cx="64008" cy="246888"/>
          </a:xfrm>
          <a:prstGeom prst="rect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92608"/>
            <a:ext cx="36576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53E75"/>
                </a:solidFill>
                <a:latin typeface="Noto Sans CJK SC"/>
                <a:ea typeface="Noto Sans CJK SC"/>
              </a:rPr>
              <a:t>04 / 选择挑战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896112"/>
            <a:ext cx="1101852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53E75"/>
                </a:solidFill>
                <a:latin typeface="Noto Sans CJK SC"/>
                <a:ea typeface="Noto Sans CJK SC"/>
              </a:rPr>
              <a:t>答案 A＋B：把建议拼成完整行动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94360" y="5843016"/>
            <a:ext cx="11000232" cy="0"/>
          </a:xfrm>
          <a:prstGeom prst="line">
            <a:avLst/>
          </a:prstGeom>
          <a:ln w="8890">
            <a:solidFill>
              <a:srgbClr val="153E7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5943600"/>
            <a:ext cx="1074420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E3464F"/>
                </a:solidFill>
                <a:latin typeface="Noto Sans CJK SC"/>
                <a:ea typeface="Noto Sans CJK SC"/>
              </a:rPr>
              <a:t>若症状加重或出现急症信号，应及时就医。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510528"/>
            <a:ext cx="9601200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153E75"/>
                </a:solidFill>
                <a:latin typeface="Noto Sans CJK SC"/>
                <a:ea typeface="Noto Sans CJK SC"/>
              </a:rPr>
              <a:t>来源：S2; S4; S9; S11; S12  ·  完整链接见附页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153E75"/>
                </a:solidFill>
                <a:latin typeface="Noto Sans CJK SC"/>
                <a:ea typeface="Noto Sans CJK SC"/>
              </a:rPr>
              <a:t>27 / 28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2423160"/>
            <a:ext cx="2103120" cy="1280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5400" b="1">
                <a:solidFill>
                  <a:srgbClr val="E3464F"/>
                </a:solidFill>
                <a:latin typeface="Noto Sans CJK SC"/>
                <a:ea typeface="Noto Sans CJK SC"/>
              </a:rPr>
              <a:t>A＋B</a:t>
            </a:r>
          </a:p>
        </p:txBody>
      </p:sp>
      <p:sp>
        <p:nvSpPr>
          <p:cNvPr id="10" name="Oval 9"/>
          <p:cNvSpPr/>
          <p:nvPr/>
        </p:nvSpPr>
        <p:spPr>
          <a:xfrm>
            <a:off x="3154680" y="2075688"/>
            <a:ext cx="128016" cy="128016"/>
          </a:xfrm>
          <a:prstGeom prst="ellipse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83864" y="1938528"/>
            <a:ext cx="7927848" cy="7955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0">
                <a:solidFill>
                  <a:srgbClr val="153E75"/>
                </a:solidFill>
                <a:latin typeface="Noto Sans CJK SC"/>
                <a:ea typeface="Noto Sans CJK SC"/>
              </a:rPr>
              <a:t>A 饮酒要求未明 → 先用白水，再查询</a:t>
            </a:r>
          </a:p>
        </p:txBody>
      </p:sp>
      <p:sp>
        <p:nvSpPr>
          <p:cNvPr id="12" name="Oval 11"/>
          <p:cNvSpPr/>
          <p:nvPr/>
        </p:nvSpPr>
        <p:spPr>
          <a:xfrm>
            <a:off x="3154680" y="3200400"/>
            <a:ext cx="128016" cy="128016"/>
          </a:xfrm>
          <a:prstGeom prst="ellipse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83864" y="3063240"/>
            <a:ext cx="7927848" cy="7955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0">
                <a:solidFill>
                  <a:srgbClr val="153E75"/>
                </a:solidFill>
                <a:latin typeface="Noto Sans CJK SC"/>
                <a:ea typeface="Noto Sans CJK SC"/>
              </a:rPr>
              <a:t>B 药盒与已服记录 → 一起核对，再决定</a:t>
            </a:r>
          </a:p>
        </p:txBody>
      </p:sp>
      <p:sp>
        <p:nvSpPr>
          <p:cNvPr id="14" name="Oval 13"/>
          <p:cNvSpPr/>
          <p:nvPr/>
        </p:nvSpPr>
        <p:spPr>
          <a:xfrm>
            <a:off x="3154680" y="4325112"/>
            <a:ext cx="128016" cy="128016"/>
          </a:xfrm>
          <a:prstGeom prst="ellipse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83864" y="4187952"/>
            <a:ext cx="7927848" cy="7955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0">
                <a:solidFill>
                  <a:srgbClr val="153E75"/>
                </a:solidFill>
                <a:latin typeface="Noto Sans CJK SC"/>
                <a:ea typeface="Noto Sans CJK SC"/>
              </a:rPr>
              <a:t>C 沿用经验错开时间 → 信息缺口仍在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3E7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658368"/>
            <a:ext cx="2103120" cy="329184"/>
          </a:xfrm>
          <a:prstGeom prst="roundRect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676656"/>
            <a:ext cx="1956815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Noto Sans CJK SC"/>
                <a:ea typeface="Noto Sans CJK SC"/>
              </a:rPr>
              <a:t>把判断带回生活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508760"/>
            <a:ext cx="6720840" cy="1737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4300" b="1">
                <a:solidFill>
                  <a:srgbClr val="FFFFFF"/>
                </a:solidFill>
                <a:latin typeface="Noto Sans CJK SC"/>
                <a:ea typeface="Noto Sans CJK SC"/>
              </a:rPr>
              <a:t>药可以常备，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4300" b="1">
                <a:solidFill>
                  <a:srgbClr val="FFFFFF"/>
                </a:solidFill>
                <a:latin typeface="Noto Sans CJK SC"/>
                <a:ea typeface="Noto Sans CJK SC"/>
              </a:rPr>
              <a:t>判断不能省略。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703320"/>
            <a:ext cx="65836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100" b="0">
                <a:solidFill>
                  <a:srgbClr val="FFFFFF"/>
                </a:solidFill>
                <a:latin typeface="Noto Sans CJK SC"/>
                <a:ea typeface="Noto Sans CJK SC"/>
              </a:rPr>
              <a:t>先看说明书，再做用药决定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206240"/>
            <a:ext cx="65836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100" b="0">
                <a:solidFill>
                  <a:srgbClr val="FFFFFF"/>
                </a:solidFill>
                <a:latin typeface="Noto Sans CJK SC"/>
                <a:ea typeface="Noto Sans CJK SC"/>
              </a:rPr>
              <a:t>核对重复成分，记录已服药物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709160"/>
            <a:ext cx="65836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100" b="0">
                <a:solidFill>
                  <a:srgbClr val="FFFFFF"/>
                </a:solidFill>
                <a:latin typeface="Noto Sans CJK SC"/>
                <a:ea typeface="Noto Sans CJK SC"/>
              </a:rPr>
              <a:t>拿不准，问医生 / 药师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650992"/>
            <a:ext cx="6858000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1">
                <a:solidFill>
                  <a:srgbClr val="FFFFFF"/>
                </a:solidFill>
                <a:latin typeface="Noto Sans CJK SC"/>
                <a:ea typeface="Noto Sans CJK SC"/>
              </a:rPr>
              <a:t>会看 · 会核 · 会问 · 会记</a:t>
            </a:r>
          </a:p>
        </p:txBody>
      </p:sp>
      <p:pic>
        <p:nvPicPr>
          <p:cNvPr id="9" name="Picture 8" descr="clinic-01.jpg"/>
          <p:cNvPicPr>
            <a:picLocks noChangeAspect="1"/>
          </p:cNvPicPr>
          <p:nvPr/>
        </p:nvPicPr>
        <p:blipFill>
          <a:blip r:embed="rId3"/>
          <a:srcRect l="28099" r="28099"/>
          <a:stretch>
            <a:fillRect/>
          </a:stretch>
        </p:blipFill>
        <p:spPr>
          <a:xfrm>
            <a:off x="7909560" y="1417320"/>
            <a:ext cx="3474720" cy="4462272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7909560" y="1417320"/>
            <a:ext cx="3474720" cy="4462272"/>
          </a:xfrm>
          <a:prstGeom prst="rect">
            <a:avLst/>
          </a:prstGeom>
          <a:noFill/>
          <a:ln w="19050">
            <a:solidFill>
              <a:srgbClr val="153E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927848" y="5559552"/>
            <a:ext cx="3438144" cy="301752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37576" y="5586983"/>
            <a:ext cx="321868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53E75"/>
                </a:solidFill>
                <a:latin typeface="Noto Sans CJK SC"/>
                <a:ea typeface="Noto Sans CJK SC"/>
              </a:rPr>
              <a:t>真实照片 · 场景示意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738360" y="6108192"/>
            <a:ext cx="182880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0">
                <a:solidFill>
                  <a:srgbClr val="FFFFFF"/>
                </a:solidFill>
                <a:latin typeface="Noto Sans CJK SC"/>
                <a:ea typeface="Noto Sans CJK SC"/>
              </a:rPr>
              <a:t>谢谢大家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75488"/>
            <a:ext cx="1005840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3100" b="1">
                <a:solidFill>
                  <a:srgbClr val="153E75"/>
                </a:solidFill>
                <a:latin typeface="Noto Sans CJK SC"/>
                <a:ea typeface="Noto Sans CJK SC"/>
              </a:rPr>
              <a:t>参考资料 /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152144"/>
            <a:ext cx="10881360" cy="3749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E3464F"/>
                </a:solidFill>
                <a:latin typeface="Noto Sans CJK SC"/>
                <a:ea typeface="Noto Sans CJK SC"/>
              </a:rPr>
              <a:t>附页，不计入35分钟｜点击条目标题可访问原文｜原始资料：2026-10-09；新增CDC数据核对与版面修订：2026-10-12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04088" y="1792224"/>
            <a:ext cx="640080" cy="329184"/>
          </a:xfrm>
          <a:prstGeom prst="roundRect">
            <a:avLst/>
          </a:prstGeom>
          <a:solidFill>
            <a:srgbClr val="153E75"/>
          </a:solidFill>
          <a:ln>
            <a:solidFill>
              <a:srgbClr val="153E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810512"/>
            <a:ext cx="493775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Noto Sans CJK SC"/>
                <a:ea typeface="Noto Sans CJK SC"/>
              </a:rPr>
              <a:t>S1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81912" y="1737360"/>
            <a:ext cx="9948672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>
                <a:solidFill>
                  <a:srgbClr val="153E75"/>
                </a:solidFill>
                <a:latin typeface="Noto Sans CJK SC"/>
                <a:ea typeface="Noto Sans CJK SC"/>
                <a:hlinkClick r:id="rId2"/>
              </a:rPr>
              <a:t>国家卫生健康委等（2020）《关于加强医疗机构药事管理促进合理用药的意见》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581912" y="2487168"/>
            <a:ext cx="9930384" cy="0"/>
          </a:xfrm>
          <a:prstGeom prst="line">
            <a:avLst/>
          </a:prstGeom>
          <a:ln w="5715">
            <a:solidFill>
              <a:srgbClr val="153E7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704088" y="2670048"/>
            <a:ext cx="640080" cy="329184"/>
          </a:xfrm>
          <a:prstGeom prst="roundRect">
            <a:avLst/>
          </a:prstGeom>
          <a:solidFill>
            <a:srgbClr val="153E75"/>
          </a:solidFill>
          <a:ln>
            <a:solidFill>
              <a:srgbClr val="153E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2688336"/>
            <a:ext cx="493775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Noto Sans CJK SC"/>
                <a:ea typeface="Noto Sans CJK SC"/>
              </a:rPr>
              <a:t>S2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81912" y="2615184"/>
            <a:ext cx="9948672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>
                <a:solidFill>
                  <a:srgbClr val="153E75"/>
                </a:solidFill>
                <a:latin typeface="Noto Sans CJK SC"/>
                <a:ea typeface="Noto Sans CJK SC"/>
                <a:hlinkClick r:id="rId3"/>
              </a:rPr>
              <a:t>FDA. Don’t Overuse Acetaminophen.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581912" y="3364991"/>
            <a:ext cx="9930384" cy="0"/>
          </a:xfrm>
          <a:prstGeom prst="line">
            <a:avLst/>
          </a:prstGeom>
          <a:ln w="5715">
            <a:solidFill>
              <a:srgbClr val="153E7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704088" y="3547872"/>
            <a:ext cx="640080" cy="329184"/>
          </a:xfrm>
          <a:prstGeom prst="roundRect">
            <a:avLst/>
          </a:prstGeom>
          <a:solidFill>
            <a:srgbClr val="153E75"/>
          </a:solidFill>
          <a:ln>
            <a:solidFill>
              <a:srgbClr val="153E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566160"/>
            <a:ext cx="493775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Noto Sans CJK SC"/>
                <a:ea typeface="Noto Sans CJK SC"/>
              </a:rPr>
              <a:t>S4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81912" y="3493008"/>
            <a:ext cx="9948672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>
                <a:solidFill>
                  <a:srgbClr val="153E75"/>
                </a:solidFill>
                <a:latin typeface="Noto Sans CJK SC"/>
                <a:ea typeface="Noto Sans CJK SC"/>
                <a:hlinkClick r:id="rId4"/>
              </a:rPr>
              <a:t>CDC. Healthy Habits: Antibiotic Do’s and Don’ts.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581912" y="4242816"/>
            <a:ext cx="9930384" cy="0"/>
          </a:xfrm>
          <a:prstGeom prst="line">
            <a:avLst/>
          </a:prstGeom>
          <a:ln w="5715">
            <a:solidFill>
              <a:srgbClr val="153E7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04088" y="4425696"/>
            <a:ext cx="640080" cy="329184"/>
          </a:xfrm>
          <a:prstGeom prst="roundRect">
            <a:avLst/>
          </a:prstGeom>
          <a:solidFill>
            <a:srgbClr val="153E75"/>
          </a:solidFill>
          <a:ln>
            <a:solidFill>
              <a:srgbClr val="153E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4443983"/>
            <a:ext cx="493775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Noto Sans CJK SC"/>
                <a:ea typeface="Noto Sans CJK SC"/>
              </a:rPr>
              <a:t>S5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81912" y="4370832"/>
            <a:ext cx="9948672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>
                <a:solidFill>
                  <a:srgbClr val="153E75"/>
                </a:solidFill>
                <a:latin typeface="Noto Sans CJK SC"/>
                <a:ea typeface="Noto Sans CJK SC"/>
                <a:hlinkClick r:id="rId5"/>
              </a:rPr>
              <a:t>CDC. Antibiotic Use in the United States（2025更新；门诊至少28%不必要处方）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1581912" y="5120640"/>
            <a:ext cx="9930384" cy="0"/>
          </a:xfrm>
          <a:prstGeom prst="line">
            <a:avLst/>
          </a:prstGeom>
          <a:ln w="5715">
            <a:solidFill>
              <a:srgbClr val="153E7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704088" y="5303520"/>
            <a:ext cx="640080" cy="329184"/>
          </a:xfrm>
          <a:prstGeom prst="roundRect">
            <a:avLst/>
          </a:prstGeom>
          <a:solidFill>
            <a:srgbClr val="153E75"/>
          </a:solidFill>
          <a:ln>
            <a:solidFill>
              <a:srgbClr val="153E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5321807"/>
            <a:ext cx="493775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Noto Sans CJK SC"/>
                <a:ea typeface="Noto Sans CJK SC"/>
              </a:rPr>
              <a:t>S8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81912" y="5248656"/>
            <a:ext cx="9948672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>
                <a:solidFill>
                  <a:srgbClr val="153E75"/>
                </a:solidFill>
                <a:latin typeface="Noto Sans CJK SC"/>
                <a:ea typeface="Noto Sans CJK SC"/>
                <a:hlinkClick r:id="rId6"/>
              </a:rPr>
              <a:t>NHS. Antihistamines.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1581912" y="5998464"/>
            <a:ext cx="9930384" cy="0"/>
          </a:xfrm>
          <a:prstGeom prst="line">
            <a:avLst/>
          </a:prstGeom>
          <a:ln w="5715">
            <a:solidFill>
              <a:srgbClr val="153E7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713232" y="6419088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153E75"/>
                </a:solidFill>
                <a:latin typeface="Noto Sans CJK SC"/>
                <a:ea typeface="Noto Sans CJK SC"/>
              </a:rPr>
              <a:t>图表按原始数据重绘；案例为虚构，实拍照片另见图片来源附页。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75488"/>
            <a:ext cx="1005840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3100" b="1">
                <a:solidFill>
                  <a:srgbClr val="153E75"/>
                </a:solidFill>
                <a:latin typeface="Noto Sans CJK SC"/>
                <a:ea typeface="Noto Sans CJK SC"/>
              </a:rPr>
              <a:t>参考资料 /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152144"/>
            <a:ext cx="10881360" cy="3749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E3464F"/>
                </a:solidFill>
                <a:latin typeface="Noto Sans CJK SC"/>
                <a:ea typeface="Noto Sans CJK SC"/>
              </a:rPr>
              <a:t>附页，不计入35分钟｜点击条目标题可访问原文｜原始资料：2026-10-09；新增CDC数据核对与版面修订：2026-10-12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04088" y="1792224"/>
            <a:ext cx="640080" cy="329184"/>
          </a:xfrm>
          <a:prstGeom prst="roundRect">
            <a:avLst/>
          </a:prstGeom>
          <a:solidFill>
            <a:srgbClr val="153E75"/>
          </a:solidFill>
          <a:ln>
            <a:solidFill>
              <a:srgbClr val="153E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810512"/>
            <a:ext cx="493775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Noto Sans CJK SC"/>
                <a:ea typeface="Noto Sans CJK SC"/>
              </a:rPr>
              <a:t>S9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81912" y="1737360"/>
            <a:ext cx="9948672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>
                <a:solidFill>
                  <a:srgbClr val="153E75"/>
                </a:solidFill>
                <a:latin typeface="Noto Sans CJK SC"/>
                <a:ea typeface="Noto Sans CJK SC"/>
                <a:hlinkClick r:id="rId2"/>
              </a:rPr>
              <a:t>NIAAA. Alcohol-Medication Interactions: Potentially Dangerous Mixes.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581912" y="2487168"/>
            <a:ext cx="9930384" cy="0"/>
          </a:xfrm>
          <a:prstGeom prst="line">
            <a:avLst/>
          </a:prstGeom>
          <a:ln w="5715">
            <a:solidFill>
              <a:srgbClr val="153E7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704088" y="2670048"/>
            <a:ext cx="640080" cy="329184"/>
          </a:xfrm>
          <a:prstGeom prst="roundRect">
            <a:avLst/>
          </a:prstGeom>
          <a:solidFill>
            <a:srgbClr val="153E75"/>
          </a:solidFill>
          <a:ln>
            <a:solidFill>
              <a:srgbClr val="153E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2688336"/>
            <a:ext cx="493775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Noto Sans CJK SC"/>
                <a:ea typeface="Noto Sans CJK SC"/>
              </a:rPr>
              <a:t>S10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81912" y="2615184"/>
            <a:ext cx="9948672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>
                <a:solidFill>
                  <a:srgbClr val="153E75"/>
                </a:solidFill>
                <a:latin typeface="Noto Sans CJK SC"/>
                <a:ea typeface="Noto Sans CJK SC"/>
                <a:hlinkClick r:id="rId3"/>
              </a:rPr>
              <a:t>NHS Specialist Pharmacy Service. Advising on missed or delayed doses of medicines.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581912" y="3364991"/>
            <a:ext cx="9930384" cy="0"/>
          </a:xfrm>
          <a:prstGeom prst="line">
            <a:avLst/>
          </a:prstGeom>
          <a:ln w="5715">
            <a:solidFill>
              <a:srgbClr val="153E7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704088" y="3547872"/>
            <a:ext cx="640080" cy="329184"/>
          </a:xfrm>
          <a:prstGeom prst="roundRect">
            <a:avLst/>
          </a:prstGeom>
          <a:solidFill>
            <a:srgbClr val="153E75"/>
          </a:solidFill>
          <a:ln>
            <a:solidFill>
              <a:srgbClr val="153E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566160"/>
            <a:ext cx="493775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Noto Sans CJK SC"/>
                <a:ea typeface="Noto Sans CJK SC"/>
              </a:rPr>
              <a:t>S11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81912" y="3493008"/>
            <a:ext cx="9948672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>
                <a:solidFill>
                  <a:srgbClr val="153E75"/>
                </a:solidFill>
                <a:latin typeface="Noto Sans CJK SC"/>
                <a:ea typeface="Noto Sans CJK SC"/>
                <a:hlinkClick r:id="rId4"/>
              </a:rPr>
              <a:t>CDC. Manage Common Cold.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581912" y="4242816"/>
            <a:ext cx="9930384" cy="0"/>
          </a:xfrm>
          <a:prstGeom prst="line">
            <a:avLst/>
          </a:prstGeom>
          <a:ln w="5715">
            <a:solidFill>
              <a:srgbClr val="153E7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04088" y="4425696"/>
            <a:ext cx="640080" cy="329184"/>
          </a:xfrm>
          <a:prstGeom prst="roundRect">
            <a:avLst/>
          </a:prstGeom>
          <a:solidFill>
            <a:srgbClr val="153E75"/>
          </a:solidFill>
          <a:ln>
            <a:solidFill>
              <a:srgbClr val="153E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4443983"/>
            <a:ext cx="493775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Noto Sans CJK SC"/>
                <a:ea typeface="Noto Sans CJK SC"/>
              </a:rPr>
              <a:t>S12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81912" y="4370832"/>
            <a:ext cx="9948672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>
                <a:solidFill>
                  <a:srgbClr val="153E75"/>
                </a:solidFill>
                <a:latin typeface="Noto Sans CJK SC"/>
                <a:ea typeface="Noto Sans CJK SC"/>
                <a:hlinkClick r:id="rId5"/>
              </a:rPr>
              <a:t>NHS. Anaphylaxis.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1581912" y="5120640"/>
            <a:ext cx="9930384" cy="0"/>
          </a:xfrm>
          <a:prstGeom prst="line">
            <a:avLst/>
          </a:prstGeom>
          <a:ln w="5715">
            <a:solidFill>
              <a:srgbClr val="153E7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704088" y="5303520"/>
            <a:ext cx="640080" cy="329184"/>
          </a:xfrm>
          <a:prstGeom prst="roundRect">
            <a:avLst/>
          </a:prstGeom>
          <a:solidFill>
            <a:srgbClr val="153E75"/>
          </a:solidFill>
          <a:ln>
            <a:solidFill>
              <a:srgbClr val="153E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5321807"/>
            <a:ext cx="493775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Noto Sans CJK SC"/>
                <a:ea typeface="Noto Sans CJK SC"/>
              </a:rPr>
              <a:t>S13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81912" y="5248656"/>
            <a:ext cx="9948672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>
                <a:solidFill>
                  <a:srgbClr val="153E75"/>
                </a:solidFill>
                <a:latin typeface="Noto Sans CJK SC"/>
                <a:ea typeface="Noto Sans CJK SC"/>
                <a:hlinkClick r:id="rId6"/>
              </a:rPr>
              <a:t>NHS. Omeprazole.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1581912" y="5998464"/>
            <a:ext cx="9930384" cy="0"/>
          </a:xfrm>
          <a:prstGeom prst="line">
            <a:avLst/>
          </a:prstGeom>
          <a:ln w="5715">
            <a:solidFill>
              <a:srgbClr val="153E7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713232" y="6419088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153E75"/>
                </a:solidFill>
                <a:latin typeface="Noto Sans CJK SC"/>
                <a:ea typeface="Noto Sans CJK SC"/>
              </a:rPr>
              <a:t>图表按原始数据重绘；案例为虚构，实拍照片另见图片来源附页。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75488"/>
            <a:ext cx="1005840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3100" b="1">
                <a:solidFill>
                  <a:srgbClr val="153E75"/>
                </a:solidFill>
                <a:latin typeface="Noto Sans CJK SC"/>
                <a:ea typeface="Noto Sans CJK SC"/>
              </a:rPr>
              <a:t>参考资料 /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152144"/>
            <a:ext cx="10881360" cy="3749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E3464F"/>
                </a:solidFill>
                <a:latin typeface="Noto Sans CJK SC"/>
                <a:ea typeface="Noto Sans CJK SC"/>
              </a:rPr>
              <a:t>附页，不计入35分钟｜点击条目标题可访问原文｜原始资料：2026-10-09；新增CDC数据核对与版面修订：2026-10-12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04088" y="1792224"/>
            <a:ext cx="640080" cy="329184"/>
          </a:xfrm>
          <a:prstGeom prst="roundRect">
            <a:avLst/>
          </a:prstGeom>
          <a:solidFill>
            <a:srgbClr val="153E75"/>
          </a:solidFill>
          <a:ln>
            <a:solidFill>
              <a:srgbClr val="153E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810512"/>
            <a:ext cx="493775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Noto Sans CJK SC"/>
                <a:ea typeface="Noto Sans CJK SC"/>
              </a:rPr>
              <a:t>S14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81912" y="1737360"/>
            <a:ext cx="9948672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>
                <a:solidFill>
                  <a:srgbClr val="153E75"/>
                </a:solidFill>
                <a:latin typeface="Noto Sans CJK SC"/>
                <a:ea typeface="Noto Sans CJK SC"/>
                <a:hlinkClick r:id="rId2"/>
              </a:rPr>
              <a:t>Simons FER, Simons KJ. H1 Antihistamines: Current Status and Future Directions. World Allergy Organ J. 2008;1:145–155.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581912" y="2487168"/>
            <a:ext cx="9930384" cy="0"/>
          </a:xfrm>
          <a:prstGeom prst="line">
            <a:avLst/>
          </a:prstGeom>
          <a:ln w="5715">
            <a:solidFill>
              <a:srgbClr val="153E7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704088" y="2670048"/>
            <a:ext cx="640080" cy="329184"/>
          </a:xfrm>
          <a:prstGeom prst="roundRect">
            <a:avLst/>
          </a:prstGeom>
          <a:solidFill>
            <a:srgbClr val="153E75"/>
          </a:solidFill>
          <a:ln>
            <a:solidFill>
              <a:srgbClr val="153E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2688336"/>
            <a:ext cx="493775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Noto Sans CJK SC"/>
                <a:ea typeface="Noto Sans CJK SC"/>
              </a:rPr>
              <a:t>S15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81912" y="2615184"/>
            <a:ext cx="9948672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>
                <a:solidFill>
                  <a:srgbClr val="153E75"/>
                </a:solidFill>
                <a:latin typeface="Noto Sans CJK SC"/>
                <a:ea typeface="Noto Sans CJK SC"/>
                <a:hlinkClick r:id="rId3"/>
              </a:rPr>
              <a:t>CDC. About C. diff（2026更新；用药期间及结束后1个月感染风险最高10倍）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581912" y="3364991"/>
            <a:ext cx="9930384" cy="0"/>
          </a:xfrm>
          <a:prstGeom prst="line">
            <a:avLst/>
          </a:prstGeom>
          <a:ln w="5715">
            <a:solidFill>
              <a:srgbClr val="153E7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704088" y="3547872"/>
            <a:ext cx="640080" cy="329184"/>
          </a:xfrm>
          <a:prstGeom prst="roundRect">
            <a:avLst/>
          </a:prstGeom>
          <a:solidFill>
            <a:srgbClr val="153E75"/>
          </a:solidFill>
          <a:ln>
            <a:solidFill>
              <a:srgbClr val="153E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566160"/>
            <a:ext cx="493775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Noto Sans CJK SC"/>
                <a:ea typeface="Noto Sans CJK SC"/>
              </a:rPr>
              <a:t>S16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81912" y="3493008"/>
            <a:ext cx="9948672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>
                <a:solidFill>
                  <a:srgbClr val="153E75"/>
                </a:solidFill>
                <a:latin typeface="Noto Sans CJK SC"/>
                <a:ea typeface="Noto Sans CJK SC"/>
                <a:hlinkClick r:id="rId4"/>
              </a:rPr>
              <a:t>Hersh AL et al. Unnecessary Antibiotic Prescribing in US Ambulatory Care Settings, 2010–2015. Clin Infect Dis. 2021;72:133–137.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581912" y="4242816"/>
            <a:ext cx="9930384" cy="0"/>
          </a:xfrm>
          <a:prstGeom prst="line">
            <a:avLst/>
          </a:prstGeom>
          <a:ln w="5715">
            <a:solidFill>
              <a:srgbClr val="153E7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713232" y="6419088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153E75"/>
                </a:solidFill>
                <a:latin typeface="Noto Sans CJK SC"/>
                <a:ea typeface="Noto Sans CJK SC"/>
              </a:rPr>
              <a:t>图表按原始数据重绘；案例为虚构，实拍照片另见图片来源附页。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75488"/>
            <a:ext cx="1005840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3100" b="1">
                <a:solidFill>
                  <a:srgbClr val="153E75"/>
                </a:solidFill>
                <a:latin typeface="Noto Sans CJK SC"/>
                <a:ea typeface="Noto Sans CJK SC"/>
              </a:rPr>
              <a:t>真实照片来源 /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143000"/>
            <a:ext cx="108813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E3464F"/>
                </a:solidFill>
                <a:latin typeface="Noto Sans CJK SC"/>
                <a:ea typeface="Noto Sans CJK SC"/>
              </a:rPr>
              <a:t>以下列出真实图库照片许可；动漫分镜为AI生成原创，人物与事件为虚构教学示意。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04088" y="1792224"/>
            <a:ext cx="640080" cy="329184"/>
          </a:xfrm>
          <a:prstGeom prst="roundRect">
            <a:avLst/>
          </a:prstGeom>
          <a:solidFill>
            <a:srgbClr val="153E75"/>
          </a:solidFill>
          <a:ln>
            <a:solidFill>
              <a:srgbClr val="153E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810512"/>
            <a:ext cx="493775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Noto Sans CJK SC"/>
                <a:ea typeface="Noto Sans CJK SC"/>
              </a:rPr>
              <a:t>P1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81912" y="1737360"/>
            <a:ext cx="9948672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>
                <a:solidFill>
                  <a:srgbClr val="153E75"/>
                </a:solidFill>
                <a:latin typeface="Noto Sans CJK SC"/>
                <a:ea typeface="Noto Sans CJK SC"/>
                <a:hlinkClick r:id="rId2"/>
              </a:rPr>
              <a:t>Towfiqu barbhuiya · tablet-hand.jpg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81912" y="2130552"/>
            <a:ext cx="9948672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E3464F"/>
                </a:solidFill>
                <a:latin typeface="Noto Sans CJK SC"/>
                <a:ea typeface="Noto Sans CJK SC"/>
                <a:hlinkClick r:id="rId3"/>
              </a:rPr>
              <a:t>Pexels License · 点击标题访问原图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581912" y="2514600"/>
            <a:ext cx="9930384" cy="0"/>
          </a:xfrm>
          <a:prstGeom prst="line">
            <a:avLst/>
          </a:prstGeom>
          <a:ln w="5715">
            <a:solidFill>
              <a:srgbClr val="153E7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704088" y="2660904"/>
            <a:ext cx="640080" cy="329184"/>
          </a:xfrm>
          <a:prstGeom prst="roundRect">
            <a:avLst/>
          </a:prstGeom>
          <a:solidFill>
            <a:srgbClr val="153E75"/>
          </a:solidFill>
          <a:ln>
            <a:solidFill>
              <a:srgbClr val="153E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79192"/>
            <a:ext cx="493775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Noto Sans CJK SC"/>
                <a:ea typeface="Noto Sans CJK SC"/>
              </a:rPr>
              <a:t>P2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81912" y="2606040"/>
            <a:ext cx="9948672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>
                <a:solidFill>
                  <a:srgbClr val="153E75"/>
                </a:solidFill>
                <a:latin typeface="Noto Sans CJK SC"/>
                <a:ea typeface="Noto Sans CJK SC"/>
                <a:hlinkClick r:id="rId4"/>
              </a:rPr>
              <a:t>Pexels photo 16051935 · pill-bottle.jpg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81912" y="2999232"/>
            <a:ext cx="9948672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E3464F"/>
                </a:solidFill>
                <a:latin typeface="Noto Sans CJK SC"/>
                <a:ea typeface="Noto Sans CJK SC"/>
                <a:hlinkClick r:id="rId3"/>
              </a:rPr>
              <a:t>Pexels License · 点击标题访问原图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581912" y="3383280"/>
            <a:ext cx="9930384" cy="0"/>
          </a:xfrm>
          <a:prstGeom prst="line">
            <a:avLst/>
          </a:prstGeom>
          <a:ln w="5715">
            <a:solidFill>
              <a:srgbClr val="153E7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704088" y="3529584"/>
            <a:ext cx="640080" cy="329184"/>
          </a:xfrm>
          <a:prstGeom prst="roundRect">
            <a:avLst/>
          </a:prstGeom>
          <a:solidFill>
            <a:srgbClr val="153E75"/>
          </a:solidFill>
          <a:ln>
            <a:solidFill>
              <a:srgbClr val="153E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3547872"/>
            <a:ext cx="493775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Noto Sans CJK SC"/>
                <a:ea typeface="Noto Sans CJK SC"/>
              </a:rPr>
              <a:t>P3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81912" y="3474720"/>
            <a:ext cx="9948672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>
                <a:solidFill>
                  <a:srgbClr val="153E75"/>
                </a:solidFill>
                <a:latin typeface="Noto Sans CJK SC"/>
                <a:ea typeface="Noto Sans CJK SC"/>
                <a:hlinkClick r:id="rId5"/>
              </a:rPr>
              <a:t>George Pak · college-campus.jpg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81912" y="3867911"/>
            <a:ext cx="9948672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E3464F"/>
                </a:solidFill>
                <a:latin typeface="Noto Sans CJK SC"/>
                <a:ea typeface="Noto Sans CJK SC"/>
                <a:hlinkClick r:id="rId3"/>
              </a:rPr>
              <a:t>Pexels License · 点击标题访问原图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1581912" y="4251960"/>
            <a:ext cx="9930384" cy="0"/>
          </a:xfrm>
          <a:prstGeom prst="line">
            <a:avLst/>
          </a:prstGeom>
          <a:ln w="5715">
            <a:solidFill>
              <a:srgbClr val="153E7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04088" y="4398264"/>
            <a:ext cx="640080" cy="329184"/>
          </a:xfrm>
          <a:prstGeom prst="roundRect">
            <a:avLst/>
          </a:prstGeom>
          <a:solidFill>
            <a:srgbClr val="153E75"/>
          </a:solidFill>
          <a:ln>
            <a:solidFill>
              <a:srgbClr val="153E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4416551"/>
            <a:ext cx="493775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Noto Sans CJK SC"/>
                <a:ea typeface="Noto Sans CJK SC"/>
              </a:rPr>
              <a:t>P4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81912" y="4343400"/>
            <a:ext cx="9948672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>
                <a:solidFill>
                  <a:srgbClr val="153E75"/>
                </a:solidFill>
                <a:latin typeface="Noto Sans CJK SC"/>
                <a:ea typeface="Noto Sans CJK SC"/>
                <a:hlinkClick r:id="rId6"/>
              </a:rPr>
              <a:t>LZ Jian · evening.jpg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81912" y="4736592"/>
            <a:ext cx="9948672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E3464F"/>
                </a:solidFill>
                <a:latin typeface="Noto Sans CJK SC"/>
                <a:ea typeface="Noto Sans CJK SC"/>
                <a:hlinkClick r:id="rId3"/>
              </a:rPr>
              <a:t>Pexels License · 点击标题访问原图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1581912" y="5120640"/>
            <a:ext cx="9930384" cy="0"/>
          </a:xfrm>
          <a:prstGeom prst="line">
            <a:avLst/>
          </a:prstGeom>
          <a:ln w="5715">
            <a:solidFill>
              <a:srgbClr val="153E7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704088" y="5266944"/>
            <a:ext cx="640080" cy="329184"/>
          </a:xfrm>
          <a:prstGeom prst="roundRect">
            <a:avLst/>
          </a:prstGeom>
          <a:solidFill>
            <a:srgbClr val="153E75"/>
          </a:solidFill>
          <a:ln>
            <a:solidFill>
              <a:srgbClr val="153E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7240" y="5285231"/>
            <a:ext cx="493775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Noto Sans CJK SC"/>
                <a:ea typeface="Noto Sans CJK SC"/>
              </a:rPr>
              <a:t>P5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81912" y="5212080"/>
            <a:ext cx="9948672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>
                <a:solidFill>
                  <a:srgbClr val="153E75"/>
                </a:solidFill>
                <a:latin typeface="Noto Sans CJK SC"/>
                <a:ea typeface="Noto Sans CJK SC"/>
                <a:hlinkClick r:id="rId7"/>
              </a:rPr>
              <a:t>Árpád Czapp · pharmacy-01.jpg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81912" y="5605272"/>
            <a:ext cx="9948672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E3464F"/>
                </a:solidFill>
                <a:latin typeface="Noto Sans CJK SC"/>
                <a:ea typeface="Noto Sans CJK SC"/>
                <a:hlinkClick r:id="rId8"/>
              </a:rPr>
              <a:t>Unsplash License · 点击标题访问原图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1581912" y="5989320"/>
            <a:ext cx="9930384" cy="0"/>
          </a:xfrm>
          <a:prstGeom prst="line">
            <a:avLst/>
          </a:prstGeom>
          <a:ln w="5715">
            <a:solidFill>
              <a:srgbClr val="153E7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713232" y="6419088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153E75"/>
                </a:solidFill>
                <a:latin typeface="Noto Sans CJK SC"/>
                <a:ea typeface="Noto Sans CJK SC"/>
              </a:rPr>
              <a:t>动漫插画为AI生成原创，非实拍；图库许可与分镜素材说明见配套文件。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75488"/>
            <a:ext cx="1005840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3100" b="1">
                <a:solidFill>
                  <a:srgbClr val="153E75"/>
                </a:solidFill>
                <a:latin typeface="Noto Sans CJK SC"/>
                <a:ea typeface="Noto Sans CJK SC"/>
              </a:rPr>
              <a:t>真实照片来源 /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143000"/>
            <a:ext cx="108813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E3464F"/>
                </a:solidFill>
                <a:latin typeface="Noto Sans CJK SC"/>
                <a:ea typeface="Noto Sans CJK SC"/>
              </a:rPr>
              <a:t>以下列出真实图库照片许可；动漫分镜为AI生成原创，人物与事件为虚构教学示意。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04088" y="1792224"/>
            <a:ext cx="640080" cy="329184"/>
          </a:xfrm>
          <a:prstGeom prst="roundRect">
            <a:avLst/>
          </a:prstGeom>
          <a:solidFill>
            <a:srgbClr val="153E75"/>
          </a:solidFill>
          <a:ln>
            <a:solidFill>
              <a:srgbClr val="153E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810512"/>
            <a:ext cx="493775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Noto Sans CJK SC"/>
                <a:ea typeface="Noto Sans CJK SC"/>
              </a:rPr>
              <a:t>P6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81912" y="1737360"/>
            <a:ext cx="9948672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>
                <a:solidFill>
                  <a:srgbClr val="153E75"/>
                </a:solidFill>
                <a:latin typeface="Noto Sans CJK SC"/>
                <a:ea typeface="Noto Sans CJK SC"/>
                <a:hlinkClick r:id="rId2"/>
              </a:rPr>
              <a:t>National Cancer Institute · pharmacy-02.jpg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81912" y="2130552"/>
            <a:ext cx="9948672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E3464F"/>
                </a:solidFill>
                <a:latin typeface="Noto Sans CJK SC"/>
                <a:ea typeface="Noto Sans CJK SC"/>
                <a:hlinkClick r:id="rId3"/>
              </a:rPr>
              <a:t>Unsplash License · 点击标题访问原图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581912" y="2514600"/>
            <a:ext cx="9930384" cy="0"/>
          </a:xfrm>
          <a:prstGeom prst="line">
            <a:avLst/>
          </a:prstGeom>
          <a:ln w="5715">
            <a:solidFill>
              <a:srgbClr val="153E7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704088" y="2660904"/>
            <a:ext cx="640080" cy="329184"/>
          </a:xfrm>
          <a:prstGeom prst="roundRect">
            <a:avLst/>
          </a:prstGeom>
          <a:solidFill>
            <a:srgbClr val="153E75"/>
          </a:solidFill>
          <a:ln>
            <a:solidFill>
              <a:srgbClr val="153E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79192"/>
            <a:ext cx="493775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Noto Sans CJK SC"/>
                <a:ea typeface="Noto Sans CJK SC"/>
              </a:rPr>
              <a:t>P7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81912" y="2606040"/>
            <a:ext cx="9948672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>
                <a:solidFill>
                  <a:srgbClr val="153E75"/>
                </a:solidFill>
                <a:latin typeface="Noto Sans CJK SC"/>
                <a:ea typeface="Noto Sans CJK SC"/>
                <a:hlinkClick r:id="rId4"/>
              </a:rPr>
              <a:t>paws and prints · pharmacy-03.jpg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81912" y="2999232"/>
            <a:ext cx="9948672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E3464F"/>
                </a:solidFill>
                <a:latin typeface="Noto Sans CJK SC"/>
                <a:ea typeface="Noto Sans CJK SC"/>
                <a:hlinkClick r:id="rId3"/>
              </a:rPr>
              <a:t>Unsplash License · 点击标题访问原图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581912" y="3383280"/>
            <a:ext cx="9930384" cy="0"/>
          </a:xfrm>
          <a:prstGeom prst="line">
            <a:avLst/>
          </a:prstGeom>
          <a:ln w="5715">
            <a:solidFill>
              <a:srgbClr val="153E7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704088" y="3529584"/>
            <a:ext cx="640080" cy="329184"/>
          </a:xfrm>
          <a:prstGeom prst="roundRect">
            <a:avLst/>
          </a:prstGeom>
          <a:solidFill>
            <a:srgbClr val="153E75"/>
          </a:solidFill>
          <a:ln>
            <a:solidFill>
              <a:srgbClr val="153E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3547872"/>
            <a:ext cx="493775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Noto Sans CJK SC"/>
                <a:ea typeface="Noto Sans CJK SC"/>
              </a:rPr>
              <a:t>P8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81912" y="3474720"/>
            <a:ext cx="9948672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>
                <a:solidFill>
                  <a:srgbClr val="153E75"/>
                </a:solidFill>
                <a:latin typeface="Noto Sans CJK SC"/>
                <a:ea typeface="Noto Sans CJK SC"/>
                <a:hlinkClick r:id="rId5"/>
              </a:rPr>
              <a:t>Tasha Kostyuk · hospital-02.jpg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81912" y="3867911"/>
            <a:ext cx="9948672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E3464F"/>
                </a:solidFill>
                <a:latin typeface="Noto Sans CJK SC"/>
                <a:ea typeface="Noto Sans CJK SC"/>
                <a:hlinkClick r:id="rId3"/>
              </a:rPr>
              <a:t>Unsplash License · 点击标题访问原图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1581912" y="4251960"/>
            <a:ext cx="9930384" cy="0"/>
          </a:xfrm>
          <a:prstGeom prst="line">
            <a:avLst/>
          </a:prstGeom>
          <a:ln w="5715">
            <a:solidFill>
              <a:srgbClr val="153E7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04088" y="4398264"/>
            <a:ext cx="640080" cy="329184"/>
          </a:xfrm>
          <a:prstGeom prst="roundRect">
            <a:avLst/>
          </a:prstGeom>
          <a:solidFill>
            <a:srgbClr val="153E75"/>
          </a:solidFill>
          <a:ln>
            <a:solidFill>
              <a:srgbClr val="153E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4416551"/>
            <a:ext cx="493775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Noto Sans CJK SC"/>
                <a:ea typeface="Noto Sans CJK SC"/>
              </a:rPr>
              <a:t>P9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81912" y="4343400"/>
            <a:ext cx="9948672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>
                <a:solidFill>
                  <a:srgbClr val="153E75"/>
                </a:solidFill>
                <a:latin typeface="Noto Sans CJK SC"/>
                <a:ea typeface="Noto Sans CJK SC"/>
                <a:hlinkClick r:id="rId6"/>
              </a:rPr>
              <a:t>Martha Dominguez de Gouveia · clinic-01.jpg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81912" y="4736592"/>
            <a:ext cx="9948672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E3464F"/>
                </a:solidFill>
                <a:latin typeface="Noto Sans CJK SC"/>
                <a:ea typeface="Noto Sans CJK SC"/>
                <a:hlinkClick r:id="rId3"/>
              </a:rPr>
              <a:t>Unsplash License · 点击标题访问原图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1581912" y="5120640"/>
            <a:ext cx="9930384" cy="0"/>
          </a:xfrm>
          <a:prstGeom prst="line">
            <a:avLst/>
          </a:prstGeom>
          <a:ln w="5715">
            <a:solidFill>
              <a:srgbClr val="153E7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713232" y="6419088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153E75"/>
                </a:solidFill>
                <a:latin typeface="Noto Sans CJK SC"/>
                <a:ea typeface="Noto Sans CJK SC"/>
              </a:rPr>
              <a:t>动漫插画为AI生成原创，非实拍；图库许可与分镜素材说明见配套文件。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合理用药：给宿舍药箱上堂课</dc:title>
  <dc:subject>苏州大学选修课｜双人35分钟课堂展示</dc:subject>
  <dc:creator>课堂展示制作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