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第1页｜甲主讲｜建议45秒</a:t>
            </a:r>
          </a:p>
          <a:p>
            <a:r>
              <a:t>甲主讲；乙操作翻页。</a:t>
            </a:r>
          </a:p>
          <a:p/>
          <a:p>
            <a:r>
              <a:t>甲：大家好。今天我们聊一个进入大学后越来越需要自己做决定的问题：身体不舒服时，药到底该怎么用？离开父母的提醒，宿舍药箱、室友推荐和手机搜索，可能成了我们的第一反应。但名字熟悉，不代表适合自己；药吃得多，也不代表好得快。接下来我们用五类校园情境和几轮举手选择，练习几个能直接用上的判断。我们不考药名，也不背剂量表，目标是学会看什么、问什么，以及什么时候应该就医。</a:t>
            </a:r>
          </a:p>
          <a:p/>
          <a:p>
            <a:r>
              <a:t>视觉说明：蓝底白字封面，右侧为手持药片的真实照片。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第2页｜甲主讲｜建议45秒</a:t>
            </a:r>
          </a:p>
          <a:p>
            <a:r>
              <a:t>移至封面后的第2页；先交代路线，再进入原第2页的开场选择题，不提前揭晓答案。</a:t>
            </a:r>
          </a:p>
          <a:p/>
          <a:p>
            <a:r>
              <a:t>甲：先用这张路线图，看看今天怎么给宿舍药箱上堂课。前五分钟建立判断原则；接着用十七分钟看五类校园误区：重复成分、抗生素、备考提神、抗过敏药，以及药物与饮酒。然后用八分钟练习安全用药的方法，最后五分钟替小苏做一次综合选择。甲负责前半段，乙负责后半段，举手互动已包含在时间里。大家只需选下一步，不用背药名或计算剂量。现在进入第一个情境：室友感冒了，你会先做哪一步？</a:t>
            </a:r>
          </a:p>
          <a:p/>
          <a:p>
            <a:r>
              <a:t>视觉说明：四段路线卡各配一张校园、药房或医疗空间的真实照片。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George Pak｜https://www.pexels.com/photo/7972512/｜Pexels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National Cancer Institute｜https://unsplash.com/photos/pharmacist-reaching-for-medication-on-shelf-byGTytEGjBo｜Unsplash License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第3页｜甲主讲｜建议90秒</a:t>
            </a:r>
          </a:p>
          <a:p>
            <a:r>
              <a:t>10秒阅读＋三轮举手约25秒；不追问个人用药史。</a:t>
            </a:r>
          </a:p>
          <a:p/>
          <a:p>
            <a:r>
              <a:t>甲：小苏流鼻涕、喉咙不舒服，明天还有课。药箱里有上次剩下的药，室友也递来一盒。沿用经验、先核信息、按症状挑药，三个方案都像是在解决问题。信息还不完整时，你选哪一个第一步？</a:t>
            </a:r>
          </a:p>
          <a:p>
            <a:r>
              <a:t>【静默10秒；A、B、C依次举手，各约5秒】</a:t>
            </a:r>
          </a:p>
          <a:p>
            <a:r>
              <a:t>甲：先保留选择。上次有效不代表这次适用，包装上的症状描述也不能代替核对；下一页看判断需要哪些信息。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第4页｜甲主讲｜建议60秒</a:t>
            </a:r>
          </a:p>
          <a:p/>
          <a:p/>
          <a:p>
            <a:r>
              <a:t>甲：合理用药可以用四个词记住：安全、有效、经济、适宜。安全不是承诺任何药都没有风险，而是识别禁忌和可能的不良反应。有效，是药物针对的问题与实际需要相符。经济，是在满足治疗需要的前提下，避免不必要的药物和花费。适宜，则提醒我们，同一个药对室友合适，对自己不一定合适，年龄、过敏史、正在使用的其他药物，都可能影响选择。所以开场选B，是先把这些信息补齐，而不是看到一个症状就直接往药箱里伸手。</a:t>
            </a:r>
          </a:p>
          <a:p/>
          <a:p>
            <a:r>
              <a:t>视觉说明：四象限原则卡；每格一个关键词和一个简短解释。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第5页｜甲主讲｜建议60秒</a:t>
            </a:r>
          </a:p>
          <a:p/>
          <a:p/>
          <a:p>
            <a:r>
              <a:t>甲：小苏吃了抗过敏药，鼻子舒服了，上课却开始犯困。药明明在起作用，怎么还会影响精神？先看图里的两个位置：组胺在鼻部参与部分过敏反应，在脑内也参与维持清醒。部分抗组胺药能进入脑内，影响相关信号，因此可能在缓解过敏症状的同时让人困倦。这就是生物课里的“信号传递”在生活中的一个例子：同一种信号物质，在不同位置可以参与不同功能。不是所有抗过敏药都一样，也不是人人都会困。对我们有用的结论是：选择药物时，不只问能不能缓解症状，还要查嗜睡提示，向药师说清白天有课或需要通勤；已经困倦时，避免驾驶、骑车等高风险活动。后面再展开解释这个机制。</a:t>
            </a:r>
          </a:p>
          <a:p/>
          <a:p>
            <a:r>
              <a:t>视觉说明：以同一位小苏的两幅场景开场：左侧鼻子舒服、停止擦鼻涕，右侧课堂托腮、眼皮下垂；中间用简化人体轮廓标出鼻部与脑部，分别连接“过敏反应”和“维持清醒”。标注“部分抗组胺药可能进入脑内”，用提示框收束到“查嗜睡提示”。不使用胶囊—六边形—圆点的抽象匹配图；图示为简化机制，不表示所有药物都会致困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第6页｜甲主讲｜建议75秒</a:t>
            </a:r>
          </a:p>
          <a:p/>
          <a:p/>
          <a:p>
            <a:r>
              <a:t>甲：小苏觉得头痛还没缓解，拿起另一盒感冒药。室友说，名字不同，一盒管头痛、一盒管感冒，听起来像双保险。三格漫画从不舒服，到听起来合理的建议，再把判断停在药盒背面。症状宣传不同，不代表有效成分不同。下一页不算剂量，只把成分摆在一起，看双保险有没有变成重复。</a:t>
            </a:r>
          </a:p>
          <a:p/>
          <a:p>
            <a:r>
              <a:t>视觉说明：三格彩色漫画：小苏拿第二盒药、室友用气泡解释、成分栏放大并留下问号。角色统一，每格只留一句。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第7页｜甲主讲｜建议60秒</a:t>
            </a:r>
          </a:p>
          <a:p/>
          <a:p/>
          <a:p>
            <a:r>
              <a:t>甲：左边是单方退热止痛药的教学标签，只有对乙酰氨基酚；右边的复方感冒药示例另有马来酸氯苯那敏和盐酸伪麻黄碱。组成不完全相同，但同一个红色成分块出现了两次，其他成分的不同不能抵消重复。先把真实说明书的成分逐项对照，再核规格、已经服用的时间和用量，拿不准就带药盒问药师。这两张教学标签不对应具体产品，不给出剂量；不同产品的组成和要求可能不同。</a:t>
            </a:r>
          </a:p>
          <a:p/>
          <a:p>
            <a:r>
              <a:t>视觉说明：两盒不同配色的教学药盒。重复成分都用红色且完整命名；另两种成分用青绿和紫色，汇合箭头突出同一成分来自两盒，再给出圈重复、核信息、再决定的动作。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第8页｜甲主讲｜建议60秒</a:t>
            </a:r>
          </a:p>
          <a:p/>
          <a:p/>
          <a:p>
            <a:r>
              <a:t>甲：18点，小苏服过一种复方感冒药；20点仍然头痛，想加另一盒退热药。这两个时间只是故事线索，不表示隔两小时就能加药。现在要补齐两盒药的具体药名、成分、规格，以及今天何时用了多少。核对重复和累计使用，不能靠症状还在就自行加量，也不能套统一间隔。怀疑超量或误服应及时寻求医疗帮助；症状持续、加重也应按说明书就医提示处理。下一页只选获取这些信息的下一步。</a:t>
            </a:r>
          </a:p>
          <a:p/>
          <a:p>
            <a:r>
              <a:t>视觉说明：漫画时间线：已服药记录、第二个药盒、末端放大的信息清单；橙色突出想加药，青绿突出先补信息，不出现推荐剂量或等待时长。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第9页｜甲主讲｜建议75秒</a:t>
            </a:r>
          </a:p>
          <a:p>
            <a:r>
              <a:t>阅读10秒；举手约25秒；其余时间复述问题并转场。</a:t>
            </a:r>
          </a:p>
          <a:p/>
          <a:p>
            <a:r>
              <a:t>甲：室友群里弹出三条消息。A让我们找重复成分，B建议错开服药时间，C让我们补齐今天的药名、规格和时间。可以给多条消息点赞，选择的是现在有助于判断的建议，不是替小苏开药。</a:t>
            </a:r>
          </a:p>
          <a:p>
            <a:r>
              <a:t>【静默10秒；逐条举手各约5秒，可多次举手】</a:t>
            </a:r>
          </a:p>
          <a:p>
            <a:r>
              <a:t>甲：请保留选择，下一页看哪些建议补齐了信息，哪些只是让安排听起来谨慎。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第10页｜甲主讲｜建议30秒</a:t>
            </a:r>
          </a:p>
          <a:p/>
          <a:p/>
          <a:p>
            <a:r>
              <a:t>甲：可以同时给A和C点赞。A找到共有成分，C补齐具体规格与已服记录，两条合起来才更有助于判断。B听起来考虑了时间，但并没有核清成分、规格和累计使用；不能靠错开就推定合用安全。先不自行叠加，带齐这些信息问药师。</a:t>
            </a:r>
          </a:p>
          <a:p/>
          <a:p>
            <a:r>
              <a:t>视觉说明：大号C与三步行动箭头。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第11页｜甲主讲｜建议75秒</a:t>
            </a:r>
          </a:p>
          <a:p/>
          <a:p/>
          <a:p>
            <a:r>
              <a:t>甲：第二个误区是把抗生素当成感冒时的保险药。回到高中生物，细菌具有细胞结构，病毒没有完整的细胞结构，需要利用宿主细胞复制。不同类别的抗生素，可以作用于细菌的细胞壁合成、蛋白质合成等过程；对引起普通感冒的病毒，它们没有相应的治疗作用。所以流鼻涕、嗓子痛，并不能自动推出“应该吃抗生素”。当然，出现这些症状也可能有其他原因，少数病毒感染之后还可能发生细菌感染，是否需要抗生素需要评估。我们能做的是描述症状、接受判断，而不是自己拿剩药试试看。</a:t>
            </a:r>
          </a:p>
          <a:p/>
          <a:p>
            <a:r>
              <a:t>视觉说明：彩色显微世界插画：青绿细菌有细胞结构与遗传物质；紫色病毒有外壳与遗传物质，连接宿主细胞。用文字说明抗生素针对某些细菌结构或过程；示意不按比例。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第12页｜甲主讲｜建议80秒</a:t>
            </a:r>
          </a:p>
          <a:p/>
          <a:p/>
          <a:p>
            <a:r>
              <a:t>甲：为什么不必要地用抗生素还会带来后续问题？可以借助高中生物的自然选择来理解。图中蓝色代表敏感细菌，红色代表具有耐药性的细菌。这些差异可以来自遗传变异，也可以来自耐药基因的获得。面对某种抗生素，敏感细菌更容易被抑制，具有相应耐药性的细菌可能存活并繁殖，于是群体中耐药菌的比例上升。图中的数量是教学示意，不是实验数据。这里最容易说错的一句话是“我的身体耐药了”。更准确地说，是病原菌对药物产生了抵抗能力。这个过程还涉及基因传播等因素，今天先记住选择压力这一条主线。</a:t>
            </a:r>
          </a:p>
          <a:p/>
          <a:p>
            <a:r>
              <a:t>视觉说明：三阶段细菌群落示意；红色耐药菌数量标注为概念模型，不作真实比例。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第13页｜甲主讲｜建议70秒</a:t>
            </a:r>
          </a:p>
          <a:p/>
          <a:p/>
          <a:p>
            <a:r>
              <a:t>甲：两个数字不是两组互不重叠的人，而是用两种假设比较同一类耐药感染的负担。相关死亡约495万人，比较实际发生这类感染与没有这类感染。归因死亡约127万人，保留感染发生，但假设细菌对抗菌药物敏感，估计耐药性额外造成的死亡。一个问如果没有这类感染，一个问感染仍在但药能对付细菌。因此不能相加，也不能把495万全部说成耐药性额外造成，更不能全部归咎于个人乱用药。右侧两条独立条形共用从零开始的刻度，点和细线表示估计与95%不确定性区间。这是2019年全球模型估计，发表于2022年。</a:t>
            </a:r>
          </a:p>
          <a:p/>
          <a:p>
            <a:r>
              <a:t>视觉说明：左侧两种假设解释卡；右侧共同0—700万人刻度的独立条形。青绿为相关死亡，紫色为归因死亡，均带文字图例、估计点和95%不确定性区间；不堆叠，不画成互斥类别。</a:t>
            </a:r>
          </a:p>
          <a:p/>
          <a:p>
            <a:r>
              <a:t>参考：</a:t>
            </a:r>
          </a:p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第14页｜甲主讲｜建议55秒</a:t>
            </a:r>
          </a:p>
          <a:p/>
          <a:p/>
          <a:p>
            <a:r>
              <a:t>甲：回到我们自己能做的事，记住三条。第一，不因为感冒或嗓子痛就自行启用抗生素。第二，不把自己剩下的药分给室友，也不拿室友的处方照着用。第三，确实需要时按医生给出的剂量、间隔和疗程使用，不因为感觉好一点就自行停药，也不为了“彻底一点”擅自延长。这里不是让大家出现严重反应也硬撑着吃完，而是出现异常、疗效不理想，或不知道该如何继续时，及时联系医生或药师，由专业人员调整方案。</a:t>
            </a:r>
          </a:p>
          <a:p/>
          <a:p>
            <a:r>
              <a:t>视觉说明：三条抗生素行动规则分别配药房、药师及药瓶实拍照片。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paws and prints｜https://unsplash.com/photos/sQjHIOhiL0E｜Unsplash License</a:t>
            </a:r>
          </a:p>
          <a:p>
            <a:r>
              <a:t>National Cancer Institute｜https://unsplash.com/photos/pharmacist-reaching-for-medication-on-shelf-byGTytEGjBo｜Unsplash License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第15页｜甲主讲｜建议60秒</a:t>
            </a:r>
          </a:p>
          <a:p/>
          <a:p/>
          <a:p>
            <a:r>
              <a:t>甲：考试周，小苏看见专注加倍、快速提分的广告，室友又说有人借用处方兴奋剂熬夜。悬念不是哪一种更厉害，而是广告和别人经验能否证明适合小苏。保健食品不能替代药物治疗疾病，功能声称不等于提分保证。处方兴奋剂对有适应证的患者，规范治疗有价值；借用他人处方进行非医疗使用，则存在失眠、焦虑、成瘾及过量等风险。合理用药要核实适用依据，不借用他人的处方，也不让考试焦虑替自己决定。</a:t>
            </a:r>
          </a:p>
          <a:p/>
          <a:p>
            <a:r>
              <a:t>视觉说明：三格漫画：书桌前刷到夸张提分广告、室友递匿名药盒、处方适用信息变成问号。橙黄与紫色活泼配色，广告用小爆炸贴纸，不展示品牌。</a:t>
            </a:r>
          </a:p>
          <a:p/>
          <a:p>
            <a:r>
              <a:t>参考：</a:t>
            </a:r>
          </a:p>
          <a:p>
            <a:r>
              <a:t>[S6] FDA（2023）Updating warnings to improve safe use of prescription stimulants used to treat ADHD and other conditions.</a:t>
            </a:r>
          </a:p>
          <a:p>
            <a:r>
              <a:t>https://www.fda.gov/drugs/drug-safety-communications/fda-updating-warnings-improve-safe-use-prescription-stimulants-used-treat-adhd-and-other-conditions</a:t>
            </a:r>
          </a:p>
          <a:p>
            <a:r>
              <a:t>[S7] 市场监管总局《关于防范保健食品功能声称虚假宣传的消费提示》</a:t>
            </a:r>
          </a:p>
          <a:p>
            <a:r>
              <a:t>https://www.samr.gov.cn/xw/zj/art/2023/art_d03ccbcf0c7e482198c4adfa23f9e59a.html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第16页｜甲主讲｜建议75秒</a:t>
            </a:r>
          </a:p>
          <a:p>
            <a:r>
              <a:t>此页末交接。甲累计16分55秒；乙从第17页开始。</a:t>
            </a:r>
          </a:p>
          <a:p/>
          <a:p>
            <a:r>
              <a:t>甲：第四幕，小苏为了缓解过敏症状服了药，鼻子舒服了，坐进教室却特别想睡觉。这并不一定是药物没有起效，而可能是某些抗组胺药带来的嗜睡作用。有些药更容易让人困，有些相对较少，但个人反应也有差异。因此，选择时要说清自己的需求，例如白天有课、需要通勤，并向药师询问是否容易嗜睡。第一次使用时尤其应留意反应，困倦或反应变慢时，不要驾驶、骑车或做其他需要高度警觉的活动。也不要自己用酒精或其他药物去“抵消”这种感觉。</a:t>
            </a:r>
          </a:p>
          <a:p>
            <a:r>
              <a:t>甲：为什么一种药既影响鼻子，也影响清醒程度？下面交给乙，接着用生物知识解释。</a:t>
            </a:r>
          </a:p>
          <a:p/>
          <a:p>
            <a:r>
              <a:t>视觉说明：夜间床头场景实拍照片配抗过敏药嗜睡提示。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LZ Jian｜https://www.pexels.com/photo/black-lamp-beside-bed-5968800/｜Pexels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第17页｜乙主讲｜建议65秒</a:t>
            </a:r>
          </a:p>
          <a:p/>
          <a:p/>
          <a:p>
            <a:r>
              <a:t>乙：左侧，组胺与H1受体相关的信号参与部分过敏反应；抗组胺药影响相应受体的作用，可以缓解部分症状。右侧，脑内组胺信号也参与维持清醒。血脑屏障是进入脑内的一道选择性屏障，不是对所有药物都完全封闭；部分抗组胺药能够进入脑内，影响相关受体信号，因此可能嗜睡。两条路径解释治疗作用与其他影响为什么可能同时发生，不表示每种药、每个人都一样。具体选择看说明书和药师建议；困倦时避开驾驶、骑车等高风险活动。</a:t>
            </a:r>
          </a:p>
          <a:p/>
          <a:p>
            <a:r>
              <a:t>视觉说明：鼻部青绿、脑部紫色的双路径机制漫画。橙色组胺、H1受体明确命名；脑部单独画血脑屏障闸门并注明部分药物可进入，连接小苏的清醒与困倦表情。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第18页｜乙主讲｜建议120秒</a:t>
            </a:r>
          </a:p>
          <a:p/>
          <a:p/>
          <a:p>
            <a:r>
              <a:t>乙：第五个情境是聚餐。小苏白天吃了药，晚上被劝“就喝一点”。判断能不能一起用，不能只凭酒量，也不能只靠“上次没事”。酒精可能与多种药物相互作用，特别是与具有镇静作用的药物一起使用时，可能进一步影响警觉性和协调能力。对某些药物，风险还可能涉及肝脏、胃肠道等，但不同药物的机制和影响并不一样。</a:t>
            </a:r>
          </a:p>
          <a:p>
            <a:r>
              <a:t>还有一个常见想法：把喝酒和吃药错开两小时就安全。这个时间不能通用，因为不同药物在体内停留的时间不同，饮酒情况和个体差异也会影响结果。拿不准时，最直接的行动是先不喝，带着具体药名去确认。</a:t>
            </a:r>
          </a:p>
          <a:p>
            <a:r>
              <a:t>顺便说说送服药物。普通口服片剂和胶囊通常选择白水，并按说明书要求服用；不要默认咖啡、果汁、牛奶都能替代。但剂型有差别，例如含服或咀嚼的药物有自己的要求，所以最终仍然要看这盒药的具体说明。</a:t>
            </a:r>
          </a:p>
          <a:p/>
          <a:p>
            <a:r>
              <a:t>视觉说明：药瓶实拍照片配饮酒与服药的三项核对提示。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第19页｜乙主讲｜建议120秒</a:t>
            </a:r>
          </a:p>
          <a:p>
            <a:r>
              <a:t>同桌讨论20秒＋举手约25秒；答案口头公布，不追问开放观点。</a:t>
            </a:r>
          </a:p>
          <a:p/>
          <a:p>
            <a:r>
              <a:t>乙：今天服过抗过敏药，具体饮酒要求没确认。三个方案都像在控制风险：垫肚子并错开、沿用经验并少喝、换白水再核药名。请讨论二十秒，选更有依据的下一步。</a:t>
            </a:r>
          </a:p>
          <a:p>
            <a:r>
              <a:t>【讨论20秒；依次举手各约5秒】</a:t>
            </a:r>
          </a:p>
          <a:p>
            <a:r>
              <a:t>乙：答案C。固定等两小时、酒不烈或以前没出事，都不能证明这一药品与酒精合用没有风险。信息未确认时先不喝，再查具体说明书或问药师。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第20页｜乙主讲｜建议60秒</a:t>
            </a:r>
          </a:p>
          <a:p/>
          <a:p/>
          <a:p>
            <a:r>
              <a:t>乙：第三部分，我们把前面的例子浓缩成四个动作：看、核、问、记。看，是观察症状，也看说明书和需要就医的信号。核，是核对成分有没有重复，剂量与时间是否符合要求，自己有没有相关禁忌。问，是把不确定的地方交给医生或药师确认，不用猜测填空。记，是记录已经用过的药、时间、用量以及出现的反应。上一题选C，就把“这盒药能不能配酒”的不确定性变成了一个清楚的咨询问题。这四步是课堂助记法，不是替代诊疗的专业流程。</a:t>
            </a:r>
          </a:p>
          <a:p/>
          <a:p>
            <a:r>
              <a:t>视觉说明：原创四步流程，标注“课堂助记法”。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第21页｜乙主讲｜建议90秒</a:t>
            </a:r>
          </a:p>
          <a:p/>
          <a:p/>
          <a:p>
            <a:r>
              <a:t>乙：看到密密麻麻的说明书，不少人的反应是只找“一次几片”。更有效的办法，是先定位六类信息。第一，成分和通用名，解决“我究竟在吃什么”。第二，适应证，确认它用于什么情况。第三，用法用量，包含每次多少、间隔多久以及如何服用。第四，禁忌和注意事项，查看过敏史、既往疾病和特殊人群等相关要求。第五，相互作用与不良反应，看看与其他药物、食物饮料是否存在需要注意的地方。第六，贮藏条件和有效期，确认药品是否仍适合使用。</a:t>
            </a:r>
          </a:p>
          <a:p>
            <a:r>
              <a:t>这张是重新设计的阅读示意，不是实际产品的说明书，也不能替代完整说明书。如果处方要求与自己的理解不一致，应向开方医生或药师核实，而不是自己随意选一种理解执行。</a:t>
            </a:r>
          </a:p>
          <a:p/>
          <a:p>
            <a:r>
              <a:t>视觉说明：说明书六处阅读清单配药瓶实拍照片；提醒以实际说明书为准。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第22页｜乙主讲｜建议70秒</a:t>
            </a:r>
          </a:p>
          <a:p/>
          <a:p/>
          <a:p>
            <a:r>
              <a:t>乙：用药过程中的很多问题，不是药选错了，而是自己改变了使用方式。比如漏了一次，不要自动理解成下次吃双倍。不同药物的处理方法不同，先查说明书，拿不准就问药师。再比如疗程，按处方使用，同时留意症状与反应；出现疑问要及时沟通，不能自行加量或延长。还有剂型，一些缓释或肠溶制剂依赖特定结构控制释放位置和速度，随意掰碎、咀嚼或打开胶囊，可能改变原先设计。也不是说所有带刻痕的药都不能分，而是能不能分、怎样分，应以具体产品说明为准。</a:t>
            </a:r>
          </a:p>
          <a:p/>
          <a:p>
            <a:r>
              <a:t>视觉说明：时间、剂量、剂型三张行动卡，各配一张药物或药房实拍照片。</a:t>
            </a:r>
          </a:p>
          <a:p/>
          <a:p>
            <a:r>
              <a:t>参考：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Pexels photo 16051935｜https://www.pexels.com/photo/16051935/｜Pexels License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第23页｜乙主讲｜建议60秒</a:t>
            </a:r>
          </a:p>
          <a:p/>
          <a:p/>
          <a:p>
            <a:r>
              <a:t>乙：咨询是否有效，很大程度取决于我们提供的信息。可以按三句话组织。第一，我有什么症状，持续多久，正在变好还是加重。第二，我正在使用哪些药物或保健食品，具体药名和规格是什么，已经什么时候用了多少。第三，我有哪些已知药物过敏史、既往疾病或特殊情况。最好把药盒和说明书带上，或者拍清楚成分、规格和用法用量。只说“那种白色药片”，专业人员也难以准确判断。如果需要描述私密情况，可以单独咨询，不必在课堂或宿舍群里公开。</a:t>
            </a:r>
          </a:p>
          <a:p/>
          <a:p>
            <a:r>
              <a:t>视觉说明：药师取药实拍照片配咨询时需要说明的三类信息。</a:t>
            </a:r>
          </a:p>
          <a:p/>
          <a:p>
            <a:r>
              <a:t>参考：</a:t>
            </a:r>
          </a:p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National Cancer Institute｜https://unsplash.com/photos/pharmacist-reaching-for-medication-on-shelf-byGTytEGjBo｜Unsplash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第24页｜乙主讲｜建议75秒</a:t>
            </a:r>
          </a:p>
          <a:p/>
          <a:p/>
          <a:p>
            <a:r>
              <a:t>乙：合理用药还包括知道什么时候停止自己试错。用药后出现呼吸困难、喉部或舌头肿胀、明显意识异常等情况，可能是严重反应，应立即寻求急救，在国内拨打120。不要靠继续加药来压住症状。怀疑超量或误服，也要及时获得医疗帮助，有些问题并不一定马上表现出来。就诊时带上药盒和已经服用的时间、用量记录。如果不是急症，但症状持续、反复或越来越重，也应该按药品说明书的就医提示及时就诊。我们列的是几个重要信号，不是完整清单，更不是要大家在宿舍自行鉴别各种严重疾病。</a:t>
            </a:r>
          </a:p>
          <a:p/>
          <a:p>
            <a:r>
              <a:t>视觉说明：红色120急救块、危险信号清单及医院走廊实拍照片。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Tasha Kostyuk｜https://unsplash.com/photos/empty-hospital-corridor-with-benches-and-doors-Pk-KuizxQv8｜Unsplash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第25页｜乙主讲｜建议65秒</a:t>
            </a:r>
          </a:p>
          <a:p/>
          <a:p/>
          <a:p>
            <a:r>
              <a:t>乙：说到药箱，最重要的不是囤得多，而是需要时能认清。药品尽量保留原包装和说明书，避免把不同药片混在一个没有标签的小盒子里。检查有效期，也检查包装上的贮藏要求，不能把“放冰箱”当作所有药物的统一保存方法。自己的处方药不要分享给室友，过期或不再需要的药品按当地药品回收或分类要求处理。再保留一个简单的用药记录，例如手机备忘录，写药名、时间、用量和反应。这样复诊或咨询时，信息会比凭印象回忆更准确。</a:t>
            </a:r>
          </a:p>
          <a:p/>
          <a:p>
            <a:r>
              <a:t>视觉说明：药房实拍照片配宿舍药箱管理的三条行动提示。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Árpád Czapp｜https://unsplash.com/photos/a-room-filled-with-lots-of-shelves-filled-with-boxes-and-boxes-tvP6pCnq9iI｜Unsplash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第26页｜乙主讲｜建议60秒</a:t>
            </a:r>
          </a:p>
          <a:p/>
          <a:p/>
          <a:p>
            <a:r>
              <a:t>乙：在进入挑战前，我们把五个案例各换成一个动作。两盒感冒药放在面前，先核对成分。感冒后想到抗生素，先确认是否真正需要。备考时有人推荐所谓外挂，不借用别人的处方药，也不相信保证提分的宣传。吃抗过敏药后感到困倦，查看注意事项并避开风险活动。聚餐想喝酒，先确认具体药物的要求。我们没有要求大家记住几十个药名，而是练习在几个关键位置停一下。下面的小测只组合这些已经出现的动作，没有新知识，也不需要计算。</a:t>
            </a:r>
          </a:p>
          <a:p/>
          <a:p>
            <a:r>
              <a:t>视觉说明：五行“场景→动作”映射；每行配一个小图标。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第27页｜乙主讲｜建议60秒</a:t>
            </a:r>
          </a:p>
          <a:p/>
          <a:p/>
          <a:p>
            <a:r>
              <a:t>乙：最后进入综合挑战，小苏再次登场。这次信息更完整：他今天已经服用一种复方感冒药，晚上觉得还没完全舒服，想再加另一盒，同时准备去聚餐。现在两盒药的成分没有核对，饮酒要求也不清楚，症状目前较轻，没有我们刚才提到的严重急症表现。这里不要求大家诊断他得了什么病，也不要求给他开药，只选一个更稳妥的下一步方案。请记住三个线索：已经服过药、还没核对成分、聚餐可能喝酒。下一页有三个方案，答案不会藏在复杂医学知识里。</a:t>
            </a:r>
          </a:p>
          <a:p/>
          <a:p>
            <a:r>
              <a:t>视觉说明：手持药片实拍照片配三条虚构综合情境线索。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Towfiqu barbhuiya｜https://www.pexels.com/photo/hand-holding-a-pill-15703464/｜Pexels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第28页｜乙主讲｜建议90秒</a:t>
            </a:r>
          </a:p>
          <a:p>
            <a:r>
              <a:t>阅读10秒＋举手约25秒；甲负责观察，乙主讲。</a:t>
            </a:r>
          </a:p>
          <a:p/>
          <a:p>
            <a:r>
              <a:t>乙：这次可以采纳多条建议。A处理聚餐饮酒的不确定性，B准备药盒和已服记录，C沿用上次经验调整第二盒的时间。请判断哪些能补齐题目里的未知信息，再把采纳的建议拼成小苏今晚的计划。</a:t>
            </a:r>
          </a:p>
          <a:p>
            <a:r>
              <a:t>【静默10秒；依次举手各约5秒，可以多次举手】</a:t>
            </a:r>
          </a:p>
          <a:p>
            <a:r>
              <a:t>乙：先保留选择。下一页分别核对饮酒、成分与已服情况，不用靠哪个选项最长来猜。</a:t>
            </a:r>
          </a:p>
          <a:p/>
          <a:p>
            <a:r>
              <a:t>视觉说明：等权选择卡与小苏思考漫画；题面明确单选或多选；不按答案区别格式。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第29页｜乙主讲｜建议90秒</a:t>
            </a:r>
          </a:p>
          <a:p>
            <a:r>
              <a:t>乙揭晓；甲补充就医边界约15秒，再交回乙。</a:t>
            </a:r>
          </a:p>
          <a:p/>
          <a:p>
            <a:r>
              <a:t>乙：A与B可以一起采纳。A在饮酒要求明确之前先不喝，B把具体药名、规格、成分、何时用了多少一起交给药师核对。C沿用上次经验把药改到睡前，没有解决现在的重复成分和累计使用问题。</a:t>
            </a:r>
          </a:p>
          <a:p>
            <a:r>
              <a:t>甲：症状持续、加重或出现呼吸困难、意识异常等急症表现，要转为就医或急救。</a:t>
            </a:r>
          </a:p>
          <a:p>
            <a:r>
              <a:t>乙：两条建议拼成完整行动，才比一个听起来谨慎的安排更有依据。</a:t>
            </a:r>
          </a:p>
          <a:p/>
          <a:p>
            <a:r>
              <a:t>视觉说明：大号B＋三个“线索→行动”映射。</a:t>
            </a:r>
          </a:p>
          <a:p/>
          <a:p>
            <a:r>
              <a:t>参考：</a:t>
            </a:r>
          </a:p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第30页｜乙主讲｜建议60秒</a:t>
            </a:r>
          </a:p>
          <a:p>
            <a:r>
              <a:t>甲乙共同收尾；参考文献附页不逐页讲解。</a:t>
            </a:r>
          </a:p>
          <a:p/>
          <a:p>
            <a:r>
              <a:t>乙：最后，我们把今天的内容收在三句话里。第一，先看说明书，再做用药决定，不让包装和熟悉感替我们判断。第二，核对重复成分，并记录已经服用的药物、时间和用量。第三，遇到不确定的信息，向医生或药师询问；该就医的时候，不继续靠自己试药。</a:t>
            </a:r>
          </a:p>
          <a:p>
            <a:r>
              <a:t>甲：希望下一次室友拿出药盒时，大家能多做一个核对动作，多问一个具体问题。</a:t>
            </a:r>
          </a:p>
          <a:p>
            <a:r>
              <a:t>乙：药可以常备，判断不能省略。谢谢大家。我们的数据出处和参考资料放在后面的附页，方便课后查阅。</a:t>
            </a:r>
          </a:p>
          <a:p>
            <a:r>
              <a:t>【留出约10秒结束停顿；不在35分钟内另加开放讨论。】</a:t>
            </a:r>
          </a:p>
          <a:p/>
          <a:p>
            <a:r>
              <a:t>视觉说明：蓝底白字收尾，右侧为医疗空间实拍照片。</a:t>
            </a:r>
          </a:p>
          <a:p/>
          <a:p>
            <a:r>
              <a:t>参考：</a:t>
            </a:r>
          </a:p>
          <a:p/>
          <a:p/>
          <a:p>
            <a:r>
              <a:t>真实照片为图库场景示意，不呈现虚构案例中的真实人物、药品或事件。</a:t>
            </a:r>
          </a:p>
          <a:p>
            <a:r>
              <a:t>图片来源：</a:t>
            </a:r>
          </a:p>
          <a:p>
            <a:r>
              <a:t>Martha Dominguez de Gouveia｜https://unsplash.com/photos/hospital-lobby-reception-with-signage-nMyM7fxpokE｜Unsplash 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[S1] 国家卫生健康委等（2020）《关于加强医疗机构药事管理促进合理用药的意见》</a:t>
            </a:r>
          </a:p>
          <a:p>
            <a:r>
              <a:t>https://www.nhc.gov.cn/yzygj/c100068/202002/fdb7240014db4d49827ca25bbb41b177.shtml</a:t>
            </a:r>
          </a:p>
          <a:p/>
          <a:p>
            <a:r>
              <a:t>[S2] FDA. Don’t Overuse Acetaminophen.</a:t>
            </a:r>
          </a:p>
          <a:p>
            <a:r>
              <a:t>https://www.fda.gov/consumers/consumer-updates/dont-overuse-acetaminophen</a:t>
            </a:r>
          </a:p>
          <a:p/>
          <a:p>
            <a:r>
              <a:t>[S3] Wolf MS, et al. Risk of Unintentional Overdose with Non-Prescription Acetaminophen Products. J Gen Intern Med. 2012;27:1587–1593. DOI: 10.1007/s11606-012-2096-3.</a:t>
            </a:r>
          </a:p>
          <a:p>
            <a:r>
              <a:t>https://pmc.ncbi.nlm.nih.gov/articles/PMC3509295/</a:t>
            </a:r>
          </a:p>
          <a:p/>
          <a:p>
            <a:r>
              <a:t>[S4] CDC. Healthy Habits: Antibiotic Do’s and Don’ts.</a:t>
            </a:r>
          </a:p>
          <a:p>
            <a:r>
              <a:t>https://www.cdc.gov/antibiotic-use/about/</a:t>
            </a:r>
          </a:p>
          <a:p/>
          <a:p>
            <a:r>
              <a:t>[S5] Antimicrobial Resistance Collaborators. Global burden of bacterial antimicrobial resistance in 2019: a systematic analysis. Lancet. 2022;399:629–655. DOI: 10.1016/S0140-6736(21)02724-0.</a:t>
            </a:r>
          </a:p>
          <a:p>
            <a:r>
              <a:t>https://pmc.ncbi.nlm.nih.gov/articles/PMC8841637/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[S6] FDA（2023）Updating warnings to improve safe use of prescription stimulants used to treat ADHD and other conditions.</a:t>
            </a:r>
          </a:p>
          <a:p>
            <a:r>
              <a:t>https://www.fda.gov/drugs/drug-safety-communications/fda-updating-warnings-improve-safe-use-prescription-stimulants-used-treat-adhd-and-other-conditions</a:t>
            </a:r>
          </a:p>
          <a:p/>
          <a:p>
            <a:r>
              <a:t>[S7] 市场监管总局《关于防范保健食品功能声称虚假宣传的消费提示》</a:t>
            </a:r>
          </a:p>
          <a:p>
            <a:r>
              <a:t>https://www.samr.gov.cn/xw/zj/art/2023/art_d03ccbcf0c7e482198c4adfa23f9e59a.html</a:t>
            </a:r>
          </a:p>
          <a:p/>
          <a:p>
            <a:r>
              <a:t>[S8] NHS. Antihistamines.</a:t>
            </a:r>
          </a:p>
          <a:p>
            <a:r>
              <a:t>https://www.nhs.uk/medicines/antihistamines/</a:t>
            </a:r>
          </a:p>
          <a:p/>
          <a:p>
            <a:r>
              <a:t>[S9] NIAAA. Alcohol-Medication Interactions: Potentially Dangerous Mixes.</a:t>
            </a:r>
          </a:p>
          <a:p>
            <a:r>
              <a:t>https://www.niaaa.nih.gov/health-professionals-communities/core-resource-on-alcohol/alcohol-medication-interactions-potentially-dangerous-mixes</a:t>
            </a:r>
          </a:p>
          <a:p/>
          <a:p>
            <a:r>
              <a:t>[S10] NHS Specialist Pharmacy Service. Advising on missed or delayed doses of medicines.</a:t>
            </a:r>
          </a:p>
          <a:p>
            <a:r>
              <a:t>https://sps.nhs.uk/articles/advising-on-missed-or-delayed-doses-of-medicines/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参考文献附页，不逐页讲解。</a:t>
            </a:r>
          </a:p>
          <a:p/>
          <a:p>
            <a:r>
              <a:t>[S11] CDC. Manage Common Cold.</a:t>
            </a:r>
          </a:p>
          <a:p>
            <a:r>
              <a:t>https://www.cdc.gov/common-cold/treatment/index.html</a:t>
            </a:r>
          </a:p>
          <a:p/>
          <a:p>
            <a:r>
              <a:t>[S12] NHS. Anaphylaxis.</a:t>
            </a:r>
          </a:p>
          <a:p>
            <a:r>
              <a:t>https://www.nhs.uk/conditions/anaphylaxis/</a:t>
            </a:r>
          </a:p>
          <a:p/>
          <a:p>
            <a:r>
              <a:t>[S13] NHS. Omeprazole.</a:t>
            </a:r>
          </a:p>
          <a:p>
            <a:r>
              <a:t>https://www.nhs.uk/medicines/omeprazole/</a:t>
            </a:r>
          </a:p>
          <a:p/>
          <a:p>
            <a:r>
              <a:t>[S14] Simons FER, Simons KJ. H1 Antihistamines: Current Status and Future Directions. World Allergy Organ J. 2008;1:145–155.</a:t>
            </a:r>
          </a:p>
          <a:p>
            <a:r>
              <a:t>https://pmc.ncbi.nlm.nih.gov/articles/PMC3650962/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tablet-hand.jpg｜Towfiqu barbhuiya</a:t>
            </a:r>
          </a:p>
          <a:p>
            <a:r>
              <a:t>https://www.pexels.com/photo/hand-holding-a-pill-15703464/</a:t>
            </a:r>
          </a:p>
          <a:p>
            <a:r>
              <a:t>Pexels License: https://www.pexels.com/license/</a:t>
            </a:r>
          </a:p>
          <a:p/>
          <a:p>
            <a:r>
              <a:t>pill-bottle.jpg｜Pexels photo 16051935</a:t>
            </a:r>
          </a:p>
          <a:p>
            <a:r>
              <a:t>https://www.pexels.com/photo/16051935/</a:t>
            </a:r>
          </a:p>
          <a:p>
            <a:r>
              <a:t>Pexels License: https://www.pexels.com/license/</a:t>
            </a:r>
          </a:p>
          <a:p/>
          <a:p>
            <a:r>
              <a:t>college-campus.jpg｜George Pak</a:t>
            </a:r>
          </a:p>
          <a:p>
            <a:r>
              <a:t>https://www.pexels.com/photo/7972512/</a:t>
            </a:r>
          </a:p>
          <a:p>
            <a:r>
              <a:t>Pexels License: https://www.pexels.com/license/</a:t>
            </a:r>
          </a:p>
          <a:p/>
          <a:p>
            <a:r>
              <a:t>evening.jpg｜LZ Jian</a:t>
            </a:r>
          </a:p>
          <a:p>
            <a:r>
              <a:t>https://www.pexels.com/photo/black-lamp-beside-bed-5968800/</a:t>
            </a:r>
          </a:p>
          <a:p>
            <a:r>
              <a:t>Pexels License: https://www.pexels.com/license/</a:t>
            </a:r>
          </a:p>
          <a:p/>
          <a:p>
            <a:r>
              <a:t>pharmacy-01.jpg｜Árpád Czapp</a:t>
            </a:r>
          </a:p>
          <a:p>
            <a:r>
              <a:t>https://unsplash.com/photos/a-room-filled-with-lots-of-shelves-filled-with-boxes-and-boxes-tvP6pCnq9iI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真实照片来源附页，不逐页讲解。</a:t>
            </a:r>
          </a:p>
          <a:p/>
          <a:p>
            <a:r>
              <a:t>pharmacy-02.jpg｜National Cancer Institute</a:t>
            </a:r>
          </a:p>
          <a:p>
            <a:r>
              <a:t>https://unsplash.com/photos/pharmacist-reaching-for-medication-on-shelf-byGTytEGjBo</a:t>
            </a:r>
          </a:p>
          <a:p>
            <a:r>
              <a:t>Unsplash License: https://unsplash.com/license</a:t>
            </a:r>
          </a:p>
          <a:p/>
          <a:p>
            <a:r>
              <a:t>pharmacy-03.jpg｜paws and prints</a:t>
            </a:r>
          </a:p>
          <a:p>
            <a:r>
              <a:t>https://unsplash.com/photos/sQjHIOhiL0E</a:t>
            </a:r>
          </a:p>
          <a:p>
            <a:r>
              <a:t>Unsplash License: https://unsplash.com/license</a:t>
            </a:r>
          </a:p>
          <a:p/>
          <a:p>
            <a:r>
              <a:t>hospital-02.jpg｜Tasha Kostyuk</a:t>
            </a:r>
          </a:p>
          <a:p>
            <a:r>
              <a:t>https://unsplash.com/photos/empty-hospital-corridor-with-benches-and-doors-Pk-KuizxQv8</a:t>
            </a:r>
          </a:p>
          <a:p>
            <a:r>
              <a:t>Unsplash License: https://unsplash.com/license</a:t>
            </a:r>
          </a:p>
          <a:p/>
          <a:p>
            <a:r>
              <a:t>clinic-01.jpg｜Martha Dominguez de Gouveia</a:t>
            </a:r>
          </a:p>
          <a:p>
            <a:r>
              <a:t>https://unsplash.com/photos/hospital-lobby-reception-with-signage-nMyM7fxpokE</a:t>
            </a:r>
          </a:p>
          <a:p>
            <a:r>
              <a:t>Unsplash License: https://unsplash.com/license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Relationship Id="rId4" Type="http://schemas.openxmlformats.org/officeDocument/2006/relationships/image" Target="../media/image4.jpg"/><Relationship Id="rId5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image" Target="../media/image3.jpg"/><Relationship Id="rId5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nhc.gov.cn/yzygj/c100068/202002/fdb7240014db4d49827ca25bbb41b177.shtml" TargetMode="External"/><Relationship Id="rId3" Type="http://schemas.openxmlformats.org/officeDocument/2006/relationships/hyperlink" Target="https://www.fda.gov/consumers/consumer-updates/dont-overuse-acetaminophen" TargetMode="External"/><Relationship Id="rId4" Type="http://schemas.openxmlformats.org/officeDocument/2006/relationships/hyperlink" Target="https://pmc.ncbi.nlm.nih.gov/articles/PMC3509295/" TargetMode="External"/><Relationship Id="rId5" Type="http://schemas.openxmlformats.org/officeDocument/2006/relationships/hyperlink" Target="https://www.cdc.gov/antibiotic-use/about/" TargetMode="External"/><Relationship Id="rId6" Type="http://schemas.openxmlformats.org/officeDocument/2006/relationships/hyperlink" Target="https://pmc.ncbi.nlm.nih.gov/articles/PMC8841637/" TargetMode="External"/><Relationship Id="rId7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fda.gov/drugs/drug-safety-communications/fda-updating-warnings-improve-safe-use-prescription-stimulants-used-treat-adhd-and-other-conditions" TargetMode="External"/><Relationship Id="rId3" Type="http://schemas.openxmlformats.org/officeDocument/2006/relationships/hyperlink" Target="https://www.samr.gov.cn/xw/zj/art/2023/art_d03ccbcf0c7e482198c4adfa23f9e59a.html" TargetMode="External"/><Relationship Id="rId4" Type="http://schemas.openxmlformats.org/officeDocument/2006/relationships/hyperlink" Target="https://www.nhs.uk/medicines/antihistamines/" TargetMode="External"/><Relationship Id="rId5" Type="http://schemas.openxmlformats.org/officeDocument/2006/relationships/hyperlink" Target="https://www.niaaa.nih.gov/health-professionals-communities/core-resource-on-alcohol/alcohol-medication-interactions-potentially-dangerous-mixes" TargetMode="External"/><Relationship Id="rId6" Type="http://schemas.openxmlformats.org/officeDocument/2006/relationships/hyperlink" Target="https://sps.nhs.uk/articles/advising-on-missed-or-delayed-doses-of-medicines/" TargetMode="External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dc.gov/common-cold/treatment/index.html" TargetMode="External"/><Relationship Id="rId3" Type="http://schemas.openxmlformats.org/officeDocument/2006/relationships/hyperlink" Target="https://www.nhs.uk/conditions/anaphylaxis/" TargetMode="External"/><Relationship Id="rId4" Type="http://schemas.openxmlformats.org/officeDocument/2006/relationships/hyperlink" Target="https://www.nhs.uk/medicines/omeprazole/" TargetMode="External"/><Relationship Id="rId5" Type="http://schemas.openxmlformats.org/officeDocument/2006/relationships/hyperlink" Target="https://pmc.ncbi.nlm.nih.gov/articles/PMC3650962/" TargetMode="Externa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pexels.com/photo/hand-holding-a-pill-15703464/" TargetMode="External"/><Relationship Id="rId3" Type="http://schemas.openxmlformats.org/officeDocument/2006/relationships/hyperlink" Target="https://www.pexels.com/license/" TargetMode="External"/><Relationship Id="rId4" Type="http://schemas.openxmlformats.org/officeDocument/2006/relationships/hyperlink" Target="https://www.pexels.com/photo/16051935/" TargetMode="External"/><Relationship Id="rId5" Type="http://schemas.openxmlformats.org/officeDocument/2006/relationships/hyperlink" Target="https://www.pexels.com/photo/7972512/" TargetMode="External"/><Relationship Id="rId6" Type="http://schemas.openxmlformats.org/officeDocument/2006/relationships/hyperlink" Target="https://www.pexels.com/photo/black-lamp-beside-bed-5968800/" TargetMode="External"/><Relationship Id="rId7" Type="http://schemas.openxmlformats.org/officeDocument/2006/relationships/hyperlink" Target="https://unsplash.com/photos/a-room-filled-with-lots-of-shelves-filled-with-boxes-and-boxes-tvP6pCnq9iI" TargetMode="External"/><Relationship Id="rId8" Type="http://schemas.openxmlformats.org/officeDocument/2006/relationships/hyperlink" Target="https://unsplash.com/license" TargetMode="External"/><Relationship Id="rId9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unsplash.com/photos/pharmacist-reaching-for-medication-on-shelf-byGTytEGjBo" TargetMode="External"/><Relationship Id="rId3" Type="http://schemas.openxmlformats.org/officeDocument/2006/relationships/hyperlink" Target="https://unsplash.com/license" TargetMode="External"/><Relationship Id="rId4" Type="http://schemas.openxmlformats.org/officeDocument/2006/relationships/hyperlink" Target="https://unsplash.com/photos/sQjHIOhiL0E" TargetMode="External"/><Relationship Id="rId5" Type="http://schemas.openxmlformats.org/officeDocument/2006/relationships/hyperlink" Target="https://unsplash.com/photos/empty-hospital-corridor-with-benches-and-doors-Pk-KuizxQv8" TargetMode="External"/><Relationship Id="rId6" Type="http://schemas.openxmlformats.org/officeDocument/2006/relationships/hyperlink" Target="https://unsplash.com/photos/hospital-lobby-reception-with-signage-nMyM7fxpokE" TargetMode="External"/><Relationship Id="rId7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94360"/>
            <a:ext cx="201168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1" y="612648"/>
            <a:ext cx="186537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校园用药生存课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6400800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100" b="1">
                <a:solidFill>
                  <a:srgbClr val="FFFFFF"/>
                </a:solidFill>
                <a:latin typeface="Noto Sans CJK SC"/>
                <a:ea typeface="Noto Sans CJK SC"/>
              </a:rPr>
              <a:t>合理用药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615184"/>
            <a:ext cx="612648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Noto Sans CJK SC"/>
                <a:ea typeface="Noto Sans CJK SC"/>
              </a:rPr>
              <a:t>给宿舍药箱上堂课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75887"/>
            <a:ext cx="612648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FFFFFF"/>
                </a:solidFill>
                <a:latin typeface="Noto Sans CJK SC"/>
                <a:ea typeface="Noto Sans CJK SC"/>
              </a:rPr>
              <a:t>会选药 · 看成分 · 避误区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0"/>
            <a:ext cx="6309360" cy="8869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苏州大学｜选修课课堂展示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主讲：同学甲 / 同学乙</a:t>
            </a:r>
          </a:p>
        </p:txBody>
      </p:sp>
      <p:pic>
        <p:nvPicPr>
          <p:cNvPr id="8" name="Picture 7" descr="tablet-hand.jpg"/>
          <p:cNvPicPr>
            <a:picLocks noChangeAspect="1"/>
          </p:cNvPicPr>
          <p:nvPr/>
        </p:nvPicPr>
        <p:blipFill>
          <a:blip r:embed="rId3"/>
          <a:srcRect l="7477" r="7477"/>
          <a:stretch>
            <a:fillRect/>
          </a:stretch>
        </p:blipFill>
        <p:spPr>
          <a:xfrm>
            <a:off x="7406640" y="1060704"/>
            <a:ext cx="4160520" cy="48920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06640" y="1060704"/>
            <a:ext cx="4160520" cy="48920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24927" y="5632704"/>
            <a:ext cx="41239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34656" y="5660136"/>
            <a:ext cx="39044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28232"/>
            <a:ext cx="9144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Noto Sans CJK SC"/>
                <a:ea typeface="Noto Sans CJK SC"/>
              </a:rPr>
              <a:t>35分钟 · 2位讲者 · 4部分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今天的路线：从会判断，到会行动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全程约35分钟，已包含举手互动。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llege-campus.jpg"/>
          <p:cNvPicPr>
            <a:picLocks noChangeAspect="1"/>
          </p:cNvPicPr>
          <p:nvPr/>
        </p:nvPicPr>
        <p:blipFill>
          <a:blip r:embed="rId3"/>
          <a:srcRect t="33824" b="33824"/>
          <a:stretch>
            <a:fillRect/>
          </a:stretch>
        </p:blipFill>
        <p:spPr>
          <a:xfrm>
            <a:off x="822960" y="2157984"/>
            <a:ext cx="2487168" cy="120700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基本原则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11880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harmacy-01.jpg"/>
          <p:cNvPicPr>
            <a:picLocks noChangeAspect="1"/>
          </p:cNvPicPr>
          <p:nvPr/>
        </p:nvPicPr>
        <p:blipFill>
          <a:blip r:embed="rId4"/>
          <a:srcRect t="6863" b="6863"/>
          <a:stretch>
            <a:fillRect/>
          </a:stretch>
        </p:blipFill>
        <p:spPr>
          <a:xfrm>
            <a:off x="3721608" y="2157984"/>
            <a:ext cx="2487168" cy="1207008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3721608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宿舍误区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17分钟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10528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harmacy-02.jpg"/>
          <p:cNvPicPr>
            <a:picLocks noChangeAspect="1"/>
          </p:cNvPicPr>
          <p:nvPr/>
        </p:nvPicPr>
        <p:blipFill>
          <a:blip r:embed="rId5"/>
          <a:srcRect t="6863" b="6863"/>
          <a:stretch>
            <a:fillRect/>
          </a:stretch>
        </p:blipFill>
        <p:spPr>
          <a:xfrm>
            <a:off x="6620256" y="2157984"/>
            <a:ext cx="2487168" cy="1207008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620256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9128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39128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安全用药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39128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8分钟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09176" y="2048256"/>
            <a:ext cx="2706624" cy="315468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hospital-02.jpg"/>
          <p:cNvPicPr>
            <a:picLocks noChangeAspect="1"/>
          </p:cNvPicPr>
          <p:nvPr/>
        </p:nvPicPr>
        <p:blipFill>
          <a:blip r:embed="rId6"/>
          <a:srcRect t="6863" b="6863"/>
          <a:stretch>
            <a:fillRect/>
          </a:stretch>
        </p:blipFill>
        <p:spPr>
          <a:xfrm>
            <a:off x="9518903" y="2157984"/>
            <a:ext cx="2487168" cy="120700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9518903" y="2157984"/>
            <a:ext cx="2487168" cy="120700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37776" y="3456432"/>
            <a:ext cx="2286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37776" y="40690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53E75"/>
                </a:solidFill>
                <a:latin typeface="Noto Sans CJK SC"/>
                <a:ea typeface="Noto Sans CJK SC"/>
              </a:rPr>
              <a:t>选择挑战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37776" y="4626864"/>
            <a:ext cx="2286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5分钟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室友感冒了，你先做哪一步？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举手选择 A / B / C｜暂不揭晓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03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用上次的剩药，沿用当时吃法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拍清楚药盒，先核对再作决定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按最主要症状，先挑一盒试试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先选哪一步？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合理用药，要同时过四关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刚才选 B：先了解，再决定。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安全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关注禁忌与不良反应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有效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针对真正需要解决的问题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经济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避免不必要的花费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适宜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适合这个人、这个时机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01 / 基本原则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鼻子舒服了，为什么上课却犯困？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症状缓解，不代表没有其他影响｜先查嗜睡提示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5148072" cy="313639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121408"/>
            <a:ext cx="45628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203354"/>
                </a:solidFill>
                <a:latin typeface="Noto Sans CJK SC"/>
              </a:rPr>
              <a:t>鼻子舒服了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938528"/>
            <a:ext cx="5148072" cy="313639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121408"/>
            <a:ext cx="4562856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203354"/>
                </a:solidFill>
                <a:latin typeface="Noto Sans CJK SC"/>
              </a:rPr>
              <a:t>上课却犯困？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67140" y="3654308"/>
            <a:ext cx="1273119" cy="857067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649760" y="3562776"/>
            <a:ext cx="266273" cy="241310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08597" y="2830525"/>
            <a:ext cx="965240" cy="95691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33560" y="2938698"/>
            <a:ext cx="915314" cy="86538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217066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173986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75313" y="2805562"/>
            <a:ext cx="632399" cy="30787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666402" y="2872130"/>
            <a:ext cx="632399" cy="23298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41734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990923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1499981" y="3288182"/>
            <a:ext cx="58248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558229" y="3288182"/>
            <a:ext cx="58247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1916033" y="3288182"/>
            <a:ext cx="58248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974281" y="3288182"/>
            <a:ext cx="58247" cy="58247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799539" y="3329787"/>
            <a:ext cx="24963" cy="124816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1774576" y="3454603"/>
            <a:ext cx="49926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1666402" y="3546134"/>
            <a:ext cx="274594" cy="166420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649760" y="3504529"/>
            <a:ext cx="307878" cy="13313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533265" y="3737518"/>
            <a:ext cx="257953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1791218" y="3737518"/>
            <a:ext cx="232989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74723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16033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2049170" y="4111965"/>
            <a:ext cx="216347" cy="22466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662684" y="3654308"/>
            <a:ext cx="1273119" cy="857067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145304" y="3562776"/>
            <a:ext cx="266273" cy="241310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04141" y="2830525"/>
            <a:ext cx="965240" cy="95691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829104" y="2938698"/>
            <a:ext cx="915314" cy="86538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712610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669529" y="3313145"/>
            <a:ext cx="183062" cy="18306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770857" y="2805562"/>
            <a:ext cx="632399" cy="30787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161946" y="2872130"/>
            <a:ext cx="632399" cy="23298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937278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86467" y="3446282"/>
            <a:ext cx="124815" cy="108173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6995525" y="3321466"/>
            <a:ext cx="124816" cy="33284"/>
          </a:xfrm>
          <a:prstGeom prst="line">
            <a:avLst/>
          </a:prstGeom>
          <a:ln w="3302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411577" y="3321466"/>
            <a:ext cx="124816" cy="33284"/>
          </a:xfrm>
          <a:prstGeom prst="line">
            <a:avLst/>
          </a:prstGeom>
          <a:ln w="3302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95083" y="3329787"/>
            <a:ext cx="24963" cy="124816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7270120" y="3454603"/>
            <a:ext cx="49926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7236835" y="3546134"/>
            <a:ext cx="124815" cy="14977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7028809" y="3737518"/>
            <a:ext cx="257953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286762" y="3737518"/>
            <a:ext cx="232989" cy="208026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170267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411577" y="3970507"/>
            <a:ext cx="0" cy="199705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7544714" y="4111965"/>
            <a:ext cx="216347" cy="22466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94493" y="2697388"/>
            <a:ext cx="540867" cy="316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7952D5"/>
                </a:solidFill>
                <a:latin typeface="Noto Sans CJK SC"/>
              </a:rPr>
              <a:t>Z z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834640" y="2788920"/>
            <a:ext cx="2706624" cy="813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Isosceles Triangle 57"/>
          <p:cNvSpPr/>
          <p:nvPr/>
        </p:nvSpPr>
        <p:spPr>
          <a:xfrm rot="10800000">
            <a:off x="3063240" y="3593592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80944" y="2862072"/>
            <a:ext cx="2414016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终于不用一直擦鼻涕！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21040" y="2788920"/>
            <a:ext cx="2715768" cy="8138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Isosceles Triangle 60"/>
          <p:cNvSpPr/>
          <p:nvPr/>
        </p:nvSpPr>
        <p:spPr>
          <a:xfrm rot="10800000">
            <a:off x="8549640" y="3593592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2862072"/>
            <a:ext cx="242316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鼻子好了，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203354"/>
                </a:solidFill>
                <a:latin typeface="Noto Sans CJK SC"/>
              </a:rPr>
              <a:t>脑子想“下课”……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834640" y="3813048"/>
            <a:ext cx="676656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898648" y="383133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鼻部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34640" y="4233672"/>
            <a:ext cx="2734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组胺参与部分过敏反应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834640" y="4599432"/>
            <a:ext cx="273405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部分症状得到缓解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321040" y="3813048"/>
            <a:ext cx="676656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385048" y="383133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脑内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21040" y="4233672"/>
            <a:ext cx="27340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组胺信号参与维持清醒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4599432"/>
            <a:ext cx="2734056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部分药物入脑后可能致困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766560" y="4389120"/>
            <a:ext cx="822960" cy="182880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839712" y="4169663"/>
            <a:ext cx="822960" cy="182880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903720" y="3950208"/>
            <a:ext cx="822960" cy="18288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848856" y="4453128"/>
            <a:ext cx="566928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922008" y="4233672"/>
            <a:ext cx="566928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986016" y="4014215"/>
            <a:ext cx="566928" cy="0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22960" y="5294376"/>
            <a:ext cx="10506456" cy="365760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05840" y="5330952"/>
            <a:ext cx="1014069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03354"/>
                </a:solidFill>
                <a:latin typeface="Noto Sans CJK SC"/>
              </a:rPr>
              <a:t>选药别只看症状：查嗜睡提示，说清上课与通勤需求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两盒药，是“双保险”还是撞车？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虚构情境｜包装不同，成分可能重复。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06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 情境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170432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头痛还在，要不再加一盒？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4867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66113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680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883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69364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077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78915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06093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28546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25089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9570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57093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1574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81328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462125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378915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66113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276502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474927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85316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70939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673352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688336" y="3995928"/>
            <a:ext cx="960120" cy="11521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734056" y="4041648"/>
            <a:ext cx="868680" cy="201168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3168396" y="4361688"/>
            <a:ext cx="0" cy="27432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024378" y="4498848"/>
            <a:ext cx="288036" cy="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734056" y="48371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08C82"/>
                </a:solidFill>
                <a:latin typeface="Noto Sans CJK SC"/>
              </a:rPr>
              <a:t>药盒A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0976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08C82"/>
                </a:solidFill>
                <a:latin typeface="Noto Sans CJK SC"/>
              </a:rPr>
              <a:t>先有一个需求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25696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636008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00016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 对话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36008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Isosceles Triangle 47"/>
          <p:cNvSpPr/>
          <p:nvPr/>
        </p:nvSpPr>
        <p:spPr>
          <a:xfrm rot="10800000">
            <a:off x="4864608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82312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名字不同，应该不重复吧？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89043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60289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97856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17059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727448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463540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772253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5073091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900269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5322722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4945075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4989880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5265115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09920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5175503" y="4256532"/>
            <a:ext cx="19203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5156301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073091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060289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4970678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H="1">
            <a:off x="5169103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079492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5265115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Oval 71"/>
          <p:cNvSpPr/>
          <p:nvPr/>
        </p:nvSpPr>
        <p:spPr>
          <a:xfrm>
            <a:off x="5367527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382512" y="3995928"/>
            <a:ext cx="960120" cy="11521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428232" y="4041648"/>
            <a:ext cx="868680" cy="201168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6862572" y="4361688"/>
            <a:ext cx="0" cy="27432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>
            <a:off x="6718554" y="4498848"/>
            <a:ext cx="288036" cy="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6428232" y="48371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7952D5"/>
                </a:solidFill>
                <a:latin typeface="Noto Sans CJK SC"/>
              </a:rPr>
              <a:t>药盒B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45152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7952D5"/>
                </a:solidFill>
                <a:latin typeface="Noto Sans CJK SC"/>
              </a:rPr>
              <a:t>再来一个建议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119872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8330184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94192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 悬念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30184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Isosceles Triangle 82"/>
          <p:cNvSpPr/>
          <p:nvPr/>
        </p:nvSpPr>
        <p:spPr>
          <a:xfrm rot="10800000">
            <a:off x="8558784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76488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药盒不同，里面的成分呢？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383219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8754465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492032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511235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421624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9157716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466429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767267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594445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9016898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639251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959291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8869680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 flipH="1">
            <a:off x="8850477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780068" y="4467758"/>
            <a:ext cx="134417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8664854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 flipH="1">
            <a:off x="8863279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8773668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8959291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Oval 103"/>
          <p:cNvSpPr/>
          <p:nvPr/>
        </p:nvSpPr>
        <p:spPr>
          <a:xfrm>
            <a:off x="9061704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208922" y="3776472"/>
            <a:ext cx="2432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106" name="Oval 105"/>
          <p:cNvSpPr/>
          <p:nvPr/>
        </p:nvSpPr>
        <p:spPr>
          <a:xfrm>
            <a:off x="9994392" y="4041648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7" name="Connector 106"/>
          <p:cNvCxnSpPr/>
          <p:nvPr/>
        </p:nvCxnSpPr>
        <p:spPr>
          <a:xfrm>
            <a:off x="10652760" y="4736592"/>
            <a:ext cx="374904" cy="402336"/>
          </a:xfrm>
          <a:prstGeom prst="line">
            <a:avLst/>
          </a:prstGeom>
          <a:ln w="889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10076688" y="4288536"/>
            <a:ext cx="7040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成分？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39328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08C82"/>
                </a:solidFill>
                <a:latin typeface="Noto Sans CJK SC"/>
              </a:rPr>
              <a:t>判断停在这里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药盒不同，成分可能“撞车”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同名成分出现两次，是暂停核对的信号｜未确认前不自行叠加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单方退热止痛药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52144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43584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1938528"/>
            <a:ext cx="4754880" cy="2916936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2112264"/>
            <a:ext cx="19659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203354"/>
                </a:solidFill>
                <a:latin typeface="Noto Sans CJK SC"/>
              </a:rPr>
              <a:t>药盒 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60320"/>
            <a:ext cx="4206240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复方感冒药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3026664"/>
            <a:ext cx="4315968" cy="530352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30568" y="3090672"/>
            <a:ext cx="4133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</a:rPr>
              <a:t>对乙酰氨基酚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68496"/>
            <a:ext cx="42062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只有这一种有效成分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39128" y="3694176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9712" y="3730752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马来酸氯苯那敏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39128" y="4215384"/>
            <a:ext cx="4315968" cy="411480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425196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Noto Sans CJK SC"/>
              </a:rPr>
              <a:t>盐酸伪麻黄碱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68112" y="3291840"/>
            <a:ext cx="411480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79592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6309360" y="3291840"/>
            <a:ext cx="429768" cy="0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09360" y="3291840"/>
            <a:ext cx="0" cy="1481328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79592" y="4773168"/>
            <a:ext cx="219456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6099048" y="4773168"/>
            <a:ext cx="210312" cy="164592"/>
          </a:xfrm>
          <a:prstGeom prst="line">
            <a:avLst/>
          </a:prstGeom>
          <a:ln w="3175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931920" y="4937760"/>
            <a:ext cx="4343400" cy="402336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023360" y="4965192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EB5969"/>
                </a:solidFill>
                <a:latin typeface="Noto Sans CJK SC"/>
              </a:rPr>
              <a:t>同一成分，来自两盒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458968"/>
            <a:ext cx="10149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203354"/>
                </a:solidFill>
                <a:latin typeface="Noto Sans CJK SC"/>
              </a:rPr>
              <a:t>① 圈出重复　→　② 核规格与已服情况　→　③ 未确认，不自行叠加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18点吃过药，20点还痛：先补哪条信息？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时间只是故事线索，不是推荐给药间隔｜先补信息，不凭感觉加药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08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65576" cy="3474720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" y="2176272"/>
            <a:ext cx="130759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194560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18:00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529584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76755" y="3454146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95578" y="2850642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216151" y="2939796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20139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908810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68145" y="2830068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90472" y="2884932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05305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7934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353312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01318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696212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744218" y="3227832"/>
            <a:ext cx="48006" cy="48006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00200" y="3262122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579626" y="3364992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490472" y="3440430"/>
            <a:ext cx="226314" cy="137160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476755" y="3406140"/>
            <a:ext cx="253745" cy="10972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380743" y="3598164"/>
            <a:ext cx="212599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593342" y="3598164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497330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696212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805940" y="3906774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651760" y="3200400"/>
            <a:ext cx="987552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2697479" y="3246120"/>
            <a:ext cx="896112" cy="201168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3145536" y="3566160"/>
            <a:ext cx="0" cy="27432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997403" y="3703320"/>
            <a:ext cx="296265" cy="0"/>
          </a:xfrm>
          <a:prstGeom prst="line">
            <a:avLst/>
          </a:prstGeom>
          <a:ln w="381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697479" y="4169664"/>
            <a:ext cx="896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008C82"/>
                </a:solidFill>
                <a:latin typeface="Noto Sans CJK SC"/>
              </a:rPr>
              <a:t>已服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" y="4672584"/>
            <a:ext cx="30266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已经服过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" y="5056632"/>
            <a:ext cx="3026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已经服过一种复方感冒药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34840" y="1993392"/>
            <a:ext cx="3465576" cy="3474720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654296" y="2176272"/>
            <a:ext cx="1307592" cy="329184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18304" y="2194560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20:00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764024" y="3529584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161788" y="3454146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880610" y="2850642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901184" y="2939796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4805172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593842" y="3248406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853178" y="2830068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5175504" y="2884932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90338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42966" y="3358134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038344" y="3248406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381244" y="3248406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5285232" y="3262122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>
            <a:off x="5264658" y="3364992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189220" y="3488436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5065776" y="3598164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5278374" y="3598164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182362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381244" y="3790187"/>
            <a:ext cx="0" cy="16459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490972" y="3906774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48706" y="2747772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336792" y="3200400"/>
            <a:ext cx="987552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B59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382512" y="3246120"/>
            <a:ext cx="896112" cy="201168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>
            <a:off x="6830568" y="3566160"/>
            <a:ext cx="0" cy="274320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682435" y="3703320"/>
            <a:ext cx="296265" cy="0"/>
          </a:xfrm>
          <a:prstGeom prst="line">
            <a:avLst/>
          </a:prstGeom>
          <a:ln w="381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382512" y="4169664"/>
            <a:ext cx="896112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EB5969"/>
                </a:solidFill>
                <a:latin typeface="Noto Sans CJK SC"/>
              </a:rPr>
              <a:t>待核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654296" y="4672584"/>
            <a:ext cx="30266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EB5969"/>
                </a:solidFill>
                <a:latin typeface="Noto Sans CJK SC"/>
              </a:rPr>
              <a:t>准备再加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54296" y="5056632"/>
            <a:ext cx="3026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症状还在，准备加一盒退热药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119872" y="1993392"/>
            <a:ext cx="3465576" cy="3474720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8339328" y="2176272"/>
            <a:ext cx="130759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403336" y="2194560"/>
            <a:ext cx="1179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先补信息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94776" y="2834640"/>
            <a:ext cx="2706624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677656" y="29626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药名＋成分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77656" y="33741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规格＋已服用量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77656" y="378561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7952D5"/>
                </a:solidFill>
                <a:latin typeface="Noto Sans CJK SC"/>
              </a:rPr>
              <a:t>时间＋其他用药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9328" y="4672584"/>
            <a:ext cx="3026664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7952D5"/>
                </a:solidFill>
                <a:latin typeface="Noto Sans CJK SC"/>
              </a:rPr>
              <a:t>核对后再决定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9328" y="5056632"/>
            <a:ext cx="30266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400" b="0">
                <a:solidFill>
                  <a:srgbClr val="203354"/>
                </a:solidFill>
                <a:latin typeface="Noto Sans CJK SC"/>
              </a:rPr>
              <a:t>成分、规格、已服用量还没核对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室友群的三条消息，你给哪条点赞？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可多选 A / B / C｜哪些建议先帮我们补齐判断所需的信息？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09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拍下两盒成分，圈出相同的名字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按症状拆开安排，把服药时间错开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补上今天已服药名、规格与时间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给建议点赞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A＋C：先把两类信息凑齐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同成分先不自行叠加；拿着完整信息，再核实下一步。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10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A＋C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圈出同名成分，发现可能重复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补规格和已服记录，核对累计使用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错开时间，仍不能代替完整核对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案例②：抗生素，不是感冒的通用答案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普通感冒通常由病毒引起；是否需要抗生素，由医生判断。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S11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11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01952"/>
            <a:ext cx="5148072" cy="3675887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细菌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2112264"/>
            <a:ext cx="941832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2130552"/>
            <a:ext cx="81381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病毒</a:t>
            </a:r>
          </a:p>
        </p:txBody>
      </p:sp>
      <p:sp>
        <p:nvSpPr>
          <p:cNvPr id="15" name="Oval 14"/>
          <p:cNvSpPr/>
          <p:nvPr/>
        </p:nvSpPr>
        <p:spPr>
          <a:xfrm>
            <a:off x="1225296" y="2935224"/>
            <a:ext cx="2066543" cy="1243584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325880" y="3035808"/>
            <a:ext cx="1865376" cy="1042415"/>
          </a:xfrm>
          <a:prstGeom prst="ellipse">
            <a:avLst/>
          </a:prstGeom>
          <a:solidFill>
            <a:srgbClr val="B5E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0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61326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779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258568" y="4197096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636776" y="4111341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81592" y="3877056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14984" y="3557016"/>
            <a:ext cx="201168" cy="0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 flipV="1">
            <a:off x="1181592" y="3136392"/>
            <a:ext cx="174217" cy="100584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 flipV="1">
            <a:off x="1636775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2258568" y="2715768"/>
            <a:ext cx="0" cy="201168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2779776" y="2828473"/>
            <a:ext cx="100584" cy="174217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161326" y="3136391"/>
            <a:ext cx="174217" cy="100585"/>
          </a:xfrm>
          <a:prstGeom prst="line">
            <a:avLst/>
          </a:prstGeom>
          <a:ln w="25400">
            <a:solidFill>
              <a:srgbClr val="008C8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691640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892808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2093976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2295144" y="3520440"/>
            <a:ext cx="201168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496312" y="3520440"/>
            <a:ext cx="201167" cy="13716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572768" y="327355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57400" y="3236976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715768" y="3346704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627632" y="3813048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386584" y="3867912"/>
            <a:ext cx="100584" cy="100584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83864" y="3182112"/>
            <a:ext cx="2075688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有细胞结构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83864" y="3648456"/>
            <a:ext cx="2075688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在适宜条件下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可自行繁殖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4672584"/>
            <a:ext cx="4562856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某些细菌结构或过程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可成为抗生素的靶点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44967" y="3566160"/>
            <a:ext cx="201169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789127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7669875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7777759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7473279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7480579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 flipH="1">
            <a:off x="7168108" y="3940107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7113244" y="4076565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H="1">
            <a:off x="6870928" y="3797272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6816064" y="3860652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H="1">
            <a:off x="6757415" y="3566160"/>
            <a:ext cx="201168" cy="0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6702551" y="351129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6870928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6816064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H="1" flipV="1">
            <a:off x="7168108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7113244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7473279" y="3000890"/>
            <a:ext cx="62164" cy="19132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7480579" y="2946026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onnector 59"/>
          <p:cNvCxnSpPr/>
          <p:nvPr/>
        </p:nvCxnSpPr>
        <p:spPr>
          <a:xfrm flipV="1">
            <a:off x="7669875" y="3216803"/>
            <a:ext cx="162748" cy="118244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777759" y="3161939"/>
            <a:ext cx="109728" cy="109728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12863" y="3127248"/>
            <a:ext cx="877824" cy="877824"/>
          </a:xfrm>
          <a:prstGeom prst="ellipse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40879" y="3255264"/>
            <a:ext cx="621792" cy="621792"/>
          </a:xfrm>
          <a:prstGeom prst="ellipse">
            <a:avLst/>
          </a:prstGeom>
          <a:solidFill>
            <a:srgbClr val="D8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187183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7306055" y="3419856"/>
            <a:ext cx="118872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7424927" y="3419856"/>
            <a:ext cx="118873" cy="283464"/>
          </a:xfrm>
          <a:prstGeom prst="line">
            <a:avLst/>
          </a:prstGeom>
          <a:ln w="25400">
            <a:solidFill>
              <a:srgbClr val="EB59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hevron 66"/>
          <p:cNvSpPr/>
          <p:nvPr/>
        </p:nvSpPr>
        <p:spPr>
          <a:xfrm>
            <a:off x="8247888" y="3465576"/>
            <a:ext cx="365760" cy="274320"/>
          </a:xfrm>
          <a:prstGeom prst="chevron">
            <a:avLst/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823960" y="2962656"/>
            <a:ext cx="1965960" cy="1280160"/>
          </a:xfrm>
          <a:prstGeom prst="ellipse">
            <a:avLst/>
          </a:prstGeom>
          <a:solidFill>
            <a:srgbClr val="DBF4ED"/>
          </a:solidFill>
          <a:ln w="19050">
            <a:solidFill>
              <a:srgbClr val="008C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9400032" y="3346704"/>
            <a:ext cx="557784" cy="493776"/>
          </a:xfrm>
          <a:prstGeom prst="ellipse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33688" y="43616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700" b="1">
                <a:solidFill>
                  <a:srgbClr val="008C82"/>
                </a:solidFill>
                <a:latin typeface="Noto Sans CJK SC"/>
              </a:rPr>
              <a:t>宿主细胞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60" y="4681728"/>
            <a:ext cx="45628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无细胞结构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依赖宿主细胞复制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耐药：被筛选出来的是细菌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连接高中生物：变异＋选择｜不是“人吃出了耐药体质”。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来源：S4; S5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原有差异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471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1200000">
            <a:off x="176479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926080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 rot="1200000">
            <a:off x="3044951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2471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 rot="1200000">
            <a:off x="176479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404872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 rot="1200000">
            <a:off x="3044951" y="3447288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4712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 rot="1200000">
            <a:off x="1764792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04872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 rot="1200000">
            <a:off x="3044951" y="3968496"/>
            <a:ext cx="393192" cy="228600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4142232" y="3401568"/>
            <a:ext cx="32004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626864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药物选择压力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74336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54496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4663440"/>
            <a:ext cx="29077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53E75"/>
                </a:solidFill>
                <a:latin typeface="Noto Sans CJK SC"/>
                <a:ea typeface="Noto Sans CJK SC"/>
              </a:rPr>
              <a:t>敏感菌更易被抑制</a:t>
            </a:r>
          </a:p>
        </p:txBody>
      </p:sp>
      <p:sp>
        <p:nvSpPr>
          <p:cNvPr id="29" name="Chevron 28"/>
          <p:cNvSpPr/>
          <p:nvPr/>
        </p:nvSpPr>
        <p:spPr>
          <a:xfrm>
            <a:off x="7991856" y="3401568"/>
            <a:ext cx="32004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76488" y="1920240"/>
            <a:ext cx="3246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9367" y="2121408"/>
            <a:ext cx="2880360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存活并繁殖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2396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 rot="1200000">
            <a:off x="946404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0412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 rot="1200000">
            <a:off x="10744200" y="2926080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82396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 rot="1200000">
            <a:off x="946404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412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 rot="1200000">
            <a:off x="10744200" y="3447288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82396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 rot="1200000">
            <a:off x="946404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010412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 rot="1200000">
            <a:off x="10744200" y="3968496"/>
            <a:ext cx="393192" cy="228600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" y="5431536"/>
            <a:ext cx="105156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53E75"/>
                </a:solidFill>
                <a:latin typeface="Noto Sans CJK SC"/>
                <a:ea typeface="Noto Sans CJK SC"/>
              </a:rPr>
              <a:t>蓝：敏感菌　红：耐药菌　｜　数量仅为示意，不代表实验比例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495万与127万：是在回答两个问题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2019年全球模型估计｜不能相加，也不能全部归咎于个人乱用药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来源：S5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13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773936"/>
            <a:ext cx="106984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203354"/>
                </a:solidFill>
                <a:latin typeface="Noto Sans CJK SC"/>
              </a:rPr>
              <a:t>2019年全球估计 · 2022年发表 · 单位：万人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2331720"/>
            <a:ext cx="4700016" cy="126187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468879"/>
            <a:ext cx="42519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008C82"/>
                </a:solidFill>
                <a:latin typeface="Noto Sans CJK SC"/>
              </a:rPr>
              <a:t>相关死亡 · 495万人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2926079"/>
            <a:ext cx="4251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实际耐药感染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与“没有这类感染”比较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3776472"/>
            <a:ext cx="4700016" cy="126187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" y="3913632"/>
            <a:ext cx="425196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7952D5"/>
                </a:solidFill>
                <a:latin typeface="Noto Sans CJK SC"/>
              </a:rPr>
              <a:t>归因死亡 · 127万人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1" y="4370832"/>
            <a:ext cx="4251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感染仍发生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但假设细菌对药物敏感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98464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779007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722146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02690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100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45828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226372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200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169510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50054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300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893193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73737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400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616875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397419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500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0340557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121101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600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064240" y="2496312"/>
            <a:ext cx="0" cy="2404872"/>
          </a:xfrm>
          <a:prstGeom prst="line">
            <a:avLst/>
          </a:prstGeom>
          <a:ln w="7620">
            <a:solidFill>
              <a:srgbClr val="DD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844784" y="5010912"/>
            <a:ext cx="438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700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98464" y="2459736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008C82"/>
                </a:solidFill>
                <a:latin typeface="Noto Sans CJK SC"/>
              </a:rPr>
              <a:t>相关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98464" y="2816352"/>
            <a:ext cx="3582227" cy="365760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8618193" y="2999232"/>
            <a:ext cx="2134863" cy="0"/>
          </a:xfrm>
          <a:prstGeom prst="line">
            <a:avLst/>
          </a:prstGeom>
          <a:ln w="279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618193" y="2880360"/>
            <a:ext cx="0" cy="237744"/>
          </a:xfrm>
          <a:prstGeom prst="line">
            <a:avLst/>
          </a:prstGeom>
          <a:ln w="279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753056" y="2880360"/>
            <a:ext cx="0" cy="237744"/>
          </a:xfrm>
          <a:prstGeom prst="line">
            <a:avLst/>
          </a:prstGeom>
          <a:ln w="279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9521255" y="2939796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0419" y="2459736"/>
            <a:ext cx="78638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008C82"/>
                </a:solidFill>
                <a:latin typeface="Noto Sans CJK SC"/>
              </a:rPr>
              <a:t>495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98464" y="3291840"/>
            <a:ext cx="50749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95%不确定性区间：362—657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98464" y="3730752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归因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98464" y="4087368"/>
            <a:ext cx="919076" cy="365760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6657738" y="4270248"/>
            <a:ext cx="578222" cy="0"/>
          </a:xfrm>
          <a:prstGeom prst="line">
            <a:avLst/>
          </a:prstGeom>
          <a:ln w="279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657738" y="4151376"/>
            <a:ext cx="0" cy="237744"/>
          </a:xfrm>
          <a:prstGeom prst="line">
            <a:avLst/>
          </a:prstGeom>
          <a:ln w="279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35960" y="4151376"/>
            <a:ext cx="0" cy="237744"/>
          </a:xfrm>
          <a:prstGeom prst="line">
            <a:avLst/>
          </a:prstGeom>
          <a:ln w="2794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858104" y="4210812"/>
            <a:ext cx="118872" cy="11887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033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7268" y="3730752"/>
            <a:ext cx="78638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127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98464" y="4562856"/>
            <a:ext cx="507492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95%不确定性区间：91.1—171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998464" y="4892040"/>
            <a:ext cx="5065776" cy="0"/>
          </a:xfrm>
          <a:prstGeom prst="line">
            <a:avLst/>
          </a:prstGeom>
          <a:ln w="127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43016" y="5431536"/>
            <a:ext cx="53949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>
                <a:solidFill>
                  <a:srgbClr val="203354"/>
                </a:solidFill>
                <a:latin typeface="Noto Sans CJK SC"/>
              </a:rPr>
              <a:t>条形与圆点＝估计值；带端帽的细线＝95%不确定性区间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3271" y="5266944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EB5969"/>
                </a:solidFill>
                <a:latin typeface="Noto Sans CJK SC"/>
              </a:rPr>
              <a:t>两个比较问题，不能相加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抗生素的三条行动规则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出现不良反应或疗效疑问，及时联系医生 / 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armacy-03.jpg"/>
          <p:cNvPicPr>
            <a:picLocks noChangeAspect="1"/>
          </p:cNvPicPr>
          <p:nvPr/>
        </p:nvPicPr>
        <p:blipFill>
          <a:blip r:embed="rId3"/>
          <a:srcRect t="15812" b="15812"/>
          <a:stretch>
            <a:fillRect/>
          </a:stretch>
        </p:blipFill>
        <p:spPr>
          <a:xfrm>
            <a:off x="868680" y="2103120"/>
            <a:ext cx="3209544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不自行启用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先明确是否需要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armacy-02.jpg"/>
          <p:cNvPicPr>
            <a:picLocks noChangeAspect="1"/>
          </p:cNvPicPr>
          <p:nvPr/>
        </p:nvPicPr>
        <p:blipFill>
          <a:blip r:embed="rId4"/>
          <a:srcRect t="15812" b="15812"/>
          <a:stretch>
            <a:fillRect/>
          </a:stretch>
        </p:blipFill>
        <p:spPr>
          <a:xfrm>
            <a:off x="4709160" y="2103120"/>
            <a:ext cx="3209544" cy="1234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不分享剩药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相似症状不等于相同病因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ill-bottle.jpg"/>
          <p:cNvPicPr>
            <a:picLocks noChangeAspect="1"/>
          </p:cNvPicPr>
          <p:nvPr/>
        </p:nvPicPr>
        <p:blipFill>
          <a:blip r:embed="rId5"/>
          <a:srcRect t="37981" b="37981"/>
          <a:stretch>
            <a:fillRect/>
          </a:stretch>
        </p:blipFill>
        <p:spPr>
          <a:xfrm>
            <a:off x="8549640" y="2103120"/>
            <a:ext cx="3209544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54964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4108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423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按处方使用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不擅自停、加或延长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考试周的“外挂”，谁在给它背书？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清醒感不等于成绩保证；保健食品与处方药都不能靠传闻判断。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来源：S6; S7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15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FFF2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41832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01 情境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170432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今晚要复习，广告说能快速提分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94867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366113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3680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22883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69364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78077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378915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06093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28546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125089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9570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570939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615744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81328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1462125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1378915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66113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1276502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1474927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385316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570939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1673352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606039" y="3913632"/>
            <a:ext cx="1078992" cy="1179576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688336" y="4014215"/>
            <a:ext cx="914400" cy="9052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743200" y="4169663"/>
            <a:ext cx="8046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EB5969"/>
                </a:solidFill>
                <a:latin typeface="Noto Sans CJK SC"/>
              </a:rPr>
              <a:t>快速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EB5969"/>
                </a:solidFill>
                <a:latin typeface="Noto Sans CJK SC"/>
              </a:rPr>
              <a:t>提分？</a:t>
            </a:r>
          </a:p>
        </p:txBody>
      </p:sp>
      <p:sp>
        <p:nvSpPr>
          <p:cNvPr id="41" name="4-Point Star 40"/>
          <p:cNvSpPr/>
          <p:nvPr/>
        </p:nvSpPr>
        <p:spPr>
          <a:xfrm>
            <a:off x="3721608" y="3794760"/>
            <a:ext cx="201168" cy="201168"/>
          </a:xfrm>
          <a:prstGeom prst="star4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76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08C82"/>
                </a:solidFill>
                <a:latin typeface="Noto Sans CJK SC"/>
              </a:rPr>
              <a:t>先有一个需求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425696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636008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00016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02 对话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636008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 rot="10800000">
            <a:off x="4864608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82312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别人用的处方药，要不要试？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689043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060289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97856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17059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27448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463540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772253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073091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00269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5322722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 flipV="1">
            <a:off x="4945075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4989880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5265115" y="4224528"/>
            <a:ext cx="44805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5309920" y="4224528"/>
            <a:ext cx="44806" cy="4480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5175503" y="4256532"/>
            <a:ext cx="19203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5156301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5073091" y="4422952"/>
            <a:ext cx="211226" cy="12801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060289" y="4390948"/>
            <a:ext cx="236829" cy="10241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4970678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H="1">
            <a:off x="5169103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079492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265115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5367527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6382512" y="3995928"/>
            <a:ext cx="960120" cy="115214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428232" y="4041648"/>
            <a:ext cx="868680" cy="201168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6862572" y="4361688"/>
            <a:ext cx="0" cy="27432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6718554" y="4498848"/>
            <a:ext cx="288036" cy="0"/>
          </a:xfrm>
          <a:prstGeom prst="line">
            <a:avLst/>
          </a:prstGeom>
          <a:ln w="381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428232" y="4837176"/>
            <a:ext cx="86868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7952D5"/>
                </a:solidFill>
                <a:latin typeface="Noto Sans CJK SC"/>
              </a:rPr>
              <a:t>处方？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645152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7952D5"/>
                </a:solidFill>
                <a:latin typeface="Noto Sans CJK SC"/>
              </a:rPr>
              <a:t>再来一个建议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119872" y="1920240"/>
            <a:ext cx="3474720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330184" y="2093976"/>
            <a:ext cx="1097280" cy="329184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394192" y="2112264"/>
            <a:ext cx="9692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03 悬念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330184" y="2660904"/>
            <a:ext cx="3054096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Isosceles Triangle 81"/>
          <p:cNvSpPr/>
          <p:nvPr/>
        </p:nvSpPr>
        <p:spPr>
          <a:xfrm rot="10800000">
            <a:off x="8558784" y="3602736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76488" y="2734056"/>
            <a:ext cx="2761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203354"/>
                </a:solidFill>
                <a:latin typeface="Noto Sans CJK SC"/>
              </a:rPr>
              <a:t>宣传和别人经验，能替代适用依据吗？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383219" y="4506163"/>
            <a:ext cx="979322" cy="659282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8754465" y="4435754"/>
            <a:ext cx="204825" cy="185623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492032" y="3872484"/>
            <a:ext cx="742492" cy="73609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511235" y="3955694"/>
            <a:ext cx="704088" cy="665683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421624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9157716" y="4243730"/>
            <a:ext cx="140817" cy="140817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466429" y="3853281"/>
            <a:ext cx="486460" cy="23682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767267" y="3904488"/>
            <a:ext cx="486460" cy="179222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594445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016898" y="4346143"/>
            <a:ext cx="96012" cy="8321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639251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959291" y="4243730"/>
            <a:ext cx="54406" cy="67208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6" name="Connector 95"/>
          <p:cNvCxnSpPr/>
          <p:nvPr/>
        </p:nvCxnSpPr>
        <p:spPr>
          <a:xfrm>
            <a:off x="8869680" y="4256532"/>
            <a:ext cx="19202" cy="96012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 flipH="1">
            <a:off x="8850477" y="4352544"/>
            <a:ext cx="38405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8780068" y="4467758"/>
            <a:ext cx="134417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8664854" y="4570171"/>
            <a:ext cx="198425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 flipH="1">
            <a:off x="8863279" y="4570171"/>
            <a:ext cx="179222" cy="16002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100"/>
          <p:cNvCxnSpPr/>
          <p:nvPr/>
        </p:nvCxnSpPr>
        <p:spPr>
          <a:xfrm>
            <a:off x="8773668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 101"/>
          <p:cNvCxnSpPr/>
          <p:nvPr/>
        </p:nvCxnSpPr>
        <p:spPr>
          <a:xfrm>
            <a:off x="8959291" y="4749393"/>
            <a:ext cx="0" cy="153619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Oval 102"/>
          <p:cNvSpPr/>
          <p:nvPr/>
        </p:nvSpPr>
        <p:spPr>
          <a:xfrm>
            <a:off x="9061704" y="4858207"/>
            <a:ext cx="166420" cy="172821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208922" y="3776472"/>
            <a:ext cx="243230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105" name="Oval 104"/>
          <p:cNvSpPr/>
          <p:nvPr/>
        </p:nvSpPr>
        <p:spPr>
          <a:xfrm>
            <a:off x="9994392" y="4041648"/>
            <a:ext cx="859536" cy="8595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10652760" y="4736592"/>
            <a:ext cx="374904" cy="402336"/>
          </a:xfrm>
          <a:prstGeom prst="line">
            <a:avLst/>
          </a:prstGeom>
          <a:ln w="889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10076688" y="4288536"/>
            <a:ext cx="70408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适用？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339328" y="5212080"/>
            <a:ext cx="303580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08C82"/>
                </a:solidFill>
                <a:latin typeface="Noto Sans CJK SC"/>
              </a:rPr>
              <a:t>判断停在这里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案例④：鼻子舒服了，上课却困了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不能仅凭“抗过敏药”四个字判断影响。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16 / 30</a:t>
            </a:r>
          </a:p>
        </p:txBody>
      </p:sp>
      <p:pic>
        <p:nvPicPr>
          <p:cNvPr id="9" name="Picture 8" descr="evening.jpg"/>
          <p:cNvPicPr>
            <a:picLocks noChangeAspect="1"/>
          </p:cNvPicPr>
          <p:nvPr/>
        </p:nvPicPr>
        <p:blipFill>
          <a:blip r:embed="rId3"/>
          <a:srcRect t="1601" b="1601"/>
          <a:stretch>
            <a:fillRect/>
          </a:stretch>
        </p:blipFill>
        <p:spPr>
          <a:xfrm>
            <a:off x="704088" y="1856231"/>
            <a:ext cx="3712463" cy="359359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04088" y="1856231"/>
            <a:ext cx="3712463" cy="359359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2376" y="5129784"/>
            <a:ext cx="3675887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" y="5157216"/>
            <a:ext cx="34564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86537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部分抗组胺药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1343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可能引起嗜睡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05409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“较少嗜睡”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2312" y="350215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不代表人人都不困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82312" y="4242816"/>
            <a:ext cx="64922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3464F"/>
                </a:solidFill>
                <a:latin typeface="Noto Sans CJK SC"/>
                <a:ea typeface="Noto Sans CJK SC"/>
              </a:rPr>
              <a:t>困倦时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2312" y="4690872"/>
            <a:ext cx="64922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避免驾驶、骑车等高风险活动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同一种组胺信号，为什么有两种影响？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这是简化机制图；不能据此自行换药。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S14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17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E4F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1947672"/>
            <a:ext cx="5148072" cy="3639312"/>
          </a:xfrm>
          <a:prstGeom prst="roundRect">
            <a:avLst>
              <a:gd name="adj" fmla="val 10000"/>
            </a:avLst>
          </a:prstGeom>
          <a:solidFill>
            <a:srgbClr val="F1E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008C82"/>
                </a:solidFill>
                <a:latin typeface="Noto Sans CJK SC"/>
              </a:rPr>
              <a:t>鼻部：参与过敏反应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3109" y="3369381"/>
            <a:ext cx="867399" cy="583935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521927" y="3307019"/>
            <a:ext cx="181416" cy="164409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89486" y="2808122"/>
            <a:ext cx="657636" cy="651967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06494" y="2881823"/>
            <a:ext cx="623620" cy="589605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227124" y="3136940"/>
            <a:ext cx="124724" cy="124724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879092" y="3136940"/>
            <a:ext cx="124724" cy="124724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66809" y="2791114"/>
            <a:ext cx="430865" cy="209763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533265" y="2836468"/>
            <a:ext cx="430865" cy="15873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380195" y="3227649"/>
            <a:ext cx="85039" cy="7370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754367" y="3227649"/>
            <a:ext cx="85039" cy="73700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1419880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459565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703344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743029" y="3119932"/>
            <a:ext cx="39685" cy="39685"/>
          </a:xfrm>
          <a:prstGeom prst="line">
            <a:avLst/>
          </a:prstGeom>
          <a:ln w="3175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623974" y="3148279"/>
            <a:ext cx="17008" cy="85039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1606966" y="3233318"/>
            <a:ext cx="34016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1533265" y="3295680"/>
            <a:ext cx="187086" cy="11338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521927" y="3267334"/>
            <a:ext cx="209763" cy="90708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1442557" y="3426073"/>
            <a:ext cx="175748" cy="141732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1618305" y="3426073"/>
            <a:ext cx="158739" cy="141732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38935" y="3584813"/>
            <a:ext cx="0" cy="13606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703344" y="3584813"/>
            <a:ext cx="0" cy="136063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794052" y="3681191"/>
            <a:ext cx="147401" cy="153070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386584" y="2843784"/>
            <a:ext cx="1353312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Isosceles Triangle 35"/>
          <p:cNvSpPr/>
          <p:nvPr/>
        </p:nvSpPr>
        <p:spPr>
          <a:xfrm rot="10800000">
            <a:off x="2615184" y="3401568"/>
            <a:ext cx="256032" cy="219456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32888" y="2916936"/>
            <a:ext cx="1060704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100" b="1">
                <a:solidFill>
                  <a:srgbClr val="203354"/>
                </a:solidFill>
                <a:latin typeface="Noto Sans CJK SC"/>
              </a:rPr>
              <a:t>阿嚏！</a:t>
            </a:r>
          </a:p>
        </p:txBody>
      </p:sp>
      <p:sp>
        <p:nvSpPr>
          <p:cNvPr id="38" name="Oval 37"/>
          <p:cNvSpPr/>
          <p:nvPr/>
        </p:nvSpPr>
        <p:spPr>
          <a:xfrm>
            <a:off x="4251960" y="2880360"/>
            <a:ext cx="594360" cy="594360"/>
          </a:xfrm>
          <a:prstGeom prst="ellipse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1184" y="2999232"/>
            <a:ext cx="78638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203354"/>
                </a:solidFill>
                <a:latin typeface="Noto Sans CJK SC"/>
              </a:rPr>
              <a:t>组胺</a:t>
            </a:r>
          </a:p>
        </p:txBody>
      </p:sp>
      <p:sp>
        <p:nvSpPr>
          <p:cNvPr id="40" name="Chevron 39"/>
          <p:cNvSpPr/>
          <p:nvPr/>
        </p:nvSpPr>
        <p:spPr>
          <a:xfrm rot="5400000">
            <a:off x="4370832" y="3584448"/>
            <a:ext cx="310896" cy="274320"/>
          </a:xfrm>
          <a:prstGeom prst="chevron">
            <a:avLst/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2596896" y="4059936"/>
            <a:ext cx="356616" cy="274320"/>
          </a:xfrm>
          <a:prstGeom prst="chevron">
            <a:avLst/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136392" y="3895344"/>
            <a:ext cx="2103120" cy="576072"/>
          </a:xfrm>
          <a:prstGeom prst="roundRect">
            <a:avLst>
              <a:gd name="adj" fmla="val 10000"/>
            </a:avLst>
          </a:prstGeom>
          <a:solidFill>
            <a:srgbClr val="00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64408" y="3968496"/>
            <a:ext cx="184708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Noto Sans CJK SC"/>
              </a:rPr>
              <a:t>H1 受体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" y="4050791"/>
            <a:ext cx="832104" cy="27432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225296" y="4087368"/>
            <a:ext cx="366125" cy="20116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" y="4489704"/>
            <a:ext cx="1627632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EB5969"/>
                </a:solidFill>
                <a:latin typeface="Noto Sans CJK SC"/>
              </a:rPr>
              <a:t>抗组胺药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3271" y="5010912"/>
            <a:ext cx="45628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1">
                <a:solidFill>
                  <a:srgbClr val="008C82"/>
                </a:solidFill>
                <a:latin typeface="Noto Sans CJK SC"/>
              </a:rPr>
              <a:t>影响受体作用 → 缓解部分症状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01384" y="2139696"/>
            <a:ext cx="456285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500" b="1">
                <a:solidFill>
                  <a:srgbClr val="7952D5"/>
                </a:solidFill>
                <a:latin typeface="Noto Sans CJK SC"/>
              </a:rPr>
              <a:t>脑内：也参与维持清醒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44383" y="2743200"/>
            <a:ext cx="142646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7952D5"/>
                </a:solidFill>
                <a:latin typeface="Noto Sans CJK SC"/>
              </a:rPr>
              <a:t>血脑屏障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84464" y="313639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284464" y="3730752"/>
            <a:ext cx="146304" cy="393192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693408" y="3465576"/>
            <a:ext cx="950976" cy="320040"/>
          </a:xfrm>
          <a:prstGeom prst="roundRect">
            <a:avLst>
              <a:gd name="adj" fmla="val 10000"/>
            </a:avLst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729984" y="3502152"/>
            <a:ext cx="418429" cy="24688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7799831" y="3474720"/>
            <a:ext cx="420624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evron 54"/>
          <p:cNvSpPr/>
          <p:nvPr/>
        </p:nvSpPr>
        <p:spPr>
          <a:xfrm>
            <a:off x="8586216" y="3474720"/>
            <a:ext cx="384048" cy="274320"/>
          </a:xfrm>
          <a:prstGeom prst="chevron">
            <a:avLst/>
          </a:prstGeom>
          <a:solidFill>
            <a:srgbClr val="EB5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244584" y="3306470"/>
            <a:ext cx="546811" cy="6056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345533" y="3096158"/>
            <a:ext cx="630936" cy="63934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732507" y="3054096"/>
            <a:ext cx="639348" cy="672998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153131" y="3239170"/>
            <a:ext cx="563636" cy="647760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749332" y="3491544"/>
            <a:ext cx="647760" cy="479511"/>
          </a:xfrm>
          <a:prstGeom prst="ellipse">
            <a:avLst/>
          </a:prstGeom>
          <a:solidFill>
            <a:srgbClr val="D8C4FF"/>
          </a:solidFill>
          <a:ln w="19050">
            <a:solidFill>
              <a:srgbClr val="7952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9505370" y="3289645"/>
            <a:ext cx="143013" cy="159837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9799807" y="3255995"/>
            <a:ext cx="33650" cy="2776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0203606" y="3373770"/>
            <a:ext cx="134600" cy="1766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9606320" y="3693444"/>
            <a:ext cx="218725" cy="7571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0119481" y="3727094"/>
            <a:ext cx="117775" cy="109362"/>
          </a:xfrm>
          <a:prstGeom prst="line">
            <a:avLst/>
          </a:prstGeom>
          <a:ln w="25400">
            <a:solidFill>
              <a:srgbClr val="7952D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9098280" y="41422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500" b="1">
                <a:solidFill>
                  <a:srgbClr val="7952D5"/>
                </a:solidFill>
                <a:latin typeface="Noto Sans CJK SC"/>
              </a:rPr>
              <a:t>脑内 H1 信号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01384" y="4645152"/>
            <a:ext cx="456285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7952D5"/>
                </a:solidFill>
                <a:latin typeface="Noto Sans CJK SC"/>
              </a:rPr>
              <a:t>部分药物可进入脑内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01384" y="5093208"/>
            <a:ext cx="45628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>
                <a:solidFill>
                  <a:srgbClr val="203354"/>
                </a:solidFill>
                <a:latin typeface="Noto Sans CJK SC"/>
              </a:rPr>
              <a:t>清醒相关信号受影响 → 可能嗜睡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案例⑤：聚餐的酒，先缓一缓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拿不准能否饮酒：先不喝，再查说明书或问药师。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S9; S13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18 / 30</a:t>
            </a:r>
          </a:p>
        </p:txBody>
      </p:sp>
      <p:pic>
        <p:nvPicPr>
          <p:cNvPr id="9" name="Picture 8" descr="pill-bottle.jpg"/>
          <p:cNvPicPr>
            <a:picLocks noChangeAspect="1"/>
          </p:cNvPicPr>
          <p:nvPr/>
        </p:nvPicPr>
        <p:blipFill>
          <a:blip r:embed="rId3"/>
          <a:srcRect t="25941" b="25941"/>
          <a:stretch>
            <a:fillRect/>
          </a:stretch>
        </p:blipFill>
        <p:spPr>
          <a:xfrm>
            <a:off x="950976" y="1984248"/>
            <a:ext cx="4251960" cy="327355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50976" y="1984248"/>
            <a:ext cx="4251960" cy="327355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9264" y="4937760"/>
            <a:ext cx="421538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965192"/>
            <a:ext cx="399592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41264" y="1901952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酒精＋部分抗过敏药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2423160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嗜睡与反应受损风险增加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41264" y="3108960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酒精＋某些药物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1264" y="3630168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可能增加其他不良反应风险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1264" y="4315968"/>
            <a:ext cx="579729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普通口服片剂 / 胶囊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1264" y="4837176"/>
            <a:ext cx="5797296" cy="4846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153E75"/>
                </a:solidFill>
                <a:latin typeface="Noto Sans CJK SC"/>
                <a:ea typeface="Noto Sans CJK SC"/>
              </a:rPr>
              <a:t>通常用白水，具体看说明书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02 / 宿舍误区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聚餐群里的建议，哪条先解决未知？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背景：今天服了抗过敏药，具体饮酒要求尚未确认。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19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先吃点东西，把两者错开两小时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照以前的经验，只小酌不碰烈酒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今晚先换白水，按具体药名查要求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先选哪一步？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单选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安全用药四步：看、核、问、记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上一题选 C｜把“不确定”变成一个咨询动作。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S8; S9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20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症状、说明书、就医信号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1810512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2670048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成分、剂量、间隔、禁忌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医生 / 药师，确认不确定处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4496" y="3685031"/>
            <a:ext cx="5239512" cy="164592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867911"/>
            <a:ext cx="4480560" cy="521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3464F"/>
                </a:solidFill>
                <a:latin typeface="Noto Sans CJK SC"/>
                <a:ea typeface="Noto Sans CJK SC"/>
              </a:rPr>
              <a:t>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544567"/>
            <a:ext cx="4736592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153E75"/>
                </a:solidFill>
                <a:latin typeface="Noto Sans CJK SC"/>
                <a:ea typeface="Noto Sans CJK SC"/>
              </a:rPr>
              <a:t>药名、时间、用量与反应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说明书很长？先定位这六处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六处是阅读起点，不代表其余内容可以跳过。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来源：S1; S2; S8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21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2688" y="1801368"/>
            <a:ext cx="10305288" cy="376732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79576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9576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7943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成分 / 通用名</a:t>
            </a:r>
          </a:p>
        </p:txBody>
      </p:sp>
      <p:sp>
        <p:nvSpPr>
          <p:cNvPr id="13" name="Oval 12"/>
          <p:cNvSpPr/>
          <p:nvPr/>
        </p:nvSpPr>
        <p:spPr>
          <a:xfrm>
            <a:off x="4864608" y="2039112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64608" y="2066543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2976" y="2029968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适应证或功能主治</a:t>
            </a:r>
          </a:p>
        </p:txBody>
      </p:sp>
      <p:sp>
        <p:nvSpPr>
          <p:cNvPr id="16" name="Oval 15"/>
          <p:cNvSpPr/>
          <p:nvPr/>
        </p:nvSpPr>
        <p:spPr>
          <a:xfrm>
            <a:off x="1179576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9576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7943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用法用量</a:t>
            </a:r>
          </a:p>
        </p:txBody>
      </p:sp>
      <p:sp>
        <p:nvSpPr>
          <p:cNvPr id="19" name="Oval 18"/>
          <p:cNvSpPr/>
          <p:nvPr/>
        </p:nvSpPr>
        <p:spPr>
          <a:xfrm>
            <a:off x="4864608" y="3127248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3154679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2976" y="3118104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禁忌与注意事项</a:t>
            </a:r>
          </a:p>
        </p:txBody>
      </p:sp>
      <p:sp>
        <p:nvSpPr>
          <p:cNvPr id="22" name="Oval 21"/>
          <p:cNvSpPr/>
          <p:nvPr/>
        </p:nvSpPr>
        <p:spPr>
          <a:xfrm>
            <a:off x="1179576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9576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7943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相互作用 / 不良反应</a:t>
            </a:r>
          </a:p>
        </p:txBody>
      </p:sp>
      <p:sp>
        <p:nvSpPr>
          <p:cNvPr id="25" name="Oval 24"/>
          <p:cNvSpPr/>
          <p:nvPr/>
        </p:nvSpPr>
        <p:spPr>
          <a:xfrm>
            <a:off x="4864608" y="4215383"/>
            <a:ext cx="502920" cy="502920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64608" y="4242816"/>
            <a:ext cx="5029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22976" y="4206240"/>
            <a:ext cx="2926080" cy="612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53E75"/>
                </a:solidFill>
                <a:latin typeface="Noto Sans CJK SC"/>
                <a:ea typeface="Noto Sans CJK SC"/>
              </a:rPr>
              <a:t>贮藏条件 / 有效期</a:t>
            </a:r>
          </a:p>
        </p:txBody>
      </p:sp>
      <p:pic>
        <p:nvPicPr>
          <p:cNvPr id="28" name="Picture 27" descr="pill-bottle.jpg"/>
          <p:cNvPicPr>
            <a:picLocks noChangeAspect="1"/>
          </p:cNvPicPr>
          <p:nvPr/>
        </p:nvPicPr>
        <p:blipFill>
          <a:blip r:embed="rId3"/>
          <a:srcRect t="7230" b="7230"/>
          <a:stretch>
            <a:fillRect/>
          </a:stretch>
        </p:blipFill>
        <p:spPr>
          <a:xfrm>
            <a:off x="8613648" y="1975104"/>
            <a:ext cx="2331720" cy="319125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8613648" y="1975104"/>
            <a:ext cx="2331720" cy="31912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31936" y="4846320"/>
            <a:ext cx="2295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41664" y="4873752"/>
            <a:ext cx="2075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330952"/>
            <a:ext cx="71323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请以手中的真实说明书为准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时间、剂量、剂型，都别凭感觉改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不同药物要求不同；不要套用同一条补药规则。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来源：S10; S13;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22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ll-bottle.jpg"/>
          <p:cNvPicPr>
            <a:picLocks noChangeAspect="1"/>
          </p:cNvPicPr>
          <p:nvPr/>
        </p:nvPicPr>
        <p:blipFill>
          <a:blip r:embed="rId3"/>
          <a:srcRect t="37981" b="37981"/>
          <a:stretch>
            <a:fillRect/>
          </a:stretch>
        </p:blipFill>
        <p:spPr>
          <a:xfrm>
            <a:off x="868680" y="2103120"/>
            <a:ext cx="3209544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6868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6012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漏服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先查具体处理要求，不自行加倍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028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harmacy-01.jpg"/>
          <p:cNvPicPr>
            <a:picLocks noChangeAspect="1"/>
          </p:cNvPicPr>
          <p:nvPr/>
        </p:nvPicPr>
        <p:blipFill>
          <a:blip r:embed="rId4"/>
          <a:srcRect t="15812" b="15812"/>
          <a:stretch>
            <a:fillRect/>
          </a:stretch>
        </p:blipFill>
        <p:spPr>
          <a:xfrm>
            <a:off x="4709160" y="2103120"/>
            <a:ext cx="3209544" cy="123444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70916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0060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疗程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按处方执行，有问题及时咨询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30768" y="1993392"/>
            <a:ext cx="3447288" cy="3346704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tablet-hand.jpg"/>
          <p:cNvPicPr>
            <a:picLocks noChangeAspect="1"/>
          </p:cNvPicPr>
          <p:nvPr/>
        </p:nvPicPr>
        <p:blipFill>
          <a:blip r:embed="rId5"/>
          <a:srcRect t="30769" b="30769"/>
          <a:stretch>
            <a:fillRect/>
          </a:stretch>
        </p:blipFill>
        <p:spPr>
          <a:xfrm>
            <a:off x="8549640" y="2103120"/>
            <a:ext cx="3209544" cy="123444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8549640" y="2103120"/>
            <a:ext cx="3209544" cy="123444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41080" y="3474720"/>
            <a:ext cx="530352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14232" y="3493008"/>
            <a:ext cx="384047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877056"/>
            <a:ext cx="3017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53E75"/>
                </a:solidFill>
                <a:latin typeface="Noto Sans CJK SC"/>
                <a:ea typeface="Noto Sans CJK SC"/>
              </a:rPr>
              <a:t>剂型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4443984"/>
            <a:ext cx="2999232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53E75"/>
                </a:solidFill>
                <a:latin typeface="Noto Sans CJK SC"/>
                <a:ea typeface="Noto Sans CJK SC"/>
              </a:rPr>
              <a:t>缓释、肠溶等，不随意掰碎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问药师时，把信息一次说清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带药盒 / 说明书照片，比“那种白色药片”更有用。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23 / 30</a:t>
            </a:r>
          </a:p>
        </p:txBody>
      </p:sp>
      <p:pic>
        <p:nvPicPr>
          <p:cNvPr id="9" name="Picture 8" descr="pharmacy-02.jpg"/>
          <p:cNvPicPr>
            <a:picLocks noChangeAspect="1"/>
          </p:cNvPicPr>
          <p:nvPr/>
        </p:nvPicPr>
        <p:blipFill>
          <a:blip r:embed="rId3"/>
          <a:srcRect l="29209" r="29209"/>
          <a:stretch>
            <a:fillRect/>
          </a:stretch>
        </p:blipFill>
        <p:spPr>
          <a:xfrm>
            <a:off x="822960" y="1975104"/>
            <a:ext cx="2514600" cy="340156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2960" y="1975104"/>
            <a:ext cx="2514600" cy="340156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056632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084064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975104"/>
            <a:ext cx="7726679" cy="340156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86200" y="2240279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15384" y="2103120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我有什么症状，持续多久？</a:t>
            </a:r>
          </a:p>
        </p:txBody>
      </p:sp>
      <p:sp>
        <p:nvSpPr>
          <p:cNvPr id="16" name="Oval 15"/>
          <p:cNvSpPr/>
          <p:nvPr/>
        </p:nvSpPr>
        <p:spPr>
          <a:xfrm>
            <a:off x="3886200" y="322783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4" y="3090672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我正在吃什么，何时吃了多少？</a:t>
            </a:r>
          </a:p>
        </p:txBody>
      </p:sp>
      <p:sp>
        <p:nvSpPr>
          <p:cNvPr id="18" name="Oval 17"/>
          <p:cNvSpPr/>
          <p:nvPr/>
        </p:nvSpPr>
        <p:spPr>
          <a:xfrm>
            <a:off x="3886200" y="4215384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5384" y="4078224"/>
            <a:ext cx="6793992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我有哪些过敏史、疾病或特殊情况？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什么时候，不该继续自己试药？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严重急症拨打120；带上药品信息，别等“自己好”。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24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938528"/>
            <a:ext cx="2852928" cy="3465576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0320"/>
            <a:ext cx="2377440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Noto Sans CJK SC"/>
                <a:ea typeface="Noto Sans CJK SC"/>
              </a:rPr>
              <a:t>120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3986784"/>
            <a:ext cx="2221992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严重急症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立即求助</a:t>
            </a:r>
          </a:p>
        </p:txBody>
      </p:sp>
      <p:pic>
        <p:nvPicPr>
          <p:cNvPr id="12" name="Picture 11" descr="hospital-02.jpg"/>
          <p:cNvPicPr>
            <a:picLocks noChangeAspect="1"/>
          </p:cNvPicPr>
          <p:nvPr/>
        </p:nvPicPr>
        <p:blipFill>
          <a:blip r:embed="rId3"/>
          <a:srcRect l="34960" r="34960"/>
          <a:stretch>
            <a:fillRect/>
          </a:stretch>
        </p:blipFill>
        <p:spPr>
          <a:xfrm>
            <a:off x="9555480" y="1956816"/>
            <a:ext cx="1828800" cy="341985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555480" y="1956816"/>
            <a:ext cx="1828800" cy="3419856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73767" y="5056632"/>
            <a:ext cx="17922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83496" y="5084064"/>
            <a:ext cx="15727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14215" y="1984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呼吸困难 / 喉舌肿胀 / 意识异常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14215" y="2514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立即急救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14215" y="3127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疑似超量或误服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4215" y="3657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及时寻求医疗帮助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14215" y="4270248"/>
            <a:ext cx="534924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53E75"/>
                </a:solidFill>
                <a:latin typeface="Noto Sans CJK SC"/>
                <a:ea typeface="Noto Sans CJK SC"/>
              </a:rPr>
              <a:t>症状持续、加重或反复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4215" y="4800600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E3464F"/>
                </a:solidFill>
                <a:latin typeface="Noto Sans CJK SC"/>
                <a:ea typeface="Noto Sans CJK SC"/>
              </a:rPr>
              <a:t>及时就诊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宿舍药箱：留信息，也留秩序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数量不求多；需要时能认清、查到、说清。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25 / 30</a:t>
            </a:r>
          </a:p>
        </p:txBody>
      </p:sp>
      <p:pic>
        <p:nvPicPr>
          <p:cNvPr id="9" name="Picture 8" descr="pharmacy-01.jpg"/>
          <p:cNvPicPr>
            <a:picLocks noChangeAspect="1"/>
          </p:cNvPicPr>
          <p:nvPr/>
        </p:nvPicPr>
        <p:blipFill>
          <a:blip r:embed="rId3"/>
          <a:srcRect l="19318" r="19318"/>
          <a:stretch>
            <a:fillRect/>
          </a:stretch>
        </p:blipFill>
        <p:spPr>
          <a:xfrm>
            <a:off x="914400" y="2048256"/>
            <a:ext cx="3291840" cy="30175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2048256"/>
            <a:ext cx="3291840" cy="3017520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32688" y="4745736"/>
            <a:ext cx="325526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773168"/>
            <a:ext cx="303580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Oval 12"/>
          <p:cNvSpPr/>
          <p:nvPr/>
        </p:nvSpPr>
        <p:spPr>
          <a:xfrm>
            <a:off x="4599432" y="2231136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28616" y="2093976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原包装＋说明书｜一起保留</a:t>
            </a:r>
          </a:p>
        </p:txBody>
      </p:sp>
      <p:sp>
        <p:nvSpPr>
          <p:cNvPr id="15" name="Oval 14"/>
          <p:cNvSpPr/>
          <p:nvPr/>
        </p:nvSpPr>
        <p:spPr>
          <a:xfrm>
            <a:off x="4599432" y="3346703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28616" y="3209544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有效期＋贮藏条件｜定期检查</a:t>
            </a:r>
          </a:p>
        </p:txBody>
      </p:sp>
      <p:sp>
        <p:nvSpPr>
          <p:cNvPr id="17" name="Oval 16"/>
          <p:cNvSpPr/>
          <p:nvPr/>
        </p:nvSpPr>
        <p:spPr>
          <a:xfrm>
            <a:off x="4599432" y="446227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325112"/>
            <a:ext cx="6464807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个人用药记录｜不混装、不分享处方药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03 / 安全用药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把五个误区，换成五个动作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看、核、问、记：现在进入简单挑战。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26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1828800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1828800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感冒药叠加</a:t>
            </a:r>
          </a:p>
        </p:txBody>
      </p:sp>
      <p:sp>
        <p:nvSpPr>
          <p:cNvPr id="11" name="Chevron 10"/>
          <p:cNvSpPr/>
          <p:nvPr/>
        </p:nvSpPr>
        <p:spPr>
          <a:xfrm>
            <a:off x="5907024" y="1883664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84264" y="1828800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核对成分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69464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9344" y="2569464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感冒吃抗生素</a:t>
            </a:r>
          </a:p>
        </p:txBody>
      </p:sp>
      <p:sp>
        <p:nvSpPr>
          <p:cNvPr id="15" name="Chevron 14"/>
          <p:cNvSpPr/>
          <p:nvPr/>
        </p:nvSpPr>
        <p:spPr>
          <a:xfrm>
            <a:off x="5907024" y="2624328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2569464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先明确是否需要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310128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310128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备考“外挂”</a:t>
            </a:r>
          </a:p>
        </p:txBody>
      </p:sp>
      <p:sp>
        <p:nvSpPr>
          <p:cNvPr id="19" name="Chevron 18"/>
          <p:cNvSpPr/>
          <p:nvPr/>
        </p:nvSpPr>
        <p:spPr>
          <a:xfrm>
            <a:off x="5907024" y="3364992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84264" y="3310128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不借用处方药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4050791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9344" y="4050791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抗过敏后困倦</a:t>
            </a:r>
          </a:p>
        </p:txBody>
      </p:sp>
      <p:sp>
        <p:nvSpPr>
          <p:cNvPr id="23" name="Chevron 22"/>
          <p:cNvSpPr/>
          <p:nvPr/>
        </p:nvSpPr>
        <p:spPr>
          <a:xfrm>
            <a:off x="5907024" y="4105655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4050791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查提示、避风险活动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4791456"/>
            <a:ext cx="630936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E3464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9344" y="4791456"/>
            <a:ext cx="407822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53E75"/>
                </a:solidFill>
                <a:latin typeface="Noto Sans CJK SC"/>
                <a:ea typeface="Noto Sans CJK SC"/>
              </a:rPr>
              <a:t>吃药后聚餐</a:t>
            </a:r>
          </a:p>
        </p:txBody>
      </p:sp>
      <p:sp>
        <p:nvSpPr>
          <p:cNvPr id="27" name="Chevron 26"/>
          <p:cNvSpPr/>
          <p:nvPr/>
        </p:nvSpPr>
        <p:spPr>
          <a:xfrm>
            <a:off x="5907024" y="4846320"/>
            <a:ext cx="365760" cy="384048"/>
          </a:xfrm>
          <a:prstGeom prst="chevron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84264" y="4791456"/>
            <a:ext cx="45811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0">
                <a:solidFill>
                  <a:srgbClr val="153E75"/>
                </a:solidFill>
                <a:latin typeface="Noto Sans CJK SC"/>
                <a:ea typeface="Noto Sans CJK SC"/>
              </a:rPr>
              <a:t>先确认饮酒要求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综合挑战：小苏今晚怎么安排？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虚构情境｜无呼吸困难、意识异常等急症表现。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27 / 30</a:t>
            </a:r>
          </a:p>
        </p:txBody>
      </p:sp>
      <p:pic>
        <p:nvPicPr>
          <p:cNvPr id="9" name="Picture 8" descr="tablet-hand.jpg"/>
          <p:cNvPicPr>
            <a:picLocks noChangeAspect="1"/>
          </p:cNvPicPr>
          <p:nvPr/>
        </p:nvPicPr>
        <p:blipFill>
          <a:blip r:embed="rId3"/>
          <a:srcRect l="12534" r="12534"/>
          <a:stretch>
            <a:fillRect/>
          </a:stretch>
        </p:blipFill>
        <p:spPr>
          <a:xfrm>
            <a:off x="795528" y="1901952"/>
            <a:ext cx="2514600" cy="33558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5528" y="1901952"/>
            <a:ext cx="2514600" cy="3355848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3816" y="4937760"/>
            <a:ext cx="247802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965192"/>
            <a:ext cx="22585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901952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13632" y="2011680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已服：一种复方感冒药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3072384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13632" y="3182112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准备：再加一盒药＋参加聚餐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242816"/>
            <a:ext cx="7735824" cy="95097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3632" y="4352544"/>
            <a:ext cx="7214616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0">
                <a:solidFill>
                  <a:srgbClr val="153E75"/>
                </a:solidFill>
                <a:latin typeface="Noto Sans CJK SC"/>
                <a:ea typeface="Noto Sans CJK SC"/>
              </a:rPr>
              <a:t>当前：成分没核对，症状尚轻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小苏的晚间计划，你采纳哪几条？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可多选 A / B / C｜逐条判断；想10秒，再举手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合理用药｜课堂科普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28 / 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" y="1938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2240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258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4" y="2093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聚餐先点白水，具体饮酒要求再查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81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7552" y="3383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401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4" y="3236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药盒和已服记录，一起交给药师核对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224528"/>
            <a:ext cx="8257031" cy="941832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4526280"/>
            <a:ext cx="539496" cy="329184"/>
          </a:xfrm>
          <a:prstGeom prst="roundRect">
            <a:avLst>
              <a:gd name="adj" fmla="val 10000"/>
            </a:avLst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44568"/>
            <a:ext cx="4114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92224" y="4379976"/>
            <a:ext cx="6922008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300" b="0">
                <a:solidFill>
                  <a:srgbClr val="203354"/>
                </a:solidFill>
                <a:latin typeface="Noto Sans CJK SC"/>
              </a:rPr>
              <a:t>照上次的经验，把第二盒改到睡前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72016" y="1938528"/>
            <a:ext cx="2121408" cy="3246120"/>
          </a:xfrm>
          <a:prstGeom prst="roundRect">
            <a:avLst>
              <a:gd name="adj" fmla="val 10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92640" y="3950208"/>
            <a:ext cx="1049274" cy="706374"/>
          </a:xfrm>
          <a:prstGeom prst="roundRect">
            <a:avLst>
              <a:gd name="adj" fmla="val 10000"/>
            </a:avLst>
          </a:prstGeom>
          <a:solidFill>
            <a:srgbClr val="FFB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090404" y="3874770"/>
            <a:ext cx="219456" cy="198881"/>
          </a:xfrm>
          <a:prstGeom prst="roundRect">
            <a:avLst>
              <a:gd name="adj" fmla="val 10000"/>
            </a:avLst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809226" y="3271266"/>
            <a:ext cx="795527" cy="78866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829800" y="3360420"/>
            <a:ext cx="754380" cy="713232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73378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522458" y="3669030"/>
            <a:ext cx="150876" cy="15087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781794" y="3250692"/>
            <a:ext cx="521208" cy="253745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04120" y="3305556"/>
            <a:ext cx="521208" cy="192024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918954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371582" y="3778758"/>
            <a:ext cx="102869" cy="89154"/>
          </a:xfrm>
          <a:prstGeom prst="ellipse">
            <a:avLst/>
          </a:prstGeom>
          <a:solidFill>
            <a:srgbClr val="F49B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9669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309860" y="3669030"/>
            <a:ext cx="58293" cy="72009"/>
          </a:xfrm>
          <a:prstGeom prst="ellipse">
            <a:avLst/>
          </a:prstGeom>
          <a:solidFill>
            <a:srgbClr val="2033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10213848" y="3682746"/>
            <a:ext cx="20574" cy="10287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10193274" y="3785616"/>
            <a:ext cx="41148" cy="0"/>
          </a:xfrm>
          <a:prstGeom prst="line">
            <a:avLst/>
          </a:prstGeom>
          <a:ln w="1778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117836" y="3909060"/>
            <a:ext cx="144018" cy="0"/>
          </a:xfrm>
          <a:prstGeom prst="line">
            <a:avLst/>
          </a:prstGeom>
          <a:ln w="25400">
            <a:solidFill>
              <a:srgbClr val="2033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994392" y="4018787"/>
            <a:ext cx="212598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0206990" y="4018787"/>
            <a:ext cx="192024" cy="171450"/>
          </a:xfrm>
          <a:prstGeom prst="line">
            <a:avLst/>
          </a:prstGeom>
          <a:ln w="2540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110978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309860" y="4210812"/>
            <a:ext cx="0" cy="164592"/>
          </a:xfrm>
          <a:prstGeom prst="line">
            <a:avLst/>
          </a:prstGeom>
          <a:ln w="1905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10419588" y="4327398"/>
            <a:ext cx="178308" cy="185166"/>
          </a:xfrm>
          <a:prstGeom prst="ellipse">
            <a:avLst/>
          </a:prstGeom>
          <a:solidFill>
            <a:srgbClr val="FFD3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77322" y="3168396"/>
            <a:ext cx="260604" cy="308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>
                <a:solidFill>
                  <a:srgbClr val="7952D5"/>
                </a:solidFill>
                <a:latin typeface="Noto Sans CJK SC"/>
              </a:rPr>
              <a:t>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00032" y="2194560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7952D5"/>
                </a:solidFill>
                <a:latin typeface="Noto Sans CJK SC"/>
              </a:rPr>
              <a:t>给建议点赞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74936" y="2724912"/>
            <a:ext cx="1106424" cy="329184"/>
          </a:xfrm>
          <a:prstGeom prst="roundRect">
            <a:avLst>
              <a:gd name="adj" fmla="val 10000"/>
            </a:avLst>
          </a:prstGeom>
          <a:solidFill>
            <a:srgbClr val="7952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38944" y="2743200"/>
            <a:ext cx="978407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</a:rPr>
              <a:t>可多选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00032" y="4800600"/>
            <a:ext cx="1865376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300" b="0">
                <a:solidFill>
                  <a:srgbClr val="203354"/>
                </a:solidFill>
                <a:latin typeface="Noto Sans CJK SC"/>
              </a:rPr>
              <a:t>想一想，再举手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65760"/>
            <a:ext cx="64008" cy="246888"/>
          </a:xfrm>
          <a:prstGeom prst="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9260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53E75"/>
                </a:solidFill>
                <a:latin typeface="Noto Sans CJK SC"/>
                <a:ea typeface="Noto Sans CJK SC"/>
              </a:rPr>
              <a:t>04 / 选择挑战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96112"/>
            <a:ext cx="110185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53E75"/>
                </a:solidFill>
                <a:latin typeface="Noto Sans CJK SC"/>
                <a:ea typeface="Noto Sans CJK SC"/>
              </a:rPr>
              <a:t>答案 A＋B：把建议拼成完整行动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94360" y="5843016"/>
            <a:ext cx="11000232" cy="0"/>
          </a:xfrm>
          <a:prstGeom prst="line">
            <a:avLst/>
          </a:prstGeom>
          <a:ln w="8890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5943600"/>
            <a:ext cx="107442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3464F"/>
                </a:solidFill>
                <a:latin typeface="Noto Sans CJK SC"/>
                <a:ea typeface="Noto Sans CJK SC"/>
              </a:rPr>
              <a:t>若症状加重或出现急症信号，应及时就医。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96012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153E75"/>
                </a:solidFill>
                <a:latin typeface="Noto Sans CJK SC"/>
                <a:ea typeface="Noto Sans CJK SC"/>
              </a:rPr>
              <a:t>来源：S2; S4; S9; S11; S12  ·  完整链接见附页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455664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153E75"/>
                </a:solidFill>
                <a:latin typeface="Noto Sans CJK SC"/>
                <a:ea typeface="Noto Sans CJK SC"/>
              </a:rPr>
              <a:t>29 /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E3464F"/>
                </a:solidFill>
                <a:latin typeface="Noto Sans CJK SC"/>
                <a:ea typeface="Noto Sans CJK SC"/>
              </a:rPr>
              <a:t>A＋B</a:t>
            </a:r>
          </a:p>
        </p:txBody>
      </p:sp>
      <p:sp>
        <p:nvSpPr>
          <p:cNvPr id="10" name="Oval 9"/>
          <p:cNvSpPr/>
          <p:nvPr/>
        </p:nvSpPr>
        <p:spPr>
          <a:xfrm>
            <a:off x="3154680" y="2075688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938528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A 饮酒要求未明 → 先用白水，再查询</a:t>
            </a:r>
          </a:p>
        </p:txBody>
      </p:sp>
      <p:sp>
        <p:nvSpPr>
          <p:cNvPr id="12" name="Oval 11"/>
          <p:cNvSpPr/>
          <p:nvPr/>
        </p:nvSpPr>
        <p:spPr>
          <a:xfrm>
            <a:off x="3154680" y="3200400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3063240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B 药盒与已服记录 → 一起核对，再决定</a:t>
            </a:r>
          </a:p>
        </p:txBody>
      </p:sp>
      <p:sp>
        <p:nvSpPr>
          <p:cNvPr id="14" name="Oval 13"/>
          <p:cNvSpPr/>
          <p:nvPr/>
        </p:nvSpPr>
        <p:spPr>
          <a:xfrm>
            <a:off x="3154680" y="4325112"/>
            <a:ext cx="128016" cy="128016"/>
          </a:xfrm>
          <a:prstGeom prst="ellipse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83864" y="4187952"/>
            <a:ext cx="7927848" cy="795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0">
                <a:solidFill>
                  <a:srgbClr val="153E75"/>
                </a:solidFill>
                <a:latin typeface="Noto Sans CJK SC"/>
                <a:ea typeface="Noto Sans CJK SC"/>
              </a:rPr>
              <a:t>C 沿用经验错开时间 → 信息缺口仍在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3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658368"/>
            <a:ext cx="2103120" cy="329184"/>
          </a:xfrm>
          <a:prstGeom prst="roundRect">
            <a:avLst/>
          </a:prstGeom>
          <a:solidFill>
            <a:srgbClr val="E3464F"/>
          </a:solidFill>
          <a:ln>
            <a:solidFill>
              <a:srgbClr val="E34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4672" y="676656"/>
            <a:ext cx="195681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把判断带回生活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67208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药可以常备，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4300" b="1">
                <a:solidFill>
                  <a:srgbClr val="FFFFFF"/>
                </a:solidFill>
                <a:latin typeface="Noto Sans CJK SC"/>
                <a:ea typeface="Noto Sans CJK SC"/>
              </a:rPr>
              <a:t>判断不能省略。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先看说明书，再做用药决定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核对重复成分，记录已服药物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FFFFFF"/>
                </a:solidFill>
                <a:latin typeface="Noto Sans CJK SC"/>
                <a:ea typeface="Noto Sans CJK SC"/>
              </a:rPr>
              <a:t>拿不准，问医生 / 药师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50992"/>
            <a:ext cx="6858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Noto Sans CJK SC"/>
                <a:ea typeface="Noto Sans CJK SC"/>
              </a:rPr>
              <a:t>会看 · 会核 · 会问 · 会记</a:t>
            </a:r>
          </a:p>
        </p:txBody>
      </p:sp>
      <p:pic>
        <p:nvPicPr>
          <p:cNvPr id="9" name="Picture 8" descr="clinic-01.jpg"/>
          <p:cNvPicPr>
            <a:picLocks noChangeAspect="1"/>
          </p:cNvPicPr>
          <p:nvPr/>
        </p:nvPicPr>
        <p:blipFill>
          <a:blip r:embed="rId3"/>
          <a:srcRect l="28099" r="28099"/>
          <a:stretch>
            <a:fillRect/>
          </a:stretch>
        </p:blipFill>
        <p:spPr>
          <a:xfrm>
            <a:off x="7909560" y="1417320"/>
            <a:ext cx="3474720" cy="446227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7909560" y="1417320"/>
            <a:ext cx="3474720" cy="4462272"/>
          </a:xfrm>
          <a:prstGeom prst="rect">
            <a:avLst/>
          </a:prstGeom>
          <a:noFill/>
          <a:ln w="19050"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27848" y="5559552"/>
            <a:ext cx="3438144" cy="30175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5586983"/>
            <a:ext cx="321868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53E75"/>
                </a:solidFill>
                <a:latin typeface="Noto Sans CJK SC"/>
                <a:ea typeface="Noto Sans CJK SC"/>
              </a:rPr>
              <a:t>真实照片 · 场景示意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38360" y="6108192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FFFFFF"/>
                </a:solidFill>
                <a:latin typeface="Noto Sans CJK SC"/>
                <a:ea typeface="Noto Sans CJK SC"/>
              </a:rPr>
              <a:t>谢谢大家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附页，不计入35分钟｜点击条目标题可访问原文｜原始资料检索：2026-10-09；版面及题目修订：2026-10-12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国家卫生健康委等（2020）《关于加强医疗机构药事管理促进合理用药的意见》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FDA. Don’t Overuse Acetaminophen.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Wolf MS, et al. Risk of Unintentional Overdose with Non-Prescription Acetaminophen Products. J Gen Intern Med. 2012;27:1587–1593. DOI: 10.1007/s11606-012-2096-3.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CDC. Healthy Habits: Antibiotic Do’s and Don’ts.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Antimicrobial Resistance Collaborators. Global burden of bacterial antimicrobial resistance in 2019: a systematic analysis. Lancet. 2022;399:629–655. DOI: 10.1016/S0140-6736(21)02724-0.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附页，不计入35分钟｜点击条目标题可访问原文｜原始资料检索：2026-10-09；版面及题目修订：2026-10-12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FDA（2023）Updating warnings to improve safe use of prescription stimulants used to treat ADHD and other conditions.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市场监管总局《关于防范保健食品功能声称虚假宣传的消费提示》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NHS. Antihistamines.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NIAAA. Alcohol-Medication Interactions: Potentially Dangerous Mixes.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04088" y="5303520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21807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5248656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NHS Specialist Pharmacy Service. Advising on missed or delayed doses of medicines.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998464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参考资料 /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52144"/>
            <a:ext cx="10881360" cy="3749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附页，不计入35分钟｜点击条目标题可访问原文｜原始资料检索：2026-10-09；版面及题目修订：2026-10-12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CDC. Manage Common Cold.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81912" y="2487168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04088" y="2670048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88336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81912" y="2615184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3"/>
              </a:rPr>
              <a:t>NHS. Anaphylaxis.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81912" y="3364991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04088" y="3547872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66160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3493008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NHS. Omeprazole.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581912" y="4242816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04088" y="4425696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3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S14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4370832"/>
            <a:ext cx="9948672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Simons FER, Simons KJ. H1 Antihistamines: Current Status and Future Directions. World Allergy Organ J. 2008;1:145–155.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图表按原始数据重绘；案例为虚构，实拍照片另见图片来源附页。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图片为真实图库照片，仅作课堂场景示意；照片中的人物、药物、场所与虚构案例无关。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Towfiqu barbhuiya · tablet-hand.jpg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Pexels photo 16051935 · pill-bottle.jpg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George Pak · college-campus.jpg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LZ Jian · evening.jpg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Pexels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4088" y="526694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28523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21208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7"/>
              </a:rPr>
              <a:t>Árpád Czapp · pharmacy-01.jpg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912" y="560527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8"/>
              </a:rPr>
              <a:t>Unsplash License · 点击标题访问原图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581912" y="598932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附页，不计入35分钟｜完整原图链接与许可见配套文件。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53E75"/>
                </a:solidFill>
                <a:latin typeface="Noto Sans CJK SC"/>
                <a:ea typeface="Noto Sans CJK SC"/>
              </a:rPr>
              <a:t>真实照片来源 /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43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3464F"/>
                </a:solidFill>
                <a:latin typeface="Noto Sans CJK SC"/>
                <a:ea typeface="Noto Sans CJK SC"/>
              </a:rPr>
              <a:t>图片为真实图库照片，仅作课堂场景示意；照片中的人物、药物、场所与虚构案例无关。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179222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051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173736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2"/>
              </a:rPr>
              <a:t>National Cancer Institute · pharmacy-02.jpg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213055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81912" y="251460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04088" y="266090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260604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4"/>
              </a:rPr>
              <a:t>paws and prints · pharmacy-03.jpg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9923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81912" y="338328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" y="352958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47872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47472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5"/>
              </a:rPr>
              <a:t>Tasha Kostyuk · hospital-02.jpg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3867911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581912" y="425196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" y="4398264"/>
            <a:ext cx="640080" cy="329184"/>
          </a:xfrm>
          <a:prstGeom prst="roundRect">
            <a:avLst/>
          </a:prstGeom>
          <a:solidFill>
            <a:srgbClr val="153E75"/>
          </a:solidFill>
          <a:ln>
            <a:solidFill>
              <a:srgbClr val="153E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416551"/>
            <a:ext cx="493775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P9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343400"/>
            <a:ext cx="99486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3E75"/>
                </a:solidFill>
                <a:latin typeface="Noto Sans CJK SC"/>
                <a:ea typeface="Noto Sans CJK SC"/>
                <a:hlinkClick r:id="rId6"/>
              </a:rPr>
              <a:t>Martha Dominguez de Gouveia · clinic-01.jpg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912" y="4736592"/>
            <a:ext cx="994867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3464F"/>
                </a:solidFill>
                <a:latin typeface="Noto Sans CJK SC"/>
                <a:ea typeface="Noto Sans CJK SC"/>
                <a:hlinkClick r:id="rId3"/>
              </a:rPr>
              <a:t>Unsplash License · 点击标题访问原图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581912" y="5120640"/>
            <a:ext cx="9930384" cy="0"/>
          </a:xfrm>
          <a:prstGeom prst="line">
            <a:avLst/>
          </a:prstGeom>
          <a:ln w="5715">
            <a:solidFill>
              <a:srgbClr val="153E7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3232" y="641908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153E75"/>
                </a:solidFill>
                <a:latin typeface="Noto Sans CJK SC"/>
                <a:ea typeface="Noto Sans CJK SC"/>
              </a:rPr>
              <a:t>附页，不计入35分钟｜完整原图链接与许可见配套文件。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合理用药：给宿舍药箱上堂课</dc:title>
  <dc:subject>苏州大学选修课｜双人35分钟课堂展示</dc:subject>
  <dc:creator>课堂展示制作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