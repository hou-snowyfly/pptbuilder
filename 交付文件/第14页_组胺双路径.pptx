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第14页｜乙主讲｜建议65秒</a:t>
            </a:r>
          </a:p>
          <a:p/>
          <a:p/>
          <a:p>
            <a:r>
              <a:t>乙：左侧是鼻黏膜。过敏反应中释放的组胺，可通过H1相关作用引起鼻痒、喷嚏和流涕；抗组胺药降低这些作用，缓解部分症状。右侧是脑微血管与神经元。血脑屏障主要由紧密连接的微血管内皮等结构形成，并不对所有药物完全封闭。部分抗组胺药可进入脑内，影响参与清醒的H1信号，因此可能嗜睡。不是鼻部的组胺一路跑到脑内，也不是所有药都会一样。困倦时避开驾驶、骑车等活动，具体选择看说明书或问药师。</a:t>
            </a:r>
          </a:p>
          <a:p>
            <a:r>
              <a:t>【图形核验说明，不逐字朗读】鼻部图的上方为纤毛上皮，下方为固有层、肥大细胞及感觉神经；金色点代表组胺。脑部图的红色细胞位于血管腔内，内皮、基底膜及外侧支持结构将血液与脑组织分开；蓝色点代表药物分子。紫色膜上位置为H1受体的功能标记，并非原子结构或真实配体对接模型。H1抗组胺药按资料为反向激动剂，可稳定受体非活化状态，不画成清除组胺或阻止组胺释放。两图为教学层次示意，不表达组织或分子尺度比例，不表示所有抗组胺药同样入脑。</a:t>
            </a:r>
          </a:p>
          <a:p/>
          <a:p>
            <a:r>
              <a:t>视觉说明：两幅独立渲染的精细医学科普插图：鼻黏膜组织与感觉神经、脑微血管血脑屏障与神经元。去掉动漫头像和几何器官，保留可编辑组胺、H1受体、药物分子、血脑屏障标注；不呈现猜测的原子结构或整颗药片穿越屏障。</a:t>
            </a:r>
          </a:p>
          <a:p/>
          <a:p>
            <a:r>
              <a:t>参考：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[S14] Simons FER, Simons KJ. H1 Antihistamines: Current Status and Future Directions. World Allergy Organ J. 2008;1:145–155.</a:t>
            </a:r>
          </a:p>
          <a:p>
            <a:r>
              <a:t>https://pmc.ncbi.nlm.nih.gov/articles/PMC3650962/</a:t>
            </a:r>
          </a:p>
          <a:p>
            <a:r>
              <a:t>[S17] Anatomy and Physiology of the Blood-Brain Barrier（脑微血管内皮、紧密连接与支持结构）</a:t>
            </a:r>
          </a:p>
          <a:p>
            <a:r>
              <a:t>https://pmc.ncbi.nlm.nih.gov/articles/PMC4397166/</a:t>
            </a:r>
          </a:p>
          <a:p/>
          <a:p>
            <a:r>
              <a:t>情境画面为原创动漫，人物与事件为虚构；医学插图按参考资料核对组织关系，受体为功能标记。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nasal_histamine.png｜FULL｜鼻部症状缓解路径</a:t>
            </a:r>
          </a:p>
          <a:p>
            <a:r>
              <a:t>brain_bbb_h1.png｜FULL｜可能嗜睡的脑内路径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抗组胺药：为什么鼻子舒服了，人却可能困？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584301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94360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缓解症状，也要留意嗜睡提示与个人反应。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55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01 /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5148072" cy="3703320"/>
          </a:xfrm>
          <a:prstGeom prst="roundRect">
            <a:avLst>
              <a:gd name="adj" fmla="val 10000"/>
            </a:avLst>
          </a:prstGeom>
          <a:solidFill>
            <a:srgbClr val="F0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1947672"/>
            <a:ext cx="5148072" cy="3703320"/>
          </a:xfrm>
          <a:prstGeom prst="roundRect">
            <a:avLst>
              <a:gd name="adj" fmla="val 10000"/>
            </a:avLst>
          </a:prstGeom>
          <a:solidFill>
            <a:srgbClr val="F5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03120"/>
            <a:ext cx="4672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008C82"/>
                </a:solidFill>
                <a:latin typeface="Noto Sans CJK SC"/>
              </a:rPr>
              <a:t>鼻部：缓解部分过敏症状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103120"/>
            <a:ext cx="4672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7952D5"/>
                </a:solidFill>
                <a:latin typeface="Noto Sans CJK SC"/>
              </a:rPr>
              <a:t>脑内：可能影响清醒状态</a:t>
            </a:r>
          </a:p>
        </p:txBody>
      </p:sp>
      <p:pic>
        <p:nvPicPr>
          <p:cNvPr id="12" name="MEDICAL_NASAL" descr="独立渲染的组织层次医学科普插图，结构与解释按参考资料核对；受体标记为功能位置，不是原子结构模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532888"/>
            <a:ext cx="4663440" cy="3108960"/>
          </a:xfrm>
          <a:prstGeom prst="rect">
            <a:avLst/>
          </a:prstGeom>
        </p:spPr>
      </p:pic>
      <p:pic>
        <p:nvPicPr>
          <p:cNvPr id="13" name="MEDICAL_BBB" descr="独立渲染的组织层次医学科普插图，结构与解释按参考资料核对；受体标记为功能位置，不是原子结构模型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532888"/>
            <a:ext cx="4663440" cy="310896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 flipH="1">
            <a:off x="3044952" y="2871216"/>
            <a:ext cx="192024" cy="1307592"/>
          </a:xfrm>
          <a:prstGeom prst="line">
            <a:avLst/>
          </a:prstGeom>
          <a:ln w="1524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98064" y="2702052"/>
            <a:ext cx="877824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715768"/>
            <a:ext cx="8046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08C82"/>
                </a:solidFill>
                <a:latin typeface="Noto Sans CJK SC"/>
              </a:rPr>
              <a:t>组胺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3474720" y="4379976"/>
            <a:ext cx="1225296" cy="329184"/>
          </a:xfrm>
          <a:prstGeom prst="line">
            <a:avLst/>
          </a:prstGeom>
          <a:ln w="1524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05656" y="4539996"/>
            <a:ext cx="118872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2232" y="4553712"/>
            <a:ext cx="1115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7952D5"/>
                </a:solidFill>
                <a:latin typeface="Noto Sans CJK SC"/>
              </a:rPr>
              <a:t>H1受体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50608" y="2871216"/>
            <a:ext cx="914400" cy="429768"/>
          </a:xfrm>
          <a:prstGeom prst="line">
            <a:avLst/>
          </a:prstGeom>
          <a:ln w="15240">
            <a:solidFill>
              <a:srgbClr val="2033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73952" y="2702052"/>
            <a:ext cx="135331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71576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03354"/>
                </a:solidFill>
                <a:latin typeface="Noto Sans CJK SC"/>
              </a:rPr>
              <a:t>药物分子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253728" y="3730752"/>
            <a:ext cx="1110996" cy="237744"/>
          </a:xfrm>
          <a:prstGeom prst="line">
            <a:avLst/>
          </a:prstGeom>
          <a:ln w="1524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74352" y="3561588"/>
            <a:ext cx="1380744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3575304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7952D5"/>
                </a:solidFill>
                <a:latin typeface="Noto Sans CJK SC"/>
              </a:rPr>
              <a:t>血脑屏障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9409176" y="4709160"/>
            <a:ext cx="941832" cy="64008"/>
          </a:xfrm>
          <a:prstGeom prst="line">
            <a:avLst/>
          </a:prstGeom>
          <a:ln w="1524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55480" y="4604004"/>
            <a:ext cx="1591056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92056" y="4617720"/>
            <a:ext cx="15179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7952D5"/>
                </a:solidFill>
                <a:latin typeface="Noto Sans CJK SC"/>
              </a:rPr>
              <a:t>脑内H1受体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" y="5010912"/>
            <a:ext cx="481888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065776"/>
            <a:ext cx="45079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008C82"/>
                </a:solidFill>
                <a:latin typeface="Noto Sans CJK SC"/>
              </a:rPr>
              <a:t>抗组胺药降低H1相关信号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008C82"/>
                </a:solidFill>
                <a:latin typeface="Noto Sans CJK SC"/>
              </a:rPr>
              <a:t>可减轻鼻痒、喷嚏和流涕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9944" y="5010912"/>
            <a:ext cx="4818888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5065776"/>
            <a:ext cx="45079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7952D5"/>
                </a:solidFill>
                <a:latin typeface="Noto Sans CJK SC"/>
              </a:rPr>
              <a:t>部分药物可进入脑内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7952D5"/>
                </a:solidFill>
                <a:latin typeface="Noto Sans CJK SC"/>
              </a:rPr>
              <a:t>影响H1相关信号，可能嗜睡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合理用药：组胺双路径独立插图</dc:title>
  <dc:subject>苏州大学选修课｜双人35分钟课堂展示</dc:subject>
  <dc:creator>课堂展示制作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