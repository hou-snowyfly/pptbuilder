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第5页｜甲主讲｜建议75秒</a:t>
            </a:r>
          </a:p>
          <a:p/>
          <a:p/>
          <a:p>
            <a:r>
              <a:t>甲：小周觉得头痛还没缓解，拿起另一盒感冒药。室友说，名字不同，一盒管头痛、一盒管感冒，听起来像双保险。三格漫画从不舒服，到听起来合理的建议，再把判断停在药盒背面。症状宣传不同，不代表有效成分不同。下一页不算剂量，只把成分摆在一起，看双保险有没有变成重复。</a:t>
            </a:r>
          </a:p>
          <a:p/>
          <a:p>
            <a:r>
              <a:t>视觉说明：成熟编辑三格：小周头痛、室友递第二盒、展开两份说明书；成人比例与克制表情。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key_stories.png｜R1C1｜症状仍在</a:t>
            </a:r>
          </a:p>
          <a:p>
            <a:r>
              <a:t>key_stories.png｜R1C2｜室友递第二盒</a:t>
            </a:r>
          </a:p>
          <a:p>
            <a:r>
              <a:t>key_stories.png｜R1C3｜展开两份说明书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第11页｜甲主讲｜建议110秒</a:t>
            </a:r>
          </a:p>
          <a:p/>
          <a:p/>
          <a:p>
            <a:r>
              <a:t>甲：上一页说普通感冒通常由病毒引起，抗生素没有相应治疗作用。为什么不能想着吃一点总没坏处？左边一百格中，高亮28格：CDC汇总至少28%的美国门诊抗生素处方被估计为不必要，所引研究该估计来自2014—2015年。这是美国门诊处方比例，不是中国大学生的发生率，其余格子也不代表全部合理。</a:t>
            </a:r>
          </a:p>
          <a:p>
            <a:r>
              <a:t>右边换成五个急诊图标：CDC介绍，药物相关急诊中，约五次就有一次来自抗生素反应。常见副作用包括皮疹、恶心、腹泻，严重时可出现严重过敏等。这里数的是药物反应相关急诊，不是所有急诊，不是说五个吃抗生素的人就有一个进急诊，也不能把所有这些事件都归为滥用。</a:t>
            </a:r>
          </a:p>
          <a:p>
            <a:r>
              <a:t>【留15秒读五个图标；问：若治疗不需要，额外承担这样的风险值不值？停10秒】</a:t>
            </a:r>
          </a:p>
          <a:p>
            <a:r>
              <a:t>甲：两幅图分别展示不必要的处方与药物反应造成的急诊负担，不能相乘推算个人概率。我们要带走的是：没有需要时吃抗生素，未必得到预期获益，却仍可能遇到副作用；确实需要时，规范使用的获益可以超过风险，不自行停药。下一页把结论换成三个实际动作。</a:t>
            </a:r>
          </a:p>
          <a:p/>
          <a:p>
            <a:r>
              <a:t>视觉说明：双图并排：左侧100格中28格珊瑚红高亮，右侧五个急诊图标中一个红色突出抗生素反应。正文写清药物副作用导致的急诊这一分母；数据年份、范围和来源保留在备注和附页。</a:t>
            </a:r>
          </a:p>
          <a:p/>
          <a:p>
            <a:r>
              <a:t>参考：</a:t>
            </a:r>
          </a:p>
          <a:p>
            <a:r>
              <a:t>[S5] CDC. Antibiotic Use in the United States（2025更新；门诊至少28%不必要处方）</a:t>
            </a:r>
          </a:p>
          <a:p>
            <a:r>
              <a:t>https://www.cdc.gov/antibiotic-use/hcp/data-research/antibiotic-prescribing.html</a:t>
            </a:r>
          </a:p>
          <a:p>
            <a:r>
              <a:t>[S15] CDC. Do antibiotics have side effects?（药物相关急诊约1/5来自抗生素反应）</a:t>
            </a:r>
          </a:p>
          <a:p>
            <a:r>
              <a:t>https://www.cdc.gov/antibiotic-use/media/pdfs/Do-Antibiotics-Have-Side-Effects-508.pdf</a:t>
            </a:r>
          </a:p>
          <a:p>
            <a:r>
              <a:t>[S16] Hersh AL et al. Unnecessary Antibiotic Prescribing in US Ambulatory Care Settings, 2010–2015. Clin Infect Dis. 2021;72:133–137.</a:t>
            </a:r>
          </a:p>
          <a:p>
            <a:r>
              <a:t>https://stacks.cdc.gov/view/cdc/120299/cdc_120299_DS1.pdf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第17页｜乙主讲｜建议60秒</a:t>
            </a:r>
          </a:p>
          <a:p/>
          <a:p/>
          <a:p>
            <a:r>
              <a:t>乙：第三部分，我们把前面的例子浓缩成四个动作：看、核、问、记。看，是观察症状，也看说明书和需要就医的信号。核，是核对成分有没有重复，剂量与时间是否符合要求，自己有没有相关禁忌。问，是把不确定的地方交给医生或药师确认，不用猜测填空。记，是记录已经用过的药、时间、用量以及出现的反应。上一题选C，就把“这盒药能不能配酒”的不确定性变成了一个清楚的咨询问题。这四步是课堂助记法，不是替代诊疗的专业流程。</a:t>
            </a:r>
          </a:p>
          <a:p>
            <a:r>
              <a:t>乙：下一页从“看”开始，把说明书里会影响判断的信息找出来。</a:t>
            </a:r>
          </a:p>
          <a:p/>
          <a:p>
            <a:r>
              <a:t>视觉说明：无插图四格方法框架，放大看核问记。</a:t>
            </a:r>
          </a:p>
          <a:p/>
          <a:p>
            <a:r>
              <a:t>参考：</a:t>
            </a:r>
          </a:p>
          <a:p>
            <a:r>
              <a:t>[S1] 国家卫生健康委等（2020）《关于加强医疗机构药事管理促进合理用药的意见》</a:t>
            </a:r>
          </a:p>
          <a:p>
            <a:r>
              <a:t>https://www.nhc.gov.cn/yzygj/c100068/202002/fdb7240014db4d49827ca25bbb41b177.shtml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>
            <a:r>
              <a:t>[S9] NIAAA. Alcohol-Medication Interactions: Potentially Dangerous Mixes.</a:t>
            </a:r>
          </a:p>
          <a:p>
            <a:r>
              <a:t>https://www.niaaa.nih.gov/health-professionals-communities/core-resource-on-alcohol/alcohol-medication-interactions-potentially-dangerous-mixes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73152" cy="201168"/>
          </a:xfrm>
          <a:prstGeom prst="rect">
            <a:avLst/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3C70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1000232" cy="10972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110002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C70"/>
                </a:solidFill>
                <a:latin typeface="Noto Sans CJK SC"/>
              </a:defRPr>
            </a:pPr>
            <a:r>
              <a:t>两盒药，是“双保险”还是撞车？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6007608"/>
            <a:ext cx="11000232" cy="448056"/>
          </a:xfrm>
          <a:prstGeom prst="roundRect">
            <a:avLst>
              <a:gd name="adj" fmla="val 6000"/>
            </a:avLst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6044184"/>
            <a:ext cx="1057046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C70"/>
                </a:solidFill>
                <a:latin typeface="Noto Sans CJK SC"/>
              </a:defRPr>
            </a:pPr>
            <a:r>
              <a:t>包装不同，也可能含有同一成分。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71048" y="6556248"/>
            <a:ext cx="932688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3C70"/>
                </a:solidFill>
                <a:latin typeface="Noto Sans CJK SC"/>
              </a:defRPr>
            </a:pPr>
            <a:r>
              <a:t>05 / 27</a:t>
            </a:r>
          </a:p>
        </p:txBody>
      </p:sp>
      <p:pic>
        <p:nvPicPr>
          <p:cNvPr id="9" name="EDITORIAL_KEY_R1_C1" descr="image.png"/>
          <p:cNvPicPr>
            <a:picLocks noChangeAspect="1"/>
          </p:cNvPicPr>
          <p:nvPr/>
        </p:nvPicPr>
        <p:blipFill>
          <a:blip r:embed="rId3"/>
          <a:srcRect l="218" r="67470" b="67773"/>
          <a:stretch>
            <a:fillRect/>
          </a:stretch>
        </p:blipFill>
        <p:spPr>
          <a:xfrm>
            <a:off x="594360" y="1947672"/>
            <a:ext cx="4400696" cy="2926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5020056"/>
            <a:ext cx="4407408" cy="685800"/>
          </a:xfrm>
          <a:prstGeom prst="roundRect">
            <a:avLst>
              <a:gd name="adj" fmla="val 6000"/>
            </a:avLst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02352"/>
            <a:ext cx="404164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C70"/>
                </a:solidFill>
                <a:latin typeface="Noto Sans CJK SC"/>
              </a:defRPr>
            </a:pPr>
            <a:r>
              <a:t>头痛还在，要不再加一盒？</a:t>
            </a:r>
          </a:p>
        </p:txBody>
      </p:sp>
      <p:pic>
        <p:nvPicPr>
          <p:cNvPr id="12" name="EDITORIAL_KEY_R1_C2" descr="image.png"/>
          <p:cNvPicPr>
            <a:picLocks noChangeAspect="1"/>
          </p:cNvPicPr>
          <p:nvPr/>
        </p:nvPicPr>
        <p:blipFill>
          <a:blip r:embed="rId3"/>
          <a:srcRect l="33844" r="33844" b="67773"/>
          <a:stretch>
            <a:fillRect/>
          </a:stretch>
        </p:blipFill>
        <p:spPr>
          <a:xfrm>
            <a:off x="5404104" y="1947672"/>
            <a:ext cx="2901709" cy="192938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558784" y="2103120"/>
            <a:ext cx="3035808" cy="1280160"/>
          </a:xfrm>
          <a:prstGeom prst="roundRect">
            <a:avLst>
              <a:gd name="adj" fmla="val 6000"/>
            </a:avLst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9952" y="2286000"/>
            <a:ext cx="263347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C70"/>
                </a:solidFill>
                <a:latin typeface="Noto Sans CJK SC"/>
              </a:defRPr>
            </a:pPr>
            <a:r>
              <a:t>名字不同，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C70"/>
                </a:solidFill>
                <a:latin typeface="Noto Sans CJK SC"/>
              </a:defRPr>
            </a:pPr>
            <a:r>
              <a:t>应该不重复吧？</a:t>
            </a:r>
          </a:p>
        </p:txBody>
      </p:sp>
      <p:pic>
        <p:nvPicPr>
          <p:cNvPr id="15" name="EDITORIAL_KEY_R1_C3" descr="image.png"/>
          <p:cNvPicPr>
            <a:picLocks noChangeAspect="1"/>
          </p:cNvPicPr>
          <p:nvPr/>
        </p:nvPicPr>
        <p:blipFill>
          <a:blip r:embed="rId3"/>
          <a:srcRect l="67438" r="250" b="67773"/>
          <a:stretch>
            <a:fillRect/>
          </a:stretch>
        </p:blipFill>
        <p:spPr>
          <a:xfrm>
            <a:off x="5404104" y="3968496"/>
            <a:ext cx="2901709" cy="192938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558784" y="4261104"/>
            <a:ext cx="3035808" cy="1280160"/>
          </a:xfrm>
          <a:prstGeom prst="roundRect">
            <a:avLst>
              <a:gd name="adj" fmla="val 6000"/>
            </a:avLst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4443984"/>
            <a:ext cx="263347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C70"/>
                </a:solidFill>
                <a:latin typeface="Noto Sans CJK SC"/>
              </a:defRPr>
            </a:pPr>
            <a:r>
              <a:t>药盒不同，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C70"/>
                </a:solidFill>
                <a:latin typeface="Noto Sans CJK SC"/>
              </a:defRPr>
            </a:pPr>
            <a:r>
              <a:t>里面的成分呢？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73152" cy="201168"/>
          </a:xfrm>
          <a:prstGeom prst="rect">
            <a:avLst/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3C70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1000232" cy="10972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110002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3C70"/>
                </a:solidFill>
                <a:latin typeface="Noto Sans CJK SC"/>
              </a:defRPr>
            </a:pPr>
            <a:r>
              <a:t>不需要的抗生素，也可能带来真实伤害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6007608"/>
            <a:ext cx="11000232" cy="448056"/>
          </a:xfrm>
          <a:prstGeom prst="roundRect">
            <a:avLst>
              <a:gd name="adj" fmla="val 6000"/>
            </a:avLst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6044184"/>
            <a:ext cx="1057046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C70"/>
                </a:solidFill>
                <a:latin typeface="Noto Sans CJK SC"/>
              </a:defRPr>
            </a:pPr>
            <a:r>
              <a:t>没有治疗需要，也要承担用药风险。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71048" y="6556248"/>
            <a:ext cx="932688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3C70"/>
                </a:solidFill>
                <a:latin typeface="Noto Sans CJK SC"/>
              </a:defRPr>
            </a:pPr>
            <a:r>
              <a:t>11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63642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C70"/>
                </a:solidFill>
                <a:latin typeface="Noto Sans CJK SC"/>
              </a:defRPr>
            </a:pPr>
            <a:r>
              <a:t>美国门诊抗生素处方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9776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45168"/>
                </a:solidFill>
                <a:latin typeface="Noto Sans CJK SC"/>
              </a:defRPr>
            </a:pPr>
            <a:r>
              <a:t>至少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36976"/>
            <a:ext cx="2907792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400" b="1">
                <a:solidFill>
                  <a:srgbClr val="F45168"/>
                </a:solidFill>
                <a:latin typeface="Noto Sans CJK SC"/>
              </a:defRPr>
            </a:pPr>
            <a:r>
              <a:t>28%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138928"/>
            <a:ext cx="63825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C70"/>
                </a:solidFill>
                <a:latin typeface="Noto Sans CJK SC"/>
              </a:defRPr>
            </a:pPr>
            <a:r>
              <a:t>被估计为不必要</a:t>
            </a:r>
          </a:p>
        </p:txBody>
      </p:sp>
      <p:sp>
        <p:nvSpPr>
          <p:cNvPr id="13" name="DATA_GRID_001_HIGHLIGHT"/>
          <p:cNvSpPr/>
          <p:nvPr/>
        </p:nvSpPr>
        <p:spPr>
          <a:xfrm>
            <a:off x="4105656" y="268833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ATA_GRID_002_HIGHLIGHT"/>
          <p:cNvSpPr/>
          <p:nvPr/>
        </p:nvSpPr>
        <p:spPr>
          <a:xfrm>
            <a:off x="4381804" y="268833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ATA_GRID_003_HIGHLIGHT"/>
          <p:cNvSpPr/>
          <p:nvPr/>
        </p:nvSpPr>
        <p:spPr>
          <a:xfrm>
            <a:off x="4657953" y="268833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_GRID_004_HIGHLIGHT"/>
          <p:cNvSpPr/>
          <p:nvPr/>
        </p:nvSpPr>
        <p:spPr>
          <a:xfrm>
            <a:off x="4934102" y="268833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_GRID_005_HIGHLIGHT"/>
          <p:cNvSpPr/>
          <p:nvPr/>
        </p:nvSpPr>
        <p:spPr>
          <a:xfrm>
            <a:off x="5210251" y="268833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ATA_GRID_006_HIGHLIGHT"/>
          <p:cNvSpPr/>
          <p:nvPr/>
        </p:nvSpPr>
        <p:spPr>
          <a:xfrm>
            <a:off x="5486400" y="268833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ATA_GRID_007_HIGHLIGHT"/>
          <p:cNvSpPr/>
          <p:nvPr/>
        </p:nvSpPr>
        <p:spPr>
          <a:xfrm>
            <a:off x="5762548" y="268833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ATA_GRID_008_HIGHLIGHT"/>
          <p:cNvSpPr/>
          <p:nvPr/>
        </p:nvSpPr>
        <p:spPr>
          <a:xfrm>
            <a:off x="6038697" y="268833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ATA_GRID_009_HIGHLIGHT"/>
          <p:cNvSpPr/>
          <p:nvPr/>
        </p:nvSpPr>
        <p:spPr>
          <a:xfrm>
            <a:off x="6314846" y="268833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ATA_GRID_010_HIGHLIGHT"/>
          <p:cNvSpPr/>
          <p:nvPr/>
        </p:nvSpPr>
        <p:spPr>
          <a:xfrm>
            <a:off x="6590995" y="268833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ATA_GRID_011_HIGHLIGHT"/>
          <p:cNvSpPr/>
          <p:nvPr/>
        </p:nvSpPr>
        <p:spPr>
          <a:xfrm>
            <a:off x="4105656" y="2964484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TA_GRID_012_HIGHLIGHT"/>
          <p:cNvSpPr/>
          <p:nvPr/>
        </p:nvSpPr>
        <p:spPr>
          <a:xfrm>
            <a:off x="4381804" y="2964484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TA_GRID_013_HIGHLIGHT"/>
          <p:cNvSpPr/>
          <p:nvPr/>
        </p:nvSpPr>
        <p:spPr>
          <a:xfrm>
            <a:off x="4657953" y="2964484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ATA_GRID_014_HIGHLIGHT"/>
          <p:cNvSpPr/>
          <p:nvPr/>
        </p:nvSpPr>
        <p:spPr>
          <a:xfrm>
            <a:off x="4934102" y="2964484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ATA_GRID_015_HIGHLIGHT"/>
          <p:cNvSpPr/>
          <p:nvPr/>
        </p:nvSpPr>
        <p:spPr>
          <a:xfrm>
            <a:off x="5210251" y="2964484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ATA_GRID_016_HIGHLIGHT"/>
          <p:cNvSpPr/>
          <p:nvPr/>
        </p:nvSpPr>
        <p:spPr>
          <a:xfrm>
            <a:off x="5486400" y="2964484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ATA_GRID_017_HIGHLIGHT"/>
          <p:cNvSpPr/>
          <p:nvPr/>
        </p:nvSpPr>
        <p:spPr>
          <a:xfrm>
            <a:off x="5762548" y="2964484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ATA_GRID_018_HIGHLIGHT"/>
          <p:cNvSpPr/>
          <p:nvPr/>
        </p:nvSpPr>
        <p:spPr>
          <a:xfrm>
            <a:off x="6038697" y="2964484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ATA_GRID_019_HIGHLIGHT"/>
          <p:cNvSpPr/>
          <p:nvPr/>
        </p:nvSpPr>
        <p:spPr>
          <a:xfrm>
            <a:off x="6314846" y="2964484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ATA_GRID_020_HIGHLIGHT"/>
          <p:cNvSpPr/>
          <p:nvPr/>
        </p:nvSpPr>
        <p:spPr>
          <a:xfrm>
            <a:off x="6590995" y="2964484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ATA_GRID_021_HIGHLIGHT"/>
          <p:cNvSpPr/>
          <p:nvPr/>
        </p:nvSpPr>
        <p:spPr>
          <a:xfrm>
            <a:off x="4105656" y="3240633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ATA_GRID_022_HIGHLIGHT"/>
          <p:cNvSpPr/>
          <p:nvPr/>
        </p:nvSpPr>
        <p:spPr>
          <a:xfrm>
            <a:off x="4381804" y="3240633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ATA_GRID_023_HIGHLIGHT"/>
          <p:cNvSpPr/>
          <p:nvPr/>
        </p:nvSpPr>
        <p:spPr>
          <a:xfrm>
            <a:off x="4657953" y="3240633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ATA_GRID_024_HIGHLIGHT"/>
          <p:cNvSpPr/>
          <p:nvPr/>
        </p:nvSpPr>
        <p:spPr>
          <a:xfrm>
            <a:off x="4934102" y="3240633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ATA_GRID_025_HIGHLIGHT"/>
          <p:cNvSpPr/>
          <p:nvPr/>
        </p:nvSpPr>
        <p:spPr>
          <a:xfrm>
            <a:off x="5210251" y="3240633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ATA_GRID_026_HIGHLIGHT"/>
          <p:cNvSpPr/>
          <p:nvPr/>
        </p:nvSpPr>
        <p:spPr>
          <a:xfrm>
            <a:off x="5486400" y="3240633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ATA_GRID_027_HIGHLIGHT"/>
          <p:cNvSpPr/>
          <p:nvPr/>
        </p:nvSpPr>
        <p:spPr>
          <a:xfrm>
            <a:off x="5762548" y="3240633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ATA_GRID_028_HIGHLIGHT"/>
          <p:cNvSpPr/>
          <p:nvPr/>
        </p:nvSpPr>
        <p:spPr>
          <a:xfrm>
            <a:off x="6038697" y="3240633"/>
            <a:ext cx="220370" cy="22037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ATA_GRID_029_REST"/>
          <p:cNvSpPr/>
          <p:nvPr/>
        </p:nvSpPr>
        <p:spPr>
          <a:xfrm>
            <a:off x="6314846" y="3240633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ATA_GRID_030_REST"/>
          <p:cNvSpPr/>
          <p:nvPr/>
        </p:nvSpPr>
        <p:spPr>
          <a:xfrm>
            <a:off x="6590995" y="3240633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ATA_GRID_031_REST"/>
          <p:cNvSpPr/>
          <p:nvPr/>
        </p:nvSpPr>
        <p:spPr>
          <a:xfrm>
            <a:off x="4105656" y="3516782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ATA_GRID_032_REST"/>
          <p:cNvSpPr/>
          <p:nvPr/>
        </p:nvSpPr>
        <p:spPr>
          <a:xfrm>
            <a:off x="4381804" y="3516782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ATA_GRID_033_REST"/>
          <p:cNvSpPr/>
          <p:nvPr/>
        </p:nvSpPr>
        <p:spPr>
          <a:xfrm>
            <a:off x="4657953" y="3516782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ATA_GRID_034_REST"/>
          <p:cNvSpPr/>
          <p:nvPr/>
        </p:nvSpPr>
        <p:spPr>
          <a:xfrm>
            <a:off x="4934102" y="3516782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ATA_GRID_035_REST"/>
          <p:cNvSpPr/>
          <p:nvPr/>
        </p:nvSpPr>
        <p:spPr>
          <a:xfrm>
            <a:off x="5210251" y="3516782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ATA_GRID_036_REST"/>
          <p:cNvSpPr/>
          <p:nvPr/>
        </p:nvSpPr>
        <p:spPr>
          <a:xfrm>
            <a:off x="5486400" y="3516782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ATA_GRID_037_REST"/>
          <p:cNvSpPr/>
          <p:nvPr/>
        </p:nvSpPr>
        <p:spPr>
          <a:xfrm>
            <a:off x="5762548" y="3516782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ATA_GRID_038_REST"/>
          <p:cNvSpPr/>
          <p:nvPr/>
        </p:nvSpPr>
        <p:spPr>
          <a:xfrm>
            <a:off x="6038697" y="3516782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ATA_GRID_039_REST"/>
          <p:cNvSpPr/>
          <p:nvPr/>
        </p:nvSpPr>
        <p:spPr>
          <a:xfrm>
            <a:off x="6314846" y="3516782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ATA_GRID_040_REST"/>
          <p:cNvSpPr/>
          <p:nvPr/>
        </p:nvSpPr>
        <p:spPr>
          <a:xfrm>
            <a:off x="6590995" y="3516782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ATA_GRID_041_REST"/>
          <p:cNvSpPr/>
          <p:nvPr/>
        </p:nvSpPr>
        <p:spPr>
          <a:xfrm>
            <a:off x="4105656" y="3792931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ATA_GRID_042_REST"/>
          <p:cNvSpPr/>
          <p:nvPr/>
        </p:nvSpPr>
        <p:spPr>
          <a:xfrm>
            <a:off x="4381804" y="3792931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ATA_GRID_043_REST"/>
          <p:cNvSpPr/>
          <p:nvPr/>
        </p:nvSpPr>
        <p:spPr>
          <a:xfrm>
            <a:off x="4657953" y="3792931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ATA_GRID_044_REST"/>
          <p:cNvSpPr/>
          <p:nvPr/>
        </p:nvSpPr>
        <p:spPr>
          <a:xfrm>
            <a:off x="4934102" y="3792931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ATA_GRID_045_REST"/>
          <p:cNvSpPr/>
          <p:nvPr/>
        </p:nvSpPr>
        <p:spPr>
          <a:xfrm>
            <a:off x="5210251" y="3792931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ATA_GRID_046_REST"/>
          <p:cNvSpPr/>
          <p:nvPr/>
        </p:nvSpPr>
        <p:spPr>
          <a:xfrm>
            <a:off x="5486400" y="3792931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ATA_GRID_047_REST"/>
          <p:cNvSpPr/>
          <p:nvPr/>
        </p:nvSpPr>
        <p:spPr>
          <a:xfrm>
            <a:off x="5762548" y="3792931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ATA_GRID_048_REST"/>
          <p:cNvSpPr/>
          <p:nvPr/>
        </p:nvSpPr>
        <p:spPr>
          <a:xfrm>
            <a:off x="6038697" y="3792931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ATA_GRID_049_REST"/>
          <p:cNvSpPr/>
          <p:nvPr/>
        </p:nvSpPr>
        <p:spPr>
          <a:xfrm>
            <a:off x="6314846" y="3792931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ATA_GRID_050_REST"/>
          <p:cNvSpPr/>
          <p:nvPr/>
        </p:nvSpPr>
        <p:spPr>
          <a:xfrm>
            <a:off x="6590995" y="3792931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ATA_GRID_051_REST"/>
          <p:cNvSpPr/>
          <p:nvPr/>
        </p:nvSpPr>
        <p:spPr>
          <a:xfrm>
            <a:off x="4105656" y="4069080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ATA_GRID_052_REST"/>
          <p:cNvSpPr/>
          <p:nvPr/>
        </p:nvSpPr>
        <p:spPr>
          <a:xfrm>
            <a:off x="4381804" y="4069080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ATA_GRID_053_REST"/>
          <p:cNvSpPr/>
          <p:nvPr/>
        </p:nvSpPr>
        <p:spPr>
          <a:xfrm>
            <a:off x="4657953" y="4069080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ATA_GRID_054_REST"/>
          <p:cNvSpPr/>
          <p:nvPr/>
        </p:nvSpPr>
        <p:spPr>
          <a:xfrm>
            <a:off x="4934102" y="4069080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ATA_GRID_055_REST"/>
          <p:cNvSpPr/>
          <p:nvPr/>
        </p:nvSpPr>
        <p:spPr>
          <a:xfrm>
            <a:off x="5210251" y="4069080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ATA_GRID_056_REST"/>
          <p:cNvSpPr/>
          <p:nvPr/>
        </p:nvSpPr>
        <p:spPr>
          <a:xfrm>
            <a:off x="5486400" y="4069080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ATA_GRID_057_REST"/>
          <p:cNvSpPr/>
          <p:nvPr/>
        </p:nvSpPr>
        <p:spPr>
          <a:xfrm>
            <a:off x="5762548" y="4069080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ATA_GRID_058_REST"/>
          <p:cNvSpPr/>
          <p:nvPr/>
        </p:nvSpPr>
        <p:spPr>
          <a:xfrm>
            <a:off x="6038697" y="4069080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ATA_GRID_059_REST"/>
          <p:cNvSpPr/>
          <p:nvPr/>
        </p:nvSpPr>
        <p:spPr>
          <a:xfrm>
            <a:off x="6314846" y="4069080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ATA_GRID_060_REST"/>
          <p:cNvSpPr/>
          <p:nvPr/>
        </p:nvSpPr>
        <p:spPr>
          <a:xfrm>
            <a:off x="6590995" y="4069080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ATA_GRID_061_REST"/>
          <p:cNvSpPr/>
          <p:nvPr/>
        </p:nvSpPr>
        <p:spPr>
          <a:xfrm>
            <a:off x="4105656" y="4345228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ATA_GRID_062_REST"/>
          <p:cNvSpPr/>
          <p:nvPr/>
        </p:nvSpPr>
        <p:spPr>
          <a:xfrm>
            <a:off x="4381804" y="4345228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ATA_GRID_063_REST"/>
          <p:cNvSpPr/>
          <p:nvPr/>
        </p:nvSpPr>
        <p:spPr>
          <a:xfrm>
            <a:off x="4657953" y="4345228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ATA_GRID_064_REST"/>
          <p:cNvSpPr/>
          <p:nvPr/>
        </p:nvSpPr>
        <p:spPr>
          <a:xfrm>
            <a:off x="4934102" y="4345228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ATA_GRID_065_REST"/>
          <p:cNvSpPr/>
          <p:nvPr/>
        </p:nvSpPr>
        <p:spPr>
          <a:xfrm>
            <a:off x="5210251" y="4345228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ATA_GRID_066_REST"/>
          <p:cNvSpPr/>
          <p:nvPr/>
        </p:nvSpPr>
        <p:spPr>
          <a:xfrm>
            <a:off x="5486400" y="4345228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ATA_GRID_067_REST"/>
          <p:cNvSpPr/>
          <p:nvPr/>
        </p:nvSpPr>
        <p:spPr>
          <a:xfrm>
            <a:off x="5762548" y="4345228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ATA_GRID_068_REST"/>
          <p:cNvSpPr/>
          <p:nvPr/>
        </p:nvSpPr>
        <p:spPr>
          <a:xfrm>
            <a:off x="6038697" y="4345228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ATA_GRID_069_REST"/>
          <p:cNvSpPr/>
          <p:nvPr/>
        </p:nvSpPr>
        <p:spPr>
          <a:xfrm>
            <a:off x="6314846" y="4345228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ATA_GRID_070_REST"/>
          <p:cNvSpPr/>
          <p:nvPr/>
        </p:nvSpPr>
        <p:spPr>
          <a:xfrm>
            <a:off x="6590995" y="4345228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ATA_GRID_071_REST"/>
          <p:cNvSpPr/>
          <p:nvPr/>
        </p:nvSpPr>
        <p:spPr>
          <a:xfrm>
            <a:off x="4105656" y="4621377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ATA_GRID_072_REST"/>
          <p:cNvSpPr/>
          <p:nvPr/>
        </p:nvSpPr>
        <p:spPr>
          <a:xfrm>
            <a:off x="4381804" y="4621377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ATA_GRID_073_REST"/>
          <p:cNvSpPr/>
          <p:nvPr/>
        </p:nvSpPr>
        <p:spPr>
          <a:xfrm>
            <a:off x="4657953" y="4621377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ATA_GRID_074_REST"/>
          <p:cNvSpPr/>
          <p:nvPr/>
        </p:nvSpPr>
        <p:spPr>
          <a:xfrm>
            <a:off x="4934102" y="4621377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ATA_GRID_075_REST"/>
          <p:cNvSpPr/>
          <p:nvPr/>
        </p:nvSpPr>
        <p:spPr>
          <a:xfrm>
            <a:off x="5210251" y="4621377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ATA_GRID_076_REST"/>
          <p:cNvSpPr/>
          <p:nvPr/>
        </p:nvSpPr>
        <p:spPr>
          <a:xfrm>
            <a:off x="5486400" y="4621377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ATA_GRID_077_REST"/>
          <p:cNvSpPr/>
          <p:nvPr/>
        </p:nvSpPr>
        <p:spPr>
          <a:xfrm>
            <a:off x="5762548" y="4621377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ATA_GRID_078_REST"/>
          <p:cNvSpPr/>
          <p:nvPr/>
        </p:nvSpPr>
        <p:spPr>
          <a:xfrm>
            <a:off x="6038697" y="4621377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ATA_GRID_079_REST"/>
          <p:cNvSpPr/>
          <p:nvPr/>
        </p:nvSpPr>
        <p:spPr>
          <a:xfrm>
            <a:off x="6314846" y="4621377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ATA_GRID_080_REST"/>
          <p:cNvSpPr/>
          <p:nvPr/>
        </p:nvSpPr>
        <p:spPr>
          <a:xfrm>
            <a:off x="6590995" y="4621377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ATA_GRID_081_REST"/>
          <p:cNvSpPr/>
          <p:nvPr/>
        </p:nvSpPr>
        <p:spPr>
          <a:xfrm>
            <a:off x="4105656" y="489752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ATA_GRID_082_REST"/>
          <p:cNvSpPr/>
          <p:nvPr/>
        </p:nvSpPr>
        <p:spPr>
          <a:xfrm>
            <a:off x="4381804" y="489752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ATA_GRID_083_REST"/>
          <p:cNvSpPr/>
          <p:nvPr/>
        </p:nvSpPr>
        <p:spPr>
          <a:xfrm>
            <a:off x="4657953" y="489752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ATA_GRID_084_REST"/>
          <p:cNvSpPr/>
          <p:nvPr/>
        </p:nvSpPr>
        <p:spPr>
          <a:xfrm>
            <a:off x="4934102" y="489752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ATA_GRID_085_REST"/>
          <p:cNvSpPr/>
          <p:nvPr/>
        </p:nvSpPr>
        <p:spPr>
          <a:xfrm>
            <a:off x="5210251" y="489752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ATA_GRID_086_REST"/>
          <p:cNvSpPr/>
          <p:nvPr/>
        </p:nvSpPr>
        <p:spPr>
          <a:xfrm>
            <a:off x="5486400" y="489752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ATA_GRID_087_REST"/>
          <p:cNvSpPr/>
          <p:nvPr/>
        </p:nvSpPr>
        <p:spPr>
          <a:xfrm>
            <a:off x="5762548" y="489752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ATA_GRID_088_REST"/>
          <p:cNvSpPr/>
          <p:nvPr/>
        </p:nvSpPr>
        <p:spPr>
          <a:xfrm>
            <a:off x="6038697" y="489752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ATA_GRID_089_REST"/>
          <p:cNvSpPr/>
          <p:nvPr/>
        </p:nvSpPr>
        <p:spPr>
          <a:xfrm>
            <a:off x="6314846" y="489752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ATA_GRID_090_REST"/>
          <p:cNvSpPr/>
          <p:nvPr/>
        </p:nvSpPr>
        <p:spPr>
          <a:xfrm>
            <a:off x="6590995" y="4897526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ATA_GRID_091_REST"/>
          <p:cNvSpPr/>
          <p:nvPr/>
        </p:nvSpPr>
        <p:spPr>
          <a:xfrm>
            <a:off x="4105656" y="5173675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DATA_GRID_092_REST"/>
          <p:cNvSpPr/>
          <p:nvPr/>
        </p:nvSpPr>
        <p:spPr>
          <a:xfrm>
            <a:off x="4381804" y="5173675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DATA_GRID_093_REST"/>
          <p:cNvSpPr/>
          <p:nvPr/>
        </p:nvSpPr>
        <p:spPr>
          <a:xfrm>
            <a:off x="4657953" y="5173675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DATA_GRID_094_REST"/>
          <p:cNvSpPr/>
          <p:nvPr/>
        </p:nvSpPr>
        <p:spPr>
          <a:xfrm>
            <a:off x="4934102" y="5173675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DATA_GRID_095_REST"/>
          <p:cNvSpPr/>
          <p:nvPr/>
        </p:nvSpPr>
        <p:spPr>
          <a:xfrm>
            <a:off x="5210251" y="5173675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DATA_GRID_096_REST"/>
          <p:cNvSpPr/>
          <p:nvPr/>
        </p:nvSpPr>
        <p:spPr>
          <a:xfrm>
            <a:off x="5486400" y="5173675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DATA_GRID_097_REST"/>
          <p:cNvSpPr/>
          <p:nvPr/>
        </p:nvSpPr>
        <p:spPr>
          <a:xfrm>
            <a:off x="5762548" y="5173675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DATA_GRID_098_REST"/>
          <p:cNvSpPr/>
          <p:nvPr/>
        </p:nvSpPr>
        <p:spPr>
          <a:xfrm>
            <a:off x="6038697" y="5173675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DATA_GRID_099_REST"/>
          <p:cNvSpPr/>
          <p:nvPr/>
        </p:nvSpPr>
        <p:spPr>
          <a:xfrm>
            <a:off x="6314846" y="5173675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DATA_GRID_100_REST"/>
          <p:cNvSpPr/>
          <p:nvPr/>
        </p:nvSpPr>
        <p:spPr>
          <a:xfrm>
            <a:off x="6590995" y="5173675"/>
            <a:ext cx="220370" cy="220370"/>
          </a:xfrm>
          <a:prstGeom prst="roundRect">
            <a:avLst>
              <a:gd name="adj" fmla="val 6000"/>
            </a:avLst>
          </a:prstGeom>
          <a:solidFill>
            <a:srgbClr val="D5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7406640" y="1901952"/>
            <a:ext cx="4187952" cy="3867912"/>
          </a:xfrm>
          <a:prstGeom prst="roundRect">
            <a:avLst>
              <a:gd name="adj" fmla="val 6000"/>
            </a:avLst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635240" y="2130552"/>
            <a:ext cx="37307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C70"/>
                </a:solidFill>
                <a:latin typeface="Noto Sans CJK SC"/>
              </a:defRPr>
            </a:pPr>
            <a:r>
              <a:t>药物副作用导致的急诊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2779776"/>
            <a:ext cx="37307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F45168"/>
                </a:solidFill>
                <a:latin typeface="Noto Sans CJK SC"/>
              </a:defRPr>
            </a:pPr>
            <a:r>
              <a:t>5次中，约1次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35240" y="3493008"/>
            <a:ext cx="3730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C70"/>
                </a:solidFill>
                <a:latin typeface="Noto Sans CJK SC"/>
              </a:defRPr>
            </a:pPr>
            <a:r>
              <a:t>涉及抗生素反应</a:t>
            </a:r>
          </a:p>
        </p:txBody>
      </p:sp>
      <p:sp>
        <p:nvSpPr>
          <p:cNvPr id="117" name="DATA_ED_1_HIGHLIGHT"/>
          <p:cNvSpPr/>
          <p:nvPr/>
        </p:nvSpPr>
        <p:spPr>
          <a:xfrm>
            <a:off x="7644383" y="4160520"/>
            <a:ext cx="594360" cy="960120"/>
          </a:xfrm>
          <a:prstGeom prst="roundRect">
            <a:avLst>
              <a:gd name="adj" fmla="val 6000"/>
            </a:avLst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882127" y="4306824"/>
            <a:ext cx="118872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804861" y="4379976"/>
            <a:ext cx="273405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899958" y="4754880"/>
            <a:ext cx="106984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739481" y="4672583"/>
            <a:ext cx="71323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078266" y="4672583"/>
            <a:ext cx="71323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DATA_ED_2_REST"/>
          <p:cNvSpPr/>
          <p:nvPr/>
        </p:nvSpPr>
        <p:spPr>
          <a:xfrm>
            <a:off x="8389619" y="4160520"/>
            <a:ext cx="594360" cy="960120"/>
          </a:xfrm>
          <a:prstGeom prst="roundRect">
            <a:avLst>
              <a:gd name="adj" fmla="val 6000"/>
            </a:avLst>
          </a:prstGeom>
          <a:solidFill>
            <a:srgbClr val="173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627363" y="4306824"/>
            <a:ext cx="118872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550097" y="4379976"/>
            <a:ext cx="273405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645194" y="4754880"/>
            <a:ext cx="106984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484717" y="4672583"/>
            <a:ext cx="71323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823502" y="4672583"/>
            <a:ext cx="71323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DATA_ED_3_REST"/>
          <p:cNvSpPr/>
          <p:nvPr/>
        </p:nvSpPr>
        <p:spPr>
          <a:xfrm>
            <a:off x="9134855" y="4160520"/>
            <a:ext cx="594360" cy="960120"/>
          </a:xfrm>
          <a:prstGeom prst="roundRect">
            <a:avLst>
              <a:gd name="adj" fmla="val 6000"/>
            </a:avLst>
          </a:prstGeom>
          <a:solidFill>
            <a:srgbClr val="173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372599" y="4306824"/>
            <a:ext cx="118872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295333" y="4379976"/>
            <a:ext cx="273405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390430" y="4754880"/>
            <a:ext cx="106984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9229953" y="4672583"/>
            <a:ext cx="71323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9568738" y="4672583"/>
            <a:ext cx="71323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DATA_ED_4_REST"/>
          <p:cNvSpPr/>
          <p:nvPr/>
        </p:nvSpPr>
        <p:spPr>
          <a:xfrm>
            <a:off x="9880092" y="4160520"/>
            <a:ext cx="594360" cy="960120"/>
          </a:xfrm>
          <a:prstGeom prst="roundRect">
            <a:avLst>
              <a:gd name="adj" fmla="val 6000"/>
            </a:avLst>
          </a:prstGeom>
          <a:solidFill>
            <a:srgbClr val="173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117836" y="4306824"/>
            <a:ext cx="118872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0040569" y="4379976"/>
            <a:ext cx="273405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135666" y="4754880"/>
            <a:ext cx="106984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975189" y="4672583"/>
            <a:ext cx="71323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313974" y="4672583"/>
            <a:ext cx="71323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DATA_ED_5_REST"/>
          <p:cNvSpPr/>
          <p:nvPr/>
        </p:nvSpPr>
        <p:spPr>
          <a:xfrm>
            <a:off x="10625328" y="4160520"/>
            <a:ext cx="594360" cy="960120"/>
          </a:xfrm>
          <a:prstGeom prst="roundRect">
            <a:avLst>
              <a:gd name="adj" fmla="val 6000"/>
            </a:avLst>
          </a:prstGeom>
          <a:solidFill>
            <a:srgbClr val="173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863072" y="4306824"/>
            <a:ext cx="118872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785805" y="4379976"/>
            <a:ext cx="273405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880902" y="4754880"/>
            <a:ext cx="106984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720425" y="4672583"/>
            <a:ext cx="71323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1059210" y="4672583"/>
            <a:ext cx="71323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635240" y="5349240"/>
            <a:ext cx="3730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C70"/>
                </a:solidFill>
                <a:latin typeface="Noto Sans CJK SC"/>
              </a:defRPr>
            </a:pPr>
            <a:r>
              <a:t>皮疹、腹泻，也可能严重过敏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73152" cy="201168"/>
          </a:xfrm>
          <a:prstGeom prst="rect">
            <a:avLst/>
          </a:prstGeom>
          <a:solidFill>
            <a:srgbClr val="F45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3C70"/>
                </a:solidFill>
                <a:latin typeface="Noto Sans CJK SC"/>
              </a:defRPr>
            </a:pPr>
            <a:r>
              <a:t>03 / 安全用药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1000232" cy="10972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110002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C70"/>
                </a:solidFill>
                <a:latin typeface="Noto Sans CJK SC"/>
              </a:defRPr>
            </a:pPr>
            <a:r>
              <a:t>从四个案例，走到四个用药动作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6007608"/>
            <a:ext cx="11000232" cy="448056"/>
          </a:xfrm>
          <a:prstGeom prst="roundRect">
            <a:avLst>
              <a:gd name="adj" fmla="val 6000"/>
            </a:avLst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6044184"/>
            <a:ext cx="1057046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C70"/>
                </a:solidFill>
                <a:latin typeface="Noto Sans CJK SC"/>
              </a:defRPr>
            </a:pPr>
            <a:r>
              <a:t>先把信息看清，再把不确定问清。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71048" y="6556248"/>
            <a:ext cx="932688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3C70"/>
                </a:solidFill>
                <a:latin typeface="Noto Sans CJK SC"/>
              </a:defRPr>
            </a:pPr>
            <a:r>
              <a:t>17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920240"/>
            <a:ext cx="1069848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F45168"/>
                </a:solidFill>
                <a:latin typeface="Noto Sans CJK SC"/>
              </a:defRPr>
            </a:pPr>
            <a:r>
              <a:t>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1920240"/>
            <a:ext cx="9354312" cy="813816"/>
          </a:xfrm>
          <a:prstGeom prst="roundRect">
            <a:avLst>
              <a:gd name="adj" fmla="val 6000"/>
            </a:avLst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6312" y="2057400"/>
            <a:ext cx="884224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C70"/>
                </a:solidFill>
                <a:latin typeface="Noto Sans CJK SC"/>
              </a:defRPr>
            </a:pPr>
            <a:r>
              <a:t>症状、说明书、就医信号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12364"/>
            <a:ext cx="1069848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F45168"/>
                </a:solidFill>
                <a:latin typeface="Noto Sans CJK SC"/>
              </a:defRPr>
            </a:pPr>
            <a:r>
              <a:t>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2912364"/>
            <a:ext cx="9354312" cy="813816"/>
          </a:xfrm>
          <a:prstGeom prst="roundRect">
            <a:avLst>
              <a:gd name="adj" fmla="val 6000"/>
            </a:avLst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6312" y="3049524"/>
            <a:ext cx="884224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C70"/>
                </a:solidFill>
                <a:latin typeface="Noto Sans CJK SC"/>
              </a:defRPr>
            </a:pPr>
            <a:r>
              <a:t>成分、用法、禁忌与相互作用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904487"/>
            <a:ext cx="1069848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F45168"/>
                </a:solidFill>
                <a:latin typeface="Noto Sans CJK SC"/>
              </a:defRPr>
            </a:pPr>
            <a:r>
              <a:t>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3904487"/>
            <a:ext cx="9354312" cy="813816"/>
          </a:xfrm>
          <a:prstGeom prst="roundRect">
            <a:avLst>
              <a:gd name="adj" fmla="val 6000"/>
            </a:avLst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6312" y="4041648"/>
            <a:ext cx="884224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C70"/>
                </a:solidFill>
                <a:latin typeface="Noto Sans CJK SC"/>
              </a:defRPr>
            </a:pPr>
            <a:r>
              <a:t>带齐信息，问医生或药师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896612"/>
            <a:ext cx="1069848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F45168"/>
                </a:solidFill>
                <a:latin typeface="Noto Sans CJK SC"/>
              </a:defRPr>
            </a:pPr>
            <a:r>
              <a:t>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4896612"/>
            <a:ext cx="9354312" cy="813816"/>
          </a:xfrm>
          <a:prstGeom prst="roundRect">
            <a:avLst>
              <a:gd name="adj" fmla="val 6000"/>
            </a:avLst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96312" y="5033772"/>
            <a:ext cx="884224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C70"/>
                </a:solidFill>
                <a:latin typeface="Noto Sans CJK SC"/>
              </a:defRPr>
            </a:pPr>
            <a:r>
              <a:t>药名、时间、用量与反应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